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7560005" cy="10692003"/>
  <p:notesSz cx="10692003" cy="756000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svg"/><Relationship Id="rId3" Type="http://schemas.openxmlformats.org/officeDocument/2006/relationships/image" Target="../media/image-20-3.png"/><Relationship Id="rId4" Type="http://schemas.openxmlformats.org/officeDocument/2006/relationships/image" Target="../media/image-20-4.svg"/><Relationship Id="rId5" Type="http://schemas.openxmlformats.org/officeDocument/2006/relationships/image" Target="../media/image-20-5.png"/><Relationship Id="rId6" Type="http://schemas.openxmlformats.org/officeDocument/2006/relationships/image" Target="../media/image-20-6.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atabank.worldbank.org/source/world-development-indicators" TargetMode="External"/><Relationship Id="rId2" Type="http://schemas.openxmlformats.org/officeDocument/2006/relationships/hyperlink" Target="https://documents.worldbank.org/en/publication/documents-reports/documentdetail/975081468244550798/the-east-asian-miracle-economic-growth-and-public-policy" TargetMode="External"/><Relationship Id="rId3" Type="http://schemas.openxmlformats.org/officeDocument/2006/relationships/hyperlink" Target="https://documents1.worldbank.org/curated/en/755321606255985947/pdf/Structural-Transformation-and-Labor-Market-Performance-in-Ghana.pdf" TargetMode="External"/><Relationship Id="rId4" Type="http://schemas.openxmlformats.org/officeDocument/2006/relationships/hyperlink" Target="https://documents.worldbank.org/curated/en/832361468032174119/pdf/multi0page.pdf" TargetMode="External"/><Relationship Id="rId5" Type="http://schemas.openxmlformats.org/officeDocument/2006/relationships/hyperlink" Target="https://documents.worldbank.org/curated/en/364701468330906042/pdf/577340NWP0Box353767B01PUBLIC10gcwp035web.pdf" TargetMode="External"/><Relationship Id="rId6" Type="http://schemas.openxmlformats.org/officeDocument/2006/relationships/hyperlink" Target="https://www.imf.org/external/pubs/ft/wp/2014/wp14134.pdf" TargetMode="External"/><Relationship Id="rId7" Type="http://schemas.openxmlformats.org/officeDocument/2006/relationships/hyperlink" Target="https://www.dartmouth.edu/neudc2012/docs/paper_34.pdf" TargetMode="External"/><Relationship Id="rId8" Type="http://schemas.openxmlformats.org/officeDocument/2006/relationships/hyperlink" Target="https://doi.org/10.9707/2307-0919.1014" TargetMode="External"/><Relationship Id="rId9" Type="http://schemas.openxmlformats.org/officeDocument/2006/relationships/hyperlink" Target="https://doi.org/10.1177/0018726702551004" TargetMode="External"/><Relationship Id="rId10" Type="http://schemas.openxmlformats.org/officeDocument/2006/relationships/hyperlink" Target="https://doi.org/10.1787/9789264278219-en" TargetMode="External"/><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ommons.wikimedia.org/wiki/File:Tema_port.jpg" TargetMode="External"/><Relationship Id="rId2" Type="http://schemas.openxmlformats.org/officeDocument/2006/relationships/hyperlink" Target="https://creativecommons.org/licenses/by-sa/4.0/" TargetMode="External"/><Relationship Id="rId3" Type="http://schemas.openxmlformats.org/officeDocument/2006/relationships/hyperlink" Target="https://commons.wikimedia.org/wiki/File:Market_Accra.jpg" TargetMode="External"/><Relationship Id="rId4" Type="http://schemas.openxmlformats.org/officeDocument/2006/relationships/hyperlink" Target="https://creativecommons.org/licenses/by-sa/4.0/" TargetMode="External"/><Relationship Id="rId5" Type="http://schemas.openxmlformats.org/officeDocument/2006/relationships/hyperlink" Target="https://commons.wikimedia.org/wiki/File:Sarvesh_Lutchmun_-_Bus_Terminal_in_Gaborone,_Botswana.jpg" TargetMode="External"/><Relationship Id="rId6" Type="http://schemas.openxmlformats.org/officeDocument/2006/relationships/hyperlink" Target="https://creativecommons.org/licenses/by-sa/4.0/" TargetMode="External"/><Relationship Id="rId7" Type="http://schemas.openxmlformats.org/officeDocument/2006/relationships/hyperlink" Target="https://commons.wikimedia.org/wiki/File:MochudiBotswanaSolarPanel.jpg" TargetMode="External"/><Relationship Id="rId8" Type="http://schemas.openxmlformats.org/officeDocument/2006/relationships/hyperlink" Target="https://creativecommons.org/licenses/by-sa/4.0/" TargetMode="External"/><Relationship Id="rId9" Type="http://schemas.openxmlformats.org/officeDocument/2006/relationships/hyperlink" Target="https://commons.wikimedia.org/wiki/File:Mauritius_-_Port_Louis_(Central_Market)_(17118303459).jpg" TargetMode="External"/><Relationship Id="rId10" Type="http://schemas.openxmlformats.org/officeDocument/2006/relationships/hyperlink" Target="https://creativecommons.org/licenses/by-sa/2.0/" TargetMode="External"/><Relationship Id="rId11" Type="http://schemas.openxmlformats.org/officeDocument/2006/relationships/hyperlink" Target="https://commons.wikimedia.org/wiki/File:Port_Louis,_Mauritius,_Bulk_Sugar_Terminal_Quay.jpg" TargetMode="External"/><Relationship Id="rId12" Type="http://schemas.openxmlformats.org/officeDocument/2006/relationships/hyperlink" Target="https://creativecommons.org/licenses/by/4.0/" TargetMode="External"/><Relationship Id="rId13" Type="http://schemas.openxmlformats.org/officeDocument/2006/relationships/hyperlink" Target="https://commons.wikimedia.org/wiki/File:South_Korea_Busan_harbour.jpg" TargetMode="External"/><Relationship Id="rId14" Type="http://schemas.openxmlformats.org/officeDocument/2006/relationships/hyperlink" Target="https://creativecommons.org/licenses/by-sa/3.0/" TargetMode="External"/><Relationship Id="rId15" Type="http://schemas.openxmlformats.org/officeDocument/2006/relationships/hyperlink" Target="https://commons.wikimedia.org/wiki/File:Korea-Seoul-Gyeongdong_Market-01.jpg" TargetMode="External"/><Relationship Id="rId16" Type="http://schemas.openxmlformats.org/officeDocument/2006/relationships/hyperlink" Target="https://creativecommons.org/licenses/by-sa/2.0/" TargetMode="External"/><Relationship Id="rId17" Type="http://schemas.openxmlformats.org/officeDocument/2006/relationships/hyperlink" Target="https://commons.wikimedia.org/wiki/File:Perai_Industrial_Zone,_Seberang_Perai,_Penang.jpg" TargetMode="External"/><Relationship Id="rId18" Type="http://schemas.openxmlformats.org/officeDocument/2006/relationships/hyperlink" Target="https://creativecommons.org/licenses/by-sa/4.0/" TargetMode="External"/><Relationship Id="rId19" Type="http://schemas.openxmlformats.org/officeDocument/2006/relationships/hyperlink" Target="https://commons.wikimedia.org/wiki/File:090301.020.PortKlang.jpg" TargetMode="External"/><Relationship Id="rId20" Type="http://schemas.openxmlformats.org/officeDocument/2006/relationships/hyperlink" Target="https://creativecommons.org/licenses/by/2.0/" TargetMode="External"/><Relationship Id="rId21" Type="http://schemas.openxmlformats.org/officeDocument/2006/relationships/hyperlink" Target="https://commons.wikimedia.org/wiki/File:Port_of_Manila.jpg" TargetMode="External"/><Relationship Id="rId22" Type="http://schemas.openxmlformats.org/officeDocument/2006/relationships/hyperlink" Target="https://creativecommons.org/licenses/by-sa/3.0/" TargetMode="External"/><Relationship Id="rId23" Type="http://schemas.openxmlformats.org/officeDocument/2006/relationships/hyperlink" Target="https://commons.wikimedia.org/wiki/File:2013-01-04_The_Philippines-_seaside_market_in_Manila.jpg" TargetMode="External"/><Relationship Id="rId24" Type="http://schemas.openxmlformats.org/officeDocument/2006/relationships/hyperlink" Target="https://creativecommons.org/licenses/by/2.0/" TargetMode="External"/><Relationship Id="rId25" Type="http://schemas.openxmlformats.org/officeDocument/2006/relationships/hyperlink" Target="https://www.naturalearthdata.com/downloads/110m-cultural-vectors/" TargetMode="External"/><Relationship Id="rId26" Type="http://schemas.openxmlformats.org/officeDocument/2006/relationships/slideLayout" Target="../slideLayouts/slideLayout1.xml"/><Relationship Id="rId2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SIX COUNTRIES. ONE BIG QUESTION.</a:t>
            </a:r>
            <a:endParaRPr lang="en-US" sz="800" dirty="0"/>
          </a:p>
        </p:txBody>
      </p:sp>
      <p:sp>
        <p:nvSpPr>
          <p:cNvPr id="4" name="Shape 2"/>
          <p:cNvSpPr/>
          <p:nvPr/>
        </p:nvSpPr>
        <p:spPr>
          <a:xfrm>
            <a:off x="457200" y="2641600"/>
            <a:ext cx="1107059" cy="304800"/>
          </a:xfrm>
          <a:prstGeom prst="rect">
            <a:avLst/>
          </a:prstGeom>
          <a:solidFill>
            <a:srgbClr val="B95332"/>
          </a:solidFill>
          <a:ln w="12700">
            <a:solidFill>
              <a:srgbClr val="B95332"/>
            </a:solidFill>
            <a:prstDash val="solid"/>
          </a:ln>
        </p:spPr>
      </p:sp>
      <p:sp>
        <p:nvSpPr>
          <p:cNvPr id="5" name="Text 3"/>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6" name="Shape 4"/>
          <p:cNvSpPr/>
          <p:nvPr/>
        </p:nvSpPr>
        <p:spPr>
          <a:xfrm>
            <a:off x="1564259" y="2641600"/>
            <a:ext cx="1107059" cy="304800"/>
          </a:xfrm>
          <a:prstGeom prst="rect">
            <a:avLst/>
          </a:prstGeom>
          <a:solidFill>
            <a:srgbClr val="3F684E"/>
          </a:solidFill>
          <a:ln w="12700">
            <a:solidFill>
              <a:srgbClr val="3F684E"/>
            </a:solidFill>
            <a:prstDash val="solid"/>
          </a:ln>
        </p:spPr>
      </p:sp>
      <p:sp>
        <p:nvSpPr>
          <p:cNvPr id="7" name="Text 5"/>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8" name="Shape 6"/>
          <p:cNvSpPr/>
          <p:nvPr/>
        </p:nvSpPr>
        <p:spPr>
          <a:xfrm>
            <a:off x="2671318" y="2641600"/>
            <a:ext cx="1107059" cy="304800"/>
          </a:xfrm>
          <a:prstGeom prst="rect">
            <a:avLst/>
          </a:prstGeom>
          <a:solidFill>
            <a:srgbClr val="D6A23A"/>
          </a:solidFill>
          <a:ln w="12700">
            <a:solidFill>
              <a:srgbClr val="D6A23A"/>
            </a:solidFill>
            <a:prstDash val="solid"/>
          </a:ln>
        </p:spPr>
      </p:sp>
      <p:sp>
        <p:nvSpPr>
          <p:cNvPr id="9" name="Text 7"/>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0" name="Shape 8"/>
          <p:cNvSpPr/>
          <p:nvPr/>
        </p:nvSpPr>
        <p:spPr>
          <a:xfrm>
            <a:off x="3778377" y="2641600"/>
            <a:ext cx="1107059" cy="304800"/>
          </a:xfrm>
          <a:prstGeom prst="rect">
            <a:avLst/>
          </a:prstGeom>
          <a:solidFill>
            <a:srgbClr val="315A78"/>
          </a:solidFill>
          <a:ln w="12700">
            <a:solidFill>
              <a:srgbClr val="315A78"/>
            </a:solidFill>
            <a:prstDash val="solid"/>
          </a:ln>
        </p:spPr>
      </p:sp>
      <p:sp>
        <p:nvSpPr>
          <p:cNvPr id="11" name="Text 9"/>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2" name="Shape 10"/>
          <p:cNvSpPr/>
          <p:nvPr/>
        </p:nvSpPr>
        <p:spPr>
          <a:xfrm>
            <a:off x="4885436" y="2641600"/>
            <a:ext cx="1107059" cy="304800"/>
          </a:xfrm>
          <a:prstGeom prst="rect">
            <a:avLst/>
          </a:prstGeom>
          <a:solidFill>
            <a:srgbClr val="3E7568"/>
          </a:solidFill>
          <a:ln w="12700">
            <a:solidFill>
              <a:srgbClr val="3E7568"/>
            </a:solidFill>
            <a:prstDash val="solid"/>
          </a:ln>
        </p:spPr>
      </p:sp>
      <p:sp>
        <p:nvSpPr>
          <p:cNvPr id="13" name="Text 11"/>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4" name="Shape 12"/>
          <p:cNvSpPr/>
          <p:nvPr/>
        </p:nvSpPr>
        <p:spPr>
          <a:xfrm>
            <a:off x="5992495" y="2641600"/>
            <a:ext cx="1107059" cy="304800"/>
          </a:xfrm>
          <a:prstGeom prst="rect">
            <a:avLst/>
          </a:prstGeom>
          <a:solidFill>
            <a:srgbClr val="A63A3A"/>
          </a:solidFill>
          <a:ln w="12700">
            <a:solidFill>
              <a:srgbClr val="A63A3A"/>
            </a:solidFill>
            <a:prstDash val="solid"/>
          </a:ln>
        </p:spPr>
      </p:sp>
      <p:sp>
        <p:nvSpPr>
          <p:cNvPr id="15" name="Text 13"/>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6" name="Shape 14"/>
          <p:cNvSpPr/>
          <p:nvPr/>
        </p:nvSpPr>
        <p:spPr>
          <a:xfrm>
            <a:off x="457200" y="9698990"/>
            <a:ext cx="6642100" cy="7620"/>
          </a:xfrm>
          <a:prstGeom prst="rect">
            <a:avLst/>
          </a:prstGeom>
          <a:solidFill>
            <a:srgbClr val="B7B0A4"/>
          </a:solidFill>
          <a:ln w="12700">
            <a:solidFill>
              <a:srgbClr val="B7B0A4"/>
            </a:solidFill>
            <a:prstDash val="solid"/>
          </a:ln>
        </p:spPr>
      </p:sp>
      <p:sp>
        <p:nvSpPr>
          <p:cNvPr id="17" name="Text 1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Photographs: JulianGrayscales (2020), Tema port; Svwmal (2012), Busan harbour. Full credits and licences: p. 28.</a:t>
            </a:r>
            <a:endParaRPr lang="en-US" sz="800" dirty="0"/>
          </a:p>
        </p:txBody>
      </p:sp>
      <p:sp>
        <p:nvSpPr>
          <p:cNvPr id="18" name="Text 1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9" name="Text 1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01</a:t>
            </a:r>
            <a:endParaRPr lang="en-US" sz="1000" dirty="0"/>
          </a:p>
        </p:txBody>
      </p:sp>
      <p:sp>
        <p:nvSpPr>
          <p:cNvPr id="20" name="Shape 18"/>
          <p:cNvSpPr/>
          <p:nvPr/>
        </p:nvSpPr>
        <p:spPr>
          <a:xfrm>
            <a:off x="0" y="571500"/>
            <a:ext cx="7560005" cy="4635500"/>
          </a:xfrm>
          <a:prstGeom prst="rect">
            <a:avLst/>
          </a:prstGeom>
          <a:solidFill>
            <a:srgbClr val="252525"/>
          </a:solidFill>
          <a:ln w="12700">
            <a:solidFill>
              <a:srgbClr val="252525"/>
            </a:solidFill>
            <a:prstDash val="solid"/>
          </a:ln>
        </p:spPr>
      </p:sp>
      <p:sp>
        <p:nvSpPr>
          <p:cNvPr id="21" name="Text 19"/>
          <p:cNvSpPr/>
          <p:nvPr/>
        </p:nvSpPr>
        <p:spPr>
          <a:xfrm>
            <a:off x="457200" y="736600"/>
            <a:ext cx="6642100" cy="825500"/>
          </a:xfrm>
          <a:prstGeom prst="rect">
            <a:avLst/>
          </a:prstGeom>
          <a:noFill/>
          <a:ln/>
        </p:spPr>
        <p:txBody>
          <a:bodyPr wrap="square" lIns="0" tIns="0" rIns="0" bIns="0" rtlCol="0" anchor="t"/>
          <a:lstStyle/>
          <a:p>
            <a:pPr indent="0" marL="0">
              <a:lnSpc>
                <a:spcPct val="112000"/>
              </a:lnSpc>
              <a:buNone/>
            </a:pPr>
            <a:r>
              <a:rPr lang="en-US" sz="4800" b="1" dirty="0">
                <a:solidFill>
                  <a:srgbClr val="F4F0E7"/>
                </a:solidFill>
                <a:latin typeface="Alegreya" pitchFamily="34" charset="0"/>
                <a:ea typeface="Alegreya" pitchFamily="34" charset="-122"/>
                <a:cs typeface="Alegreya" pitchFamily="34" charset="-120"/>
              </a:rPr>
              <a:t>Africa &amp; Asia:</a:t>
            </a:r>
            <a:endParaRPr lang="en-US" sz="4800" dirty="0"/>
          </a:p>
        </p:txBody>
      </p:sp>
      <p:sp>
        <p:nvSpPr>
          <p:cNvPr id="22" name="Text 20"/>
          <p:cNvSpPr/>
          <p:nvPr/>
        </p:nvSpPr>
        <p:spPr>
          <a:xfrm>
            <a:off x="457200" y="1803400"/>
            <a:ext cx="6642100" cy="2413000"/>
          </a:xfrm>
          <a:prstGeom prst="rect">
            <a:avLst/>
          </a:prstGeom>
          <a:noFill/>
          <a:ln/>
        </p:spPr>
        <p:txBody>
          <a:bodyPr wrap="square" lIns="0" tIns="0" rIns="0" bIns="0" rtlCol="0" anchor="t"/>
          <a:lstStyle/>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Why Did Their</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Economic Paths</a:t>
            </a:r>
            <a:endParaRPr lang="en-US" sz="4700" dirty="0"/>
          </a:p>
          <a:p>
            <a:pPr indent="0" marL="0">
              <a:lnSpc>
                <a:spcPct val="112000"/>
              </a:lnSpc>
              <a:buNone/>
            </a:pPr>
            <a:r>
              <a:rPr lang="en-US" sz="4700" b="1" dirty="0">
                <a:solidFill>
                  <a:srgbClr val="F4F0E7"/>
                </a:solidFill>
                <a:latin typeface="Montserrat Black" pitchFamily="34" charset="0"/>
                <a:ea typeface="Montserrat Black" pitchFamily="34" charset="-122"/>
                <a:cs typeface="Montserrat Black" pitchFamily="34" charset="-120"/>
              </a:rPr>
              <a:t>Diverge?</a:t>
            </a:r>
            <a:endParaRPr lang="en-US" sz="4700" dirty="0"/>
          </a:p>
        </p:txBody>
      </p:sp>
      <p:sp>
        <p:nvSpPr>
          <p:cNvPr id="23" name="Text 21"/>
          <p:cNvSpPr/>
          <p:nvPr/>
        </p:nvSpPr>
        <p:spPr>
          <a:xfrm>
            <a:off x="457200" y="4483100"/>
            <a:ext cx="6642100" cy="660400"/>
          </a:xfrm>
          <a:prstGeom prst="rect">
            <a:avLst/>
          </a:prstGeom>
          <a:noFill/>
          <a:ln/>
        </p:spPr>
        <p:txBody>
          <a:bodyPr wrap="square" lIns="0" tIns="0" rIns="0" bIns="0" rtlCol="0" anchor="t"/>
          <a:lstStyle/>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Testing culture against history, institutions,</a:t>
            </a:r>
            <a:endParaRPr lang="en-US" sz="1400" dirty="0"/>
          </a:p>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policy and economic evidence.</a:t>
            </a:r>
            <a:endParaRPr lang="en-US" sz="1400" dirty="0"/>
          </a:p>
        </p:txBody>
      </p:sp>
      <p:sp>
        <p:nvSpPr>
          <p:cNvPr id="24" name="Shape 22"/>
          <p:cNvSpPr/>
          <p:nvPr/>
        </p:nvSpPr>
        <p:spPr>
          <a:xfrm>
            <a:off x="457200" y="5461000"/>
            <a:ext cx="3162300" cy="3073400"/>
          </a:xfrm>
          <a:prstGeom prst="rect">
            <a:avLst/>
          </a:prstGeom>
          <a:solidFill>
            <a:srgbClr val="B95332"/>
          </a:solidFill>
          <a:ln w="12700">
            <a:solidFill>
              <a:srgbClr val="B95332"/>
            </a:solidFill>
            <a:prstDash val="solid"/>
          </a:ln>
        </p:spPr>
      </p:sp>
      <p:sp>
        <p:nvSpPr>
          <p:cNvPr id="25" name="Shape 23"/>
          <p:cNvSpPr/>
          <p:nvPr/>
        </p:nvSpPr>
        <p:spPr>
          <a:xfrm>
            <a:off x="3937000" y="5461000"/>
            <a:ext cx="3162300" cy="3073400"/>
          </a:xfrm>
          <a:prstGeom prst="rect">
            <a:avLst/>
          </a:prstGeom>
          <a:solidFill>
            <a:srgbClr val="315A78"/>
          </a:solidFill>
          <a:ln w="12700">
            <a:solidFill>
              <a:srgbClr val="315A78"/>
            </a:solidFill>
            <a:prstDash val="solid"/>
          </a:ln>
        </p:spPr>
      </p:sp>
      <p:pic>
        <p:nvPicPr>
          <p:cNvPr id="26"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58800" y="5564271"/>
            <a:ext cx="2959100" cy="1965157"/>
          </a:xfrm>
          <a:prstGeom prst="rect">
            <a:avLst/>
          </a:prstGeom>
        </p:spPr>
      </p:pic>
      <p:pic>
        <p:nvPicPr>
          <p:cNvPr id="27" name="Image 1" descr="/Users/marcusgrude-grodem/Documents/GitHub/USIL/africa-asia-development-magazine/design/canva_editorial_draft/assets/print/korea_busan.jpg">    </p:cNvPr>
          <p:cNvPicPr>
            <a:picLocks noChangeAspect="1"/>
          </p:cNvPicPr>
          <p:nvPr/>
        </p:nvPicPr>
        <p:blipFill>
          <a:blip r:embed="rId2"/>
          <a:stretch>
            <a:fillRect/>
          </a:stretch>
        </p:blipFill>
        <p:spPr>
          <a:xfrm>
            <a:off x="4205817" y="5562600"/>
            <a:ext cx="2624667" cy="1968500"/>
          </a:xfrm>
          <a:prstGeom prst="rect">
            <a:avLst/>
          </a:prstGeom>
        </p:spPr>
      </p:pic>
      <p:sp>
        <p:nvSpPr>
          <p:cNvPr id="28" name="Text 24"/>
          <p:cNvSpPr/>
          <p:nvPr/>
        </p:nvSpPr>
        <p:spPr>
          <a:xfrm>
            <a:off x="6350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GHANA</a:t>
            </a:r>
            <a:endParaRPr lang="en-US" sz="1600" dirty="0"/>
          </a:p>
        </p:txBody>
      </p:sp>
      <p:sp>
        <p:nvSpPr>
          <p:cNvPr id="29" name="Text 25"/>
          <p:cNvSpPr/>
          <p:nvPr/>
        </p:nvSpPr>
        <p:spPr>
          <a:xfrm>
            <a:off x="4114800" y="7797800"/>
            <a:ext cx="2806700" cy="3302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SOUTH KOREA</a:t>
            </a:r>
            <a:endParaRPr lang="en-US" sz="1600" dirty="0"/>
          </a:p>
        </p:txBody>
      </p:sp>
      <p:sp>
        <p:nvSpPr>
          <p:cNvPr id="30" name="Text 26"/>
          <p:cNvSpPr/>
          <p:nvPr/>
        </p:nvSpPr>
        <p:spPr>
          <a:xfrm>
            <a:off x="6350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Tema port · 2020</a:t>
            </a:r>
            <a:endParaRPr lang="en-US" sz="900" dirty="0"/>
          </a:p>
        </p:txBody>
      </p:sp>
      <p:sp>
        <p:nvSpPr>
          <p:cNvPr id="31" name="Text 27"/>
          <p:cNvSpPr/>
          <p:nvPr/>
        </p:nvSpPr>
        <p:spPr>
          <a:xfrm>
            <a:off x="4114800" y="8242300"/>
            <a:ext cx="2806700" cy="215900"/>
          </a:xfrm>
          <a:prstGeom prst="rect">
            <a:avLst/>
          </a:prstGeom>
          <a:noFill/>
          <a:ln/>
        </p:spPr>
        <p:txBody>
          <a:bodyPr wrap="square" lIns="0" tIns="0" rIns="0" bIns="0" rtlCol="0" anchor="t"/>
          <a:lstStyle/>
          <a:p>
            <a:pPr indent="0" marL="0">
              <a:lnSpc>
                <a:spcPct val="112000"/>
              </a:lnSpc>
              <a:buNone/>
            </a:pPr>
            <a:r>
              <a:rPr lang="en-US" sz="900" dirty="0">
                <a:solidFill>
                  <a:srgbClr val="F4F0E7"/>
                </a:solidFill>
                <a:latin typeface="Montserrat" pitchFamily="34" charset="0"/>
                <a:ea typeface="Montserrat" pitchFamily="34" charset="-122"/>
                <a:cs typeface="Montserrat" pitchFamily="34" charset="-120"/>
              </a:rPr>
              <a:t>Busan harbour · 2012</a:t>
            </a:r>
            <a:endParaRPr lang="en-US" sz="900" dirty="0"/>
          </a:p>
        </p:txBody>
      </p:sp>
      <p:sp>
        <p:nvSpPr>
          <p:cNvPr id="32" name="Text 28"/>
          <p:cNvSpPr/>
          <p:nvPr/>
        </p:nvSpPr>
        <p:spPr>
          <a:xfrm>
            <a:off x="457200" y="8826500"/>
            <a:ext cx="6642100" cy="774700"/>
          </a:xfrm>
          <a:prstGeom prst="rect">
            <a:avLst/>
          </a:prstGeom>
          <a:noFill/>
          <a:ln/>
        </p:spPr>
        <p:txBody>
          <a:bodyPr wrap="square" lIns="0" tIns="0" rIns="0" bIns="0" rtlCol="0" anchor="t"/>
          <a:lstStyle/>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SIX COUNTRIES.</a:t>
            </a:r>
            <a:endParaRPr lang="en-US" sz="2300" dirty="0"/>
          </a:p>
          <a:p>
            <a:pPr indent="0" marL="0">
              <a:lnSpc>
                <a:spcPct val="112000"/>
              </a:lnSpc>
              <a:buNone/>
            </a:pPr>
            <a:r>
              <a:rPr lang="en-US" sz="2300" b="1" dirty="0">
                <a:solidFill>
                  <a:srgbClr val="F4F0E7"/>
                </a:solidFill>
                <a:latin typeface="Montserrat Black" pitchFamily="34" charset="0"/>
                <a:ea typeface="Montserrat Black" pitchFamily="34" charset="-122"/>
                <a:cs typeface="Montserrat Black" pitchFamily="34" charset="-120"/>
              </a:rPr>
              <a:t>MORE THAN ONE EXPLANATION.</a:t>
            </a:r>
            <a:endParaRPr lang="en-US" sz="2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START HERE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Why did their paths diverge?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Our answer: different starting points—and different abilities to build, learn and adapt.</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our evidence-led explanation, not a calculation of each cause’s contribution. Six countries do not represent two whole continents.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World Bank (1993, pp. 4–7, 20–26, 79–80, 127–130); World Bank (2020, pp. 1, 5–7, 32–33); Hofstede (2011, pp. 6–8, 9–16).</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02</a:t>
            </a:r>
            <a:endParaRPr lang="en-US" sz="1000" dirty="0"/>
          </a:p>
        </p:txBody>
      </p:sp>
      <p:sp>
        <p:nvSpPr>
          <p:cNvPr id="23" name="Text 21"/>
          <p:cNvSpPr/>
          <p:nvPr/>
        </p:nvSpPr>
        <p:spPr>
          <a:xfrm>
            <a:off x="457200" y="3175000"/>
            <a:ext cx="6642100" cy="1638300"/>
          </a:xfrm>
          <a:prstGeom prst="rect">
            <a:avLst/>
          </a:prstGeom>
          <a:noFill/>
          <a:ln/>
        </p:spPr>
        <p:txBody>
          <a:bodyPr wrap="square" lIns="0" tIns="0" rIns="0" bIns="0" rtlCol="0" anchor="t"/>
          <a:lstStyle/>
          <a:p>
            <a:pPr indent="0" marL="0">
              <a:lnSpc>
                <a:spcPct val="112000"/>
              </a:lnSpc>
              <a:buNone/>
            </a:pPr>
            <a:r>
              <a:rPr lang="en-US" sz="3500" b="1" dirty="0">
                <a:solidFill>
                  <a:srgbClr val="F4F0E7"/>
                </a:solidFill>
                <a:latin typeface="Montserrat Black" pitchFamily="34" charset="0"/>
                <a:ea typeface="Montserrat Black" pitchFamily="34" charset="-122"/>
                <a:cs typeface="Montserrat Black" pitchFamily="34" charset="-120"/>
              </a:rPr>
              <a:t>The difference was</a:t>
            </a:r>
            <a:endParaRPr lang="en-US" sz="3500" dirty="0"/>
          </a:p>
          <a:p>
            <a:pPr indent="0" marL="0">
              <a:lnSpc>
                <a:spcPct val="112000"/>
              </a:lnSpc>
              <a:buNone/>
            </a:pPr>
            <a:r>
              <a:rPr lang="en-US" sz="3500" b="1" dirty="0">
                <a:solidFill>
                  <a:srgbClr val="F4F0E7"/>
                </a:solidFill>
                <a:latin typeface="Montserrat Black" pitchFamily="34" charset="0"/>
                <a:ea typeface="Montserrat Black" pitchFamily="34" charset="-122"/>
                <a:cs typeface="Montserrat Black" pitchFamily="34" charset="-120"/>
              </a:rPr>
              <a:t>what countries could</a:t>
            </a:r>
            <a:endParaRPr lang="en-US" sz="3500" dirty="0"/>
          </a:p>
          <a:p>
            <a:pPr indent="0" marL="0">
              <a:lnSpc>
                <a:spcPct val="112000"/>
              </a:lnSpc>
              <a:buNone/>
            </a:pPr>
            <a:r>
              <a:rPr lang="en-US" sz="3500" b="1" dirty="0">
                <a:solidFill>
                  <a:srgbClr val="F4F0E7"/>
                </a:solidFill>
                <a:latin typeface="Montserrat Black" pitchFamily="34" charset="0"/>
                <a:ea typeface="Montserrat Black" pitchFamily="34" charset="-122"/>
                <a:cs typeface="Montserrat Black" pitchFamily="34" charset="-120"/>
              </a:rPr>
              <a:t>build—and improve.</a:t>
            </a:r>
            <a:endParaRPr lang="en-US" sz="3500" dirty="0"/>
          </a:p>
        </p:txBody>
      </p:sp>
      <p:sp>
        <p:nvSpPr>
          <p:cNvPr id="24" name="Text 22"/>
          <p:cNvSpPr/>
          <p:nvPr/>
        </p:nvSpPr>
        <p:spPr>
          <a:xfrm>
            <a:off x="457200" y="5092700"/>
            <a:ext cx="6642100" cy="977900"/>
          </a:xfrm>
          <a:prstGeom prst="rect">
            <a:avLst/>
          </a:prstGeom>
          <a:noFill/>
          <a:ln/>
        </p:spPr>
        <p:txBody>
          <a:bodyPr wrap="square" lIns="0" tIns="0" rIns="0" bIns="0" rtlCol="0" anchor="t"/>
          <a:lstStyle/>
          <a:p>
            <a:pPr indent="0" marL="0">
              <a:lnSpc>
                <a:spcPct val="112000"/>
              </a:lnSpc>
              <a:buNone/>
            </a:pPr>
            <a:r>
              <a:rPr lang="en-US" sz="1400" dirty="0">
                <a:solidFill>
                  <a:srgbClr val="F4F0E7"/>
                </a:solidFill>
                <a:latin typeface="Montserrat" pitchFamily="34" charset="0"/>
                <a:ea typeface="Montserrat" pitchFamily="34" charset="-122"/>
                <a:cs typeface="Montserrat" pitchFamily="34" charset="-120"/>
              </a:rPr>
              <a:t>Skills, firms and useful connections grew at different speeds. History and resources shaped the starting points. Policy, institutions, technology and world markets shaped what happened next.</a:t>
            </a:r>
            <a:endParaRPr lang="en-US" sz="1400" dirty="0"/>
          </a:p>
        </p:txBody>
      </p:sp>
      <p:sp>
        <p:nvSpPr>
          <p:cNvPr id="25" name="Text 23"/>
          <p:cNvSpPr/>
          <p:nvPr/>
        </p:nvSpPr>
        <p:spPr>
          <a:xfrm>
            <a:off x="457200" y="6388100"/>
            <a:ext cx="1206500" cy="279400"/>
          </a:xfrm>
          <a:prstGeom prst="rect">
            <a:avLst/>
          </a:prstGeom>
          <a:noFill/>
          <a:ln/>
        </p:spPr>
        <p:txBody>
          <a:bodyPr wrap="square" lIns="0" tIns="0" rIns="0" bIns="0" rtlCol="0" anchor="t"/>
          <a:lstStyle/>
          <a:p>
            <a:pP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03–08</a:t>
            </a:r>
            <a:endParaRPr lang="en-US" sz="1000" dirty="0"/>
          </a:p>
        </p:txBody>
      </p:sp>
      <p:sp>
        <p:nvSpPr>
          <p:cNvPr id="26" name="Text 24"/>
          <p:cNvSpPr/>
          <p:nvPr/>
        </p:nvSpPr>
        <p:spPr>
          <a:xfrm>
            <a:off x="1892300" y="6388100"/>
            <a:ext cx="5207000" cy="3048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Compare outcomes and starting points.</a:t>
            </a:r>
            <a:endParaRPr lang="en-US" sz="1100" dirty="0"/>
          </a:p>
        </p:txBody>
      </p:sp>
      <p:sp>
        <p:nvSpPr>
          <p:cNvPr id="27" name="Text 25"/>
          <p:cNvSpPr/>
          <p:nvPr/>
        </p:nvSpPr>
        <p:spPr>
          <a:xfrm>
            <a:off x="457200" y="6794500"/>
            <a:ext cx="1206500" cy="279400"/>
          </a:xfrm>
          <a:prstGeom prst="rect">
            <a:avLst/>
          </a:prstGeom>
          <a:noFill/>
          <a:ln/>
        </p:spPr>
        <p:txBody>
          <a:bodyPr wrap="square" lIns="0" tIns="0" rIns="0" bIns="0" rtlCol="0" anchor="t"/>
          <a:lstStyle/>
          <a:p>
            <a:pP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09–14</a:t>
            </a:r>
            <a:endParaRPr lang="en-US" sz="1000" dirty="0"/>
          </a:p>
        </p:txBody>
      </p:sp>
      <p:sp>
        <p:nvSpPr>
          <p:cNvPr id="28" name="Text 26"/>
          <p:cNvSpPr/>
          <p:nvPr/>
        </p:nvSpPr>
        <p:spPr>
          <a:xfrm>
            <a:off x="1892300" y="6794500"/>
            <a:ext cx="5207000" cy="3048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Ask how skills and production grew.</a:t>
            </a:r>
            <a:endParaRPr lang="en-US" sz="1100" dirty="0"/>
          </a:p>
        </p:txBody>
      </p:sp>
      <p:sp>
        <p:nvSpPr>
          <p:cNvPr id="29" name="Text 27"/>
          <p:cNvSpPr/>
          <p:nvPr/>
        </p:nvSpPr>
        <p:spPr>
          <a:xfrm>
            <a:off x="457200" y="7200900"/>
            <a:ext cx="1206500" cy="279400"/>
          </a:xfrm>
          <a:prstGeom prst="rect">
            <a:avLst/>
          </a:prstGeom>
          <a:noFill/>
          <a:ln/>
        </p:spPr>
        <p:txBody>
          <a:bodyPr wrap="square" lIns="0" tIns="0" rIns="0" bIns="0" rtlCol="0" anchor="t"/>
          <a:lstStyle/>
          <a:p>
            <a:pP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15–18</a:t>
            </a:r>
            <a:endParaRPr lang="en-US" sz="1000" dirty="0"/>
          </a:p>
        </p:txBody>
      </p:sp>
      <p:sp>
        <p:nvSpPr>
          <p:cNvPr id="30" name="Text 28"/>
          <p:cNvSpPr/>
          <p:nvPr/>
        </p:nvSpPr>
        <p:spPr>
          <a:xfrm>
            <a:off x="1892300" y="7200900"/>
            <a:ext cx="5207000" cy="3048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Test what culture can explain.</a:t>
            </a:r>
            <a:endParaRPr lang="en-US" sz="1100" dirty="0"/>
          </a:p>
        </p:txBody>
      </p:sp>
      <p:sp>
        <p:nvSpPr>
          <p:cNvPr id="31" name="Text 29"/>
          <p:cNvSpPr/>
          <p:nvPr/>
        </p:nvSpPr>
        <p:spPr>
          <a:xfrm>
            <a:off x="457200" y="7607300"/>
            <a:ext cx="1206500" cy="279400"/>
          </a:xfrm>
          <a:prstGeom prst="rect">
            <a:avLst/>
          </a:prstGeom>
          <a:noFill/>
          <a:ln/>
        </p:spPr>
        <p:txBody>
          <a:bodyPr wrap="square" lIns="0" tIns="0" rIns="0" bIns="0" rtlCol="0" anchor="t"/>
          <a:lstStyle/>
          <a:p>
            <a:pP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19–26</a:t>
            </a:r>
            <a:endParaRPr lang="en-US" sz="1000" dirty="0"/>
          </a:p>
        </p:txBody>
      </p:sp>
      <p:sp>
        <p:nvSpPr>
          <p:cNvPr id="32" name="Text 30"/>
          <p:cNvSpPr/>
          <p:nvPr/>
        </p:nvSpPr>
        <p:spPr>
          <a:xfrm>
            <a:off x="1892300" y="7607300"/>
            <a:ext cx="5207000" cy="3048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Challenge our ideas. Answer the question.</a:t>
            </a:r>
            <a:endParaRPr lang="en-US" sz="1100" dirty="0"/>
          </a:p>
        </p:txBody>
      </p:sp>
      <p:sp>
        <p:nvSpPr>
          <p:cNvPr id="33" name="Shape 31"/>
          <p:cNvSpPr/>
          <p:nvPr/>
        </p:nvSpPr>
        <p:spPr>
          <a:xfrm>
            <a:off x="457200" y="8216900"/>
            <a:ext cx="6642100" cy="825500"/>
          </a:xfrm>
          <a:prstGeom prst="rect">
            <a:avLst/>
          </a:prstGeom>
          <a:solidFill>
            <a:srgbClr val="F4F0E7"/>
          </a:solidFill>
          <a:ln w="12700">
            <a:solidFill>
              <a:srgbClr val="F4F0E7"/>
            </a:solidFill>
            <a:prstDash val="solid"/>
          </a:ln>
        </p:spPr>
      </p:sp>
      <p:sp>
        <p:nvSpPr>
          <p:cNvPr id="34" name="Text 32"/>
          <p:cNvSpPr/>
          <p:nvPr/>
        </p:nvSpPr>
        <p:spPr>
          <a:xfrm>
            <a:off x="635000" y="83439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35" name="Text 33"/>
          <p:cNvSpPr/>
          <p:nvPr/>
        </p:nvSpPr>
        <p:spPr>
          <a:xfrm>
            <a:off x="635000" y="8610600"/>
            <a:ext cx="6286500" cy="3556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We think culture matters—but it works alongside history and institutions. It is not a stand-alone answer to why these economies diverged.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1960: Ghana and Korea start close.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and South Korea were close in income per person—not in every starting condition.</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Income per person is an average, not a typical wage or a measure of inequality. Similar income does not mean the same history.</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03</a:t>
            </a:r>
            <a:endParaRPr lang="en-US" sz="1000" dirty="0"/>
          </a:p>
        </p:txBody>
      </p:sp>
      <p:sp>
        <p:nvSpPr>
          <p:cNvPr id="23" name="Text 21"/>
          <p:cNvSpPr/>
          <p:nvPr/>
        </p:nvSpPr>
        <p:spPr>
          <a:xfrm>
            <a:off x="4572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B95332"/>
                </a:solidFill>
                <a:latin typeface="Montserrat" pitchFamily="34" charset="0"/>
                <a:ea typeface="Montserrat" pitchFamily="34" charset="-122"/>
                <a:cs typeface="Montserrat" pitchFamily="34" charset="-120"/>
              </a:rPr>
              <a:t>US$1,101</a:t>
            </a:r>
            <a:endParaRPr lang="en-US" sz="3400" dirty="0"/>
          </a:p>
        </p:txBody>
      </p:sp>
      <p:sp>
        <p:nvSpPr>
          <p:cNvPr id="24" name="Text 22"/>
          <p:cNvSpPr/>
          <p:nvPr/>
        </p:nvSpPr>
        <p:spPr>
          <a:xfrm>
            <a:off x="3937000" y="3035300"/>
            <a:ext cx="3162300" cy="685800"/>
          </a:xfrm>
          <a:prstGeom prst="rect">
            <a:avLst/>
          </a:prstGeom>
          <a:noFill/>
          <a:ln/>
        </p:spPr>
        <p:txBody>
          <a:bodyPr wrap="square" lIns="0" tIns="0" rIns="0" bIns="0" rtlCol="0" anchor="t"/>
          <a:lstStyle/>
          <a:p>
            <a:pPr indent="0" marL="0">
              <a:lnSpc>
                <a:spcPct val="112000"/>
              </a:lnSpc>
              <a:buNone/>
            </a:pPr>
            <a:r>
              <a:rPr lang="en-US" sz="3400" b="1" dirty="0">
                <a:solidFill>
                  <a:srgbClr val="315A78"/>
                </a:solidFill>
                <a:latin typeface="Montserrat" pitchFamily="34" charset="0"/>
                <a:ea typeface="Montserrat" pitchFamily="34" charset="-122"/>
                <a:cs typeface="Montserrat" pitchFamily="34" charset="-120"/>
              </a:rPr>
              <a:t>US$1,038</a:t>
            </a:r>
            <a:endParaRPr lang="en-US" sz="3400" dirty="0"/>
          </a:p>
        </p:txBody>
      </p:sp>
      <p:sp>
        <p:nvSpPr>
          <p:cNvPr id="25" name="Shape 23"/>
          <p:cNvSpPr/>
          <p:nvPr/>
        </p:nvSpPr>
        <p:spPr>
          <a:xfrm>
            <a:off x="457200" y="3886200"/>
            <a:ext cx="127000" cy="127000"/>
          </a:xfrm>
          <a:prstGeom prst="ellipse">
            <a:avLst/>
          </a:prstGeom>
          <a:solidFill>
            <a:srgbClr val="B95332"/>
          </a:solidFill>
          <a:ln w="7620">
            <a:solidFill>
              <a:srgbClr val="252525"/>
            </a:solidFill>
            <a:prstDash val="solid"/>
          </a:ln>
        </p:spPr>
      </p:sp>
      <p:sp>
        <p:nvSpPr>
          <p:cNvPr id="26" name="Text 24"/>
          <p:cNvSpPr/>
          <p:nvPr/>
        </p:nvSpPr>
        <p:spPr>
          <a:xfrm>
            <a:off x="7112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7" name="Shape 25"/>
          <p:cNvSpPr/>
          <p:nvPr/>
        </p:nvSpPr>
        <p:spPr>
          <a:xfrm>
            <a:off x="3937000" y="3886200"/>
            <a:ext cx="127000" cy="127000"/>
          </a:xfrm>
          <a:prstGeom prst="diamond">
            <a:avLst/>
          </a:prstGeom>
          <a:solidFill>
            <a:srgbClr val="315A78"/>
          </a:solidFill>
          <a:ln w="7620">
            <a:solidFill>
              <a:srgbClr val="252525"/>
            </a:solidFill>
            <a:prstDash val="solid"/>
          </a:ln>
        </p:spPr>
      </p:sp>
      <p:sp>
        <p:nvSpPr>
          <p:cNvPr id="28" name="Text 26"/>
          <p:cNvSpPr/>
          <p:nvPr/>
        </p:nvSpPr>
        <p:spPr>
          <a:xfrm>
            <a:off x="4191000" y="3835400"/>
            <a:ext cx="29083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Text 27"/>
          <p:cNvSpPr/>
          <p:nvPr/>
        </p:nvSpPr>
        <p:spPr>
          <a:xfrm>
            <a:off x="457200" y="4406900"/>
            <a:ext cx="6642100" cy="4445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Montserrat" pitchFamily="34" charset="0"/>
                <a:ea typeface="Montserrat" pitchFamily="34" charset="-122"/>
                <a:cs typeface="Montserrat" pitchFamily="34" charset="-120"/>
              </a:rPr>
              <a:t>Just US$63 apart.</a:t>
            </a:r>
            <a:endParaRPr lang="en-US" sz="2100" dirty="0"/>
          </a:p>
        </p:txBody>
      </p:sp>
      <p:sp>
        <p:nvSpPr>
          <p:cNvPr id="30" name="Shape 28"/>
          <p:cNvSpPr/>
          <p:nvPr/>
        </p:nvSpPr>
        <p:spPr>
          <a:xfrm>
            <a:off x="457200" y="5232400"/>
            <a:ext cx="127000" cy="127000"/>
          </a:xfrm>
          <a:prstGeom prst="ellipse">
            <a:avLst/>
          </a:prstGeom>
          <a:solidFill>
            <a:srgbClr val="B95332"/>
          </a:solidFill>
          <a:ln w="7620">
            <a:solidFill>
              <a:srgbClr val="252525"/>
            </a:solidFill>
            <a:prstDash val="solid"/>
          </a:ln>
        </p:spPr>
      </p:sp>
      <p:sp>
        <p:nvSpPr>
          <p:cNvPr id="31" name="Text 29"/>
          <p:cNvSpPr/>
          <p:nvPr/>
        </p:nvSpPr>
        <p:spPr>
          <a:xfrm>
            <a:off x="711200" y="51816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32" name="Shape 30"/>
          <p:cNvSpPr/>
          <p:nvPr/>
        </p:nvSpPr>
        <p:spPr>
          <a:xfrm>
            <a:off x="2705100" y="5295900"/>
            <a:ext cx="2283349" cy="76200"/>
          </a:xfrm>
          <a:prstGeom prst="rect">
            <a:avLst/>
          </a:prstGeom>
          <a:solidFill>
            <a:srgbClr val="B95332"/>
          </a:solidFill>
          <a:ln w="12700">
            <a:solidFill>
              <a:srgbClr val="B95332"/>
            </a:solidFill>
            <a:prstDash val="solid"/>
          </a:ln>
        </p:spPr>
      </p:sp>
      <p:sp>
        <p:nvSpPr>
          <p:cNvPr id="33" name="Shape 31"/>
          <p:cNvSpPr/>
          <p:nvPr/>
        </p:nvSpPr>
        <p:spPr>
          <a:xfrm>
            <a:off x="4950349" y="5295900"/>
            <a:ext cx="76200" cy="76200"/>
          </a:xfrm>
          <a:prstGeom prst="ellipse">
            <a:avLst/>
          </a:prstGeom>
          <a:solidFill>
            <a:srgbClr val="B95332"/>
          </a:solidFill>
          <a:ln w="7620">
            <a:solidFill>
              <a:srgbClr val="252525"/>
            </a:solidFill>
            <a:prstDash val="solid"/>
          </a:ln>
        </p:spPr>
      </p:sp>
      <p:sp>
        <p:nvSpPr>
          <p:cNvPr id="34" name="Text 32"/>
          <p:cNvSpPr/>
          <p:nvPr/>
        </p:nvSpPr>
        <p:spPr>
          <a:xfrm>
            <a:off x="5956300" y="51943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US$1,101</a:t>
            </a:r>
            <a:endParaRPr lang="en-US" sz="950" dirty="0"/>
          </a:p>
        </p:txBody>
      </p:sp>
      <p:sp>
        <p:nvSpPr>
          <p:cNvPr id="35" name="Shape 33"/>
          <p:cNvSpPr/>
          <p:nvPr/>
        </p:nvSpPr>
        <p:spPr>
          <a:xfrm>
            <a:off x="457200" y="5727700"/>
            <a:ext cx="127000" cy="127000"/>
          </a:xfrm>
          <a:prstGeom prst="rect">
            <a:avLst/>
          </a:prstGeom>
          <a:solidFill>
            <a:srgbClr val="3F684E"/>
          </a:solidFill>
          <a:ln w="7620">
            <a:solidFill>
              <a:srgbClr val="252525"/>
            </a:solidFill>
            <a:prstDash val="solid"/>
          </a:ln>
        </p:spPr>
      </p:sp>
      <p:sp>
        <p:nvSpPr>
          <p:cNvPr id="36" name="Text 34"/>
          <p:cNvSpPr/>
          <p:nvPr/>
        </p:nvSpPr>
        <p:spPr>
          <a:xfrm>
            <a:off x="711200" y="56769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7" name="Shape 35"/>
          <p:cNvSpPr/>
          <p:nvPr/>
        </p:nvSpPr>
        <p:spPr>
          <a:xfrm>
            <a:off x="2705100" y="5791200"/>
            <a:ext cx="817001" cy="76200"/>
          </a:xfrm>
          <a:prstGeom prst="rect">
            <a:avLst/>
          </a:prstGeom>
          <a:solidFill>
            <a:srgbClr val="3F684E"/>
          </a:solidFill>
          <a:ln w="12700">
            <a:solidFill>
              <a:srgbClr val="3F684E"/>
            </a:solidFill>
            <a:prstDash val="solid"/>
          </a:ln>
        </p:spPr>
      </p:sp>
      <p:sp>
        <p:nvSpPr>
          <p:cNvPr id="38" name="Shape 36"/>
          <p:cNvSpPr/>
          <p:nvPr/>
        </p:nvSpPr>
        <p:spPr>
          <a:xfrm>
            <a:off x="3484001" y="5791200"/>
            <a:ext cx="76200" cy="76200"/>
          </a:xfrm>
          <a:prstGeom prst="rect">
            <a:avLst/>
          </a:prstGeom>
          <a:solidFill>
            <a:srgbClr val="3F684E"/>
          </a:solidFill>
          <a:ln w="7620">
            <a:solidFill>
              <a:srgbClr val="252525"/>
            </a:solidFill>
            <a:prstDash val="solid"/>
          </a:ln>
        </p:spPr>
      </p:sp>
      <p:sp>
        <p:nvSpPr>
          <p:cNvPr id="39" name="Text 37"/>
          <p:cNvSpPr/>
          <p:nvPr/>
        </p:nvSpPr>
        <p:spPr>
          <a:xfrm>
            <a:off x="5956300" y="56896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US$394</a:t>
            </a:r>
            <a:endParaRPr lang="en-US" sz="950" dirty="0"/>
          </a:p>
        </p:txBody>
      </p:sp>
      <p:sp>
        <p:nvSpPr>
          <p:cNvPr id="40" name="Shape 38"/>
          <p:cNvSpPr/>
          <p:nvPr/>
        </p:nvSpPr>
        <p:spPr>
          <a:xfrm>
            <a:off x="457200" y="6223000"/>
            <a:ext cx="127000" cy="127000"/>
          </a:xfrm>
          <a:prstGeom prst="triangle">
            <a:avLst/>
          </a:prstGeom>
          <a:solidFill>
            <a:srgbClr val="D6A23A"/>
          </a:solidFill>
          <a:ln w="7620">
            <a:solidFill>
              <a:srgbClr val="252525"/>
            </a:solidFill>
            <a:prstDash val="solid"/>
          </a:ln>
        </p:spPr>
      </p:sp>
      <p:sp>
        <p:nvSpPr>
          <p:cNvPr id="41" name="Text 39"/>
          <p:cNvSpPr/>
          <p:nvPr/>
        </p:nvSpPr>
        <p:spPr>
          <a:xfrm>
            <a:off x="711200" y="61722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42" name="Shape 40"/>
          <p:cNvSpPr/>
          <p:nvPr/>
        </p:nvSpPr>
        <p:spPr>
          <a:xfrm>
            <a:off x="2705100" y="6267450"/>
            <a:ext cx="2944319" cy="114300"/>
          </a:xfrm>
          <a:prstGeom prst="rect">
            <a:avLst/>
          </a:prstGeom>
          <a:solidFill>
            <a:srgbClr val="D6A23A"/>
          </a:solidFill>
          <a:ln w="7620">
            <a:solidFill>
              <a:srgbClr val="252525"/>
            </a:solidFill>
            <a:prstDash val="solid"/>
          </a:ln>
        </p:spPr>
      </p:sp>
      <p:sp>
        <p:nvSpPr>
          <p:cNvPr id="43" name="Shape 41"/>
          <p:cNvSpPr/>
          <p:nvPr/>
        </p:nvSpPr>
        <p:spPr>
          <a:xfrm>
            <a:off x="2705100" y="6286500"/>
            <a:ext cx="2944319" cy="76200"/>
          </a:xfrm>
          <a:prstGeom prst="rect">
            <a:avLst/>
          </a:prstGeom>
          <a:solidFill>
            <a:srgbClr val="D6A23A"/>
          </a:solidFill>
          <a:ln w="12700">
            <a:solidFill>
              <a:srgbClr val="D6A23A"/>
            </a:solidFill>
            <a:prstDash val="solid"/>
          </a:ln>
        </p:spPr>
      </p:sp>
      <p:sp>
        <p:nvSpPr>
          <p:cNvPr id="44" name="Shape 42"/>
          <p:cNvSpPr/>
          <p:nvPr/>
        </p:nvSpPr>
        <p:spPr>
          <a:xfrm>
            <a:off x="5611319" y="6286500"/>
            <a:ext cx="76200" cy="76200"/>
          </a:xfrm>
          <a:prstGeom prst="triangle">
            <a:avLst/>
          </a:prstGeom>
          <a:solidFill>
            <a:srgbClr val="D6A23A"/>
          </a:solidFill>
          <a:ln w="7620">
            <a:solidFill>
              <a:srgbClr val="252525"/>
            </a:solidFill>
            <a:prstDash val="solid"/>
          </a:ln>
        </p:spPr>
      </p:sp>
      <p:sp>
        <p:nvSpPr>
          <p:cNvPr id="45" name="Text 43"/>
          <p:cNvSpPr/>
          <p:nvPr/>
        </p:nvSpPr>
        <p:spPr>
          <a:xfrm>
            <a:off x="5956300" y="61849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US$1,419</a:t>
            </a:r>
            <a:endParaRPr lang="en-US" sz="950" dirty="0"/>
          </a:p>
        </p:txBody>
      </p:sp>
      <p:sp>
        <p:nvSpPr>
          <p:cNvPr id="46" name="Shape 44"/>
          <p:cNvSpPr/>
          <p:nvPr/>
        </p:nvSpPr>
        <p:spPr>
          <a:xfrm>
            <a:off x="457200" y="6718300"/>
            <a:ext cx="127000" cy="127000"/>
          </a:xfrm>
          <a:prstGeom prst="diamond">
            <a:avLst/>
          </a:prstGeom>
          <a:solidFill>
            <a:srgbClr val="315A78"/>
          </a:solidFill>
          <a:ln w="7620">
            <a:solidFill>
              <a:srgbClr val="252525"/>
            </a:solidFill>
            <a:prstDash val="solid"/>
          </a:ln>
        </p:spPr>
      </p:sp>
      <p:sp>
        <p:nvSpPr>
          <p:cNvPr id="47" name="Text 45"/>
          <p:cNvSpPr/>
          <p:nvPr/>
        </p:nvSpPr>
        <p:spPr>
          <a:xfrm>
            <a:off x="711200" y="66675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8" name="Shape 46"/>
          <p:cNvSpPr/>
          <p:nvPr/>
        </p:nvSpPr>
        <p:spPr>
          <a:xfrm>
            <a:off x="2705100" y="6781800"/>
            <a:ext cx="2152596" cy="76200"/>
          </a:xfrm>
          <a:prstGeom prst="rect">
            <a:avLst/>
          </a:prstGeom>
          <a:solidFill>
            <a:srgbClr val="315A78"/>
          </a:solidFill>
          <a:ln w="12700">
            <a:solidFill>
              <a:srgbClr val="315A78"/>
            </a:solidFill>
            <a:prstDash val="solid"/>
          </a:ln>
        </p:spPr>
      </p:sp>
      <p:sp>
        <p:nvSpPr>
          <p:cNvPr id="49" name="Shape 47"/>
          <p:cNvSpPr/>
          <p:nvPr/>
        </p:nvSpPr>
        <p:spPr>
          <a:xfrm>
            <a:off x="4819596" y="6781800"/>
            <a:ext cx="76200" cy="76200"/>
          </a:xfrm>
          <a:prstGeom prst="diamond">
            <a:avLst/>
          </a:prstGeom>
          <a:solidFill>
            <a:srgbClr val="315A78"/>
          </a:solidFill>
          <a:ln w="7620">
            <a:solidFill>
              <a:srgbClr val="252525"/>
            </a:solidFill>
            <a:prstDash val="solid"/>
          </a:ln>
        </p:spPr>
      </p:sp>
      <p:sp>
        <p:nvSpPr>
          <p:cNvPr id="50" name="Text 48"/>
          <p:cNvSpPr/>
          <p:nvPr/>
        </p:nvSpPr>
        <p:spPr>
          <a:xfrm>
            <a:off x="5956300" y="66802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US$1,038</a:t>
            </a:r>
            <a:endParaRPr lang="en-US" sz="950" dirty="0"/>
          </a:p>
        </p:txBody>
      </p:sp>
      <p:sp>
        <p:nvSpPr>
          <p:cNvPr id="51" name="Shape 49"/>
          <p:cNvSpPr/>
          <p:nvPr/>
        </p:nvSpPr>
        <p:spPr>
          <a:xfrm>
            <a:off x="457200" y="7213600"/>
            <a:ext cx="127000" cy="127000"/>
          </a:xfrm>
          <a:prstGeom prst="hexagon">
            <a:avLst/>
          </a:prstGeom>
          <a:solidFill>
            <a:srgbClr val="3E7568"/>
          </a:solidFill>
          <a:ln w="7620">
            <a:solidFill>
              <a:srgbClr val="252525"/>
            </a:solidFill>
            <a:prstDash val="solid"/>
          </a:ln>
        </p:spPr>
      </p:sp>
      <p:sp>
        <p:nvSpPr>
          <p:cNvPr id="52" name="Text 50"/>
          <p:cNvSpPr/>
          <p:nvPr/>
        </p:nvSpPr>
        <p:spPr>
          <a:xfrm>
            <a:off x="711200" y="71628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53" name="Shape 51"/>
          <p:cNvSpPr/>
          <p:nvPr/>
        </p:nvSpPr>
        <p:spPr>
          <a:xfrm>
            <a:off x="2705100" y="7277100"/>
            <a:ext cx="2626760" cy="76200"/>
          </a:xfrm>
          <a:prstGeom prst="rect">
            <a:avLst/>
          </a:prstGeom>
          <a:solidFill>
            <a:srgbClr val="3E7568"/>
          </a:solidFill>
          <a:ln w="12700">
            <a:solidFill>
              <a:srgbClr val="3E7568"/>
            </a:solidFill>
            <a:prstDash val="solid"/>
          </a:ln>
        </p:spPr>
      </p:sp>
      <p:sp>
        <p:nvSpPr>
          <p:cNvPr id="54" name="Shape 52"/>
          <p:cNvSpPr/>
          <p:nvPr/>
        </p:nvSpPr>
        <p:spPr>
          <a:xfrm>
            <a:off x="5293760" y="7277100"/>
            <a:ext cx="76200" cy="76200"/>
          </a:xfrm>
          <a:prstGeom prst="hexagon">
            <a:avLst/>
          </a:prstGeom>
          <a:solidFill>
            <a:srgbClr val="3E7568"/>
          </a:solidFill>
          <a:ln w="7620">
            <a:solidFill>
              <a:srgbClr val="252525"/>
            </a:solidFill>
            <a:prstDash val="solid"/>
          </a:ln>
        </p:spPr>
      </p:sp>
      <p:sp>
        <p:nvSpPr>
          <p:cNvPr id="55" name="Text 53"/>
          <p:cNvSpPr/>
          <p:nvPr/>
        </p:nvSpPr>
        <p:spPr>
          <a:xfrm>
            <a:off x="5956300" y="71755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US$1,266 †</a:t>
            </a:r>
            <a:endParaRPr lang="en-US" sz="950" dirty="0"/>
          </a:p>
        </p:txBody>
      </p:sp>
      <p:sp>
        <p:nvSpPr>
          <p:cNvPr id="56" name="Shape 54"/>
          <p:cNvSpPr/>
          <p:nvPr/>
        </p:nvSpPr>
        <p:spPr>
          <a:xfrm>
            <a:off x="457200" y="7752080"/>
            <a:ext cx="127000" cy="40640"/>
          </a:xfrm>
          <a:prstGeom prst="rect">
            <a:avLst/>
          </a:prstGeom>
          <a:solidFill>
            <a:srgbClr val="252525"/>
          </a:solidFill>
          <a:ln w="12700">
            <a:solidFill>
              <a:srgbClr val="252525"/>
            </a:solidFill>
            <a:prstDash val="solid"/>
          </a:ln>
        </p:spPr>
      </p:sp>
      <p:sp>
        <p:nvSpPr>
          <p:cNvPr id="57" name="Shape 55"/>
          <p:cNvSpPr/>
          <p:nvPr/>
        </p:nvSpPr>
        <p:spPr>
          <a:xfrm>
            <a:off x="500380" y="7708900"/>
            <a:ext cx="40640" cy="127000"/>
          </a:xfrm>
          <a:prstGeom prst="rect">
            <a:avLst/>
          </a:prstGeom>
          <a:solidFill>
            <a:srgbClr val="252525"/>
          </a:solidFill>
          <a:ln w="12700">
            <a:solidFill>
              <a:srgbClr val="252525"/>
            </a:solidFill>
            <a:prstDash val="solid"/>
          </a:ln>
        </p:spPr>
      </p:sp>
      <p:sp>
        <p:nvSpPr>
          <p:cNvPr id="58" name="Shape 56"/>
          <p:cNvSpPr/>
          <p:nvPr/>
        </p:nvSpPr>
        <p:spPr>
          <a:xfrm>
            <a:off x="457200" y="7760970"/>
            <a:ext cx="127000" cy="22860"/>
          </a:xfrm>
          <a:prstGeom prst="rect">
            <a:avLst/>
          </a:prstGeom>
          <a:solidFill>
            <a:srgbClr val="A63A3A"/>
          </a:solidFill>
          <a:ln w="12700">
            <a:solidFill>
              <a:srgbClr val="A63A3A"/>
            </a:solidFill>
            <a:prstDash val="solid"/>
          </a:ln>
        </p:spPr>
      </p:sp>
      <p:sp>
        <p:nvSpPr>
          <p:cNvPr id="59" name="Shape 57"/>
          <p:cNvSpPr/>
          <p:nvPr/>
        </p:nvSpPr>
        <p:spPr>
          <a:xfrm>
            <a:off x="509270" y="7708900"/>
            <a:ext cx="22860" cy="127000"/>
          </a:xfrm>
          <a:prstGeom prst="rect">
            <a:avLst/>
          </a:prstGeom>
          <a:solidFill>
            <a:srgbClr val="A63A3A"/>
          </a:solidFill>
          <a:ln w="12700">
            <a:solidFill>
              <a:srgbClr val="A63A3A"/>
            </a:solidFill>
            <a:prstDash val="solid"/>
          </a:ln>
        </p:spPr>
      </p:sp>
      <p:sp>
        <p:nvSpPr>
          <p:cNvPr id="60" name="Text 58"/>
          <p:cNvSpPr/>
          <p:nvPr/>
        </p:nvSpPr>
        <p:spPr>
          <a:xfrm>
            <a:off x="711200" y="7658100"/>
            <a:ext cx="1841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1" name="Shape 59"/>
          <p:cNvSpPr/>
          <p:nvPr/>
        </p:nvSpPr>
        <p:spPr>
          <a:xfrm>
            <a:off x="2705100" y="7772400"/>
            <a:ext cx="2331099" cy="76200"/>
          </a:xfrm>
          <a:prstGeom prst="rect">
            <a:avLst/>
          </a:prstGeom>
          <a:solidFill>
            <a:srgbClr val="A63A3A"/>
          </a:solidFill>
          <a:ln w="12700">
            <a:solidFill>
              <a:srgbClr val="A63A3A"/>
            </a:solidFill>
            <a:prstDash val="solid"/>
          </a:ln>
        </p:spPr>
      </p:sp>
      <p:sp>
        <p:nvSpPr>
          <p:cNvPr id="62" name="Shape 60"/>
          <p:cNvSpPr/>
          <p:nvPr/>
        </p:nvSpPr>
        <p:spPr>
          <a:xfrm>
            <a:off x="4998099" y="7790180"/>
            <a:ext cx="76200" cy="40640"/>
          </a:xfrm>
          <a:prstGeom prst="rect">
            <a:avLst/>
          </a:prstGeom>
          <a:solidFill>
            <a:srgbClr val="252525"/>
          </a:solidFill>
          <a:ln w="12700">
            <a:solidFill>
              <a:srgbClr val="252525"/>
            </a:solidFill>
            <a:prstDash val="solid"/>
          </a:ln>
        </p:spPr>
      </p:sp>
      <p:sp>
        <p:nvSpPr>
          <p:cNvPr id="63" name="Shape 61"/>
          <p:cNvSpPr/>
          <p:nvPr/>
        </p:nvSpPr>
        <p:spPr>
          <a:xfrm>
            <a:off x="5015879" y="7772400"/>
            <a:ext cx="40640" cy="76200"/>
          </a:xfrm>
          <a:prstGeom prst="rect">
            <a:avLst/>
          </a:prstGeom>
          <a:solidFill>
            <a:srgbClr val="252525"/>
          </a:solidFill>
          <a:ln w="12700">
            <a:solidFill>
              <a:srgbClr val="252525"/>
            </a:solidFill>
            <a:prstDash val="solid"/>
          </a:ln>
        </p:spPr>
      </p:sp>
      <p:sp>
        <p:nvSpPr>
          <p:cNvPr id="64" name="Shape 62"/>
          <p:cNvSpPr/>
          <p:nvPr/>
        </p:nvSpPr>
        <p:spPr>
          <a:xfrm>
            <a:off x="4998099" y="7799070"/>
            <a:ext cx="76200" cy="22860"/>
          </a:xfrm>
          <a:prstGeom prst="rect">
            <a:avLst/>
          </a:prstGeom>
          <a:solidFill>
            <a:srgbClr val="A63A3A"/>
          </a:solidFill>
          <a:ln w="12700">
            <a:solidFill>
              <a:srgbClr val="A63A3A"/>
            </a:solidFill>
            <a:prstDash val="solid"/>
          </a:ln>
        </p:spPr>
      </p:sp>
      <p:sp>
        <p:nvSpPr>
          <p:cNvPr id="65" name="Shape 63"/>
          <p:cNvSpPr/>
          <p:nvPr/>
        </p:nvSpPr>
        <p:spPr>
          <a:xfrm>
            <a:off x="5024769" y="7772400"/>
            <a:ext cx="22860" cy="76200"/>
          </a:xfrm>
          <a:prstGeom prst="rect">
            <a:avLst/>
          </a:prstGeom>
          <a:solidFill>
            <a:srgbClr val="A63A3A"/>
          </a:solidFill>
          <a:ln w="12700">
            <a:solidFill>
              <a:srgbClr val="A63A3A"/>
            </a:solidFill>
            <a:prstDash val="solid"/>
          </a:ln>
        </p:spPr>
      </p:sp>
      <p:sp>
        <p:nvSpPr>
          <p:cNvPr id="66" name="Text 64"/>
          <p:cNvSpPr/>
          <p:nvPr/>
        </p:nvSpPr>
        <p:spPr>
          <a:xfrm>
            <a:off x="5956300" y="7670800"/>
            <a:ext cx="11430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US$1,124</a:t>
            </a:r>
            <a:endParaRPr lang="en-US" sz="950" dirty="0"/>
          </a:p>
        </p:txBody>
      </p:sp>
      <p:sp>
        <p:nvSpPr>
          <p:cNvPr id="67" name="Text 65"/>
          <p:cNvSpPr/>
          <p:nvPr/>
        </p:nvSpPr>
        <p:spPr>
          <a:xfrm>
            <a:off x="457200" y="8394700"/>
            <a:ext cx="6642100" cy="419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Bar scale: US$0–1,500. † Malaysia: retrospective territorial series; 1960 predates the 1963 federation and Singapore’s 1965 exit.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GAP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2020: the paths have split.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 same income measure. Six very different outcomes.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the COVID-19 year. The comparison does not measure purchasing power, freedom, health or the causes of growth.</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04</a:t>
            </a:r>
            <a:endParaRPr lang="en-US" sz="1000" dirty="0"/>
          </a:p>
        </p:txBody>
      </p:sp>
      <p:sp>
        <p:nvSpPr>
          <p:cNvPr id="23" name="Shape 21"/>
          <p:cNvSpPr/>
          <p:nvPr/>
        </p:nvSpPr>
        <p:spPr>
          <a:xfrm>
            <a:off x="457200" y="3289300"/>
            <a:ext cx="127000" cy="127000"/>
          </a:xfrm>
          <a:prstGeom prst="ellipse">
            <a:avLst/>
          </a:prstGeom>
          <a:solidFill>
            <a:srgbClr val="B95332"/>
          </a:solidFill>
          <a:ln w="7620">
            <a:solidFill>
              <a:srgbClr val="252525"/>
            </a:solidFill>
            <a:prstDash val="solid"/>
          </a:ln>
        </p:spPr>
      </p:sp>
      <p:sp>
        <p:nvSpPr>
          <p:cNvPr id="24" name="Text 22"/>
          <p:cNvSpPr/>
          <p:nvPr/>
        </p:nvSpPr>
        <p:spPr>
          <a:xfrm>
            <a:off x="711200" y="32385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5" name="Shape 23"/>
          <p:cNvSpPr/>
          <p:nvPr/>
        </p:nvSpPr>
        <p:spPr>
          <a:xfrm>
            <a:off x="2590800" y="3359150"/>
            <a:ext cx="171576" cy="114300"/>
          </a:xfrm>
          <a:prstGeom prst="rect">
            <a:avLst/>
          </a:prstGeom>
          <a:solidFill>
            <a:srgbClr val="B95332"/>
          </a:solidFill>
          <a:ln w="12700">
            <a:solidFill>
              <a:srgbClr val="B95332"/>
            </a:solidFill>
            <a:prstDash val="solid"/>
          </a:ln>
        </p:spPr>
      </p:sp>
      <p:sp>
        <p:nvSpPr>
          <p:cNvPr id="26" name="Shape 24"/>
          <p:cNvSpPr/>
          <p:nvPr/>
        </p:nvSpPr>
        <p:spPr>
          <a:xfrm>
            <a:off x="2724276" y="3378200"/>
            <a:ext cx="76200" cy="76200"/>
          </a:xfrm>
          <a:prstGeom prst="ellipse">
            <a:avLst/>
          </a:prstGeom>
          <a:solidFill>
            <a:srgbClr val="B95332"/>
          </a:solidFill>
          <a:ln w="7620">
            <a:solidFill>
              <a:srgbClr val="252525"/>
            </a:solidFill>
            <a:prstDash val="solid"/>
          </a:ln>
        </p:spPr>
      </p:sp>
      <p:sp>
        <p:nvSpPr>
          <p:cNvPr id="27" name="Text 25"/>
          <p:cNvSpPr/>
          <p:nvPr/>
        </p:nvSpPr>
        <p:spPr>
          <a:xfrm>
            <a:off x="5803900" y="32639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US$1,970</a:t>
            </a:r>
            <a:endParaRPr lang="en-US" sz="1200" dirty="0"/>
          </a:p>
        </p:txBody>
      </p:sp>
      <p:sp>
        <p:nvSpPr>
          <p:cNvPr id="28" name="Shape 26"/>
          <p:cNvSpPr/>
          <p:nvPr/>
        </p:nvSpPr>
        <p:spPr>
          <a:xfrm>
            <a:off x="457200" y="4038600"/>
            <a:ext cx="127000" cy="127000"/>
          </a:xfrm>
          <a:prstGeom prst="rect">
            <a:avLst/>
          </a:prstGeom>
          <a:solidFill>
            <a:srgbClr val="3F684E"/>
          </a:solidFill>
          <a:ln w="7620">
            <a:solidFill>
              <a:srgbClr val="252525"/>
            </a:solidFill>
            <a:prstDash val="solid"/>
          </a:ln>
        </p:spPr>
      </p:sp>
      <p:sp>
        <p:nvSpPr>
          <p:cNvPr id="29" name="Text 27"/>
          <p:cNvSpPr/>
          <p:nvPr/>
        </p:nvSpPr>
        <p:spPr>
          <a:xfrm>
            <a:off x="711200" y="39878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30" name="Shape 28"/>
          <p:cNvSpPr/>
          <p:nvPr/>
        </p:nvSpPr>
        <p:spPr>
          <a:xfrm>
            <a:off x="2590800" y="4108450"/>
            <a:ext cx="544656" cy="114300"/>
          </a:xfrm>
          <a:prstGeom prst="rect">
            <a:avLst/>
          </a:prstGeom>
          <a:solidFill>
            <a:srgbClr val="3F684E"/>
          </a:solidFill>
          <a:ln w="12700">
            <a:solidFill>
              <a:srgbClr val="3F684E"/>
            </a:solidFill>
            <a:prstDash val="solid"/>
          </a:ln>
        </p:spPr>
      </p:sp>
      <p:sp>
        <p:nvSpPr>
          <p:cNvPr id="31" name="Shape 29"/>
          <p:cNvSpPr/>
          <p:nvPr/>
        </p:nvSpPr>
        <p:spPr>
          <a:xfrm>
            <a:off x="3097356" y="4127500"/>
            <a:ext cx="76200" cy="76200"/>
          </a:xfrm>
          <a:prstGeom prst="rect">
            <a:avLst/>
          </a:prstGeom>
          <a:solidFill>
            <a:srgbClr val="3F684E"/>
          </a:solidFill>
          <a:ln w="7620">
            <a:solidFill>
              <a:srgbClr val="252525"/>
            </a:solidFill>
            <a:prstDash val="solid"/>
          </a:ln>
        </p:spPr>
      </p:sp>
      <p:sp>
        <p:nvSpPr>
          <p:cNvPr id="32" name="Text 30"/>
          <p:cNvSpPr/>
          <p:nvPr/>
        </p:nvSpPr>
        <p:spPr>
          <a:xfrm>
            <a:off x="5803900" y="40132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US$6,254</a:t>
            </a:r>
            <a:endParaRPr lang="en-US" sz="1200" dirty="0"/>
          </a:p>
        </p:txBody>
      </p:sp>
      <p:sp>
        <p:nvSpPr>
          <p:cNvPr id="33" name="Shape 31"/>
          <p:cNvSpPr/>
          <p:nvPr/>
        </p:nvSpPr>
        <p:spPr>
          <a:xfrm>
            <a:off x="457200" y="4787900"/>
            <a:ext cx="127000" cy="127000"/>
          </a:xfrm>
          <a:prstGeom prst="triangle">
            <a:avLst/>
          </a:prstGeom>
          <a:solidFill>
            <a:srgbClr val="D6A23A"/>
          </a:solidFill>
          <a:ln w="7620">
            <a:solidFill>
              <a:srgbClr val="252525"/>
            </a:solidFill>
            <a:prstDash val="solid"/>
          </a:ln>
        </p:spPr>
      </p:sp>
      <p:sp>
        <p:nvSpPr>
          <p:cNvPr id="34" name="Text 32"/>
          <p:cNvSpPr/>
          <p:nvPr/>
        </p:nvSpPr>
        <p:spPr>
          <a:xfrm>
            <a:off x="711200" y="47371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5" name="Shape 33"/>
          <p:cNvSpPr/>
          <p:nvPr/>
        </p:nvSpPr>
        <p:spPr>
          <a:xfrm>
            <a:off x="2590800" y="4838700"/>
            <a:ext cx="830240" cy="152400"/>
          </a:xfrm>
          <a:prstGeom prst="rect">
            <a:avLst/>
          </a:prstGeom>
          <a:solidFill>
            <a:srgbClr val="D6A23A"/>
          </a:solidFill>
          <a:ln w="7620">
            <a:solidFill>
              <a:srgbClr val="252525"/>
            </a:solidFill>
            <a:prstDash val="solid"/>
          </a:ln>
        </p:spPr>
      </p:sp>
      <p:sp>
        <p:nvSpPr>
          <p:cNvPr id="36" name="Shape 34"/>
          <p:cNvSpPr/>
          <p:nvPr/>
        </p:nvSpPr>
        <p:spPr>
          <a:xfrm>
            <a:off x="2590800" y="4857750"/>
            <a:ext cx="830240" cy="114300"/>
          </a:xfrm>
          <a:prstGeom prst="rect">
            <a:avLst/>
          </a:prstGeom>
          <a:solidFill>
            <a:srgbClr val="D6A23A"/>
          </a:solidFill>
          <a:ln w="12700">
            <a:solidFill>
              <a:srgbClr val="D6A23A"/>
            </a:solidFill>
            <a:prstDash val="solid"/>
          </a:ln>
        </p:spPr>
      </p:sp>
      <p:sp>
        <p:nvSpPr>
          <p:cNvPr id="37" name="Shape 35"/>
          <p:cNvSpPr/>
          <p:nvPr/>
        </p:nvSpPr>
        <p:spPr>
          <a:xfrm>
            <a:off x="3382940" y="4876800"/>
            <a:ext cx="76200" cy="76200"/>
          </a:xfrm>
          <a:prstGeom prst="triangle">
            <a:avLst/>
          </a:prstGeom>
          <a:solidFill>
            <a:srgbClr val="D6A23A"/>
          </a:solidFill>
          <a:ln w="7620">
            <a:solidFill>
              <a:srgbClr val="252525"/>
            </a:solidFill>
            <a:prstDash val="solid"/>
          </a:ln>
        </p:spPr>
      </p:sp>
      <p:sp>
        <p:nvSpPr>
          <p:cNvPr id="38" name="Text 36"/>
          <p:cNvSpPr/>
          <p:nvPr/>
        </p:nvSpPr>
        <p:spPr>
          <a:xfrm>
            <a:off x="5803900" y="47625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US$9,534</a:t>
            </a:r>
            <a:endParaRPr lang="en-US" sz="1200" dirty="0"/>
          </a:p>
        </p:txBody>
      </p:sp>
      <p:sp>
        <p:nvSpPr>
          <p:cNvPr id="39" name="Shape 37"/>
          <p:cNvSpPr/>
          <p:nvPr/>
        </p:nvSpPr>
        <p:spPr>
          <a:xfrm>
            <a:off x="457200" y="5537200"/>
            <a:ext cx="127000" cy="127000"/>
          </a:xfrm>
          <a:prstGeom prst="diamond">
            <a:avLst/>
          </a:prstGeom>
          <a:solidFill>
            <a:srgbClr val="315A78"/>
          </a:solidFill>
          <a:ln w="7620">
            <a:solidFill>
              <a:srgbClr val="252525"/>
            </a:solidFill>
            <a:prstDash val="solid"/>
          </a:ln>
        </p:spPr>
      </p:sp>
      <p:sp>
        <p:nvSpPr>
          <p:cNvPr id="40" name="Text 38"/>
          <p:cNvSpPr/>
          <p:nvPr/>
        </p:nvSpPr>
        <p:spPr>
          <a:xfrm>
            <a:off x="711200" y="54864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41" name="Shape 39"/>
          <p:cNvSpPr/>
          <p:nvPr/>
        </p:nvSpPr>
        <p:spPr>
          <a:xfrm>
            <a:off x="2590800" y="5607050"/>
            <a:ext cx="2892633" cy="114300"/>
          </a:xfrm>
          <a:prstGeom prst="rect">
            <a:avLst/>
          </a:prstGeom>
          <a:solidFill>
            <a:srgbClr val="315A78"/>
          </a:solidFill>
          <a:ln w="12700">
            <a:solidFill>
              <a:srgbClr val="315A78"/>
            </a:solidFill>
            <a:prstDash val="solid"/>
          </a:ln>
        </p:spPr>
      </p:sp>
      <p:sp>
        <p:nvSpPr>
          <p:cNvPr id="42" name="Shape 40"/>
          <p:cNvSpPr/>
          <p:nvPr/>
        </p:nvSpPr>
        <p:spPr>
          <a:xfrm>
            <a:off x="5445333" y="5626100"/>
            <a:ext cx="76200" cy="76200"/>
          </a:xfrm>
          <a:prstGeom prst="diamond">
            <a:avLst/>
          </a:prstGeom>
          <a:solidFill>
            <a:srgbClr val="315A78"/>
          </a:solidFill>
          <a:ln w="7620">
            <a:solidFill>
              <a:srgbClr val="252525"/>
            </a:solidFill>
            <a:prstDash val="solid"/>
          </a:ln>
        </p:spPr>
      </p:sp>
      <p:sp>
        <p:nvSpPr>
          <p:cNvPr id="43" name="Text 41"/>
          <p:cNvSpPr/>
          <p:nvPr/>
        </p:nvSpPr>
        <p:spPr>
          <a:xfrm>
            <a:off x="5803900" y="55118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US$33,216</a:t>
            </a:r>
            <a:endParaRPr lang="en-US" sz="1200" dirty="0"/>
          </a:p>
        </p:txBody>
      </p:sp>
      <p:sp>
        <p:nvSpPr>
          <p:cNvPr id="44" name="Shape 42"/>
          <p:cNvSpPr/>
          <p:nvPr/>
        </p:nvSpPr>
        <p:spPr>
          <a:xfrm>
            <a:off x="457200" y="6286500"/>
            <a:ext cx="127000" cy="127000"/>
          </a:xfrm>
          <a:prstGeom prst="hexagon">
            <a:avLst/>
          </a:prstGeom>
          <a:solidFill>
            <a:srgbClr val="3E7568"/>
          </a:solidFill>
          <a:ln w="7620">
            <a:solidFill>
              <a:srgbClr val="252525"/>
            </a:solidFill>
            <a:prstDash val="solid"/>
          </a:ln>
        </p:spPr>
      </p:sp>
      <p:sp>
        <p:nvSpPr>
          <p:cNvPr id="45" name="Text 43"/>
          <p:cNvSpPr/>
          <p:nvPr/>
        </p:nvSpPr>
        <p:spPr>
          <a:xfrm>
            <a:off x="711200" y="62357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6" name="Shape 44"/>
          <p:cNvSpPr/>
          <p:nvPr/>
        </p:nvSpPr>
        <p:spPr>
          <a:xfrm>
            <a:off x="2590800" y="6356350"/>
            <a:ext cx="885789" cy="114300"/>
          </a:xfrm>
          <a:prstGeom prst="rect">
            <a:avLst/>
          </a:prstGeom>
          <a:solidFill>
            <a:srgbClr val="3E7568"/>
          </a:solidFill>
          <a:ln w="12700">
            <a:solidFill>
              <a:srgbClr val="3E7568"/>
            </a:solidFill>
            <a:prstDash val="solid"/>
          </a:ln>
        </p:spPr>
      </p:sp>
      <p:sp>
        <p:nvSpPr>
          <p:cNvPr id="47" name="Shape 45"/>
          <p:cNvSpPr/>
          <p:nvPr/>
        </p:nvSpPr>
        <p:spPr>
          <a:xfrm>
            <a:off x="3438489" y="6375400"/>
            <a:ext cx="76200" cy="76200"/>
          </a:xfrm>
          <a:prstGeom prst="hexagon">
            <a:avLst/>
          </a:prstGeom>
          <a:solidFill>
            <a:srgbClr val="3E7568"/>
          </a:solidFill>
          <a:ln w="7620">
            <a:solidFill>
              <a:srgbClr val="252525"/>
            </a:solidFill>
            <a:prstDash val="solid"/>
          </a:ln>
        </p:spPr>
      </p:sp>
      <p:sp>
        <p:nvSpPr>
          <p:cNvPr id="48" name="Text 46"/>
          <p:cNvSpPr/>
          <p:nvPr/>
        </p:nvSpPr>
        <p:spPr>
          <a:xfrm>
            <a:off x="5803900" y="62611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US$10,171</a:t>
            </a:r>
            <a:endParaRPr lang="en-US" sz="1200" dirty="0"/>
          </a:p>
        </p:txBody>
      </p:sp>
      <p:sp>
        <p:nvSpPr>
          <p:cNvPr id="49" name="Shape 47"/>
          <p:cNvSpPr/>
          <p:nvPr/>
        </p:nvSpPr>
        <p:spPr>
          <a:xfrm>
            <a:off x="457200" y="7078980"/>
            <a:ext cx="127000" cy="40640"/>
          </a:xfrm>
          <a:prstGeom prst="rect">
            <a:avLst/>
          </a:prstGeom>
          <a:solidFill>
            <a:srgbClr val="252525"/>
          </a:solidFill>
          <a:ln w="12700">
            <a:solidFill>
              <a:srgbClr val="252525"/>
            </a:solidFill>
            <a:prstDash val="solid"/>
          </a:ln>
        </p:spPr>
      </p:sp>
      <p:sp>
        <p:nvSpPr>
          <p:cNvPr id="50" name="Shape 48"/>
          <p:cNvSpPr/>
          <p:nvPr/>
        </p:nvSpPr>
        <p:spPr>
          <a:xfrm>
            <a:off x="500380" y="7035800"/>
            <a:ext cx="40640" cy="127000"/>
          </a:xfrm>
          <a:prstGeom prst="rect">
            <a:avLst/>
          </a:prstGeom>
          <a:solidFill>
            <a:srgbClr val="252525"/>
          </a:solidFill>
          <a:ln w="12700">
            <a:solidFill>
              <a:srgbClr val="252525"/>
            </a:solidFill>
            <a:prstDash val="solid"/>
          </a:ln>
        </p:spPr>
      </p:sp>
      <p:sp>
        <p:nvSpPr>
          <p:cNvPr id="51" name="Shape 49"/>
          <p:cNvSpPr/>
          <p:nvPr/>
        </p:nvSpPr>
        <p:spPr>
          <a:xfrm>
            <a:off x="457200" y="7087870"/>
            <a:ext cx="127000" cy="22860"/>
          </a:xfrm>
          <a:prstGeom prst="rect">
            <a:avLst/>
          </a:prstGeom>
          <a:solidFill>
            <a:srgbClr val="A63A3A"/>
          </a:solidFill>
          <a:ln w="12700">
            <a:solidFill>
              <a:srgbClr val="A63A3A"/>
            </a:solidFill>
            <a:prstDash val="solid"/>
          </a:ln>
        </p:spPr>
      </p:sp>
      <p:sp>
        <p:nvSpPr>
          <p:cNvPr id="52" name="Shape 50"/>
          <p:cNvSpPr/>
          <p:nvPr/>
        </p:nvSpPr>
        <p:spPr>
          <a:xfrm>
            <a:off x="509270" y="7035800"/>
            <a:ext cx="22860" cy="127000"/>
          </a:xfrm>
          <a:prstGeom prst="rect">
            <a:avLst/>
          </a:prstGeom>
          <a:solidFill>
            <a:srgbClr val="A63A3A"/>
          </a:solidFill>
          <a:ln w="12700">
            <a:solidFill>
              <a:srgbClr val="A63A3A"/>
            </a:solidFill>
            <a:prstDash val="solid"/>
          </a:ln>
        </p:spPr>
      </p:sp>
      <p:sp>
        <p:nvSpPr>
          <p:cNvPr id="53" name="Text 51"/>
          <p:cNvSpPr/>
          <p:nvPr/>
        </p:nvSpPr>
        <p:spPr>
          <a:xfrm>
            <a:off x="711200" y="6985000"/>
            <a:ext cx="17907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54" name="Shape 52"/>
          <p:cNvSpPr/>
          <p:nvPr/>
        </p:nvSpPr>
        <p:spPr>
          <a:xfrm>
            <a:off x="2590800" y="7105650"/>
            <a:ext cx="278558" cy="114300"/>
          </a:xfrm>
          <a:prstGeom prst="rect">
            <a:avLst/>
          </a:prstGeom>
          <a:solidFill>
            <a:srgbClr val="A63A3A"/>
          </a:solidFill>
          <a:ln w="12700">
            <a:solidFill>
              <a:srgbClr val="A63A3A"/>
            </a:solidFill>
            <a:prstDash val="solid"/>
          </a:ln>
        </p:spPr>
      </p:sp>
      <p:sp>
        <p:nvSpPr>
          <p:cNvPr id="55" name="Shape 53"/>
          <p:cNvSpPr/>
          <p:nvPr/>
        </p:nvSpPr>
        <p:spPr>
          <a:xfrm>
            <a:off x="2831258" y="7142480"/>
            <a:ext cx="76200" cy="40640"/>
          </a:xfrm>
          <a:prstGeom prst="rect">
            <a:avLst/>
          </a:prstGeom>
          <a:solidFill>
            <a:srgbClr val="252525"/>
          </a:solidFill>
          <a:ln w="12700">
            <a:solidFill>
              <a:srgbClr val="252525"/>
            </a:solidFill>
            <a:prstDash val="solid"/>
          </a:ln>
        </p:spPr>
      </p:sp>
      <p:sp>
        <p:nvSpPr>
          <p:cNvPr id="56" name="Shape 54"/>
          <p:cNvSpPr/>
          <p:nvPr/>
        </p:nvSpPr>
        <p:spPr>
          <a:xfrm>
            <a:off x="2849038" y="7124700"/>
            <a:ext cx="40640" cy="76200"/>
          </a:xfrm>
          <a:prstGeom prst="rect">
            <a:avLst/>
          </a:prstGeom>
          <a:solidFill>
            <a:srgbClr val="252525"/>
          </a:solidFill>
          <a:ln w="12700">
            <a:solidFill>
              <a:srgbClr val="252525"/>
            </a:solidFill>
            <a:prstDash val="solid"/>
          </a:ln>
        </p:spPr>
      </p:sp>
      <p:sp>
        <p:nvSpPr>
          <p:cNvPr id="57" name="Shape 55"/>
          <p:cNvSpPr/>
          <p:nvPr/>
        </p:nvSpPr>
        <p:spPr>
          <a:xfrm>
            <a:off x="2831258" y="7151370"/>
            <a:ext cx="76200" cy="22860"/>
          </a:xfrm>
          <a:prstGeom prst="rect">
            <a:avLst/>
          </a:prstGeom>
          <a:solidFill>
            <a:srgbClr val="A63A3A"/>
          </a:solidFill>
          <a:ln w="12700">
            <a:solidFill>
              <a:srgbClr val="A63A3A"/>
            </a:solidFill>
            <a:prstDash val="solid"/>
          </a:ln>
        </p:spPr>
      </p:sp>
      <p:sp>
        <p:nvSpPr>
          <p:cNvPr id="58" name="Shape 56"/>
          <p:cNvSpPr/>
          <p:nvPr/>
        </p:nvSpPr>
        <p:spPr>
          <a:xfrm>
            <a:off x="2857928" y="7124700"/>
            <a:ext cx="22860" cy="76200"/>
          </a:xfrm>
          <a:prstGeom prst="rect">
            <a:avLst/>
          </a:prstGeom>
          <a:solidFill>
            <a:srgbClr val="A63A3A"/>
          </a:solidFill>
          <a:ln w="12700">
            <a:solidFill>
              <a:srgbClr val="A63A3A"/>
            </a:solidFill>
            <a:prstDash val="solid"/>
          </a:ln>
        </p:spPr>
      </p:sp>
      <p:sp>
        <p:nvSpPr>
          <p:cNvPr id="59" name="Text 57"/>
          <p:cNvSpPr/>
          <p:nvPr/>
        </p:nvSpPr>
        <p:spPr>
          <a:xfrm>
            <a:off x="5803900" y="7010400"/>
            <a:ext cx="1295400" cy="3175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US$3,199</a:t>
            </a:r>
            <a:endParaRPr lang="en-US" sz="1200" dirty="0"/>
          </a:p>
        </p:txBody>
      </p:sp>
      <p:sp>
        <p:nvSpPr>
          <p:cNvPr id="60" name="Text 58"/>
          <p:cNvSpPr/>
          <p:nvPr/>
        </p:nvSpPr>
        <p:spPr>
          <a:xfrm>
            <a:off x="2590800" y="7937500"/>
            <a:ext cx="571500" cy="2159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61" name="Text 59"/>
          <p:cNvSpPr/>
          <p:nvPr/>
        </p:nvSpPr>
        <p:spPr>
          <a:xfrm>
            <a:off x="4813300" y="7937500"/>
            <a:ext cx="1079500" cy="215900"/>
          </a:xfrm>
          <a:prstGeom prst="rect">
            <a:avLst/>
          </a:prstGeom>
          <a:noFill/>
          <a:ln/>
        </p:spPr>
        <p:txBody>
          <a:bodyPr wrap="square" lIns="0" tIns="0" rIns="0" bIns="0" rtlCol="0" anchor="t"/>
          <a:lstStyle/>
          <a:p>
            <a:pPr algn="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US$35,000</a:t>
            </a:r>
            <a:endParaRPr lang="en-US" sz="800" dirty="0"/>
          </a:p>
        </p:txBody>
      </p:sp>
      <p:sp>
        <p:nvSpPr>
          <p:cNvPr id="62" name="Text 60"/>
          <p:cNvSpPr/>
          <p:nvPr/>
        </p:nvSpPr>
        <p:spPr>
          <a:xfrm>
            <a:off x="457200" y="8166100"/>
            <a:ext cx="6642100" cy="6985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Different outcomes inside</a:t>
            </a:r>
            <a:endParaRPr lang="en-US" sz="2200" dirty="0"/>
          </a:p>
          <a:p>
            <a:pPr indent="0" marL="0">
              <a:lnSpc>
                <a:spcPct val="112000"/>
              </a:lnSpc>
              <a:buNone/>
            </a:pPr>
            <a:r>
              <a:rPr lang="en-US" sz="2200" b="1" dirty="0">
                <a:solidFill>
                  <a:srgbClr val="252525"/>
                </a:solidFill>
                <a:latin typeface="Alegreya" pitchFamily="34" charset="0"/>
                <a:ea typeface="Alegreya" pitchFamily="34" charset="-122"/>
                <a:cs typeface="Alegreya" pitchFamily="34" charset="-120"/>
              </a:rPr>
              <a:t>both continents.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Find the countries. Then rewind.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These are present-day locations. Their political starting points came at different times.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map is generalized and present-day—not a 1914 colonial map. Mauritius is located by a point. Independence dates do not measure state capacity.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National Archives Department (n.d.); Haggard et al. (1997, pp. 867–870); Asadullah et al. (2024, pp. 13–15); Dolan (1993), archival recheck pending. Map: Natural Earth (n.d.), v5.1.1; full credit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05</a:t>
            </a:r>
            <a:endParaRPr lang="en-US" sz="1000" dirty="0"/>
          </a:p>
        </p:txBody>
      </p:sp>
      <p:pic>
        <p:nvPicPr>
          <p:cNvPr id="11" name="Image 0" descr="/Users/marcusgrude-grodem/Documents/GitHub/USIL/africa-asia-development-magazine/design/canva_editorial_draft/assets/maps/world_locator.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500" y="3073400"/>
            <a:ext cx="6413500" cy="2565400"/>
          </a:xfrm>
          <a:prstGeom prst="rect">
            <a:avLst/>
          </a:prstGeom>
        </p:spPr>
      </p:pic>
      <p:sp>
        <p:nvSpPr>
          <p:cNvPr id="12" name="Shape 9"/>
          <p:cNvSpPr/>
          <p:nvPr/>
        </p:nvSpPr>
        <p:spPr>
          <a:xfrm>
            <a:off x="3677227" y="4358162"/>
            <a:ext cx="165100" cy="165100"/>
          </a:xfrm>
          <a:prstGeom prst="ellipse">
            <a:avLst/>
          </a:prstGeom>
          <a:solidFill>
            <a:srgbClr val="B95332"/>
          </a:solidFill>
          <a:ln w="7620">
            <a:solidFill>
              <a:srgbClr val="252525"/>
            </a:solidFill>
            <a:prstDash val="solid"/>
          </a:ln>
        </p:spPr>
      </p:sp>
      <p:sp>
        <p:nvSpPr>
          <p:cNvPr id="13" name="Shape 10"/>
          <p:cNvSpPr/>
          <p:nvPr/>
        </p:nvSpPr>
        <p:spPr>
          <a:xfrm>
            <a:off x="4126459" y="4885754"/>
            <a:ext cx="165100" cy="165100"/>
          </a:xfrm>
          <a:prstGeom prst="rect">
            <a:avLst/>
          </a:prstGeom>
          <a:solidFill>
            <a:srgbClr val="3F684E"/>
          </a:solidFill>
          <a:ln w="7620">
            <a:solidFill>
              <a:srgbClr val="252525"/>
            </a:solidFill>
            <a:prstDash val="solid"/>
          </a:ln>
        </p:spPr>
      </p:sp>
      <p:sp>
        <p:nvSpPr>
          <p:cNvPr id="14" name="Shape 11"/>
          <p:cNvSpPr/>
          <p:nvPr/>
        </p:nvSpPr>
        <p:spPr>
          <a:xfrm>
            <a:off x="4720078" y="4852092"/>
            <a:ext cx="165100" cy="165100"/>
          </a:xfrm>
          <a:prstGeom prst="triangle">
            <a:avLst/>
          </a:prstGeom>
          <a:solidFill>
            <a:srgbClr val="D6A23A"/>
          </a:solidFill>
          <a:ln w="7620">
            <a:solidFill>
              <a:srgbClr val="252525"/>
            </a:solidFill>
            <a:prstDash val="solid"/>
          </a:ln>
        </p:spPr>
      </p:sp>
      <p:sp>
        <p:nvSpPr>
          <p:cNvPr id="15" name="Shape 12"/>
          <p:cNvSpPr/>
          <p:nvPr/>
        </p:nvSpPr>
        <p:spPr>
          <a:xfrm>
            <a:off x="5978363" y="3850968"/>
            <a:ext cx="165100" cy="165100"/>
          </a:xfrm>
          <a:prstGeom prst="diamond">
            <a:avLst/>
          </a:prstGeom>
          <a:solidFill>
            <a:srgbClr val="315A78"/>
          </a:solidFill>
          <a:ln w="7620">
            <a:solidFill>
              <a:srgbClr val="252525"/>
            </a:solidFill>
            <a:prstDash val="solid"/>
          </a:ln>
        </p:spPr>
      </p:sp>
      <p:sp>
        <p:nvSpPr>
          <p:cNvPr id="16" name="Shape 13"/>
          <p:cNvSpPr/>
          <p:nvPr/>
        </p:nvSpPr>
        <p:spPr>
          <a:xfrm>
            <a:off x="5723739" y="4449967"/>
            <a:ext cx="165100" cy="165100"/>
          </a:xfrm>
          <a:prstGeom prst="hexagon">
            <a:avLst/>
          </a:prstGeom>
          <a:solidFill>
            <a:srgbClr val="3E7568"/>
          </a:solidFill>
          <a:ln w="7620">
            <a:solidFill>
              <a:srgbClr val="252525"/>
            </a:solidFill>
            <a:prstDash val="solid"/>
          </a:ln>
        </p:spPr>
      </p:sp>
      <p:sp>
        <p:nvSpPr>
          <p:cNvPr id="17" name="Shape 14"/>
          <p:cNvSpPr/>
          <p:nvPr/>
        </p:nvSpPr>
        <p:spPr>
          <a:xfrm>
            <a:off x="5877448" y="4358816"/>
            <a:ext cx="165100" cy="40640"/>
          </a:xfrm>
          <a:prstGeom prst="rect">
            <a:avLst/>
          </a:prstGeom>
          <a:solidFill>
            <a:srgbClr val="252525"/>
          </a:solidFill>
          <a:ln w="12700">
            <a:solidFill>
              <a:srgbClr val="252525"/>
            </a:solidFill>
            <a:prstDash val="solid"/>
          </a:ln>
        </p:spPr>
      </p:sp>
      <p:sp>
        <p:nvSpPr>
          <p:cNvPr id="18" name="Shape 15"/>
          <p:cNvSpPr/>
          <p:nvPr/>
        </p:nvSpPr>
        <p:spPr>
          <a:xfrm>
            <a:off x="5939678" y="4296586"/>
            <a:ext cx="40640" cy="165100"/>
          </a:xfrm>
          <a:prstGeom prst="rect">
            <a:avLst/>
          </a:prstGeom>
          <a:solidFill>
            <a:srgbClr val="252525"/>
          </a:solidFill>
          <a:ln w="12700">
            <a:solidFill>
              <a:srgbClr val="252525"/>
            </a:solidFill>
            <a:prstDash val="solid"/>
          </a:ln>
        </p:spPr>
      </p:sp>
      <p:sp>
        <p:nvSpPr>
          <p:cNvPr id="19" name="Shape 16"/>
          <p:cNvSpPr/>
          <p:nvPr/>
        </p:nvSpPr>
        <p:spPr>
          <a:xfrm>
            <a:off x="5877448" y="4367706"/>
            <a:ext cx="165100" cy="22860"/>
          </a:xfrm>
          <a:prstGeom prst="rect">
            <a:avLst/>
          </a:prstGeom>
          <a:solidFill>
            <a:srgbClr val="A63A3A"/>
          </a:solidFill>
          <a:ln w="12700">
            <a:solidFill>
              <a:srgbClr val="A63A3A"/>
            </a:solidFill>
            <a:prstDash val="solid"/>
          </a:ln>
        </p:spPr>
      </p:sp>
      <p:sp>
        <p:nvSpPr>
          <p:cNvPr id="20" name="Shape 17"/>
          <p:cNvSpPr/>
          <p:nvPr/>
        </p:nvSpPr>
        <p:spPr>
          <a:xfrm>
            <a:off x="5948568" y="4296586"/>
            <a:ext cx="22860" cy="165100"/>
          </a:xfrm>
          <a:prstGeom prst="rect">
            <a:avLst/>
          </a:prstGeom>
          <a:solidFill>
            <a:srgbClr val="A63A3A"/>
          </a:solidFill>
          <a:ln w="12700">
            <a:solidFill>
              <a:srgbClr val="A63A3A"/>
            </a:solidFill>
            <a:prstDash val="solid"/>
          </a:ln>
        </p:spPr>
      </p:sp>
      <p:sp>
        <p:nvSpPr>
          <p:cNvPr id="21" name="Shape 18"/>
          <p:cNvSpPr/>
          <p:nvPr/>
        </p:nvSpPr>
        <p:spPr>
          <a:xfrm>
            <a:off x="457200" y="5765800"/>
            <a:ext cx="127000" cy="127000"/>
          </a:xfrm>
          <a:prstGeom prst="ellipse">
            <a:avLst/>
          </a:prstGeom>
          <a:solidFill>
            <a:srgbClr val="B95332"/>
          </a:solidFill>
          <a:ln w="7620">
            <a:solidFill>
              <a:srgbClr val="252525"/>
            </a:solidFill>
            <a:prstDash val="solid"/>
          </a:ln>
        </p:spPr>
      </p:sp>
      <p:sp>
        <p:nvSpPr>
          <p:cNvPr id="22" name="Text 19"/>
          <p:cNvSpPr/>
          <p:nvPr/>
        </p:nvSpPr>
        <p:spPr>
          <a:xfrm>
            <a:off x="7112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23" name="Shape 20"/>
          <p:cNvSpPr/>
          <p:nvPr/>
        </p:nvSpPr>
        <p:spPr>
          <a:xfrm>
            <a:off x="2705100" y="5765800"/>
            <a:ext cx="127000" cy="127000"/>
          </a:xfrm>
          <a:prstGeom prst="rect">
            <a:avLst/>
          </a:prstGeom>
          <a:solidFill>
            <a:srgbClr val="3F684E"/>
          </a:solidFill>
          <a:ln w="7620">
            <a:solidFill>
              <a:srgbClr val="252525"/>
            </a:solidFill>
            <a:prstDash val="solid"/>
          </a:ln>
        </p:spPr>
      </p:sp>
      <p:sp>
        <p:nvSpPr>
          <p:cNvPr id="24" name="Text 21"/>
          <p:cNvSpPr/>
          <p:nvPr/>
        </p:nvSpPr>
        <p:spPr>
          <a:xfrm>
            <a:off x="29591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5" name="Shape 22"/>
          <p:cNvSpPr/>
          <p:nvPr/>
        </p:nvSpPr>
        <p:spPr>
          <a:xfrm>
            <a:off x="4953000" y="5765800"/>
            <a:ext cx="127000" cy="127000"/>
          </a:xfrm>
          <a:prstGeom prst="triangle">
            <a:avLst/>
          </a:prstGeom>
          <a:solidFill>
            <a:srgbClr val="D6A23A"/>
          </a:solidFill>
          <a:ln w="7620">
            <a:solidFill>
              <a:srgbClr val="252525"/>
            </a:solidFill>
            <a:prstDash val="solid"/>
          </a:ln>
        </p:spPr>
      </p:sp>
      <p:sp>
        <p:nvSpPr>
          <p:cNvPr id="26" name="Text 23"/>
          <p:cNvSpPr/>
          <p:nvPr/>
        </p:nvSpPr>
        <p:spPr>
          <a:xfrm>
            <a:off x="5207000" y="57150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7" name="Shape 24"/>
          <p:cNvSpPr/>
          <p:nvPr/>
        </p:nvSpPr>
        <p:spPr>
          <a:xfrm>
            <a:off x="457200" y="6108700"/>
            <a:ext cx="127000" cy="127000"/>
          </a:xfrm>
          <a:prstGeom prst="diamond">
            <a:avLst/>
          </a:prstGeom>
          <a:solidFill>
            <a:srgbClr val="315A78"/>
          </a:solidFill>
          <a:ln w="7620">
            <a:solidFill>
              <a:srgbClr val="252525"/>
            </a:solidFill>
            <a:prstDash val="solid"/>
          </a:ln>
        </p:spPr>
      </p:sp>
      <p:sp>
        <p:nvSpPr>
          <p:cNvPr id="28" name="Text 25"/>
          <p:cNvSpPr/>
          <p:nvPr/>
        </p:nvSpPr>
        <p:spPr>
          <a:xfrm>
            <a:off x="7112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29" name="Shape 26"/>
          <p:cNvSpPr/>
          <p:nvPr/>
        </p:nvSpPr>
        <p:spPr>
          <a:xfrm>
            <a:off x="2705100" y="6108700"/>
            <a:ext cx="127000" cy="127000"/>
          </a:xfrm>
          <a:prstGeom prst="hexagon">
            <a:avLst/>
          </a:prstGeom>
          <a:solidFill>
            <a:srgbClr val="3E7568"/>
          </a:solidFill>
          <a:ln w="7620">
            <a:solidFill>
              <a:srgbClr val="252525"/>
            </a:solidFill>
            <a:prstDash val="solid"/>
          </a:ln>
        </p:spPr>
      </p:sp>
      <p:sp>
        <p:nvSpPr>
          <p:cNvPr id="30" name="Text 27"/>
          <p:cNvSpPr/>
          <p:nvPr/>
        </p:nvSpPr>
        <p:spPr>
          <a:xfrm>
            <a:off x="29591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31" name="Shape 28"/>
          <p:cNvSpPr/>
          <p:nvPr/>
        </p:nvSpPr>
        <p:spPr>
          <a:xfrm>
            <a:off x="4953000" y="6151880"/>
            <a:ext cx="127000" cy="40640"/>
          </a:xfrm>
          <a:prstGeom prst="rect">
            <a:avLst/>
          </a:prstGeom>
          <a:solidFill>
            <a:srgbClr val="252525"/>
          </a:solidFill>
          <a:ln w="12700">
            <a:solidFill>
              <a:srgbClr val="252525"/>
            </a:solidFill>
            <a:prstDash val="solid"/>
          </a:ln>
        </p:spPr>
      </p:sp>
      <p:sp>
        <p:nvSpPr>
          <p:cNvPr id="32" name="Shape 29"/>
          <p:cNvSpPr/>
          <p:nvPr/>
        </p:nvSpPr>
        <p:spPr>
          <a:xfrm>
            <a:off x="4996180" y="6108700"/>
            <a:ext cx="40640" cy="127000"/>
          </a:xfrm>
          <a:prstGeom prst="rect">
            <a:avLst/>
          </a:prstGeom>
          <a:solidFill>
            <a:srgbClr val="252525"/>
          </a:solidFill>
          <a:ln w="12700">
            <a:solidFill>
              <a:srgbClr val="252525"/>
            </a:solidFill>
            <a:prstDash val="solid"/>
          </a:ln>
        </p:spPr>
      </p:sp>
      <p:sp>
        <p:nvSpPr>
          <p:cNvPr id="33" name="Shape 30"/>
          <p:cNvSpPr/>
          <p:nvPr/>
        </p:nvSpPr>
        <p:spPr>
          <a:xfrm>
            <a:off x="4953000" y="6160770"/>
            <a:ext cx="127000" cy="22860"/>
          </a:xfrm>
          <a:prstGeom prst="rect">
            <a:avLst/>
          </a:prstGeom>
          <a:solidFill>
            <a:srgbClr val="A63A3A"/>
          </a:solidFill>
          <a:ln w="12700">
            <a:solidFill>
              <a:srgbClr val="A63A3A"/>
            </a:solidFill>
            <a:prstDash val="solid"/>
          </a:ln>
        </p:spPr>
      </p:sp>
      <p:sp>
        <p:nvSpPr>
          <p:cNvPr id="34" name="Shape 31"/>
          <p:cNvSpPr/>
          <p:nvPr/>
        </p:nvSpPr>
        <p:spPr>
          <a:xfrm>
            <a:off x="5005070" y="6108700"/>
            <a:ext cx="22860" cy="127000"/>
          </a:xfrm>
          <a:prstGeom prst="rect">
            <a:avLst/>
          </a:prstGeom>
          <a:solidFill>
            <a:srgbClr val="A63A3A"/>
          </a:solidFill>
          <a:ln w="12700">
            <a:solidFill>
              <a:srgbClr val="A63A3A"/>
            </a:solidFill>
            <a:prstDash val="solid"/>
          </a:ln>
        </p:spPr>
      </p:sp>
      <p:sp>
        <p:nvSpPr>
          <p:cNvPr id="35" name="Text 32"/>
          <p:cNvSpPr/>
          <p:nvPr/>
        </p:nvSpPr>
        <p:spPr>
          <a:xfrm>
            <a:off x="5207000" y="6057900"/>
            <a:ext cx="17526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36" name="Shape 33"/>
          <p:cNvSpPr/>
          <p:nvPr/>
        </p:nvSpPr>
        <p:spPr>
          <a:xfrm>
            <a:off x="457200" y="6562090"/>
            <a:ext cx="6642100" cy="7620"/>
          </a:xfrm>
          <a:prstGeom prst="rect">
            <a:avLst/>
          </a:prstGeom>
          <a:solidFill>
            <a:srgbClr val="B7B0A4"/>
          </a:solidFill>
          <a:ln w="12700">
            <a:solidFill>
              <a:srgbClr val="B7B0A4"/>
            </a:solidFill>
            <a:prstDash val="solid"/>
          </a:ln>
        </p:spPr>
      </p:sp>
      <p:sp>
        <p:nvSpPr>
          <p:cNvPr id="37" name="Text 34"/>
          <p:cNvSpPr/>
          <p:nvPr/>
        </p:nvSpPr>
        <p:spPr>
          <a:xfrm>
            <a:off x="457200" y="66167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1945 / 1948</a:t>
            </a:r>
            <a:endParaRPr lang="en-US" sz="1000" dirty="0"/>
          </a:p>
        </p:txBody>
      </p:sp>
      <p:sp>
        <p:nvSpPr>
          <p:cNvPr id="38" name="Text 35"/>
          <p:cNvSpPr/>
          <p:nvPr/>
        </p:nvSpPr>
        <p:spPr>
          <a:xfrm>
            <a:off x="1778000" y="66167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South Korea</a:t>
            </a:r>
            <a:endParaRPr lang="en-US" sz="950" dirty="0"/>
          </a:p>
        </p:txBody>
      </p:sp>
      <p:sp>
        <p:nvSpPr>
          <p:cNvPr id="39" name="Text 36"/>
          <p:cNvSpPr/>
          <p:nvPr/>
        </p:nvSpPr>
        <p:spPr>
          <a:xfrm>
            <a:off x="3429000" y="66167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Japan → end of rule / Republic established</a:t>
            </a:r>
            <a:endParaRPr lang="en-US" sz="830" dirty="0"/>
          </a:p>
        </p:txBody>
      </p:sp>
      <p:sp>
        <p:nvSpPr>
          <p:cNvPr id="40" name="Shape 37"/>
          <p:cNvSpPr/>
          <p:nvPr/>
        </p:nvSpPr>
        <p:spPr>
          <a:xfrm>
            <a:off x="457200" y="6904990"/>
            <a:ext cx="6642100" cy="7620"/>
          </a:xfrm>
          <a:prstGeom prst="rect">
            <a:avLst/>
          </a:prstGeom>
          <a:solidFill>
            <a:srgbClr val="B7B0A4"/>
          </a:solidFill>
          <a:ln w="12700">
            <a:solidFill>
              <a:srgbClr val="B7B0A4"/>
            </a:solidFill>
            <a:prstDash val="solid"/>
          </a:ln>
        </p:spPr>
      </p:sp>
      <p:sp>
        <p:nvSpPr>
          <p:cNvPr id="41" name="Text 38"/>
          <p:cNvSpPr/>
          <p:nvPr/>
        </p:nvSpPr>
        <p:spPr>
          <a:xfrm>
            <a:off x="457200" y="69596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1946</a:t>
            </a:r>
            <a:endParaRPr lang="en-US" sz="1000" dirty="0"/>
          </a:p>
        </p:txBody>
      </p:sp>
      <p:sp>
        <p:nvSpPr>
          <p:cNvPr id="42" name="Text 39"/>
          <p:cNvSpPr/>
          <p:nvPr/>
        </p:nvSpPr>
        <p:spPr>
          <a:xfrm>
            <a:off x="1778000" y="69596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Philippines</a:t>
            </a:r>
            <a:endParaRPr lang="en-US" sz="950" dirty="0"/>
          </a:p>
        </p:txBody>
      </p:sp>
      <p:sp>
        <p:nvSpPr>
          <p:cNvPr id="43" name="Text 40"/>
          <p:cNvSpPr/>
          <p:nvPr/>
        </p:nvSpPr>
        <p:spPr>
          <a:xfrm>
            <a:off x="3429000" y="69596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Spain, then United States → independence</a:t>
            </a:r>
            <a:endParaRPr lang="en-US" sz="830" dirty="0"/>
          </a:p>
        </p:txBody>
      </p:sp>
      <p:sp>
        <p:nvSpPr>
          <p:cNvPr id="44" name="Shape 41"/>
          <p:cNvSpPr/>
          <p:nvPr/>
        </p:nvSpPr>
        <p:spPr>
          <a:xfrm>
            <a:off x="457200" y="7247890"/>
            <a:ext cx="6642100" cy="7620"/>
          </a:xfrm>
          <a:prstGeom prst="rect">
            <a:avLst/>
          </a:prstGeom>
          <a:solidFill>
            <a:srgbClr val="B7B0A4"/>
          </a:solidFill>
          <a:ln w="12700">
            <a:solidFill>
              <a:srgbClr val="B7B0A4"/>
            </a:solidFill>
            <a:prstDash val="solid"/>
          </a:ln>
        </p:spPr>
      </p:sp>
      <p:sp>
        <p:nvSpPr>
          <p:cNvPr id="45" name="Text 42"/>
          <p:cNvSpPr/>
          <p:nvPr/>
        </p:nvSpPr>
        <p:spPr>
          <a:xfrm>
            <a:off x="457200" y="73025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a:t>
            </a:r>
            <a:endParaRPr lang="en-US" sz="1000" dirty="0"/>
          </a:p>
        </p:txBody>
      </p:sp>
      <p:sp>
        <p:nvSpPr>
          <p:cNvPr id="46" name="Text 43"/>
          <p:cNvSpPr/>
          <p:nvPr/>
        </p:nvSpPr>
        <p:spPr>
          <a:xfrm>
            <a:off x="1778000" y="73025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Ghana</a:t>
            </a:r>
            <a:endParaRPr lang="en-US" sz="950" dirty="0"/>
          </a:p>
        </p:txBody>
      </p:sp>
      <p:sp>
        <p:nvSpPr>
          <p:cNvPr id="47" name="Text 44"/>
          <p:cNvSpPr/>
          <p:nvPr/>
        </p:nvSpPr>
        <p:spPr>
          <a:xfrm>
            <a:off x="3429000" y="73025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independence</a:t>
            </a:r>
            <a:endParaRPr lang="en-US" sz="830" dirty="0"/>
          </a:p>
        </p:txBody>
      </p:sp>
      <p:sp>
        <p:nvSpPr>
          <p:cNvPr id="48" name="Shape 45"/>
          <p:cNvSpPr/>
          <p:nvPr/>
        </p:nvSpPr>
        <p:spPr>
          <a:xfrm>
            <a:off x="457200" y="7590790"/>
            <a:ext cx="6642100" cy="7620"/>
          </a:xfrm>
          <a:prstGeom prst="rect">
            <a:avLst/>
          </a:prstGeom>
          <a:solidFill>
            <a:srgbClr val="B7B0A4"/>
          </a:solidFill>
          <a:ln w="12700">
            <a:solidFill>
              <a:srgbClr val="B7B0A4"/>
            </a:solidFill>
            <a:prstDash val="solid"/>
          </a:ln>
        </p:spPr>
      </p:sp>
      <p:sp>
        <p:nvSpPr>
          <p:cNvPr id="49" name="Text 46"/>
          <p:cNvSpPr/>
          <p:nvPr/>
        </p:nvSpPr>
        <p:spPr>
          <a:xfrm>
            <a:off x="457200" y="76454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1957 / 1963</a:t>
            </a:r>
            <a:endParaRPr lang="en-US" sz="1000" dirty="0"/>
          </a:p>
        </p:txBody>
      </p:sp>
      <p:sp>
        <p:nvSpPr>
          <p:cNvPr id="50" name="Text 47"/>
          <p:cNvSpPr/>
          <p:nvPr/>
        </p:nvSpPr>
        <p:spPr>
          <a:xfrm>
            <a:off x="1778000" y="76454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Malaysia</a:t>
            </a:r>
            <a:endParaRPr lang="en-US" sz="950" dirty="0"/>
          </a:p>
        </p:txBody>
      </p:sp>
      <p:sp>
        <p:nvSpPr>
          <p:cNvPr id="51" name="Text 48"/>
          <p:cNvSpPr/>
          <p:nvPr/>
        </p:nvSpPr>
        <p:spPr>
          <a:xfrm>
            <a:off x="3429000" y="76454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Britain → Malaya independence / federation</a:t>
            </a:r>
            <a:endParaRPr lang="en-US" sz="830" dirty="0"/>
          </a:p>
        </p:txBody>
      </p:sp>
      <p:sp>
        <p:nvSpPr>
          <p:cNvPr id="52" name="Shape 49"/>
          <p:cNvSpPr/>
          <p:nvPr/>
        </p:nvSpPr>
        <p:spPr>
          <a:xfrm>
            <a:off x="457200" y="7933690"/>
            <a:ext cx="6642100" cy="7620"/>
          </a:xfrm>
          <a:prstGeom prst="rect">
            <a:avLst/>
          </a:prstGeom>
          <a:solidFill>
            <a:srgbClr val="B7B0A4"/>
          </a:solidFill>
          <a:ln w="12700">
            <a:solidFill>
              <a:srgbClr val="B7B0A4"/>
            </a:solidFill>
            <a:prstDash val="solid"/>
          </a:ln>
        </p:spPr>
      </p:sp>
      <p:sp>
        <p:nvSpPr>
          <p:cNvPr id="53" name="Text 50"/>
          <p:cNvSpPr/>
          <p:nvPr/>
        </p:nvSpPr>
        <p:spPr>
          <a:xfrm>
            <a:off x="457200" y="79883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1966</a:t>
            </a:r>
            <a:endParaRPr lang="en-US" sz="1000" dirty="0"/>
          </a:p>
        </p:txBody>
      </p:sp>
      <p:sp>
        <p:nvSpPr>
          <p:cNvPr id="54" name="Text 51"/>
          <p:cNvSpPr/>
          <p:nvPr/>
        </p:nvSpPr>
        <p:spPr>
          <a:xfrm>
            <a:off x="1778000" y="79883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Botswana</a:t>
            </a:r>
            <a:endParaRPr lang="en-US" sz="950" dirty="0"/>
          </a:p>
        </p:txBody>
      </p:sp>
      <p:sp>
        <p:nvSpPr>
          <p:cNvPr id="55" name="Text 52"/>
          <p:cNvSpPr/>
          <p:nvPr/>
        </p:nvSpPr>
        <p:spPr>
          <a:xfrm>
            <a:off x="3429000" y="79883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British protectorate → independence</a:t>
            </a:r>
            <a:endParaRPr lang="en-US" sz="830" dirty="0"/>
          </a:p>
        </p:txBody>
      </p:sp>
      <p:sp>
        <p:nvSpPr>
          <p:cNvPr id="56" name="Shape 53"/>
          <p:cNvSpPr/>
          <p:nvPr/>
        </p:nvSpPr>
        <p:spPr>
          <a:xfrm>
            <a:off x="457200" y="8276590"/>
            <a:ext cx="6642100" cy="7620"/>
          </a:xfrm>
          <a:prstGeom prst="rect">
            <a:avLst/>
          </a:prstGeom>
          <a:solidFill>
            <a:srgbClr val="B7B0A4"/>
          </a:solidFill>
          <a:ln w="12700">
            <a:solidFill>
              <a:srgbClr val="B7B0A4"/>
            </a:solidFill>
            <a:prstDash val="solid"/>
          </a:ln>
        </p:spPr>
      </p:sp>
      <p:sp>
        <p:nvSpPr>
          <p:cNvPr id="57" name="Text 54"/>
          <p:cNvSpPr/>
          <p:nvPr/>
        </p:nvSpPr>
        <p:spPr>
          <a:xfrm>
            <a:off x="457200" y="8331200"/>
            <a:ext cx="1206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1968</a:t>
            </a:r>
            <a:endParaRPr lang="en-US" sz="1000" dirty="0"/>
          </a:p>
        </p:txBody>
      </p:sp>
      <p:sp>
        <p:nvSpPr>
          <p:cNvPr id="58" name="Text 55"/>
          <p:cNvSpPr/>
          <p:nvPr/>
        </p:nvSpPr>
        <p:spPr>
          <a:xfrm>
            <a:off x="1778000" y="8331200"/>
            <a:ext cx="1422400" cy="2667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Mauritius</a:t>
            </a:r>
            <a:endParaRPr lang="en-US" sz="950" dirty="0"/>
          </a:p>
        </p:txBody>
      </p:sp>
      <p:sp>
        <p:nvSpPr>
          <p:cNvPr id="59" name="Text 56"/>
          <p:cNvSpPr/>
          <p:nvPr/>
        </p:nvSpPr>
        <p:spPr>
          <a:xfrm>
            <a:off x="3429000" y="8331200"/>
            <a:ext cx="3670300" cy="292100"/>
          </a:xfrm>
          <a:prstGeom prst="rect">
            <a:avLst/>
          </a:prstGeom>
          <a:noFill/>
          <a:ln/>
        </p:spPr>
        <p:txBody>
          <a:bodyPr wrap="square" lIns="0" tIns="0" rIns="0" bIns="0" rtlCol="0" anchor="t"/>
          <a:lstStyle/>
          <a:p>
            <a:pPr indent="0" marL="0">
              <a:lnSpc>
                <a:spcPct val="112000"/>
              </a:lnSpc>
              <a:buNone/>
            </a:pPr>
            <a:r>
              <a:rPr lang="en-US" sz="830" dirty="0">
                <a:solidFill>
                  <a:srgbClr val="252525"/>
                </a:solidFill>
                <a:latin typeface="Montserrat" pitchFamily="34" charset="0"/>
                <a:ea typeface="Montserrat" pitchFamily="34" charset="-122"/>
                <a:cs typeface="Montserrat" pitchFamily="34" charset="-120"/>
              </a:rPr>
              <a:t>France, then Britain → independence</a:t>
            </a:r>
            <a:endParaRPr lang="en-US" sz="830" dirty="0"/>
          </a:p>
        </p:txBody>
      </p:sp>
      <p:sp>
        <p:nvSpPr>
          <p:cNvPr id="60" name="Text 57"/>
          <p:cNvSpPr/>
          <p:nvPr/>
        </p:nvSpPr>
        <p:spPr>
          <a:xfrm>
            <a:off x="457200" y="8686800"/>
            <a:ext cx="6642100" cy="1651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Historical 1914 map withheld: verified artwork and original legend still required.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Same empire. Different inheritance.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Ask what colonial rule built, extracted and left behind—not just which flag it flew.</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studies do not show that colonial rule was beneficial overall, or that one empire explains the six countries’ later paths.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Bolt et al. (2025, pp. 1–6, 18–20); Huillery (2009, pp. 176–180, 203–208); Kohli (1994, pp. 1277–1284); Haggard et al. (1997, pp. 867–881); Dolan (1993), archival passage recheck pending.</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06</a:t>
            </a:r>
            <a:endParaRPr lang="en-US" sz="1000" dirty="0"/>
          </a:p>
        </p:txBody>
      </p:sp>
      <p:sp>
        <p:nvSpPr>
          <p:cNvPr id="11" name="Shape 9"/>
          <p:cNvSpPr/>
          <p:nvPr/>
        </p:nvSpPr>
        <p:spPr>
          <a:xfrm>
            <a:off x="512354" y="3139077"/>
            <a:ext cx="55154" cy="427446"/>
          </a:xfrm>
          <a:prstGeom prst="line">
            <a:avLst/>
          </a:prstGeom>
          <a:noFill/>
          <a:ln w="20320">
            <a:solidFill>
              <a:srgbClr val="252525"/>
            </a:solidFill>
            <a:prstDash val="solid"/>
          </a:ln>
        </p:spPr>
      </p:sp>
      <p:sp>
        <p:nvSpPr>
          <p:cNvPr id="12" name="Shape 10"/>
          <p:cNvSpPr/>
          <p:nvPr/>
        </p:nvSpPr>
        <p:spPr>
          <a:xfrm>
            <a:off x="815703" y="3139077"/>
            <a:ext cx="55154" cy="427446"/>
          </a:xfrm>
          <a:prstGeom prst="line">
            <a:avLst/>
          </a:prstGeom>
          <a:noFill/>
          <a:ln w="20320">
            <a:solidFill>
              <a:srgbClr val="252525"/>
            </a:solidFill>
            <a:prstDash val="solid"/>
          </a:ln>
        </p:spPr>
      </p:sp>
      <p:sp>
        <p:nvSpPr>
          <p:cNvPr id="13" name="Shape 11"/>
          <p:cNvSpPr/>
          <p:nvPr/>
        </p:nvSpPr>
        <p:spPr>
          <a:xfrm>
            <a:off x="681446" y="3152866"/>
            <a:ext cx="20320" cy="82731"/>
          </a:xfrm>
          <a:prstGeom prst="rect">
            <a:avLst/>
          </a:prstGeom>
          <a:solidFill>
            <a:srgbClr val="252525"/>
          </a:solidFill>
          <a:ln w="12700">
            <a:solidFill>
              <a:srgbClr val="252525"/>
            </a:solidFill>
            <a:prstDash val="solid"/>
          </a:ln>
        </p:spPr>
      </p:sp>
      <p:sp>
        <p:nvSpPr>
          <p:cNvPr id="14" name="Shape 12"/>
          <p:cNvSpPr/>
          <p:nvPr/>
        </p:nvSpPr>
        <p:spPr>
          <a:xfrm>
            <a:off x="681446" y="3304540"/>
            <a:ext cx="20320" cy="96520"/>
          </a:xfrm>
          <a:prstGeom prst="rect">
            <a:avLst/>
          </a:prstGeom>
          <a:solidFill>
            <a:srgbClr val="252525"/>
          </a:solidFill>
          <a:ln w="12700">
            <a:solidFill>
              <a:srgbClr val="252525"/>
            </a:solidFill>
            <a:prstDash val="solid"/>
          </a:ln>
        </p:spPr>
      </p:sp>
      <p:sp>
        <p:nvSpPr>
          <p:cNvPr id="15" name="Shape 13"/>
          <p:cNvSpPr/>
          <p:nvPr/>
        </p:nvSpPr>
        <p:spPr>
          <a:xfrm>
            <a:off x="681446" y="3470003"/>
            <a:ext cx="20320" cy="82731"/>
          </a:xfrm>
          <a:prstGeom prst="rect">
            <a:avLst/>
          </a:prstGeom>
          <a:solidFill>
            <a:srgbClr val="252525"/>
          </a:solidFill>
          <a:ln w="12700">
            <a:solidFill>
              <a:srgbClr val="252525"/>
            </a:solidFill>
            <a:prstDash val="solid"/>
          </a:ln>
        </p:spPr>
      </p:sp>
      <p:sp>
        <p:nvSpPr>
          <p:cNvPr id="16" name="Text 14"/>
          <p:cNvSpPr/>
          <p:nvPr/>
        </p:nvSpPr>
        <p:spPr>
          <a:xfrm>
            <a:off x="1244600" y="30480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Built for whom?</a:t>
            </a:r>
            <a:endParaRPr lang="en-US" sz="2300" dirty="0"/>
          </a:p>
        </p:txBody>
      </p:sp>
      <p:sp>
        <p:nvSpPr>
          <p:cNvPr id="17" name="Text 15"/>
          <p:cNvSpPr/>
          <p:nvPr/>
        </p:nvSpPr>
        <p:spPr>
          <a:xfrm>
            <a:off x="1244600" y="35560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British African councils varied. Investment also varied within French West Africa. An empire label hides important differences (Bolt et al., 2025; Huillery, 2009).</a:t>
            </a:r>
            <a:endParaRPr lang="en-US" sz="1050" dirty="0"/>
          </a:p>
        </p:txBody>
      </p:sp>
      <p:sp>
        <p:nvSpPr>
          <p:cNvPr id="18" name="Shape 16"/>
          <p:cNvSpPr/>
          <p:nvPr/>
        </p:nvSpPr>
        <p:spPr>
          <a:xfrm>
            <a:off x="484777" y="4977674"/>
            <a:ext cx="413657" cy="20320"/>
          </a:xfrm>
          <a:prstGeom prst="rect">
            <a:avLst/>
          </a:prstGeom>
          <a:solidFill>
            <a:srgbClr val="252525"/>
          </a:solidFill>
          <a:ln w="12700">
            <a:solidFill>
              <a:srgbClr val="252525"/>
            </a:solidFill>
            <a:prstDash val="solid"/>
          </a:ln>
        </p:spPr>
      </p:sp>
      <p:sp>
        <p:nvSpPr>
          <p:cNvPr id="19" name="Shape 17"/>
          <p:cNvSpPr/>
          <p:nvPr/>
        </p:nvSpPr>
        <p:spPr>
          <a:xfrm>
            <a:off x="474617" y="4753429"/>
            <a:ext cx="20320" cy="234406"/>
          </a:xfrm>
          <a:prstGeom prst="rect">
            <a:avLst/>
          </a:prstGeom>
          <a:solidFill>
            <a:srgbClr val="252525"/>
          </a:solidFill>
          <a:ln w="12700">
            <a:solidFill>
              <a:srgbClr val="252525"/>
            </a:solidFill>
            <a:prstDash val="solid"/>
          </a:ln>
        </p:spPr>
      </p:sp>
      <p:sp>
        <p:nvSpPr>
          <p:cNvPr id="20" name="Shape 18"/>
          <p:cNvSpPr/>
          <p:nvPr/>
        </p:nvSpPr>
        <p:spPr>
          <a:xfrm flipV="1">
            <a:off x="484777" y="4670697"/>
            <a:ext cx="137886" cy="82731"/>
          </a:xfrm>
          <a:prstGeom prst="line">
            <a:avLst/>
          </a:prstGeom>
          <a:noFill/>
          <a:ln w="20320">
            <a:solidFill>
              <a:srgbClr val="252525"/>
            </a:solidFill>
            <a:prstDash val="solid"/>
          </a:ln>
        </p:spPr>
      </p:sp>
      <p:sp>
        <p:nvSpPr>
          <p:cNvPr id="21" name="Shape 19"/>
          <p:cNvSpPr/>
          <p:nvPr/>
        </p:nvSpPr>
        <p:spPr>
          <a:xfrm>
            <a:off x="612503" y="4670697"/>
            <a:ext cx="20320" cy="82731"/>
          </a:xfrm>
          <a:prstGeom prst="rect">
            <a:avLst/>
          </a:prstGeom>
          <a:solidFill>
            <a:srgbClr val="252525"/>
          </a:solidFill>
          <a:ln w="12700">
            <a:solidFill>
              <a:srgbClr val="252525"/>
            </a:solidFill>
            <a:prstDash val="solid"/>
          </a:ln>
        </p:spPr>
      </p:sp>
      <p:sp>
        <p:nvSpPr>
          <p:cNvPr id="22" name="Shape 20"/>
          <p:cNvSpPr/>
          <p:nvPr/>
        </p:nvSpPr>
        <p:spPr>
          <a:xfrm flipV="1">
            <a:off x="622663" y="4670697"/>
            <a:ext cx="151674" cy="82731"/>
          </a:xfrm>
          <a:prstGeom prst="line">
            <a:avLst/>
          </a:prstGeom>
          <a:noFill/>
          <a:ln w="20320">
            <a:solidFill>
              <a:srgbClr val="252525"/>
            </a:solidFill>
            <a:prstDash val="solid"/>
          </a:ln>
        </p:spPr>
      </p:sp>
      <p:sp>
        <p:nvSpPr>
          <p:cNvPr id="23" name="Shape 21"/>
          <p:cNvSpPr/>
          <p:nvPr/>
        </p:nvSpPr>
        <p:spPr>
          <a:xfrm>
            <a:off x="764177" y="4670697"/>
            <a:ext cx="20320" cy="317137"/>
          </a:xfrm>
          <a:prstGeom prst="rect">
            <a:avLst/>
          </a:prstGeom>
          <a:solidFill>
            <a:srgbClr val="252525"/>
          </a:solidFill>
          <a:ln w="12700">
            <a:solidFill>
              <a:srgbClr val="252525"/>
            </a:solidFill>
            <a:prstDash val="solid"/>
          </a:ln>
        </p:spPr>
      </p:sp>
      <p:sp>
        <p:nvSpPr>
          <p:cNvPr id="24" name="Shape 22"/>
          <p:cNvSpPr/>
          <p:nvPr/>
        </p:nvSpPr>
        <p:spPr>
          <a:xfrm>
            <a:off x="819331" y="4587966"/>
            <a:ext cx="20320" cy="220617"/>
          </a:xfrm>
          <a:prstGeom prst="rect">
            <a:avLst/>
          </a:prstGeom>
          <a:solidFill>
            <a:srgbClr val="252525"/>
          </a:solidFill>
          <a:ln w="12700">
            <a:solidFill>
              <a:srgbClr val="252525"/>
            </a:solidFill>
            <a:prstDash val="solid"/>
          </a:ln>
        </p:spPr>
      </p:sp>
      <p:sp>
        <p:nvSpPr>
          <p:cNvPr id="25" name="Shape 23"/>
          <p:cNvSpPr/>
          <p:nvPr/>
        </p:nvSpPr>
        <p:spPr>
          <a:xfrm>
            <a:off x="888274" y="4587966"/>
            <a:ext cx="20320" cy="399869"/>
          </a:xfrm>
          <a:prstGeom prst="rect">
            <a:avLst/>
          </a:prstGeom>
          <a:solidFill>
            <a:srgbClr val="252525"/>
          </a:solidFill>
          <a:ln w="12700">
            <a:solidFill>
              <a:srgbClr val="252525"/>
            </a:solidFill>
            <a:prstDash val="solid"/>
          </a:ln>
        </p:spPr>
      </p:sp>
      <p:sp>
        <p:nvSpPr>
          <p:cNvPr id="26" name="Shape 24"/>
          <p:cNvSpPr/>
          <p:nvPr/>
        </p:nvSpPr>
        <p:spPr>
          <a:xfrm>
            <a:off x="829491" y="4577806"/>
            <a:ext cx="68943" cy="20320"/>
          </a:xfrm>
          <a:prstGeom prst="rect">
            <a:avLst/>
          </a:prstGeom>
          <a:solidFill>
            <a:srgbClr val="252525"/>
          </a:solidFill>
          <a:ln w="12700">
            <a:solidFill>
              <a:srgbClr val="252525"/>
            </a:solidFill>
            <a:prstDash val="solid"/>
          </a:ln>
        </p:spPr>
      </p:sp>
      <p:sp>
        <p:nvSpPr>
          <p:cNvPr id="27" name="Shape 25"/>
          <p:cNvSpPr/>
          <p:nvPr/>
        </p:nvSpPr>
        <p:spPr>
          <a:xfrm>
            <a:off x="553720" y="4853577"/>
            <a:ext cx="41366" cy="20320"/>
          </a:xfrm>
          <a:prstGeom prst="rect">
            <a:avLst/>
          </a:prstGeom>
          <a:solidFill>
            <a:srgbClr val="252525"/>
          </a:solidFill>
          <a:ln w="12700">
            <a:solidFill>
              <a:srgbClr val="252525"/>
            </a:solidFill>
            <a:prstDash val="solid"/>
          </a:ln>
        </p:spPr>
      </p:sp>
      <p:sp>
        <p:nvSpPr>
          <p:cNvPr id="28" name="Shape 26"/>
          <p:cNvSpPr/>
          <p:nvPr/>
        </p:nvSpPr>
        <p:spPr>
          <a:xfrm>
            <a:off x="677817" y="4853577"/>
            <a:ext cx="41366" cy="20320"/>
          </a:xfrm>
          <a:prstGeom prst="rect">
            <a:avLst/>
          </a:prstGeom>
          <a:solidFill>
            <a:srgbClr val="252525"/>
          </a:solidFill>
          <a:ln w="12700">
            <a:solidFill>
              <a:srgbClr val="252525"/>
            </a:solidFill>
            <a:prstDash val="solid"/>
          </a:ln>
        </p:spPr>
      </p:sp>
      <p:sp>
        <p:nvSpPr>
          <p:cNvPr id="29" name="Text 27"/>
          <p:cNvSpPr/>
          <p:nvPr/>
        </p:nvSpPr>
        <p:spPr>
          <a:xfrm>
            <a:off x="1244600" y="44831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What survived?</a:t>
            </a:r>
            <a:endParaRPr lang="en-US" sz="2300" dirty="0"/>
          </a:p>
        </p:txBody>
      </p:sp>
      <p:sp>
        <p:nvSpPr>
          <p:cNvPr id="30" name="Text 28"/>
          <p:cNvSpPr/>
          <p:nvPr/>
        </p:nvSpPr>
        <p:spPr>
          <a:xfrm>
            <a:off x="1244600" y="49911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Researchers disagree about Korea’s colonial inheritance. Organisation mattered, but so did coercion, unequal ownership, division, war and later policy change (Kohli, 1994; Haggard et al., 1997).</a:t>
            </a:r>
            <a:endParaRPr lang="en-US" sz="1050" dirty="0"/>
          </a:p>
        </p:txBody>
      </p:sp>
      <p:sp>
        <p:nvSpPr>
          <p:cNvPr id="31" name="Shape 29"/>
          <p:cNvSpPr/>
          <p:nvPr/>
        </p:nvSpPr>
        <p:spPr>
          <a:xfrm>
            <a:off x="484777" y="6050643"/>
            <a:ext cx="193040" cy="41366"/>
          </a:xfrm>
          <a:prstGeom prst="line">
            <a:avLst/>
          </a:prstGeom>
          <a:noFill/>
          <a:ln w="20320">
            <a:solidFill>
              <a:srgbClr val="252525"/>
            </a:solidFill>
            <a:prstDash val="solid"/>
          </a:ln>
        </p:spPr>
      </p:sp>
      <p:sp>
        <p:nvSpPr>
          <p:cNvPr id="32" name="Shape 30"/>
          <p:cNvSpPr/>
          <p:nvPr/>
        </p:nvSpPr>
        <p:spPr>
          <a:xfrm flipV="1">
            <a:off x="677817" y="6050643"/>
            <a:ext cx="220617" cy="41366"/>
          </a:xfrm>
          <a:prstGeom prst="line">
            <a:avLst/>
          </a:prstGeom>
          <a:noFill/>
          <a:ln w="20320">
            <a:solidFill>
              <a:srgbClr val="252525"/>
            </a:solidFill>
            <a:prstDash val="solid"/>
          </a:ln>
        </p:spPr>
      </p:sp>
      <p:sp>
        <p:nvSpPr>
          <p:cNvPr id="33" name="Shape 31"/>
          <p:cNvSpPr/>
          <p:nvPr/>
        </p:nvSpPr>
        <p:spPr>
          <a:xfrm>
            <a:off x="474617" y="6050643"/>
            <a:ext cx="20320" cy="330926"/>
          </a:xfrm>
          <a:prstGeom prst="rect">
            <a:avLst/>
          </a:prstGeom>
          <a:solidFill>
            <a:srgbClr val="252525"/>
          </a:solidFill>
          <a:ln w="12700">
            <a:solidFill>
              <a:srgbClr val="252525"/>
            </a:solidFill>
            <a:prstDash val="solid"/>
          </a:ln>
        </p:spPr>
      </p:sp>
      <p:sp>
        <p:nvSpPr>
          <p:cNvPr id="34" name="Shape 32"/>
          <p:cNvSpPr/>
          <p:nvPr/>
        </p:nvSpPr>
        <p:spPr>
          <a:xfrm>
            <a:off x="888274" y="6050643"/>
            <a:ext cx="20320" cy="330926"/>
          </a:xfrm>
          <a:prstGeom prst="rect">
            <a:avLst/>
          </a:prstGeom>
          <a:solidFill>
            <a:srgbClr val="252525"/>
          </a:solidFill>
          <a:ln w="12700">
            <a:solidFill>
              <a:srgbClr val="252525"/>
            </a:solidFill>
            <a:prstDash val="solid"/>
          </a:ln>
        </p:spPr>
      </p:sp>
      <p:sp>
        <p:nvSpPr>
          <p:cNvPr id="35" name="Shape 33"/>
          <p:cNvSpPr/>
          <p:nvPr/>
        </p:nvSpPr>
        <p:spPr>
          <a:xfrm>
            <a:off x="484777" y="6381569"/>
            <a:ext cx="193040" cy="41366"/>
          </a:xfrm>
          <a:prstGeom prst="line">
            <a:avLst/>
          </a:prstGeom>
          <a:noFill/>
          <a:ln w="20320">
            <a:solidFill>
              <a:srgbClr val="252525"/>
            </a:solidFill>
            <a:prstDash val="solid"/>
          </a:ln>
        </p:spPr>
      </p:sp>
      <p:sp>
        <p:nvSpPr>
          <p:cNvPr id="36" name="Shape 34"/>
          <p:cNvSpPr/>
          <p:nvPr/>
        </p:nvSpPr>
        <p:spPr>
          <a:xfrm flipV="1">
            <a:off x="677817" y="6381569"/>
            <a:ext cx="220617" cy="41366"/>
          </a:xfrm>
          <a:prstGeom prst="line">
            <a:avLst/>
          </a:prstGeom>
          <a:noFill/>
          <a:ln w="20320">
            <a:solidFill>
              <a:srgbClr val="252525"/>
            </a:solidFill>
            <a:prstDash val="solid"/>
          </a:ln>
        </p:spPr>
      </p:sp>
      <p:sp>
        <p:nvSpPr>
          <p:cNvPr id="37" name="Shape 35"/>
          <p:cNvSpPr/>
          <p:nvPr/>
        </p:nvSpPr>
        <p:spPr>
          <a:xfrm>
            <a:off x="667657" y="6092009"/>
            <a:ext cx="20320" cy="330926"/>
          </a:xfrm>
          <a:prstGeom prst="rect">
            <a:avLst/>
          </a:prstGeom>
          <a:solidFill>
            <a:srgbClr val="252525"/>
          </a:solidFill>
          <a:ln w="12700">
            <a:solidFill>
              <a:srgbClr val="252525"/>
            </a:solidFill>
            <a:prstDash val="solid"/>
          </a:ln>
        </p:spPr>
      </p:sp>
      <p:sp>
        <p:nvSpPr>
          <p:cNvPr id="38" name="Text 36"/>
          <p:cNvSpPr/>
          <p:nvPr/>
        </p:nvSpPr>
        <p:spPr>
          <a:xfrm>
            <a:off x="1244600" y="5918200"/>
            <a:ext cx="5854700" cy="3937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had access?</a:t>
            </a:r>
            <a:endParaRPr lang="en-US" sz="2300" dirty="0"/>
          </a:p>
        </p:txBody>
      </p:sp>
      <p:sp>
        <p:nvSpPr>
          <p:cNvPr id="39" name="Text 37"/>
          <p:cNvSpPr/>
          <p:nvPr/>
        </p:nvSpPr>
        <p:spPr>
          <a:xfrm>
            <a:off x="1244600" y="6426200"/>
            <a:ext cx="5854700" cy="838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The Philippines combined formal institutions and education with concentrated power. Spanish and US rule cannot be explained by a British–French contrast (Dolan, 1993; recheck pending).</a:t>
            </a:r>
            <a:endParaRPr lang="en-US" sz="1050" dirty="0"/>
          </a:p>
        </p:txBody>
      </p:sp>
      <p:sp>
        <p:nvSpPr>
          <p:cNvPr id="40" name="Shape 38"/>
          <p:cNvSpPr/>
          <p:nvPr/>
        </p:nvSpPr>
        <p:spPr>
          <a:xfrm>
            <a:off x="457200" y="7480300"/>
            <a:ext cx="6642100" cy="1346200"/>
          </a:xfrm>
          <a:prstGeom prst="rect">
            <a:avLst/>
          </a:prstGeom>
          <a:solidFill>
            <a:srgbClr val="252525"/>
          </a:solidFill>
          <a:ln w="12700">
            <a:solidFill>
              <a:srgbClr val="252525"/>
            </a:solidFill>
            <a:prstDash val="solid"/>
          </a:ln>
        </p:spPr>
      </p:sp>
      <p:sp>
        <p:nvSpPr>
          <p:cNvPr id="41" name="Text 39"/>
          <p:cNvSpPr/>
          <p:nvPr/>
        </p:nvSpPr>
        <p:spPr>
          <a:xfrm>
            <a:off x="635000" y="76073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42" name="Text 40"/>
          <p:cNvSpPr/>
          <p:nvPr/>
        </p:nvSpPr>
        <p:spPr>
          <a:xfrm>
            <a:off x="635000" y="7874000"/>
            <a:ext cx="6286500" cy="8763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Independence did not reset the economy. We think what countries inherited—and what they could build on afterwards—mattered more than the colonial flag alone.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Ghana’s railway reached new users.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Ghana: the useful question is who the railway connected.</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One railway case cannot explain all of Africa or show that infrastructure alone caused growth. It does not establish the net benefit of colonial rule.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Jedwab and Moradi (2012, pp. 1–4, 6–10). Original schematic based on cited facts, not traced map geometry.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07</a:t>
            </a:r>
            <a:endParaRPr lang="en-US" sz="1000" dirty="0"/>
          </a:p>
        </p:txBody>
      </p:sp>
      <p:sp>
        <p:nvSpPr>
          <p:cNvPr id="11" name="Text 9"/>
          <p:cNvSpPr/>
          <p:nvPr/>
        </p:nvSpPr>
        <p:spPr>
          <a:xfrm>
            <a:off x="457200" y="30353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1898–1918 / GHANA</a:t>
            </a:r>
            <a:endParaRPr lang="en-US" sz="1000" dirty="0"/>
          </a:p>
        </p:txBody>
      </p:sp>
      <p:sp>
        <p:nvSpPr>
          <p:cNvPr id="12" name="Shape 10"/>
          <p:cNvSpPr/>
          <p:nvPr/>
        </p:nvSpPr>
        <p:spPr>
          <a:xfrm>
            <a:off x="822234" y="4098834"/>
            <a:ext cx="539931" cy="20320"/>
          </a:xfrm>
          <a:prstGeom prst="rect">
            <a:avLst/>
          </a:prstGeom>
          <a:solidFill>
            <a:srgbClr val="252525"/>
          </a:solidFill>
          <a:ln w="12700">
            <a:solidFill>
              <a:srgbClr val="252525"/>
            </a:solidFill>
            <a:prstDash val="solid"/>
          </a:ln>
        </p:spPr>
      </p:sp>
      <p:sp>
        <p:nvSpPr>
          <p:cNvPr id="13" name="Shape 11"/>
          <p:cNvSpPr/>
          <p:nvPr/>
        </p:nvSpPr>
        <p:spPr>
          <a:xfrm>
            <a:off x="822234" y="4108994"/>
            <a:ext cx="139337" cy="156754"/>
          </a:xfrm>
          <a:prstGeom prst="line">
            <a:avLst/>
          </a:prstGeom>
          <a:noFill/>
          <a:ln w="20320">
            <a:solidFill>
              <a:srgbClr val="252525"/>
            </a:solidFill>
            <a:prstDash val="solid"/>
          </a:ln>
        </p:spPr>
      </p:sp>
      <p:sp>
        <p:nvSpPr>
          <p:cNvPr id="14" name="Shape 12"/>
          <p:cNvSpPr/>
          <p:nvPr/>
        </p:nvSpPr>
        <p:spPr>
          <a:xfrm>
            <a:off x="961571" y="4255589"/>
            <a:ext cx="296091" cy="20320"/>
          </a:xfrm>
          <a:prstGeom prst="rect">
            <a:avLst/>
          </a:prstGeom>
          <a:solidFill>
            <a:srgbClr val="252525"/>
          </a:solidFill>
          <a:ln w="12700">
            <a:solidFill>
              <a:srgbClr val="252525"/>
            </a:solidFill>
            <a:prstDash val="solid"/>
          </a:ln>
        </p:spPr>
      </p:sp>
      <p:sp>
        <p:nvSpPr>
          <p:cNvPr id="15" name="Shape 13"/>
          <p:cNvSpPr/>
          <p:nvPr/>
        </p:nvSpPr>
        <p:spPr>
          <a:xfrm flipV="1">
            <a:off x="1257663" y="4108994"/>
            <a:ext cx="104503" cy="156754"/>
          </a:xfrm>
          <a:prstGeom prst="line">
            <a:avLst/>
          </a:prstGeom>
          <a:noFill/>
          <a:ln w="20320">
            <a:solidFill>
              <a:srgbClr val="252525"/>
            </a:solidFill>
            <a:prstDash val="solid"/>
          </a:ln>
        </p:spPr>
      </p:sp>
      <p:sp>
        <p:nvSpPr>
          <p:cNvPr id="16" name="Shape 14"/>
          <p:cNvSpPr/>
          <p:nvPr/>
        </p:nvSpPr>
        <p:spPr>
          <a:xfrm>
            <a:off x="916577" y="3917406"/>
            <a:ext cx="20320" cy="191589"/>
          </a:xfrm>
          <a:prstGeom prst="rect">
            <a:avLst/>
          </a:prstGeom>
          <a:solidFill>
            <a:srgbClr val="252525"/>
          </a:solidFill>
          <a:ln w="12700">
            <a:solidFill>
              <a:srgbClr val="252525"/>
            </a:solidFill>
            <a:prstDash val="solid"/>
          </a:ln>
        </p:spPr>
      </p:sp>
      <p:sp>
        <p:nvSpPr>
          <p:cNvPr id="17" name="Shape 15"/>
          <p:cNvSpPr/>
          <p:nvPr/>
        </p:nvSpPr>
        <p:spPr>
          <a:xfrm>
            <a:off x="926737" y="3907246"/>
            <a:ext cx="296091" cy="20320"/>
          </a:xfrm>
          <a:prstGeom prst="rect">
            <a:avLst/>
          </a:prstGeom>
          <a:solidFill>
            <a:srgbClr val="252525"/>
          </a:solidFill>
          <a:ln w="12700">
            <a:solidFill>
              <a:srgbClr val="252525"/>
            </a:solidFill>
            <a:prstDash val="solid"/>
          </a:ln>
        </p:spPr>
      </p:sp>
      <p:sp>
        <p:nvSpPr>
          <p:cNvPr id="18" name="Shape 16"/>
          <p:cNvSpPr/>
          <p:nvPr/>
        </p:nvSpPr>
        <p:spPr>
          <a:xfrm>
            <a:off x="1212669" y="3917406"/>
            <a:ext cx="20320" cy="191589"/>
          </a:xfrm>
          <a:prstGeom prst="rect">
            <a:avLst/>
          </a:prstGeom>
          <a:solidFill>
            <a:srgbClr val="252525"/>
          </a:solidFill>
          <a:ln w="12700">
            <a:solidFill>
              <a:srgbClr val="252525"/>
            </a:solidFill>
            <a:prstDash val="solid"/>
          </a:ln>
        </p:spPr>
      </p:sp>
      <p:sp>
        <p:nvSpPr>
          <p:cNvPr id="19" name="Shape 17"/>
          <p:cNvSpPr/>
          <p:nvPr/>
        </p:nvSpPr>
        <p:spPr>
          <a:xfrm>
            <a:off x="1073331" y="3760651"/>
            <a:ext cx="20320" cy="156754"/>
          </a:xfrm>
          <a:prstGeom prst="rect">
            <a:avLst/>
          </a:prstGeom>
          <a:solidFill>
            <a:srgbClr val="252525"/>
          </a:solidFill>
          <a:ln w="12700">
            <a:solidFill>
              <a:srgbClr val="252525"/>
            </a:solidFill>
            <a:prstDash val="solid"/>
          </a:ln>
        </p:spPr>
      </p:sp>
      <p:sp>
        <p:nvSpPr>
          <p:cNvPr id="20" name="Text 18"/>
          <p:cNvSpPr/>
          <p:nvPr/>
        </p:nvSpPr>
        <p:spPr>
          <a:xfrm>
            <a:off x="457200" y="45212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Coast and ports</a:t>
            </a:r>
            <a:endParaRPr lang="en-US" sz="1700" dirty="0"/>
          </a:p>
        </p:txBody>
      </p:sp>
      <p:sp>
        <p:nvSpPr>
          <p:cNvPr id="21" name="Shape 19"/>
          <p:cNvSpPr/>
          <p:nvPr/>
        </p:nvSpPr>
        <p:spPr>
          <a:xfrm>
            <a:off x="5318034" y="4255589"/>
            <a:ext cx="522514" cy="20320"/>
          </a:xfrm>
          <a:prstGeom prst="rect">
            <a:avLst/>
          </a:prstGeom>
          <a:solidFill>
            <a:srgbClr val="252525"/>
          </a:solidFill>
          <a:ln w="12700">
            <a:solidFill>
              <a:srgbClr val="252525"/>
            </a:solidFill>
            <a:prstDash val="solid"/>
          </a:ln>
        </p:spPr>
      </p:sp>
      <p:sp>
        <p:nvSpPr>
          <p:cNvPr id="22" name="Shape 20"/>
          <p:cNvSpPr/>
          <p:nvPr/>
        </p:nvSpPr>
        <p:spPr>
          <a:xfrm>
            <a:off x="5307874" y="3969657"/>
            <a:ext cx="20320" cy="296091"/>
          </a:xfrm>
          <a:prstGeom prst="rect">
            <a:avLst/>
          </a:prstGeom>
          <a:solidFill>
            <a:srgbClr val="252525"/>
          </a:solidFill>
          <a:ln w="12700">
            <a:solidFill>
              <a:srgbClr val="252525"/>
            </a:solidFill>
            <a:prstDash val="solid"/>
          </a:ln>
        </p:spPr>
      </p:sp>
      <p:sp>
        <p:nvSpPr>
          <p:cNvPr id="23" name="Shape 21"/>
          <p:cNvSpPr/>
          <p:nvPr/>
        </p:nvSpPr>
        <p:spPr>
          <a:xfrm flipV="1">
            <a:off x="5318034" y="3865154"/>
            <a:ext cx="174171" cy="104503"/>
          </a:xfrm>
          <a:prstGeom prst="line">
            <a:avLst/>
          </a:prstGeom>
          <a:noFill/>
          <a:ln w="20320">
            <a:solidFill>
              <a:srgbClr val="252525"/>
            </a:solidFill>
            <a:prstDash val="solid"/>
          </a:ln>
        </p:spPr>
      </p:sp>
      <p:sp>
        <p:nvSpPr>
          <p:cNvPr id="24" name="Shape 22"/>
          <p:cNvSpPr/>
          <p:nvPr/>
        </p:nvSpPr>
        <p:spPr>
          <a:xfrm>
            <a:off x="5482046" y="3865154"/>
            <a:ext cx="20320" cy="104503"/>
          </a:xfrm>
          <a:prstGeom prst="rect">
            <a:avLst/>
          </a:prstGeom>
          <a:solidFill>
            <a:srgbClr val="252525"/>
          </a:solidFill>
          <a:ln w="12700">
            <a:solidFill>
              <a:srgbClr val="252525"/>
            </a:solidFill>
            <a:prstDash val="solid"/>
          </a:ln>
        </p:spPr>
      </p:sp>
      <p:sp>
        <p:nvSpPr>
          <p:cNvPr id="25" name="Shape 23"/>
          <p:cNvSpPr/>
          <p:nvPr/>
        </p:nvSpPr>
        <p:spPr>
          <a:xfrm flipV="1">
            <a:off x="5492206" y="3865154"/>
            <a:ext cx="191589" cy="104503"/>
          </a:xfrm>
          <a:prstGeom prst="line">
            <a:avLst/>
          </a:prstGeom>
          <a:noFill/>
          <a:ln w="20320">
            <a:solidFill>
              <a:srgbClr val="252525"/>
            </a:solidFill>
            <a:prstDash val="solid"/>
          </a:ln>
        </p:spPr>
      </p:sp>
      <p:sp>
        <p:nvSpPr>
          <p:cNvPr id="26" name="Shape 24"/>
          <p:cNvSpPr/>
          <p:nvPr/>
        </p:nvSpPr>
        <p:spPr>
          <a:xfrm>
            <a:off x="5673634" y="3865154"/>
            <a:ext cx="20320" cy="400594"/>
          </a:xfrm>
          <a:prstGeom prst="rect">
            <a:avLst/>
          </a:prstGeom>
          <a:solidFill>
            <a:srgbClr val="252525"/>
          </a:solidFill>
          <a:ln w="12700">
            <a:solidFill>
              <a:srgbClr val="252525"/>
            </a:solidFill>
            <a:prstDash val="solid"/>
          </a:ln>
        </p:spPr>
      </p:sp>
      <p:sp>
        <p:nvSpPr>
          <p:cNvPr id="27" name="Shape 25"/>
          <p:cNvSpPr/>
          <p:nvPr/>
        </p:nvSpPr>
        <p:spPr>
          <a:xfrm>
            <a:off x="5743303" y="3760651"/>
            <a:ext cx="20320" cy="278674"/>
          </a:xfrm>
          <a:prstGeom prst="rect">
            <a:avLst/>
          </a:prstGeom>
          <a:solidFill>
            <a:srgbClr val="252525"/>
          </a:solidFill>
          <a:ln w="12700">
            <a:solidFill>
              <a:srgbClr val="252525"/>
            </a:solidFill>
            <a:prstDash val="solid"/>
          </a:ln>
        </p:spPr>
      </p:sp>
      <p:sp>
        <p:nvSpPr>
          <p:cNvPr id="28" name="Shape 26"/>
          <p:cNvSpPr/>
          <p:nvPr/>
        </p:nvSpPr>
        <p:spPr>
          <a:xfrm>
            <a:off x="5830389" y="3760651"/>
            <a:ext cx="20320" cy="505097"/>
          </a:xfrm>
          <a:prstGeom prst="rect">
            <a:avLst/>
          </a:prstGeom>
          <a:solidFill>
            <a:srgbClr val="252525"/>
          </a:solidFill>
          <a:ln w="12700">
            <a:solidFill>
              <a:srgbClr val="252525"/>
            </a:solidFill>
            <a:prstDash val="solid"/>
          </a:ln>
        </p:spPr>
      </p:sp>
      <p:sp>
        <p:nvSpPr>
          <p:cNvPr id="29" name="Shape 27"/>
          <p:cNvSpPr/>
          <p:nvPr/>
        </p:nvSpPr>
        <p:spPr>
          <a:xfrm>
            <a:off x="5753463" y="3750491"/>
            <a:ext cx="87086" cy="20320"/>
          </a:xfrm>
          <a:prstGeom prst="rect">
            <a:avLst/>
          </a:prstGeom>
          <a:solidFill>
            <a:srgbClr val="252525"/>
          </a:solidFill>
          <a:ln w="12700">
            <a:solidFill>
              <a:srgbClr val="252525"/>
            </a:solidFill>
            <a:prstDash val="solid"/>
          </a:ln>
        </p:spPr>
      </p:sp>
      <p:sp>
        <p:nvSpPr>
          <p:cNvPr id="30" name="Shape 28"/>
          <p:cNvSpPr/>
          <p:nvPr/>
        </p:nvSpPr>
        <p:spPr>
          <a:xfrm>
            <a:off x="5405120" y="4098834"/>
            <a:ext cx="52251" cy="20320"/>
          </a:xfrm>
          <a:prstGeom prst="rect">
            <a:avLst/>
          </a:prstGeom>
          <a:solidFill>
            <a:srgbClr val="252525"/>
          </a:solidFill>
          <a:ln w="12700">
            <a:solidFill>
              <a:srgbClr val="252525"/>
            </a:solidFill>
            <a:prstDash val="solid"/>
          </a:ln>
        </p:spPr>
      </p:sp>
      <p:sp>
        <p:nvSpPr>
          <p:cNvPr id="31" name="Shape 29"/>
          <p:cNvSpPr/>
          <p:nvPr/>
        </p:nvSpPr>
        <p:spPr>
          <a:xfrm>
            <a:off x="5561874" y="4098834"/>
            <a:ext cx="52251" cy="20320"/>
          </a:xfrm>
          <a:prstGeom prst="rect">
            <a:avLst/>
          </a:prstGeom>
          <a:solidFill>
            <a:srgbClr val="252525"/>
          </a:solidFill>
          <a:ln w="12700">
            <a:solidFill>
              <a:srgbClr val="252525"/>
            </a:solidFill>
            <a:prstDash val="solid"/>
          </a:ln>
        </p:spPr>
      </p:sp>
      <p:sp>
        <p:nvSpPr>
          <p:cNvPr id="32" name="Text 30"/>
          <p:cNvSpPr/>
          <p:nvPr/>
        </p:nvSpPr>
        <p:spPr>
          <a:xfrm>
            <a:off x="4495800" y="4521200"/>
            <a:ext cx="26035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Mining areas</a:t>
            </a:r>
            <a:endParaRPr lang="en-US" sz="1700" dirty="0"/>
          </a:p>
        </p:txBody>
      </p:sp>
      <p:sp>
        <p:nvSpPr>
          <p:cNvPr id="33" name="Shape 31"/>
          <p:cNvSpPr/>
          <p:nvPr/>
        </p:nvSpPr>
        <p:spPr>
          <a:xfrm>
            <a:off x="1562100" y="3975100"/>
            <a:ext cx="3492500" cy="25400"/>
          </a:xfrm>
          <a:prstGeom prst="rect">
            <a:avLst/>
          </a:prstGeom>
          <a:solidFill>
            <a:srgbClr val="252525"/>
          </a:solidFill>
          <a:ln w="12700">
            <a:solidFill>
              <a:srgbClr val="252525"/>
            </a:solidFill>
            <a:prstDash val="solid"/>
          </a:ln>
        </p:spPr>
      </p:sp>
      <p:sp>
        <p:nvSpPr>
          <p:cNvPr id="34" name="Text 32"/>
          <p:cNvSpPr/>
          <p:nvPr/>
        </p:nvSpPr>
        <p:spPr>
          <a:xfrm>
            <a:off x="3302000" y="36322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5" name="Shape 33"/>
          <p:cNvSpPr/>
          <p:nvPr/>
        </p:nvSpPr>
        <p:spPr>
          <a:xfrm>
            <a:off x="857069" y="5544820"/>
            <a:ext cx="470263" cy="435429"/>
          </a:xfrm>
          <a:prstGeom prst="rect">
            <a:avLst/>
          </a:prstGeom>
          <a:solidFill>
            <a:srgbClr val="F4F0E7"/>
          </a:solidFill>
          <a:ln w="7620">
            <a:solidFill>
              <a:srgbClr val="252525"/>
            </a:solidFill>
            <a:prstDash val="solid"/>
          </a:ln>
        </p:spPr>
      </p:sp>
      <p:sp>
        <p:nvSpPr>
          <p:cNvPr id="36" name="Shape 34"/>
          <p:cNvSpPr/>
          <p:nvPr/>
        </p:nvSpPr>
        <p:spPr>
          <a:xfrm>
            <a:off x="857069" y="5673997"/>
            <a:ext cx="470263" cy="20320"/>
          </a:xfrm>
          <a:prstGeom prst="rect">
            <a:avLst/>
          </a:prstGeom>
          <a:solidFill>
            <a:srgbClr val="252525"/>
          </a:solidFill>
          <a:ln w="12700">
            <a:solidFill>
              <a:srgbClr val="252525"/>
            </a:solidFill>
            <a:prstDash val="solid"/>
          </a:ln>
        </p:spPr>
      </p:sp>
      <p:sp>
        <p:nvSpPr>
          <p:cNvPr id="37" name="Shape 35"/>
          <p:cNvSpPr/>
          <p:nvPr/>
        </p:nvSpPr>
        <p:spPr>
          <a:xfrm>
            <a:off x="1073331" y="5544820"/>
            <a:ext cx="20320" cy="139337"/>
          </a:xfrm>
          <a:prstGeom prst="rect">
            <a:avLst/>
          </a:prstGeom>
          <a:solidFill>
            <a:srgbClr val="252525"/>
          </a:solidFill>
          <a:ln w="12700">
            <a:solidFill>
              <a:srgbClr val="252525"/>
            </a:solidFill>
            <a:prstDash val="solid"/>
          </a:ln>
        </p:spPr>
      </p:sp>
      <p:sp>
        <p:nvSpPr>
          <p:cNvPr id="38" name="Text 36"/>
          <p:cNvSpPr/>
          <p:nvPr/>
        </p:nvSpPr>
        <p:spPr>
          <a:xfrm>
            <a:off x="457200" y="6235700"/>
            <a:ext cx="26797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Cocoa producers</a:t>
            </a:r>
            <a:endParaRPr lang="en-US" sz="1700" dirty="0"/>
          </a:p>
        </p:txBody>
      </p:sp>
      <p:sp>
        <p:nvSpPr>
          <p:cNvPr id="39" name="Shape 37"/>
          <p:cNvSpPr/>
          <p:nvPr/>
        </p:nvSpPr>
        <p:spPr>
          <a:xfrm flipV="1">
            <a:off x="5335451" y="5475151"/>
            <a:ext cx="243840" cy="243840"/>
          </a:xfrm>
          <a:prstGeom prst="line">
            <a:avLst/>
          </a:prstGeom>
          <a:noFill/>
          <a:ln w="20320">
            <a:solidFill>
              <a:srgbClr val="252525"/>
            </a:solidFill>
            <a:prstDash val="solid"/>
          </a:ln>
        </p:spPr>
      </p:sp>
      <p:sp>
        <p:nvSpPr>
          <p:cNvPr id="40" name="Shape 38"/>
          <p:cNvSpPr/>
          <p:nvPr/>
        </p:nvSpPr>
        <p:spPr>
          <a:xfrm>
            <a:off x="5579291" y="5475151"/>
            <a:ext cx="243840" cy="243840"/>
          </a:xfrm>
          <a:prstGeom prst="line">
            <a:avLst/>
          </a:prstGeom>
          <a:noFill/>
          <a:ln w="20320">
            <a:solidFill>
              <a:srgbClr val="252525"/>
            </a:solidFill>
            <a:prstDash val="solid"/>
          </a:ln>
        </p:spPr>
      </p:sp>
      <p:sp>
        <p:nvSpPr>
          <p:cNvPr id="41" name="Shape 39"/>
          <p:cNvSpPr/>
          <p:nvPr/>
        </p:nvSpPr>
        <p:spPr>
          <a:xfrm>
            <a:off x="5579291" y="5718991"/>
            <a:ext cx="243840" cy="243840"/>
          </a:xfrm>
          <a:prstGeom prst="line">
            <a:avLst/>
          </a:prstGeom>
          <a:noFill/>
          <a:ln w="20320">
            <a:solidFill>
              <a:srgbClr val="252525"/>
            </a:solidFill>
            <a:prstDash val="solid"/>
          </a:ln>
        </p:spPr>
      </p:sp>
      <p:sp>
        <p:nvSpPr>
          <p:cNvPr id="42" name="Shape 40"/>
          <p:cNvSpPr/>
          <p:nvPr/>
        </p:nvSpPr>
        <p:spPr>
          <a:xfrm flipV="1">
            <a:off x="5335451" y="5718991"/>
            <a:ext cx="243840" cy="243840"/>
          </a:xfrm>
          <a:prstGeom prst="line">
            <a:avLst/>
          </a:prstGeom>
          <a:noFill/>
          <a:ln w="20320">
            <a:solidFill>
              <a:srgbClr val="252525"/>
            </a:solidFill>
            <a:prstDash val="solid"/>
          </a:ln>
        </p:spPr>
      </p:sp>
      <p:sp>
        <p:nvSpPr>
          <p:cNvPr id="43" name="Shape 41"/>
          <p:cNvSpPr/>
          <p:nvPr/>
        </p:nvSpPr>
        <p:spPr>
          <a:xfrm>
            <a:off x="5335451" y="5708831"/>
            <a:ext cx="487680" cy="20320"/>
          </a:xfrm>
          <a:prstGeom prst="rect">
            <a:avLst/>
          </a:prstGeom>
          <a:solidFill>
            <a:srgbClr val="252525"/>
          </a:solidFill>
          <a:ln w="12700">
            <a:solidFill>
              <a:srgbClr val="252525"/>
            </a:solidFill>
            <a:prstDash val="solid"/>
          </a:ln>
        </p:spPr>
      </p:sp>
      <p:sp>
        <p:nvSpPr>
          <p:cNvPr id="44" name="Shape 42"/>
          <p:cNvSpPr/>
          <p:nvPr/>
        </p:nvSpPr>
        <p:spPr>
          <a:xfrm>
            <a:off x="5300617" y="5684157"/>
            <a:ext cx="69669" cy="69669"/>
          </a:xfrm>
          <a:prstGeom prst="ellipse">
            <a:avLst/>
          </a:prstGeom>
          <a:solidFill>
            <a:srgbClr val="252525"/>
          </a:solidFill>
          <a:ln w="12700">
            <a:solidFill>
              <a:srgbClr val="252525"/>
            </a:solidFill>
            <a:prstDash val="solid"/>
          </a:ln>
        </p:spPr>
      </p:sp>
      <p:sp>
        <p:nvSpPr>
          <p:cNvPr id="45" name="Shape 43"/>
          <p:cNvSpPr/>
          <p:nvPr/>
        </p:nvSpPr>
        <p:spPr>
          <a:xfrm>
            <a:off x="5544457" y="5440317"/>
            <a:ext cx="69669" cy="69669"/>
          </a:xfrm>
          <a:prstGeom prst="ellipse">
            <a:avLst/>
          </a:prstGeom>
          <a:solidFill>
            <a:srgbClr val="252525"/>
          </a:solidFill>
          <a:ln w="12700">
            <a:solidFill>
              <a:srgbClr val="252525"/>
            </a:solidFill>
            <a:prstDash val="solid"/>
          </a:ln>
        </p:spPr>
      </p:sp>
      <p:sp>
        <p:nvSpPr>
          <p:cNvPr id="46" name="Shape 44"/>
          <p:cNvSpPr/>
          <p:nvPr/>
        </p:nvSpPr>
        <p:spPr>
          <a:xfrm>
            <a:off x="5788297" y="5684157"/>
            <a:ext cx="69669" cy="69669"/>
          </a:xfrm>
          <a:prstGeom prst="ellipse">
            <a:avLst/>
          </a:prstGeom>
          <a:solidFill>
            <a:srgbClr val="252525"/>
          </a:solidFill>
          <a:ln w="12700">
            <a:solidFill>
              <a:srgbClr val="252525"/>
            </a:solidFill>
            <a:prstDash val="solid"/>
          </a:ln>
        </p:spPr>
      </p:sp>
      <p:sp>
        <p:nvSpPr>
          <p:cNvPr id="47" name="Shape 45"/>
          <p:cNvSpPr/>
          <p:nvPr/>
        </p:nvSpPr>
        <p:spPr>
          <a:xfrm>
            <a:off x="5544457" y="5927997"/>
            <a:ext cx="69669" cy="69669"/>
          </a:xfrm>
          <a:prstGeom prst="ellipse">
            <a:avLst/>
          </a:prstGeom>
          <a:solidFill>
            <a:srgbClr val="252525"/>
          </a:solidFill>
          <a:ln w="12700">
            <a:solidFill>
              <a:srgbClr val="252525"/>
            </a:solidFill>
            <a:prstDash val="solid"/>
          </a:ln>
        </p:spPr>
      </p:sp>
      <p:sp>
        <p:nvSpPr>
          <p:cNvPr id="48" name="Text 46"/>
          <p:cNvSpPr/>
          <p:nvPr/>
        </p:nvSpPr>
        <p:spPr>
          <a:xfrm>
            <a:off x="4178300" y="6235700"/>
            <a:ext cx="2921000" cy="4064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Kumasi and markets</a:t>
            </a:r>
            <a:endParaRPr lang="en-US" sz="1700" dirty="0"/>
          </a:p>
        </p:txBody>
      </p:sp>
      <p:sp>
        <p:nvSpPr>
          <p:cNvPr id="49" name="Shape 47"/>
          <p:cNvSpPr/>
          <p:nvPr/>
        </p:nvSpPr>
        <p:spPr>
          <a:xfrm>
            <a:off x="1562100" y="5705475"/>
            <a:ext cx="63500" cy="19050"/>
          </a:xfrm>
          <a:prstGeom prst="rect">
            <a:avLst/>
          </a:prstGeom>
          <a:solidFill>
            <a:srgbClr val="252525"/>
          </a:solidFill>
          <a:ln w="12700">
            <a:solidFill>
              <a:srgbClr val="252525"/>
            </a:solidFill>
            <a:prstDash val="solid"/>
          </a:ln>
        </p:spPr>
      </p:sp>
      <p:sp>
        <p:nvSpPr>
          <p:cNvPr id="50" name="Shape 48"/>
          <p:cNvSpPr/>
          <p:nvPr/>
        </p:nvSpPr>
        <p:spPr>
          <a:xfrm>
            <a:off x="1676400" y="5705475"/>
            <a:ext cx="63500" cy="19050"/>
          </a:xfrm>
          <a:prstGeom prst="rect">
            <a:avLst/>
          </a:prstGeom>
          <a:solidFill>
            <a:srgbClr val="252525"/>
          </a:solidFill>
          <a:ln w="12700">
            <a:solidFill>
              <a:srgbClr val="252525"/>
            </a:solidFill>
            <a:prstDash val="solid"/>
          </a:ln>
        </p:spPr>
      </p:sp>
      <p:sp>
        <p:nvSpPr>
          <p:cNvPr id="51" name="Shape 49"/>
          <p:cNvSpPr/>
          <p:nvPr/>
        </p:nvSpPr>
        <p:spPr>
          <a:xfrm>
            <a:off x="1790700" y="5705475"/>
            <a:ext cx="63500" cy="19050"/>
          </a:xfrm>
          <a:prstGeom prst="rect">
            <a:avLst/>
          </a:prstGeom>
          <a:solidFill>
            <a:srgbClr val="252525"/>
          </a:solidFill>
          <a:ln w="12700">
            <a:solidFill>
              <a:srgbClr val="252525"/>
            </a:solidFill>
            <a:prstDash val="solid"/>
          </a:ln>
        </p:spPr>
      </p:sp>
      <p:sp>
        <p:nvSpPr>
          <p:cNvPr id="52" name="Shape 50"/>
          <p:cNvSpPr/>
          <p:nvPr/>
        </p:nvSpPr>
        <p:spPr>
          <a:xfrm>
            <a:off x="1905000" y="5705475"/>
            <a:ext cx="63500" cy="19050"/>
          </a:xfrm>
          <a:prstGeom prst="rect">
            <a:avLst/>
          </a:prstGeom>
          <a:solidFill>
            <a:srgbClr val="252525"/>
          </a:solidFill>
          <a:ln w="12700">
            <a:solidFill>
              <a:srgbClr val="252525"/>
            </a:solidFill>
            <a:prstDash val="solid"/>
          </a:ln>
        </p:spPr>
      </p:sp>
      <p:sp>
        <p:nvSpPr>
          <p:cNvPr id="53" name="Shape 51"/>
          <p:cNvSpPr/>
          <p:nvPr/>
        </p:nvSpPr>
        <p:spPr>
          <a:xfrm>
            <a:off x="2019300" y="5705475"/>
            <a:ext cx="63500" cy="19050"/>
          </a:xfrm>
          <a:prstGeom prst="rect">
            <a:avLst/>
          </a:prstGeom>
          <a:solidFill>
            <a:srgbClr val="252525"/>
          </a:solidFill>
          <a:ln w="12700">
            <a:solidFill>
              <a:srgbClr val="252525"/>
            </a:solidFill>
            <a:prstDash val="solid"/>
          </a:ln>
        </p:spPr>
      </p:sp>
      <p:sp>
        <p:nvSpPr>
          <p:cNvPr id="54" name="Shape 52"/>
          <p:cNvSpPr/>
          <p:nvPr/>
        </p:nvSpPr>
        <p:spPr>
          <a:xfrm>
            <a:off x="2133600" y="5705475"/>
            <a:ext cx="63500" cy="19050"/>
          </a:xfrm>
          <a:prstGeom prst="rect">
            <a:avLst/>
          </a:prstGeom>
          <a:solidFill>
            <a:srgbClr val="252525"/>
          </a:solidFill>
          <a:ln w="12700">
            <a:solidFill>
              <a:srgbClr val="252525"/>
            </a:solidFill>
            <a:prstDash val="solid"/>
          </a:ln>
        </p:spPr>
      </p:sp>
      <p:sp>
        <p:nvSpPr>
          <p:cNvPr id="55" name="Shape 53"/>
          <p:cNvSpPr/>
          <p:nvPr/>
        </p:nvSpPr>
        <p:spPr>
          <a:xfrm>
            <a:off x="2247900" y="5705475"/>
            <a:ext cx="63500" cy="19050"/>
          </a:xfrm>
          <a:prstGeom prst="rect">
            <a:avLst/>
          </a:prstGeom>
          <a:solidFill>
            <a:srgbClr val="252525"/>
          </a:solidFill>
          <a:ln w="12700">
            <a:solidFill>
              <a:srgbClr val="252525"/>
            </a:solidFill>
            <a:prstDash val="solid"/>
          </a:ln>
        </p:spPr>
      </p:sp>
      <p:sp>
        <p:nvSpPr>
          <p:cNvPr id="56" name="Shape 54"/>
          <p:cNvSpPr/>
          <p:nvPr/>
        </p:nvSpPr>
        <p:spPr>
          <a:xfrm>
            <a:off x="2362200" y="5705475"/>
            <a:ext cx="63500" cy="19050"/>
          </a:xfrm>
          <a:prstGeom prst="rect">
            <a:avLst/>
          </a:prstGeom>
          <a:solidFill>
            <a:srgbClr val="252525"/>
          </a:solidFill>
          <a:ln w="12700">
            <a:solidFill>
              <a:srgbClr val="252525"/>
            </a:solidFill>
            <a:prstDash val="solid"/>
          </a:ln>
        </p:spPr>
      </p:sp>
      <p:sp>
        <p:nvSpPr>
          <p:cNvPr id="57" name="Shape 55"/>
          <p:cNvSpPr/>
          <p:nvPr/>
        </p:nvSpPr>
        <p:spPr>
          <a:xfrm>
            <a:off x="2476500" y="5705475"/>
            <a:ext cx="63500" cy="19050"/>
          </a:xfrm>
          <a:prstGeom prst="rect">
            <a:avLst/>
          </a:prstGeom>
          <a:solidFill>
            <a:srgbClr val="252525"/>
          </a:solidFill>
          <a:ln w="12700">
            <a:solidFill>
              <a:srgbClr val="252525"/>
            </a:solidFill>
            <a:prstDash val="solid"/>
          </a:ln>
        </p:spPr>
      </p:sp>
      <p:sp>
        <p:nvSpPr>
          <p:cNvPr id="58" name="Shape 56"/>
          <p:cNvSpPr/>
          <p:nvPr/>
        </p:nvSpPr>
        <p:spPr>
          <a:xfrm>
            <a:off x="2590800" y="5705475"/>
            <a:ext cx="63500" cy="19050"/>
          </a:xfrm>
          <a:prstGeom prst="rect">
            <a:avLst/>
          </a:prstGeom>
          <a:solidFill>
            <a:srgbClr val="252525"/>
          </a:solidFill>
          <a:ln w="12700">
            <a:solidFill>
              <a:srgbClr val="252525"/>
            </a:solidFill>
            <a:prstDash val="solid"/>
          </a:ln>
        </p:spPr>
      </p:sp>
      <p:sp>
        <p:nvSpPr>
          <p:cNvPr id="59" name="Shape 57"/>
          <p:cNvSpPr/>
          <p:nvPr/>
        </p:nvSpPr>
        <p:spPr>
          <a:xfrm>
            <a:off x="2705100" y="5705475"/>
            <a:ext cx="63500" cy="19050"/>
          </a:xfrm>
          <a:prstGeom prst="rect">
            <a:avLst/>
          </a:prstGeom>
          <a:solidFill>
            <a:srgbClr val="252525"/>
          </a:solidFill>
          <a:ln w="12700">
            <a:solidFill>
              <a:srgbClr val="252525"/>
            </a:solidFill>
            <a:prstDash val="solid"/>
          </a:ln>
        </p:spPr>
      </p:sp>
      <p:sp>
        <p:nvSpPr>
          <p:cNvPr id="60" name="Shape 58"/>
          <p:cNvSpPr/>
          <p:nvPr/>
        </p:nvSpPr>
        <p:spPr>
          <a:xfrm>
            <a:off x="2819400" y="5705475"/>
            <a:ext cx="63500" cy="19050"/>
          </a:xfrm>
          <a:prstGeom prst="rect">
            <a:avLst/>
          </a:prstGeom>
          <a:solidFill>
            <a:srgbClr val="252525"/>
          </a:solidFill>
          <a:ln w="12700">
            <a:solidFill>
              <a:srgbClr val="252525"/>
            </a:solidFill>
            <a:prstDash val="solid"/>
          </a:ln>
        </p:spPr>
      </p:sp>
      <p:sp>
        <p:nvSpPr>
          <p:cNvPr id="61" name="Shape 59"/>
          <p:cNvSpPr/>
          <p:nvPr/>
        </p:nvSpPr>
        <p:spPr>
          <a:xfrm>
            <a:off x="2933700" y="5705475"/>
            <a:ext cx="63500" cy="19050"/>
          </a:xfrm>
          <a:prstGeom prst="rect">
            <a:avLst/>
          </a:prstGeom>
          <a:solidFill>
            <a:srgbClr val="252525"/>
          </a:solidFill>
          <a:ln w="12700">
            <a:solidFill>
              <a:srgbClr val="252525"/>
            </a:solidFill>
            <a:prstDash val="solid"/>
          </a:ln>
        </p:spPr>
      </p:sp>
      <p:sp>
        <p:nvSpPr>
          <p:cNvPr id="62" name="Shape 60"/>
          <p:cNvSpPr/>
          <p:nvPr/>
        </p:nvSpPr>
        <p:spPr>
          <a:xfrm>
            <a:off x="3048000" y="5705475"/>
            <a:ext cx="63500" cy="19050"/>
          </a:xfrm>
          <a:prstGeom prst="rect">
            <a:avLst/>
          </a:prstGeom>
          <a:solidFill>
            <a:srgbClr val="252525"/>
          </a:solidFill>
          <a:ln w="12700">
            <a:solidFill>
              <a:srgbClr val="252525"/>
            </a:solidFill>
            <a:prstDash val="solid"/>
          </a:ln>
        </p:spPr>
      </p:sp>
      <p:sp>
        <p:nvSpPr>
          <p:cNvPr id="63" name="Shape 61"/>
          <p:cNvSpPr/>
          <p:nvPr/>
        </p:nvSpPr>
        <p:spPr>
          <a:xfrm>
            <a:off x="3162300" y="5705475"/>
            <a:ext cx="63500" cy="19050"/>
          </a:xfrm>
          <a:prstGeom prst="rect">
            <a:avLst/>
          </a:prstGeom>
          <a:solidFill>
            <a:srgbClr val="252525"/>
          </a:solidFill>
          <a:ln w="12700">
            <a:solidFill>
              <a:srgbClr val="252525"/>
            </a:solidFill>
            <a:prstDash val="solid"/>
          </a:ln>
        </p:spPr>
      </p:sp>
      <p:sp>
        <p:nvSpPr>
          <p:cNvPr id="64" name="Shape 62"/>
          <p:cNvSpPr/>
          <p:nvPr/>
        </p:nvSpPr>
        <p:spPr>
          <a:xfrm>
            <a:off x="3276600" y="5705475"/>
            <a:ext cx="63500" cy="19050"/>
          </a:xfrm>
          <a:prstGeom prst="rect">
            <a:avLst/>
          </a:prstGeom>
          <a:solidFill>
            <a:srgbClr val="252525"/>
          </a:solidFill>
          <a:ln w="12700">
            <a:solidFill>
              <a:srgbClr val="252525"/>
            </a:solidFill>
            <a:prstDash val="solid"/>
          </a:ln>
        </p:spPr>
      </p:sp>
      <p:sp>
        <p:nvSpPr>
          <p:cNvPr id="65" name="Shape 63"/>
          <p:cNvSpPr/>
          <p:nvPr/>
        </p:nvSpPr>
        <p:spPr>
          <a:xfrm>
            <a:off x="3390900" y="5705475"/>
            <a:ext cx="63500" cy="19050"/>
          </a:xfrm>
          <a:prstGeom prst="rect">
            <a:avLst/>
          </a:prstGeom>
          <a:solidFill>
            <a:srgbClr val="252525"/>
          </a:solidFill>
          <a:ln w="12700">
            <a:solidFill>
              <a:srgbClr val="252525"/>
            </a:solidFill>
            <a:prstDash val="solid"/>
          </a:ln>
        </p:spPr>
      </p:sp>
      <p:sp>
        <p:nvSpPr>
          <p:cNvPr id="66" name="Shape 64"/>
          <p:cNvSpPr/>
          <p:nvPr/>
        </p:nvSpPr>
        <p:spPr>
          <a:xfrm>
            <a:off x="3505200" y="5705475"/>
            <a:ext cx="63500" cy="19050"/>
          </a:xfrm>
          <a:prstGeom prst="rect">
            <a:avLst/>
          </a:prstGeom>
          <a:solidFill>
            <a:srgbClr val="252525"/>
          </a:solidFill>
          <a:ln w="12700">
            <a:solidFill>
              <a:srgbClr val="252525"/>
            </a:solidFill>
            <a:prstDash val="solid"/>
          </a:ln>
        </p:spPr>
      </p:sp>
      <p:sp>
        <p:nvSpPr>
          <p:cNvPr id="67" name="Shape 65"/>
          <p:cNvSpPr/>
          <p:nvPr/>
        </p:nvSpPr>
        <p:spPr>
          <a:xfrm>
            <a:off x="3619500" y="5705475"/>
            <a:ext cx="63500" cy="19050"/>
          </a:xfrm>
          <a:prstGeom prst="rect">
            <a:avLst/>
          </a:prstGeom>
          <a:solidFill>
            <a:srgbClr val="252525"/>
          </a:solidFill>
          <a:ln w="12700">
            <a:solidFill>
              <a:srgbClr val="252525"/>
            </a:solidFill>
            <a:prstDash val="solid"/>
          </a:ln>
        </p:spPr>
      </p:sp>
      <p:sp>
        <p:nvSpPr>
          <p:cNvPr id="68" name="Shape 66"/>
          <p:cNvSpPr/>
          <p:nvPr/>
        </p:nvSpPr>
        <p:spPr>
          <a:xfrm>
            <a:off x="3733800" y="5705475"/>
            <a:ext cx="63500" cy="19050"/>
          </a:xfrm>
          <a:prstGeom prst="rect">
            <a:avLst/>
          </a:prstGeom>
          <a:solidFill>
            <a:srgbClr val="252525"/>
          </a:solidFill>
          <a:ln w="12700">
            <a:solidFill>
              <a:srgbClr val="252525"/>
            </a:solidFill>
            <a:prstDash val="solid"/>
          </a:ln>
        </p:spPr>
      </p:sp>
      <p:sp>
        <p:nvSpPr>
          <p:cNvPr id="69" name="Shape 67"/>
          <p:cNvSpPr/>
          <p:nvPr/>
        </p:nvSpPr>
        <p:spPr>
          <a:xfrm>
            <a:off x="3848100" y="5705475"/>
            <a:ext cx="63500" cy="19050"/>
          </a:xfrm>
          <a:prstGeom prst="rect">
            <a:avLst/>
          </a:prstGeom>
          <a:solidFill>
            <a:srgbClr val="252525"/>
          </a:solidFill>
          <a:ln w="12700">
            <a:solidFill>
              <a:srgbClr val="252525"/>
            </a:solidFill>
            <a:prstDash val="solid"/>
          </a:ln>
        </p:spPr>
      </p:sp>
      <p:sp>
        <p:nvSpPr>
          <p:cNvPr id="70" name="Shape 68"/>
          <p:cNvSpPr/>
          <p:nvPr/>
        </p:nvSpPr>
        <p:spPr>
          <a:xfrm>
            <a:off x="3962400" y="5705475"/>
            <a:ext cx="63500" cy="19050"/>
          </a:xfrm>
          <a:prstGeom prst="rect">
            <a:avLst/>
          </a:prstGeom>
          <a:solidFill>
            <a:srgbClr val="252525"/>
          </a:solidFill>
          <a:ln w="12700">
            <a:solidFill>
              <a:srgbClr val="252525"/>
            </a:solidFill>
            <a:prstDash val="solid"/>
          </a:ln>
        </p:spPr>
      </p:sp>
      <p:sp>
        <p:nvSpPr>
          <p:cNvPr id="71" name="Shape 69"/>
          <p:cNvSpPr/>
          <p:nvPr/>
        </p:nvSpPr>
        <p:spPr>
          <a:xfrm>
            <a:off x="4076700" y="5705475"/>
            <a:ext cx="63500" cy="19050"/>
          </a:xfrm>
          <a:prstGeom prst="rect">
            <a:avLst/>
          </a:prstGeom>
          <a:solidFill>
            <a:srgbClr val="252525"/>
          </a:solidFill>
          <a:ln w="12700">
            <a:solidFill>
              <a:srgbClr val="252525"/>
            </a:solidFill>
            <a:prstDash val="solid"/>
          </a:ln>
        </p:spPr>
      </p:sp>
      <p:sp>
        <p:nvSpPr>
          <p:cNvPr id="72" name="Shape 70"/>
          <p:cNvSpPr/>
          <p:nvPr/>
        </p:nvSpPr>
        <p:spPr>
          <a:xfrm>
            <a:off x="4191000" y="5705475"/>
            <a:ext cx="63500" cy="19050"/>
          </a:xfrm>
          <a:prstGeom prst="rect">
            <a:avLst/>
          </a:prstGeom>
          <a:solidFill>
            <a:srgbClr val="252525"/>
          </a:solidFill>
          <a:ln w="12700">
            <a:solidFill>
              <a:srgbClr val="252525"/>
            </a:solidFill>
            <a:prstDash val="solid"/>
          </a:ln>
        </p:spPr>
      </p:sp>
      <p:sp>
        <p:nvSpPr>
          <p:cNvPr id="73" name="Shape 71"/>
          <p:cNvSpPr/>
          <p:nvPr/>
        </p:nvSpPr>
        <p:spPr>
          <a:xfrm>
            <a:off x="4305300" y="5705475"/>
            <a:ext cx="63500" cy="19050"/>
          </a:xfrm>
          <a:prstGeom prst="rect">
            <a:avLst/>
          </a:prstGeom>
          <a:solidFill>
            <a:srgbClr val="252525"/>
          </a:solidFill>
          <a:ln w="12700">
            <a:solidFill>
              <a:srgbClr val="252525"/>
            </a:solidFill>
            <a:prstDash val="solid"/>
          </a:ln>
        </p:spPr>
      </p:sp>
      <p:sp>
        <p:nvSpPr>
          <p:cNvPr id="74" name="Shape 72"/>
          <p:cNvSpPr/>
          <p:nvPr/>
        </p:nvSpPr>
        <p:spPr>
          <a:xfrm>
            <a:off x="4419600" y="5705475"/>
            <a:ext cx="63500" cy="19050"/>
          </a:xfrm>
          <a:prstGeom prst="rect">
            <a:avLst/>
          </a:prstGeom>
          <a:solidFill>
            <a:srgbClr val="252525"/>
          </a:solidFill>
          <a:ln w="12700">
            <a:solidFill>
              <a:srgbClr val="252525"/>
            </a:solidFill>
            <a:prstDash val="solid"/>
          </a:ln>
        </p:spPr>
      </p:sp>
      <p:sp>
        <p:nvSpPr>
          <p:cNvPr id="75" name="Shape 73"/>
          <p:cNvSpPr/>
          <p:nvPr/>
        </p:nvSpPr>
        <p:spPr>
          <a:xfrm>
            <a:off x="4533900" y="5705475"/>
            <a:ext cx="63500" cy="19050"/>
          </a:xfrm>
          <a:prstGeom prst="rect">
            <a:avLst/>
          </a:prstGeom>
          <a:solidFill>
            <a:srgbClr val="252525"/>
          </a:solidFill>
          <a:ln w="12700">
            <a:solidFill>
              <a:srgbClr val="252525"/>
            </a:solidFill>
            <a:prstDash val="solid"/>
          </a:ln>
        </p:spPr>
      </p:sp>
      <p:sp>
        <p:nvSpPr>
          <p:cNvPr id="76" name="Shape 74"/>
          <p:cNvSpPr/>
          <p:nvPr/>
        </p:nvSpPr>
        <p:spPr>
          <a:xfrm>
            <a:off x="4648200" y="5705475"/>
            <a:ext cx="63500" cy="19050"/>
          </a:xfrm>
          <a:prstGeom prst="rect">
            <a:avLst/>
          </a:prstGeom>
          <a:solidFill>
            <a:srgbClr val="252525"/>
          </a:solidFill>
          <a:ln w="12700">
            <a:solidFill>
              <a:srgbClr val="252525"/>
            </a:solidFill>
            <a:prstDash val="solid"/>
          </a:ln>
        </p:spPr>
      </p:sp>
      <p:sp>
        <p:nvSpPr>
          <p:cNvPr id="77" name="Shape 75"/>
          <p:cNvSpPr/>
          <p:nvPr/>
        </p:nvSpPr>
        <p:spPr>
          <a:xfrm>
            <a:off x="4762500" y="5705475"/>
            <a:ext cx="63500" cy="19050"/>
          </a:xfrm>
          <a:prstGeom prst="rect">
            <a:avLst/>
          </a:prstGeom>
          <a:solidFill>
            <a:srgbClr val="252525"/>
          </a:solidFill>
          <a:ln w="12700">
            <a:solidFill>
              <a:srgbClr val="252525"/>
            </a:solidFill>
            <a:prstDash val="solid"/>
          </a:ln>
        </p:spPr>
      </p:sp>
      <p:sp>
        <p:nvSpPr>
          <p:cNvPr id="78" name="Shape 76"/>
          <p:cNvSpPr/>
          <p:nvPr/>
        </p:nvSpPr>
        <p:spPr>
          <a:xfrm>
            <a:off x="4876800" y="5705475"/>
            <a:ext cx="63500" cy="19050"/>
          </a:xfrm>
          <a:prstGeom prst="rect">
            <a:avLst/>
          </a:prstGeom>
          <a:solidFill>
            <a:srgbClr val="252525"/>
          </a:solidFill>
          <a:ln w="12700">
            <a:solidFill>
              <a:srgbClr val="252525"/>
            </a:solidFill>
            <a:prstDash val="solid"/>
          </a:ln>
        </p:spPr>
      </p:sp>
      <p:sp>
        <p:nvSpPr>
          <p:cNvPr id="79" name="Shape 77"/>
          <p:cNvSpPr/>
          <p:nvPr/>
        </p:nvSpPr>
        <p:spPr>
          <a:xfrm>
            <a:off x="4991100" y="5705475"/>
            <a:ext cx="63500" cy="19050"/>
          </a:xfrm>
          <a:prstGeom prst="rect">
            <a:avLst/>
          </a:prstGeom>
          <a:solidFill>
            <a:srgbClr val="252525"/>
          </a:solidFill>
          <a:ln w="12700">
            <a:solidFill>
              <a:srgbClr val="252525"/>
            </a:solidFill>
            <a:prstDash val="solid"/>
          </a:ln>
        </p:spPr>
      </p:sp>
      <p:sp>
        <p:nvSpPr>
          <p:cNvPr id="80" name="Text 78"/>
          <p:cNvSpPr/>
          <p:nvPr/>
        </p:nvSpPr>
        <p:spPr>
          <a:xfrm>
            <a:off x="3302000" y="53594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81" name="Shape 79"/>
          <p:cNvSpPr/>
          <p:nvPr/>
        </p:nvSpPr>
        <p:spPr>
          <a:xfrm>
            <a:off x="5578475" y="4991100"/>
            <a:ext cx="19050" cy="355600"/>
          </a:xfrm>
          <a:prstGeom prst="rect">
            <a:avLst/>
          </a:prstGeom>
          <a:solidFill>
            <a:srgbClr val="252525"/>
          </a:solidFill>
          <a:ln w="12700">
            <a:solidFill>
              <a:srgbClr val="252525"/>
            </a:solidFill>
            <a:prstDash val="solid"/>
          </a:ln>
        </p:spPr>
      </p:sp>
      <p:sp>
        <p:nvSpPr>
          <p:cNvPr id="82" name="Shape 80"/>
          <p:cNvSpPr/>
          <p:nvPr/>
        </p:nvSpPr>
        <p:spPr>
          <a:xfrm>
            <a:off x="1069975" y="4991100"/>
            <a:ext cx="19050" cy="63500"/>
          </a:xfrm>
          <a:prstGeom prst="rect">
            <a:avLst/>
          </a:prstGeom>
          <a:solidFill>
            <a:srgbClr val="252525"/>
          </a:solidFill>
          <a:ln w="12700">
            <a:solidFill>
              <a:srgbClr val="252525"/>
            </a:solidFill>
            <a:prstDash val="solid"/>
          </a:ln>
        </p:spPr>
      </p:sp>
      <p:sp>
        <p:nvSpPr>
          <p:cNvPr id="83" name="Shape 81"/>
          <p:cNvSpPr/>
          <p:nvPr/>
        </p:nvSpPr>
        <p:spPr>
          <a:xfrm>
            <a:off x="1069975" y="5105400"/>
            <a:ext cx="19050" cy="63500"/>
          </a:xfrm>
          <a:prstGeom prst="rect">
            <a:avLst/>
          </a:prstGeom>
          <a:solidFill>
            <a:srgbClr val="252525"/>
          </a:solidFill>
          <a:ln w="12700">
            <a:solidFill>
              <a:srgbClr val="252525"/>
            </a:solidFill>
            <a:prstDash val="solid"/>
          </a:ln>
        </p:spPr>
      </p:sp>
      <p:sp>
        <p:nvSpPr>
          <p:cNvPr id="84" name="Shape 82"/>
          <p:cNvSpPr/>
          <p:nvPr/>
        </p:nvSpPr>
        <p:spPr>
          <a:xfrm>
            <a:off x="1069975" y="5219700"/>
            <a:ext cx="19050" cy="63500"/>
          </a:xfrm>
          <a:prstGeom prst="rect">
            <a:avLst/>
          </a:prstGeom>
          <a:solidFill>
            <a:srgbClr val="252525"/>
          </a:solidFill>
          <a:ln w="12700">
            <a:solidFill>
              <a:srgbClr val="252525"/>
            </a:solidFill>
            <a:prstDash val="solid"/>
          </a:ln>
        </p:spPr>
      </p:sp>
      <p:sp>
        <p:nvSpPr>
          <p:cNvPr id="85" name="Shape 83"/>
          <p:cNvSpPr/>
          <p:nvPr/>
        </p:nvSpPr>
        <p:spPr>
          <a:xfrm>
            <a:off x="1069975" y="5334000"/>
            <a:ext cx="19050" cy="12700"/>
          </a:xfrm>
          <a:prstGeom prst="rect">
            <a:avLst/>
          </a:prstGeom>
          <a:solidFill>
            <a:srgbClr val="252525"/>
          </a:solidFill>
          <a:ln w="12700">
            <a:solidFill>
              <a:srgbClr val="252525"/>
            </a:solidFill>
            <a:prstDash val="solid"/>
          </a:ln>
        </p:spPr>
      </p:sp>
      <p:sp>
        <p:nvSpPr>
          <p:cNvPr id="86" name="Text 84"/>
          <p:cNvSpPr/>
          <p:nvPr/>
        </p:nvSpPr>
        <p:spPr>
          <a:xfrm>
            <a:off x="457200" y="6794500"/>
            <a:ext cx="6642100" cy="2159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SCHEMATIC, NOT SURVEY GEOMETRY</a:t>
            </a:r>
            <a:endParaRPr lang="en-US" sz="800" dirty="0"/>
          </a:p>
        </p:txBody>
      </p:sp>
      <p:sp>
        <p:nvSpPr>
          <p:cNvPr id="87" name="Text 85"/>
          <p:cNvSpPr/>
          <p:nvPr/>
        </p:nvSpPr>
        <p:spPr>
          <a:xfrm>
            <a:off x="457200" y="7124700"/>
            <a:ext cx="6642100" cy="4572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Solid: original connections to mines and Kumasi.</a:t>
            </a:r>
            <a:endParaRPr lang="en-US" sz="1000" dirty="0"/>
          </a:p>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Dashed: later economic links—not a mapped railway route.</a:t>
            </a:r>
            <a:endParaRPr lang="en-US" sz="1000" dirty="0"/>
          </a:p>
        </p:txBody>
      </p:sp>
      <p:sp>
        <p:nvSpPr>
          <p:cNvPr id="88" name="Text 86"/>
          <p:cNvSpPr/>
          <p:nvPr/>
        </p:nvSpPr>
        <p:spPr>
          <a:xfrm>
            <a:off x="457200" y="7772400"/>
            <a:ext cx="3162300" cy="876300"/>
          </a:xfrm>
          <a:prstGeom prst="rect">
            <a:avLst/>
          </a:prstGeom>
          <a:noFill/>
          <a:ln/>
        </p:spPr>
        <p:txBody>
          <a:bodyPr wrap="square" lIns="0" tIns="0" rIns="0" bIns="0" rtlCol="0" anchor="t"/>
          <a:lstStyle/>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Built to extract.</a:t>
            </a:r>
            <a:endParaRPr lang="en-US" sz="2500" dirty="0"/>
          </a:p>
          <a:p>
            <a:pPr indent="0" marL="0">
              <a:lnSpc>
                <a:spcPct val="112000"/>
              </a:lnSpc>
              <a:buNone/>
            </a:pPr>
            <a:r>
              <a:rPr lang="en-US" sz="2500" b="1" dirty="0">
                <a:solidFill>
                  <a:srgbClr val="252525"/>
                </a:solidFill>
                <a:latin typeface="Alegreya" pitchFamily="34" charset="0"/>
                <a:ea typeface="Alegreya" pitchFamily="34" charset="-122"/>
                <a:cs typeface="Alegreya" pitchFamily="34" charset="-120"/>
              </a:rPr>
              <a:t>Used for more.</a:t>
            </a:r>
            <a:endParaRPr lang="en-US" sz="2500" dirty="0"/>
          </a:p>
        </p:txBody>
      </p:sp>
      <p:sp>
        <p:nvSpPr>
          <p:cNvPr id="89" name="Text 87"/>
          <p:cNvSpPr/>
          <p:nvPr/>
        </p:nvSpPr>
        <p:spPr>
          <a:xfrm>
            <a:off x="3937000" y="7772400"/>
            <a:ext cx="3162300" cy="1016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Lower transport costs also supported cocoa production and urban growth. Original purpose and later effects were not the same (Jedwab &amp; Moradi, 2012).</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THE STARTING LINE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starts changed the options.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Inheritance mattered because it shaped what countries could build on—not because it fixed their future.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are selected pathways, not controlled causal tests. Contemporary photographs are context—not scenes from independence.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(1985, p. 18); Maipose (2008, pp. 3–5, 8–11); Svirydzenka and Petri (2014, pp. 5–8); World Bank (1993, pp. 127–130); World Bank (2020, pp. 32–33, Box 2 pp. 44–47); Nasution (2000, pp. 19–20). Photos: p. 28.</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08</a:t>
            </a:r>
            <a:endParaRPr lang="en-US" sz="1000" dirty="0"/>
          </a:p>
        </p:txBody>
      </p:sp>
      <p:sp>
        <p:nvSpPr>
          <p:cNvPr id="11" name="Shape 9"/>
          <p:cNvSpPr/>
          <p:nvPr/>
        </p:nvSpPr>
        <p:spPr>
          <a:xfrm>
            <a:off x="457200" y="3124200"/>
            <a:ext cx="6642100" cy="876300"/>
          </a:xfrm>
          <a:prstGeom prst="rect">
            <a:avLst/>
          </a:prstGeom>
          <a:solidFill>
            <a:srgbClr val="B95332"/>
          </a:solidFill>
          <a:ln w="12700">
            <a:solidFill>
              <a:srgbClr val="B95332"/>
            </a:solidFill>
            <a:prstDash val="solid"/>
          </a:ln>
        </p:spPr>
      </p:sp>
      <p:pic>
        <p:nvPicPr>
          <p:cNvPr id="12" name="Image 0" descr="/Users/marcusgrude-grodem/Documents/GitHub/USIL/africa-asia-development-magazine/design/canva_editorial_draft/assets/print/ghana_tema.jpg">    </p:cNvPr>
          <p:cNvPicPr>
            <a:picLocks noChangeAspect="1"/>
          </p:cNvPicPr>
          <p:nvPr/>
        </p:nvPicPr>
        <p:blipFill>
          <a:blip r:embed="rId1"/>
          <a:stretch>
            <a:fillRect/>
          </a:stretch>
        </p:blipFill>
        <p:spPr>
          <a:xfrm>
            <a:off x="591558" y="3175000"/>
            <a:ext cx="1128283" cy="749300"/>
          </a:xfrm>
          <a:prstGeom prst="rect">
            <a:avLst/>
          </a:prstGeom>
        </p:spPr>
      </p:pic>
      <p:sp>
        <p:nvSpPr>
          <p:cNvPr id="13" name="Text 10"/>
          <p:cNvSpPr/>
          <p:nvPr/>
        </p:nvSpPr>
        <p:spPr>
          <a:xfrm>
            <a:off x="1981200" y="31877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Ghana</a:t>
            </a:r>
            <a:endParaRPr lang="en-US" sz="1200" dirty="0"/>
          </a:p>
        </p:txBody>
      </p:sp>
      <p:sp>
        <p:nvSpPr>
          <p:cNvPr id="14" name="Text 11"/>
          <p:cNvSpPr/>
          <p:nvPr/>
        </p:nvSpPr>
        <p:spPr>
          <a:xfrm>
            <a:off x="1981200" y="34925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F4F0E7"/>
                </a:solidFill>
                <a:latin typeface="Montserrat" pitchFamily="34" charset="0"/>
                <a:ea typeface="Montserrat" pitchFamily="34" charset="-122"/>
                <a:cs typeface="Montserrat" pitchFamily="34" charset="-120"/>
              </a:rPr>
              <a:t>Cocoa and inherited transport links. WHY: exporting crops was not the same as building a wider industrial base.</a:t>
            </a:r>
            <a:endParaRPr lang="en-US" sz="950" dirty="0"/>
          </a:p>
        </p:txBody>
      </p:sp>
      <p:sp>
        <p:nvSpPr>
          <p:cNvPr id="15" name="Shape 12"/>
          <p:cNvSpPr/>
          <p:nvPr/>
        </p:nvSpPr>
        <p:spPr>
          <a:xfrm>
            <a:off x="457200" y="4076700"/>
            <a:ext cx="6642100" cy="876300"/>
          </a:xfrm>
          <a:prstGeom prst="rect">
            <a:avLst/>
          </a:prstGeom>
          <a:solidFill>
            <a:srgbClr val="3F684E"/>
          </a:solidFill>
          <a:ln w="12700">
            <a:solidFill>
              <a:srgbClr val="3F684E"/>
            </a:solidFill>
            <a:prstDash val="solid"/>
          </a:ln>
        </p:spPr>
      </p:sp>
      <p:pic>
        <p:nvPicPr>
          <p:cNvPr id="16" name="Image 1" descr="/Users/marcusgrude-grodem/Documents/GitHub/USIL/africa-asia-development-magazine/design/canva_editorial_draft/assets/print/botswana_gaborone.jpg">    </p:cNvPr>
          <p:cNvPicPr>
            <a:picLocks noChangeAspect="1"/>
          </p:cNvPicPr>
          <p:nvPr/>
        </p:nvPicPr>
        <p:blipFill>
          <a:blip r:embed="rId2"/>
          <a:stretch>
            <a:fillRect/>
          </a:stretch>
        </p:blipFill>
        <p:spPr>
          <a:xfrm>
            <a:off x="656167" y="4127500"/>
            <a:ext cx="999067" cy="749300"/>
          </a:xfrm>
          <a:prstGeom prst="rect">
            <a:avLst/>
          </a:prstGeom>
        </p:spPr>
      </p:pic>
      <p:sp>
        <p:nvSpPr>
          <p:cNvPr id="17" name="Text 13"/>
          <p:cNvSpPr/>
          <p:nvPr/>
        </p:nvSpPr>
        <p:spPr>
          <a:xfrm>
            <a:off x="1981200" y="41402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Botswana</a:t>
            </a:r>
            <a:endParaRPr lang="en-US" sz="1200" dirty="0"/>
          </a:p>
        </p:txBody>
      </p:sp>
      <p:sp>
        <p:nvSpPr>
          <p:cNvPr id="18" name="Text 14"/>
          <p:cNvSpPr/>
          <p:nvPr/>
        </p:nvSpPr>
        <p:spPr>
          <a:xfrm>
            <a:off x="1981200" y="44450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F4F0E7"/>
                </a:solidFill>
                <a:latin typeface="Montserrat" pitchFamily="34" charset="0"/>
                <a:ea typeface="Montserrat" pitchFamily="34" charset="-122"/>
                <a:cs typeface="Montserrat" pitchFamily="34" charset="-120"/>
              </a:rPr>
              <a:t>Few inherited public assets. WHY: later mineral income and its management offered a different route to income growth.</a:t>
            </a:r>
            <a:endParaRPr lang="en-US" sz="950" dirty="0"/>
          </a:p>
        </p:txBody>
      </p:sp>
      <p:sp>
        <p:nvSpPr>
          <p:cNvPr id="19" name="Shape 15"/>
          <p:cNvSpPr/>
          <p:nvPr/>
        </p:nvSpPr>
        <p:spPr>
          <a:xfrm>
            <a:off x="457200" y="5029200"/>
            <a:ext cx="6642100" cy="876300"/>
          </a:xfrm>
          <a:prstGeom prst="rect">
            <a:avLst/>
          </a:prstGeom>
          <a:solidFill>
            <a:srgbClr val="D6A23A"/>
          </a:solidFill>
          <a:ln w="12700">
            <a:solidFill>
              <a:srgbClr val="D6A23A"/>
            </a:solidFill>
            <a:prstDash val="solid"/>
          </a:ln>
        </p:spPr>
      </p:sp>
      <p:pic>
        <p:nvPicPr>
          <p:cNvPr id="20" name="Image 2" descr="/Users/marcusgrude-grodem/Documents/GitHub/USIL/africa-asia-development-magazine/design/canva_editorial_draft/assets/print/mauritius_market.jpg">    </p:cNvPr>
          <p:cNvPicPr>
            <a:picLocks noChangeAspect="1"/>
          </p:cNvPicPr>
          <p:nvPr/>
        </p:nvPicPr>
        <p:blipFill>
          <a:blip r:embed="rId3"/>
          <a:stretch>
            <a:fillRect/>
          </a:stretch>
        </p:blipFill>
        <p:spPr>
          <a:xfrm>
            <a:off x="905601" y="5080000"/>
            <a:ext cx="500198" cy="749300"/>
          </a:xfrm>
          <a:prstGeom prst="rect">
            <a:avLst/>
          </a:prstGeom>
        </p:spPr>
      </p:pic>
      <p:sp>
        <p:nvSpPr>
          <p:cNvPr id="21" name="Text 16"/>
          <p:cNvSpPr/>
          <p:nvPr/>
        </p:nvSpPr>
        <p:spPr>
          <a:xfrm>
            <a:off x="1981200" y="50927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22" name="Text 17"/>
          <p:cNvSpPr/>
          <p:nvPr/>
        </p:nvSpPr>
        <p:spPr>
          <a:xfrm>
            <a:off x="1981200" y="53975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A sugar-based economy. WHY: diversification opened activities beyond one export crop.</a:t>
            </a:r>
            <a:endParaRPr lang="en-US" sz="950" dirty="0"/>
          </a:p>
        </p:txBody>
      </p:sp>
      <p:sp>
        <p:nvSpPr>
          <p:cNvPr id="23" name="Shape 18"/>
          <p:cNvSpPr/>
          <p:nvPr/>
        </p:nvSpPr>
        <p:spPr>
          <a:xfrm>
            <a:off x="457200" y="5981700"/>
            <a:ext cx="6642100" cy="876300"/>
          </a:xfrm>
          <a:prstGeom prst="rect">
            <a:avLst/>
          </a:prstGeom>
          <a:solidFill>
            <a:srgbClr val="315A78"/>
          </a:solidFill>
          <a:ln w="12700">
            <a:solidFill>
              <a:srgbClr val="315A78"/>
            </a:solidFill>
            <a:prstDash val="solid"/>
          </a:ln>
        </p:spPr>
      </p:sp>
      <p:pic>
        <p:nvPicPr>
          <p:cNvPr id="24" name="Image 3" descr="/Users/marcusgrude-grodem/Documents/GitHub/USIL/africa-asia-development-magazine/design/canva_editorial_draft/assets/print/korea_busan.jpg">    </p:cNvPr>
          <p:cNvPicPr>
            <a:picLocks noChangeAspect="1"/>
          </p:cNvPicPr>
          <p:nvPr/>
        </p:nvPicPr>
        <p:blipFill>
          <a:blip r:embed="rId4"/>
          <a:stretch>
            <a:fillRect/>
          </a:stretch>
        </p:blipFill>
        <p:spPr>
          <a:xfrm>
            <a:off x="656167" y="6032500"/>
            <a:ext cx="999067" cy="749300"/>
          </a:xfrm>
          <a:prstGeom prst="rect">
            <a:avLst/>
          </a:prstGeom>
        </p:spPr>
      </p:pic>
      <p:sp>
        <p:nvSpPr>
          <p:cNvPr id="25" name="Text 19"/>
          <p:cNvSpPr/>
          <p:nvPr/>
        </p:nvSpPr>
        <p:spPr>
          <a:xfrm>
            <a:off x="1981200" y="60452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South Korea</a:t>
            </a:r>
            <a:endParaRPr lang="en-US" sz="1200" dirty="0"/>
          </a:p>
        </p:txBody>
      </p:sp>
      <p:sp>
        <p:nvSpPr>
          <p:cNvPr id="26" name="Text 20"/>
          <p:cNvSpPr/>
          <p:nvPr/>
        </p:nvSpPr>
        <p:spPr>
          <a:xfrm>
            <a:off x="1981200" y="63500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F4F0E7"/>
                </a:solidFill>
                <a:latin typeface="Montserrat" pitchFamily="34" charset="0"/>
                <a:ea typeface="Montserrat" pitchFamily="34" charset="-122"/>
                <a:cs typeface="Montserrat" pitchFamily="34" charset="-120"/>
              </a:rPr>
              <a:t>War and division. WHY: rebuilding skills, production and institutions formed part of the later upgrading path.</a:t>
            </a:r>
            <a:endParaRPr lang="en-US" sz="950" dirty="0"/>
          </a:p>
        </p:txBody>
      </p:sp>
      <p:sp>
        <p:nvSpPr>
          <p:cNvPr id="27" name="Shape 21"/>
          <p:cNvSpPr/>
          <p:nvPr/>
        </p:nvSpPr>
        <p:spPr>
          <a:xfrm>
            <a:off x="457200" y="6934200"/>
            <a:ext cx="6642100" cy="876300"/>
          </a:xfrm>
          <a:prstGeom prst="rect">
            <a:avLst/>
          </a:prstGeom>
          <a:solidFill>
            <a:srgbClr val="3E7568"/>
          </a:solidFill>
          <a:ln w="12700">
            <a:solidFill>
              <a:srgbClr val="3E7568"/>
            </a:solidFill>
            <a:prstDash val="solid"/>
          </a:ln>
        </p:spPr>
      </p:sp>
      <p:pic>
        <p:nvPicPr>
          <p:cNvPr id="28" name="Image 4" descr="/Users/marcusgrude-grodem/Documents/GitHub/USIL/africa-asia-development-magazine/design/canva_editorial_draft/assets/print/malaysia_perai.jpg">    </p:cNvPr>
          <p:cNvPicPr>
            <a:picLocks noChangeAspect="1"/>
          </p:cNvPicPr>
          <p:nvPr/>
        </p:nvPicPr>
        <p:blipFill>
          <a:blip r:embed="rId5"/>
          <a:stretch>
            <a:fillRect/>
          </a:stretch>
        </p:blipFill>
        <p:spPr>
          <a:xfrm>
            <a:off x="656167" y="6985000"/>
            <a:ext cx="999067" cy="749300"/>
          </a:xfrm>
          <a:prstGeom prst="rect">
            <a:avLst/>
          </a:prstGeom>
        </p:spPr>
      </p:pic>
      <p:sp>
        <p:nvSpPr>
          <p:cNvPr id="29" name="Text 22"/>
          <p:cNvSpPr/>
          <p:nvPr/>
        </p:nvSpPr>
        <p:spPr>
          <a:xfrm>
            <a:off x="1981200" y="69977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Malaysia</a:t>
            </a:r>
            <a:endParaRPr lang="en-US" sz="1200" dirty="0"/>
          </a:p>
        </p:txBody>
      </p:sp>
      <p:sp>
        <p:nvSpPr>
          <p:cNvPr id="30" name="Text 23"/>
          <p:cNvSpPr/>
          <p:nvPr/>
        </p:nvSpPr>
        <p:spPr>
          <a:xfrm>
            <a:off x="1981200" y="73025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F4F0E7"/>
                </a:solidFill>
                <a:latin typeface="Montserrat" pitchFamily="34" charset="0"/>
                <a:ea typeface="Montserrat" pitchFamily="34" charset="-122"/>
                <a:cs typeface="Montserrat" pitchFamily="34" charset="-120"/>
              </a:rPr>
              <a:t>Commodity exports, then export manufacturing. WHY: foreign investment could open production opportunities; local learning still mattered.</a:t>
            </a:r>
            <a:endParaRPr lang="en-US" sz="950" dirty="0"/>
          </a:p>
        </p:txBody>
      </p:sp>
      <p:sp>
        <p:nvSpPr>
          <p:cNvPr id="31" name="Shape 24"/>
          <p:cNvSpPr/>
          <p:nvPr/>
        </p:nvSpPr>
        <p:spPr>
          <a:xfrm>
            <a:off x="457200" y="7886700"/>
            <a:ext cx="6642100" cy="876300"/>
          </a:xfrm>
          <a:prstGeom prst="rect">
            <a:avLst/>
          </a:prstGeom>
          <a:solidFill>
            <a:srgbClr val="A63A3A"/>
          </a:solidFill>
          <a:ln w="12700">
            <a:solidFill>
              <a:srgbClr val="A63A3A"/>
            </a:solidFill>
            <a:prstDash val="solid"/>
          </a:ln>
        </p:spPr>
      </p:sp>
      <p:pic>
        <p:nvPicPr>
          <p:cNvPr id="32" name="Image 5" descr="/Users/marcusgrude-grodem/Documents/GitHub/USIL/africa-asia-development-magazine/design/canva_editorial_draft/assets/print/philippines_manila.jpg">    </p:cNvPr>
          <p:cNvPicPr>
            <a:picLocks noChangeAspect="1"/>
          </p:cNvPicPr>
          <p:nvPr/>
        </p:nvPicPr>
        <p:blipFill>
          <a:blip r:embed="rId6"/>
          <a:stretch>
            <a:fillRect/>
          </a:stretch>
        </p:blipFill>
        <p:spPr>
          <a:xfrm>
            <a:off x="591711" y="7937500"/>
            <a:ext cx="1127978" cy="749300"/>
          </a:xfrm>
          <a:prstGeom prst="rect">
            <a:avLst/>
          </a:prstGeom>
        </p:spPr>
      </p:pic>
      <p:sp>
        <p:nvSpPr>
          <p:cNvPr id="33" name="Text 25"/>
          <p:cNvSpPr/>
          <p:nvPr/>
        </p:nvSpPr>
        <p:spPr>
          <a:xfrm>
            <a:off x="1981200" y="7950200"/>
            <a:ext cx="4953000" cy="2667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Philippines</a:t>
            </a:r>
            <a:endParaRPr lang="en-US" sz="1200" dirty="0"/>
          </a:p>
        </p:txBody>
      </p:sp>
      <p:sp>
        <p:nvSpPr>
          <p:cNvPr id="34" name="Text 26"/>
          <p:cNvSpPr/>
          <p:nvPr/>
        </p:nvSpPr>
        <p:spPr>
          <a:xfrm>
            <a:off x="1981200" y="8255000"/>
            <a:ext cx="4953000" cy="469900"/>
          </a:xfrm>
          <a:prstGeom prst="rect">
            <a:avLst/>
          </a:prstGeom>
          <a:noFill/>
          <a:ln/>
        </p:spPr>
        <p:txBody>
          <a:bodyPr wrap="square" lIns="0" tIns="0" rIns="0" bIns="0" rtlCol="0" anchor="t"/>
          <a:lstStyle/>
          <a:p>
            <a:pPr indent="0" marL="0">
              <a:lnSpc>
                <a:spcPct val="112000"/>
              </a:lnSpc>
              <a:buNone/>
            </a:pPr>
            <a:r>
              <a:rPr lang="en-US" sz="950" dirty="0">
                <a:solidFill>
                  <a:srgbClr val="F4F0E7"/>
                </a:solidFill>
                <a:latin typeface="Montserrat" pitchFamily="34" charset="0"/>
                <a:ea typeface="Montserrat" pitchFamily="34" charset="-122"/>
                <a:cs typeface="Montserrat" pitchFamily="34" charset="-120"/>
              </a:rPr>
              <a:t>Export assembly with imported inputs. WHY: selling abroad did not automatically deepen local supply networks.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WORK</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Jobs moved. The mix changed.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Two full-width bars per country show where people worked: 1991 and 2020.</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Moving out of farming does not automatically raise productivity. Industry includes mining, construction and utilities. Services are not all high-skill jobs.</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WDI / ILO modelled estimates: SL.AGR.EMPL.ZS, SL.IND.EMPL.ZS, SL.SRV.EMPL.ZS. Percent of employment. 1991 proxies 1990; no 1960 series. Release 13 July 2026; retrieved 6 October 2026.</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09</a:t>
            </a:r>
            <a:endParaRPr lang="en-US" sz="1000" dirty="0"/>
          </a:p>
        </p:txBody>
      </p:sp>
      <p:sp>
        <p:nvSpPr>
          <p:cNvPr id="23" name="Shape 21"/>
          <p:cNvSpPr/>
          <p:nvPr/>
        </p:nvSpPr>
        <p:spPr>
          <a:xfrm>
            <a:off x="457200" y="3213100"/>
            <a:ext cx="165100" cy="165100"/>
          </a:xfrm>
          <a:prstGeom prst="rect">
            <a:avLst/>
          </a:prstGeom>
          <a:solidFill>
            <a:srgbClr val="252525"/>
          </a:solidFill>
          <a:ln w="7620">
            <a:solidFill>
              <a:srgbClr val="514E48"/>
            </a:solidFill>
            <a:prstDash val="solid"/>
          </a:ln>
        </p:spPr>
      </p:sp>
      <p:sp>
        <p:nvSpPr>
          <p:cNvPr id="24" name="Text 22"/>
          <p:cNvSpPr/>
          <p:nvPr/>
        </p:nvSpPr>
        <p:spPr>
          <a:xfrm>
            <a:off x="7239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FARMING</a:t>
            </a:r>
            <a:endParaRPr lang="en-US" sz="900" dirty="0"/>
          </a:p>
        </p:txBody>
      </p:sp>
      <p:sp>
        <p:nvSpPr>
          <p:cNvPr id="25" name="Shape 23"/>
          <p:cNvSpPr/>
          <p:nvPr/>
        </p:nvSpPr>
        <p:spPr>
          <a:xfrm>
            <a:off x="2730500" y="3213100"/>
            <a:ext cx="165100" cy="165100"/>
          </a:xfrm>
          <a:prstGeom prst="rect">
            <a:avLst/>
          </a:prstGeom>
          <a:solidFill>
            <a:srgbClr val="888278"/>
          </a:solidFill>
          <a:ln w="7620">
            <a:solidFill>
              <a:srgbClr val="514E48"/>
            </a:solidFill>
            <a:prstDash val="solid"/>
          </a:ln>
        </p:spPr>
      </p:sp>
      <p:sp>
        <p:nvSpPr>
          <p:cNvPr id="26" name="Text 24"/>
          <p:cNvSpPr/>
          <p:nvPr/>
        </p:nvSpPr>
        <p:spPr>
          <a:xfrm>
            <a:off x="29972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INDUSTRY*</a:t>
            </a:r>
            <a:endParaRPr lang="en-US" sz="900" dirty="0"/>
          </a:p>
        </p:txBody>
      </p:sp>
      <p:sp>
        <p:nvSpPr>
          <p:cNvPr id="27" name="Shape 25"/>
          <p:cNvSpPr/>
          <p:nvPr/>
        </p:nvSpPr>
        <p:spPr>
          <a:xfrm>
            <a:off x="5003800" y="3213100"/>
            <a:ext cx="165100" cy="165100"/>
          </a:xfrm>
          <a:prstGeom prst="rect">
            <a:avLst/>
          </a:prstGeom>
          <a:solidFill>
            <a:srgbClr val="E8E1D4"/>
          </a:solidFill>
          <a:ln w="7620">
            <a:solidFill>
              <a:srgbClr val="514E48"/>
            </a:solidFill>
            <a:prstDash val="solid"/>
          </a:ln>
        </p:spPr>
      </p:sp>
      <p:sp>
        <p:nvSpPr>
          <p:cNvPr id="28" name="Text 26"/>
          <p:cNvSpPr/>
          <p:nvPr/>
        </p:nvSpPr>
        <p:spPr>
          <a:xfrm>
            <a:off x="5270500" y="3200400"/>
            <a:ext cx="1841500" cy="241300"/>
          </a:xfrm>
          <a:prstGeom prst="rect">
            <a:avLst/>
          </a:prstGeom>
          <a:noFill/>
          <a:ln/>
        </p:spPr>
        <p:txBody>
          <a:bodyPr wrap="square" lIns="0" tIns="0" rIns="0" bIns="0" rtlCol="0" anchor="t"/>
          <a:lstStyle/>
          <a:p>
            <a:pPr indent="0" marL="0">
              <a:lnSpc>
                <a:spcPct val="112000"/>
              </a:lnSpc>
              <a:buNone/>
            </a:pPr>
            <a:r>
              <a:rPr lang="en-US" sz="900" b="1" dirty="0">
                <a:solidFill>
                  <a:srgbClr val="252525"/>
                </a:solidFill>
                <a:latin typeface="Montserrat" pitchFamily="34" charset="0"/>
                <a:ea typeface="Montserrat" pitchFamily="34" charset="-122"/>
                <a:cs typeface="Montserrat" pitchFamily="34" charset="-120"/>
              </a:rPr>
              <a:t>SERVICES</a:t>
            </a:r>
            <a:endParaRPr lang="en-US" sz="900" dirty="0"/>
          </a:p>
        </p:txBody>
      </p:sp>
      <p:sp>
        <p:nvSpPr>
          <p:cNvPr id="29" name="Text 27"/>
          <p:cNvSpPr/>
          <p:nvPr/>
        </p:nvSpPr>
        <p:spPr>
          <a:xfrm>
            <a:off x="457200" y="3886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Ghana</a:t>
            </a:r>
            <a:endParaRPr lang="en-US" sz="1050" dirty="0"/>
          </a:p>
        </p:txBody>
      </p:sp>
      <p:sp>
        <p:nvSpPr>
          <p:cNvPr id="30" name="Text 28"/>
          <p:cNvSpPr/>
          <p:nvPr/>
        </p:nvSpPr>
        <p:spPr>
          <a:xfrm>
            <a:off x="2057400" y="3759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31" name="Shape 29"/>
          <p:cNvSpPr/>
          <p:nvPr/>
        </p:nvSpPr>
        <p:spPr>
          <a:xfrm>
            <a:off x="2527300" y="3759200"/>
            <a:ext cx="3282696" cy="165100"/>
          </a:xfrm>
          <a:prstGeom prst="rect">
            <a:avLst/>
          </a:prstGeom>
          <a:solidFill>
            <a:srgbClr val="252525"/>
          </a:solidFill>
          <a:ln w="7620">
            <a:solidFill>
              <a:srgbClr val="514E48"/>
            </a:solidFill>
            <a:prstDash val="solid"/>
          </a:ln>
        </p:spPr>
      </p:sp>
      <p:sp>
        <p:nvSpPr>
          <p:cNvPr id="32" name="Shape 30"/>
          <p:cNvSpPr/>
          <p:nvPr/>
        </p:nvSpPr>
        <p:spPr>
          <a:xfrm>
            <a:off x="5809996" y="3759200"/>
            <a:ext cx="411480" cy="165100"/>
          </a:xfrm>
          <a:prstGeom prst="rect">
            <a:avLst/>
          </a:prstGeom>
          <a:solidFill>
            <a:srgbClr val="888278"/>
          </a:solidFill>
          <a:ln w="7620">
            <a:solidFill>
              <a:srgbClr val="514E48"/>
            </a:solidFill>
            <a:prstDash val="solid"/>
          </a:ln>
        </p:spPr>
      </p:sp>
      <p:sp>
        <p:nvSpPr>
          <p:cNvPr id="33" name="Shape 31"/>
          <p:cNvSpPr/>
          <p:nvPr/>
        </p:nvSpPr>
        <p:spPr>
          <a:xfrm>
            <a:off x="6221476" y="3759200"/>
            <a:ext cx="877824" cy="165100"/>
          </a:xfrm>
          <a:prstGeom prst="rect">
            <a:avLst/>
          </a:prstGeom>
          <a:solidFill>
            <a:srgbClr val="E8E1D4"/>
          </a:solidFill>
          <a:ln w="7620">
            <a:solidFill>
              <a:srgbClr val="514E48"/>
            </a:solidFill>
            <a:prstDash val="solid"/>
          </a:ln>
        </p:spPr>
      </p:sp>
      <p:sp>
        <p:nvSpPr>
          <p:cNvPr id="34" name="Text 32"/>
          <p:cNvSpPr/>
          <p:nvPr/>
        </p:nvSpPr>
        <p:spPr>
          <a:xfrm>
            <a:off x="2057400" y="4025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35" name="Shape 33"/>
          <p:cNvSpPr/>
          <p:nvPr/>
        </p:nvSpPr>
        <p:spPr>
          <a:xfrm>
            <a:off x="2527300" y="4025900"/>
            <a:ext cx="1709928" cy="165100"/>
          </a:xfrm>
          <a:prstGeom prst="rect">
            <a:avLst/>
          </a:prstGeom>
          <a:solidFill>
            <a:srgbClr val="252525"/>
          </a:solidFill>
          <a:ln w="7620">
            <a:solidFill>
              <a:srgbClr val="514E48"/>
            </a:solidFill>
            <a:prstDash val="solid"/>
          </a:ln>
        </p:spPr>
      </p:sp>
      <p:sp>
        <p:nvSpPr>
          <p:cNvPr id="36" name="Shape 34"/>
          <p:cNvSpPr/>
          <p:nvPr/>
        </p:nvSpPr>
        <p:spPr>
          <a:xfrm>
            <a:off x="4237228" y="4025900"/>
            <a:ext cx="694944" cy="165100"/>
          </a:xfrm>
          <a:prstGeom prst="rect">
            <a:avLst/>
          </a:prstGeom>
          <a:solidFill>
            <a:srgbClr val="888278"/>
          </a:solidFill>
          <a:ln w="7620">
            <a:solidFill>
              <a:srgbClr val="514E48"/>
            </a:solidFill>
            <a:prstDash val="solid"/>
          </a:ln>
        </p:spPr>
      </p:sp>
      <p:sp>
        <p:nvSpPr>
          <p:cNvPr id="37" name="Shape 35"/>
          <p:cNvSpPr/>
          <p:nvPr/>
        </p:nvSpPr>
        <p:spPr>
          <a:xfrm>
            <a:off x="4932172" y="4025900"/>
            <a:ext cx="2167128" cy="165100"/>
          </a:xfrm>
          <a:prstGeom prst="rect">
            <a:avLst/>
          </a:prstGeom>
          <a:solidFill>
            <a:srgbClr val="E8E1D4"/>
          </a:solidFill>
          <a:ln w="7620">
            <a:solidFill>
              <a:srgbClr val="514E48"/>
            </a:solidFill>
            <a:prstDash val="solid"/>
          </a:ln>
        </p:spPr>
      </p:sp>
      <p:sp>
        <p:nvSpPr>
          <p:cNvPr id="38" name="Text 36"/>
          <p:cNvSpPr/>
          <p:nvPr/>
        </p:nvSpPr>
        <p:spPr>
          <a:xfrm>
            <a:off x="2527300" y="4292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71.8→37.4 / Industry 9.0→15.2 / Services 19.2→47.4</a:t>
            </a:r>
            <a:endParaRPr lang="en-US" sz="800" dirty="0"/>
          </a:p>
        </p:txBody>
      </p:sp>
      <p:sp>
        <p:nvSpPr>
          <p:cNvPr id="39" name="Text 37"/>
          <p:cNvSpPr/>
          <p:nvPr/>
        </p:nvSpPr>
        <p:spPr>
          <a:xfrm>
            <a:off x="457200" y="4711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Botswana</a:t>
            </a:r>
            <a:endParaRPr lang="en-US" sz="1050" dirty="0"/>
          </a:p>
        </p:txBody>
      </p:sp>
      <p:sp>
        <p:nvSpPr>
          <p:cNvPr id="40" name="Text 38"/>
          <p:cNvSpPr/>
          <p:nvPr/>
        </p:nvSpPr>
        <p:spPr>
          <a:xfrm>
            <a:off x="2057400" y="4584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41" name="Shape 39"/>
          <p:cNvSpPr/>
          <p:nvPr/>
        </p:nvSpPr>
        <p:spPr>
          <a:xfrm>
            <a:off x="2527300" y="4584700"/>
            <a:ext cx="576072" cy="165100"/>
          </a:xfrm>
          <a:prstGeom prst="rect">
            <a:avLst/>
          </a:prstGeom>
          <a:solidFill>
            <a:srgbClr val="252525"/>
          </a:solidFill>
          <a:ln w="7620">
            <a:solidFill>
              <a:srgbClr val="514E48"/>
            </a:solidFill>
            <a:prstDash val="solid"/>
          </a:ln>
        </p:spPr>
      </p:sp>
      <p:sp>
        <p:nvSpPr>
          <p:cNvPr id="42" name="Shape 40"/>
          <p:cNvSpPr/>
          <p:nvPr/>
        </p:nvSpPr>
        <p:spPr>
          <a:xfrm>
            <a:off x="3103372" y="4584700"/>
            <a:ext cx="973836" cy="165100"/>
          </a:xfrm>
          <a:prstGeom prst="rect">
            <a:avLst/>
          </a:prstGeom>
          <a:solidFill>
            <a:srgbClr val="888278"/>
          </a:solidFill>
          <a:ln w="7620">
            <a:solidFill>
              <a:srgbClr val="514E48"/>
            </a:solidFill>
            <a:prstDash val="solid"/>
          </a:ln>
        </p:spPr>
      </p:sp>
      <p:sp>
        <p:nvSpPr>
          <p:cNvPr id="43" name="Shape 41"/>
          <p:cNvSpPr/>
          <p:nvPr/>
        </p:nvSpPr>
        <p:spPr>
          <a:xfrm>
            <a:off x="4077208" y="4584700"/>
            <a:ext cx="3022092" cy="165100"/>
          </a:xfrm>
          <a:prstGeom prst="rect">
            <a:avLst/>
          </a:prstGeom>
          <a:solidFill>
            <a:srgbClr val="E8E1D4"/>
          </a:solidFill>
          <a:ln w="7620">
            <a:solidFill>
              <a:srgbClr val="514E48"/>
            </a:solidFill>
            <a:prstDash val="solid"/>
          </a:ln>
        </p:spPr>
      </p:sp>
      <p:sp>
        <p:nvSpPr>
          <p:cNvPr id="44" name="Text 42"/>
          <p:cNvSpPr/>
          <p:nvPr/>
        </p:nvSpPr>
        <p:spPr>
          <a:xfrm>
            <a:off x="2057400" y="4851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45" name="Shape 43"/>
          <p:cNvSpPr/>
          <p:nvPr/>
        </p:nvSpPr>
        <p:spPr>
          <a:xfrm>
            <a:off x="2527300" y="4851400"/>
            <a:ext cx="891540" cy="165100"/>
          </a:xfrm>
          <a:prstGeom prst="rect">
            <a:avLst/>
          </a:prstGeom>
          <a:solidFill>
            <a:srgbClr val="252525"/>
          </a:solidFill>
          <a:ln w="7620">
            <a:solidFill>
              <a:srgbClr val="514E48"/>
            </a:solidFill>
            <a:prstDash val="solid"/>
          </a:ln>
        </p:spPr>
      </p:sp>
      <p:sp>
        <p:nvSpPr>
          <p:cNvPr id="46" name="Shape 44"/>
          <p:cNvSpPr/>
          <p:nvPr/>
        </p:nvSpPr>
        <p:spPr>
          <a:xfrm>
            <a:off x="3418840" y="4851400"/>
            <a:ext cx="685800" cy="165100"/>
          </a:xfrm>
          <a:prstGeom prst="rect">
            <a:avLst/>
          </a:prstGeom>
          <a:solidFill>
            <a:srgbClr val="888278"/>
          </a:solidFill>
          <a:ln w="7620">
            <a:solidFill>
              <a:srgbClr val="514E48"/>
            </a:solidFill>
            <a:prstDash val="solid"/>
          </a:ln>
        </p:spPr>
      </p:sp>
      <p:sp>
        <p:nvSpPr>
          <p:cNvPr id="47" name="Shape 45"/>
          <p:cNvSpPr/>
          <p:nvPr/>
        </p:nvSpPr>
        <p:spPr>
          <a:xfrm>
            <a:off x="4104640" y="4851400"/>
            <a:ext cx="2994660" cy="165100"/>
          </a:xfrm>
          <a:prstGeom prst="rect">
            <a:avLst/>
          </a:prstGeom>
          <a:solidFill>
            <a:srgbClr val="E8E1D4"/>
          </a:solidFill>
          <a:ln w="7620">
            <a:solidFill>
              <a:srgbClr val="514E48"/>
            </a:solidFill>
            <a:prstDash val="solid"/>
          </a:ln>
        </p:spPr>
      </p:sp>
      <p:sp>
        <p:nvSpPr>
          <p:cNvPr id="48" name="Text 46"/>
          <p:cNvSpPr/>
          <p:nvPr/>
        </p:nvSpPr>
        <p:spPr>
          <a:xfrm>
            <a:off x="2527300" y="5118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12.6→19.5 / Industry 21.3→15.0 / Services 66.1→65.5</a:t>
            </a:r>
            <a:endParaRPr lang="en-US" sz="800" dirty="0"/>
          </a:p>
        </p:txBody>
      </p:sp>
      <p:sp>
        <p:nvSpPr>
          <p:cNvPr id="49" name="Text 47"/>
          <p:cNvSpPr/>
          <p:nvPr/>
        </p:nvSpPr>
        <p:spPr>
          <a:xfrm>
            <a:off x="457200" y="5537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50" name="Text 48"/>
          <p:cNvSpPr/>
          <p:nvPr/>
        </p:nvSpPr>
        <p:spPr>
          <a:xfrm>
            <a:off x="2057400" y="5410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51" name="Shape 49"/>
          <p:cNvSpPr/>
          <p:nvPr/>
        </p:nvSpPr>
        <p:spPr>
          <a:xfrm>
            <a:off x="2527300" y="5410200"/>
            <a:ext cx="896112" cy="165100"/>
          </a:xfrm>
          <a:prstGeom prst="rect">
            <a:avLst/>
          </a:prstGeom>
          <a:solidFill>
            <a:srgbClr val="252525"/>
          </a:solidFill>
          <a:ln w="7620">
            <a:solidFill>
              <a:srgbClr val="514E48"/>
            </a:solidFill>
            <a:prstDash val="solid"/>
          </a:ln>
        </p:spPr>
      </p:sp>
      <p:sp>
        <p:nvSpPr>
          <p:cNvPr id="52" name="Shape 50"/>
          <p:cNvSpPr/>
          <p:nvPr/>
        </p:nvSpPr>
        <p:spPr>
          <a:xfrm>
            <a:off x="3423412" y="5410200"/>
            <a:ext cx="1600200" cy="165100"/>
          </a:xfrm>
          <a:prstGeom prst="rect">
            <a:avLst/>
          </a:prstGeom>
          <a:solidFill>
            <a:srgbClr val="888278"/>
          </a:solidFill>
          <a:ln w="7620">
            <a:solidFill>
              <a:srgbClr val="514E48"/>
            </a:solidFill>
            <a:prstDash val="solid"/>
          </a:ln>
        </p:spPr>
      </p:sp>
      <p:sp>
        <p:nvSpPr>
          <p:cNvPr id="53" name="Shape 51"/>
          <p:cNvSpPr/>
          <p:nvPr/>
        </p:nvSpPr>
        <p:spPr>
          <a:xfrm>
            <a:off x="5023612" y="5410200"/>
            <a:ext cx="2075688" cy="165100"/>
          </a:xfrm>
          <a:prstGeom prst="rect">
            <a:avLst/>
          </a:prstGeom>
          <a:solidFill>
            <a:srgbClr val="E8E1D4"/>
          </a:solidFill>
          <a:ln w="7620">
            <a:solidFill>
              <a:srgbClr val="514E48"/>
            </a:solidFill>
            <a:prstDash val="solid"/>
          </a:ln>
        </p:spPr>
      </p:sp>
      <p:sp>
        <p:nvSpPr>
          <p:cNvPr id="54" name="Text 52"/>
          <p:cNvSpPr/>
          <p:nvPr/>
        </p:nvSpPr>
        <p:spPr>
          <a:xfrm>
            <a:off x="2057400" y="5676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55" name="Shape 53"/>
          <p:cNvSpPr/>
          <p:nvPr/>
        </p:nvSpPr>
        <p:spPr>
          <a:xfrm>
            <a:off x="2527300" y="5676900"/>
            <a:ext cx="242316" cy="165100"/>
          </a:xfrm>
          <a:prstGeom prst="rect">
            <a:avLst/>
          </a:prstGeom>
          <a:solidFill>
            <a:srgbClr val="252525"/>
          </a:solidFill>
          <a:ln w="7620">
            <a:solidFill>
              <a:srgbClr val="514E48"/>
            </a:solidFill>
            <a:prstDash val="solid"/>
          </a:ln>
        </p:spPr>
      </p:sp>
      <p:sp>
        <p:nvSpPr>
          <p:cNvPr id="56" name="Shape 54"/>
          <p:cNvSpPr/>
          <p:nvPr/>
        </p:nvSpPr>
        <p:spPr>
          <a:xfrm>
            <a:off x="2769616" y="5676900"/>
            <a:ext cx="1069848" cy="165100"/>
          </a:xfrm>
          <a:prstGeom prst="rect">
            <a:avLst/>
          </a:prstGeom>
          <a:solidFill>
            <a:srgbClr val="888278"/>
          </a:solidFill>
          <a:ln w="7620">
            <a:solidFill>
              <a:srgbClr val="514E48"/>
            </a:solidFill>
            <a:prstDash val="solid"/>
          </a:ln>
        </p:spPr>
      </p:sp>
      <p:sp>
        <p:nvSpPr>
          <p:cNvPr id="57" name="Shape 55"/>
          <p:cNvSpPr/>
          <p:nvPr/>
        </p:nvSpPr>
        <p:spPr>
          <a:xfrm>
            <a:off x="3839464" y="5676900"/>
            <a:ext cx="3259836" cy="165100"/>
          </a:xfrm>
          <a:prstGeom prst="rect">
            <a:avLst/>
          </a:prstGeom>
          <a:solidFill>
            <a:srgbClr val="E8E1D4"/>
          </a:solidFill>
          <a:ln w="7620">
            <a:solidFill>
              <a:srgbClr val="514E48"/>
            </a:solidFill>
            <a:prstDash val="solid"/>
          </a:ln>
        </p:spPr>
      </p:sp>
      <p:sp>
        <p:nvSpPr>
          <p:cNvPr id="58" name="Text 56"/>
          <p:cNvSpPr/>
          <p:nvPr/>
        </p:nvSpPr>
        <p:spPr>
          <a:xfrm>
            <a:off x="2527300" y="5943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19.6→5.3 / Industry 35.0→23.4 / Services 45.4→71.3</a:t>
            </a:r>
            <a:endParaRPr lang="en-US" sz="800" dirty="0"/>
          </a:p>
        </p:txBody>
      </p:sp>
      <p:sp>
        <p:nvSpPr>
          <p:cNvPr id="59" name="Text 57"/>
          <p:cNvSpPr/>
          <p:nvPr/>
        </p:nvSpPr>
        <p:spPr>
          <a:xfrm>
            <a:off x="457200" y="6362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South Korea</a:t>
            </a:r>
            <a:endParaRPr lang="en-US" sz="1050" dirty="0"/>
          </a:p>
        </p:txBody>
      </p:sp>
      <p:sp>
        <p:nvSpPr>
          <p:cNvPr id="60" name="Text 58"/>
          <p:cNvSpPr/>
          <p:nvPr/>
        </p:nvSpPr>
        <p:spPr>
          <a:xfrm>
            <a:off x="2057400" y="6235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61" name="Shape 59"/>
          <p:cNvSpPr/>
          <p:nvPr/>
        </p:nvSpPr>
        <p:spPr>
          <a:xfrm>
            <a:off x="2527300" y="6235700"/>
            <a:ext cx="708660" cy="165100"/>
          </a:xfrm>
          <a:prstGeom prst="rect">
            <a:avLst/>
          </a:prstGeom>
          <a:solidFill>
            <a:srgbClr val="252525"/>
          </a:solidFill>
          <a:ln w="7620">
            <a:solidFill>
              <a:srgbClr val="514E48"/>
            </a:solidFill>
            <a:prstDash val="solid"/>
          </a:ln>
        </p:spPr>
      </p:sp>
      <p:sp>
        <p:nvSpPr>
          <p:cNvPr id="62" name="Shape 60"/>
          <p:cNvSpPr/>
          <p:nvPr/>
        </p:nvSpPr>
        <p:spPr>
          <a:xfrm>
            <a:off x="3235960" y="6235700"/>
            <a:ext cx="1696212" cy="165100"/>
          </a:xfrm>
          <a:prstGeom prst="rect">
            <a:avLst/>
          </a:prstGeom>
          <a:solidFill>
            <a:srgbClr val="888278"/>
          </a:solidFill>
          <a:ln w="7620">
            <a:solidFill>
              <a:srgbClr val="514E48"/>
            </a:solidFill>
            <a:prstDash val="solid"/>
          </a:ln>
        </p:spPr>
      </p:sp>
      <p:sp>
        <p:nvSpPr>
          <p:cNvPr id="63" name="Shape 61"/>
          <p:cNvSpPr/>
          <p:nvPr/>
        </p:nvSpPr>
        <p:spPr>
          <a:xfrm>
            <a:off x="4932172" y="6235700"/>
            <a:ext cx="2167128" cy="165100"/>
          </a:xfrm>
          <a:prstGeom prst="rect">
            <a:avLst/>
          </a:prstGeom>
          <a:solidFill>
            <a:srgbClr val="E8E1D4"/>
          </a:solidFill>
          <a:ln w="7620">
            <a:solidFill>
              <a:srgbClr val="514E48"/>
            </a:solidFill>
            <a:prstDash val="solid"/>
          </a:ln>
        </p:spPr>
      </p:sp>
      <p:sp>
        <p:nvSpPr>
          <p:cNvPr id="64" name="Text 62"/>
          <p:cNvSpPr/>
          <p:nvPr/>
        </p:nvSpPr>
        <p:spPr>
          <a:xfrm>
            <a:off x="2057400" y="6502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65" name="Shape 63"/>
          <p:cNvSpPr/>
          <p:nvPr/>
        </p:nvSpPr>
        <p:spPr>
          <a:xfrm>
            <a:off x="2527300" y="6502400"/>
            <a:ext cx="246888" cy="165100"/>
          </a:xfrm>
          <a:prstGeom prst="rect">
            <a:avLst/>
          </a:prstGeom>
          <a:solidFill>
            <a:srgbClr val="252525"/>
          </a:solidFill>
          <a:ln w="7620">
            <a:solidFill>
              <a:srgbClr val="514E48"/>
            </a:solidFill>
            <a:prstDash val="solid"/>
          </a:ln>
        </p:spPr>
      </p:sp>
      <p:sp>
        <p:nvSpPr>
          <p:cNvPr id="66" name="Shape 64"/>
          <p:cNvSpPr/>
          <p:nvPr/>
        </p:nvSpPr>
        <p:spPr>
          <a:xfrm>
            <a:off x="2774188" y="6502400"/>
            <a:ext cx="1124712" cy="165100"/>
          </a:xfrm>
          <a:prstGeom prst="rect">
            <a:avLst/>
          </a:prstGeom>
          <a:solidFill>
            <a:srgbClr val="888278"/>
          </a:solidFill>
          <a:ln w="7620">
            <a:solidFill>
              <a:srgbClr val="514E48"/>
            </a:solidFill>
            <a:prstDash val="solid"/>
          </a:ln>
        </p:spPr>
      </p:sp>
      <p:sp>
        <p:nvSpPr>
          <p:cNvPr id="67" name="Shape 65"/>
          <p:cNvSpPr/>
          <p:nvPr/>
        </p:nvSpPr>
        <p:spPr>
          <a:xfrm>
            <a:off x="3898900" y="6502400"/>
            <a:ext cx="3200400" cy="165100"/>
          </a:xfrm>
          <a:prstGeom prst="rect">
            <a:avLst/>
          </a:prstGeom>
          <a:solidFill>
            <a:srgbClr val="E8E1D4"/>
          </a:solidFill>
          <a:ln w="7620">
            <a:solidFill>
              <a:srgbClr val="514E48"/>
            </a:solidFill>
            <a:prstDash val="solid"/>
          </a:ln>
        </p:spPr>
      </p:sp>
      <p:sp>
        <p:nvSpPr>
          <p:cNvPr id="68" name="Text 66"/>
          <p:cNvSpPr/>
          <p:nvPr/>
        </p:nvSpPr>
        <p:spPr>
          <a:xfrm>
            <a:off x="2527300" y="6769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15.5→5.4 / Industry 37.1→24.6 / Services 47.4→70.0</a:t>
            </a:r>
            <a:endParaRPr lang="en-US" sz="800" dirty="0"/>
          </a:p>
        </p:txBody>
      </p:sp>
      <p:sp>
        <p:nvSpPr>
          <p:cNvPr id="69" name="Text 67"/>
          <p:cNvSpPr/>
          <p:nvPr/>
        </p:nvSpPr>
        <p:spPr>
          <a:xfrm>
            <a:off x="457200" y="71882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Malaysia</a:t>
            </a:r>
            <a:endParaRPr lang="en-US" sz="1050" dirty="0"/>
          </a:p>
        </p:txBody>
      </p:sp>
      <p:sp>
        <p:nvSpPr>
          <p:cNvPr id="70" name="Text 68"/>
          <p:cNvSpPr/>
          <p:nvPr/>
        </p:nvSpPr>
        <p:spPr>
          <a:xfrm>
            <a:off x="2057400" y="70612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71" name="Shape 69"/>
          <p:cNvSpPr/>
          <p:nvPr/>
        </p:nvSpPr>
        <p:spPr>
          <a:xfrm>
            <a:off x="2527300" y="7061200"/>
            <a:ext cx="864108" cy="165100"/>
          </a:xfrm>
          <a:prstGeom prst="rect">
            <a:avLst/>
          </a:prstGeom>
          <a:solidFill>
            <a:srgbClr val="252525"/>
          </a:solidFill>
          <a:ln w="7620">
            <a:solidFill>
              <a:srgbClr val="514E48"/>
            </a:solidFill>
            <a:prstDash val="solid"/>
          </a:ln>
        </p:spPr>
      </p:sp>
      <p:sp>
        <p:nvSpPr>
          <p:cNvPr id="72" name="Shape 70"/>
          <p:cNvSpPr/>
          <p:nvPr/>
        </p:nvSpPr>
        <p:spPr>
          <a:xfrm>
            <a:off x="3391408" y="7061200"/>
            <a:ext cx="1499616" cy="165100"/>
          </a:xfrm>
          <a:prstGeom prst="rect">
            <a:avLst/>
          </a:prstGeom>
          <a:solidFill>
            <a:srgbClr val="888278"/>
          </a:solidFill>
          <a:ln w="7620">
            <a:solidFill>
              <a:srgbClr val="514E48"/>
            </a:solidFill>
            <a:prstDash val="solid"/>
          </a:ln>
        </p:spPr>
      </p:sp>
      <p:sp>
        <p:nvSpPr>
          <p:cNvPr id="73" name="Shape 71"/>
          <p:cNvSpPr/>
          <p:nvPr/>
        </p:nvSpPr>
        <p:spPr>
          <a:xfrm>
            <a:off x="4891024" y="7061200"/>
            <a:ext cx="2208276" cy="165100"/>
          </a:xfrm>
          <a:prstGeom prst="rect">
            <a:avLst/>
          </a:prstGeom>
          <a:solidFill>
            <a:srgbClr val="E8E1D4"/>
          </a:solidFill>
          <a:ln w="7620">
            <a:solidFill>
              <a:srgbClr val="514E48"/>
            </a:solidFill>
            <a:prstDash val="solid"/>
          </a:ln>
        </p:spPr>
      </p:sp>
      <p:sp>
        <p:nvSpPr>
          <p:cNvPr id="74" name="Text 72"/>
          <p:cNvSpPr/>
          <p:nvPr/>
        </p:nvSpPr>
        <p:spPr>
          <a:xfrm>
            <a:off x="2057400" y="73279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75" name="Shape 73"/>
          <p:cNvSpPr/>
          <p:nvPr/>
        </p:nvSpPr>
        <p:spPr>
          <a:xfrm>
            <a:off x="2527300" y="7327900"/>
            <a:ext cx="480060" cy="165100"/>
          </a:xfrm>
          <a:prstGeom prst="rect">
            <a:avLst/>
          </a:prstGeom>
          <a:solidFill>
            <a:srgbClr val="252525"/>
          </a:solidFill>
          <a:ln w="7620">
            <a:solidFill>
              <a:srgbClr val="514E48"/>
            </a:solidFill>
            <a:prstDash val="solid"/>
          </a:ln>
        </p:spPr>
      </p:sp>
      <p:sp>
        <p:nvSpPr>
          <p:cNvPr id="76" name="Shape 74"/>
          <p:cNvSpPr/>
          <p:nvPr/>
        </p:nvSpPr>
        <p:spPr>
          <a:xfrm>
            <a:off x="3007360" y="7327900"/>
            <a:ext cx="1197864" cy="165100"/>
          </a:xfrm>
          <a:prstGeom prst="rect">
            <a:avLst/>
          </a:prstGeom>
          <a:solidFill>
            <a:srgbClr val="888278"/>
          </a:solidFill>
          <a:ln w="7620">
            <a:solidFill>
              <a:srgbClr val="514E48"/>
            </a:solidFill>
            <a:prstDash val="solid"/>
          </a:ln>
        </p:spPr>
      </p:sp>
      <p:sp>
        <p:nvSpPr>
          <p:cNvPr id="77" name="Shape 75"/>
          <p:cNvSpPr/>
          <p:nvPr/>
        </p:nvSpPr>
        <p:spPr>
          <a:xfrm>
            <a:off x="4205224" y="7327900"/>
            <a:ext cx="2894076" cy="165100"/>
          </a:xfrm>
          <a:prstGeom prst="rect">
            <a:avLst/>
          </a:prstGeom>
          <a:solidFill>
            <a:srgbClr val="E8E1D4"/>
          </a:solidFill>
          <a:ln w="7620">
            <a:solidFill>
              <a:srgbClr val="514E48"/>
            </a:solidFill>
            <a:prstDash val="solid"/>
          </a:ln>
        </p:spPr>
      </p:sp>
      <p:sp>
        <p:nvSpPr>
          <p:cNvPr id="78" name="Text 76"/>
          <p:cNvSpPr/>
          <p:nvPr/>
        </p:nvSpPr>
        <p:spPr>
          <a:xfrm>
            <a:off x="2527300" y="75946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18.9→10.5 / Industry 32.8→26.2 / Services 48.3→63.3</a:t>
            </a:r>
            <a:endParaRPr lang="en-US" sz="800" dirty="0"/>
          </a:p>
        </p:txBody>
      </p:sp>
      <p:sp>
        <p:nvSpPr>
          <p:cNvPr id="79" name="Text 77"/>
          <p:cNvSpPr/>
          <p:nvPr/>
        </p:nvSpPr>
        <p:spPr>
          <a:xfrm>
            <a:off x="457200" y="8013700"/>
            <a:ext cx="1511300" cy="3175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Philippines</a:t>
            </a:r>
            <a:endParaRPr lang="en-US" sz="1050" dirty="0"/>
          </a:p>
        </p:txBody>
      </p:sp>
      <p:sp>
        <p:nvSpPr>
          <p:cNvPr id="80" name="Text 78"/>
          <p:cNvSpPr/>
          <p:nvPr/>
        </p:nvSpPr>
        <p:spPr>
          <a:xfrm>
            <a:off x="2057400" y="78867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1991</a:t>
            </a:r>
            <a:endParaRPr lang="en-US" sz="850" dirty="0"/>
          </a:p>
        </p:txBody>
      </p:sp>
      <p:sp>
        <p:nvSpPr>
          <p:cNvPr id="81" name="Shape 79"/>
          <p:cNvSpPr/>
          <p:nvPr/>
        </p:nvSpPr>
        <p:spPr>
          <a:xfrm>
            <a:off x="2527300" y="7886700"/>
            <a:ext cx="2016252" cy="165100"/>
          </a:xfrm>
          <a:prstGeom prst="rect">
            <a:avLst/>
          </a:prstGeom>
          <a:solidFill>
            <a:srgbClr val="252525"/>
          </a:solidFill>
          <a:ln w="7620">
            <a:solidFill>
              <a:srgbClr val="514E48"/>
            </a:solidFill>
            <a:prstDash val="solid"/>
          </a:ln>
        </p:spPr>
      </p:sp>
      <p:sp>
        <p:nvSpPr>
          <p:cNvPr id="82" name="Shape 80"/>
          <p:cNvSpPr/>
          <p:nvPr/>
        </p:nvSpPr>
        <p:spPr>
          <a:xfrm>
            <a:off x="4543552" y="7886700"/>
            <a:ext cx="758952" cy="165100"/>
          </a:xfrm>
          <a:prstGeom prst="rect">
            <a:avLst/>
          </a:prstGeom>
          <a:solidFill>
            <a:srgbClr val="888278"/>
          </a:solidFill>
          <a:ln w="7620">
            <a:solidFill>
              <a:srgbClr val="514E48"/>
            </a:solidFill>
            <a:prstDash val="solid"/>
          </a:ln>
        </p:spPr>
      </p:sp>
      <p:sp>
        <p:nvSpPr>
          <p:cNvPr id="83" name="Shape 81"/>
          <p:cNvSpPr/>
          <p:nvPr/>
        </p:nvSpPr>
        <p:spPr>
          <a:xfrm>
            <a:off x="5302504" y="7886700"/>
            <a:ext cx="1796796" cy="165100"/>
          </a:xfrm>
          <a:prstGeom prst="rect">
            <a:avLst/>
          </a:prstGeom>
          <a:solidFill>
            <a:srgbClr val="E8E1D4"/>
          </a:solidFill>
          <a:ln w="7620">
            <a:solidFill>
              <a:srgbClr val="514E48"/>
            </a:solidFill>
            <a:prstDash val="solid"/>
          </a:ln>
        </p:spPr>
      </p:sp>
      <p:sp>
        <p:nvSpPr>
          <p:cNvPr id="84" name="Text 82"/>
          <p:cNvSpPr/>
          <p:nvPr/>
        </p:nvSpPr>
        <p:spPr>
          <a:xfrm>
            <a:off x="2057400" y="8153400"/>
            <a:ext cx="431800" cy="215900"/>
          </a:xfrm>
          <a:prstGeom prst="rect">
            <a:avLst/>
          </a:prstGeom>
          <a:noFill/>
          <a:ln/>
        </p:spPr>
        <p:txBody>
          <a:bodyPr wrap="square" lIns="0" tIns="0" rIns="0" bIns="0" rtlCol="0" anchor="t"/>
          <a:lstStyle/>
          <a:p>
            <a:pPr indent="0" marL="0">
              <a:lnSpc>
                <a:spcPct val="112000"/>
              </a:lnSpc>
              <a:buNone/>
            </a:pPr>
            <a:r>
              <a:rPr lang="en-US" sz="850" b="1" dirty="0">
                <a:solidFill>
                  <a:srgbClr val="252525"/>
                </a:solidFill>
                <a:latin typeface="Montserrat" pitchFamily="34" charset="0"/>
                <a:ea typeface="Montserrat" pitchFamily="34" charset="-122"/>
                <a:cs typeface="Montserrat" pitchFamily="34" charset="-120"/>
              </a:rPr>
              <a:t>2020</a:t>
            </a:r>
            <a:endParaRPr lang="en-US" sz="850" dirty="0"/>
          </a:p>
        </p:txBody>
      </p:sp>
      <p:sp>
        <p:nvSpPr>
          <p:cNvPr id="85" name="Shape 83"/>
          <p:cNvSpPr/>
          <p:nvPr/>
        </p:nvSpPr>
        <p:spPr>
          <a:xfrm>
            <a:off x="2527300" y="8153400"/>
            <a:ext cx="1120140" cy="165100"/>
          </a:xfrm>
          <a:prstGeom prst="rect">
            <a:avLst/>
          </a:prstGeom>
          <a:solidFill>
            <a:srgbClr val="252525"/>
          </a:solidFill>
          <a:ln w="7620">
            <a:solidFill>
              <a:srgbClr val="514E48"/>
            </a:solidFill>
            <a:prstDash val="solid"/>
          </a:ln>
        </p:spPr>
      </p:sp>
      <p:sp>
        <p:nvSpPr>
          <p:cNvPr id="86" name="Shape 84"/>
          <p:cNvSpPr/>
          <p:nvPr/>
        </p:nvSpPr>
        <p:spPr>
          <a:xfrm>
            <a:off x="3647440" y="8153400"/>
            <a:ext cx="854964" cy="165100"/>
          </a:xfrm>
          <a:prstGeom prst="rect">
            <a:avLst/>
          </a:prstGeom>
          <a:solidFill>
            <a:srgbClr val="888278"/>
          </a:solidFill>
          <a:ln w="7620">
            <a:solidFill>
              <a:srgbClr val="514E48"/>
            </a:solidFill>
            <a:prstDash val="solid"/>
          </a:ln>
        </p:spPr>
      </p:sp>
      <p:sp>
        <p:nvSpPr>
          <p:cNvPr id="87" name="Shape 85"/>
          <p:cNvSpPr/>
          <p:nvPr/>
        </p:nvSpPr>
        <p:spPr>
          <a:xfrm>
            <a:off x="4502404" y="8153400"/>
            <a:ext cx="2596896" cy="165100"/>
          </a:xfrm>
          <a:prstGeom prst="rect">
            <a:avLst/>
          </a:prstGeom>
          <a:solidFill>
            <a:srgbClr val="E8E1D4"/>
          </a:solidFill>
          <a:ln w="7620">
            <a:solidFill>
              <a:srgbClr val="514E48"/>
            </a:solidFill>
            <a:prstDash val="solid"/>
          </a:ln>
        </p:spPr>
      </p:sp>
      <p:sp>
        <p:nvSpPr>
          <p:cNvPr id="88" name="Text 86"/>
          <p:cNvSpPr/>
          <p:nvPr/>
        </p:nvSpPr>
        <p:spPr>
          <a:xfrm>
            <a:off x="2527300" y="8420100"/>
            <a:ext cx="4572000" cy="2032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Farm 44.1→24.5 / Industry 16.6→18.7 / Services 39.3→56.8</a:t>
            </a:r>
            <a:endParaRPr lang="en-US" sz="800" dirty="0"/>
          </a:p>
        </p:txBody>
      </p:sp>
      <p:sp>
        <p:nvSpPr>
          <p:cNvPr id="89" name="Text 87"/>
          <p:cNvSpPr/>
          <p:nvPr/>
        </p:nvSpPr>
        <p:spPr>
          <a:xfrm>
            <a:off x="457200" y="8737600"/>
            <a:ext cx="6642100" cy="3556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Each bar = 100% of employment. Values below each pair are percentages, 1991 → 2020. * Industry includes mining, construction and utilities.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INCOME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Six countries. Three snapshots.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Economic output per person, in constant 2015 US dollars. Read down each year to compare.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GDP per capita is not total national GDP, purchasing power or a typical wage. † Malaysia 1960 is a retrospective territorial series. 2020 is the pandemic year.</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10</a:t>
            </a:r>
            <a:endParaRPr lang="en-US" sz="1000" dirty="0"/>
          </a:p>
        </p:txBody>
      </p:sp>
      <p:sp>
        <p:nvSpPr>
          <p:cNvPr id="11" name="Shape 9"/>
          <p:cNvSpPr/>
          <p:nvPr/>
        </p:nvSpPr>
        <p:spPr>
          <a:xfrm>
            <a:off x="2108200" y="3200400"/>
            <a:ext cx="1498600" cy="520700"/>
          </a:xfrm>
          <a:prstGeom prst="rect">
            <a:avLst/>
          </a:prstGeom>
          <a:solidFill>
            <a:srgbClr val="252525"/>
          </a:solidFill>
          <a:ln w="12700">
            <a:solidFill>
              <a:srgbClr val="252525"/>
            </a:solidFill>
            <a:prstDash val="solid"/>
          </a:ln>
        </p:spPr>
      </p:sp>
      <p:sp>
        <p:nvSpPr>
          <p:cNvPr id="12" name="Text 10"/>
          <p:cNvSpPr/>
          <p:nvPr/>
        </p:nvSpPr>
        <p:spPr>
          <a:xfrm>
            <a:off x="2222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1960</a:t>
            </a:r>
            <a:endParaRPr lang="en-US" sz="2000" dirty="0"/>
          </a:p>
        </p:txBody>
      </p:sp>
      <p:sp>
        <p:nvSpPr>
          <p:cNvPr id="13" name="Shape 11"/>
          <p:cNvSpPr/>
          <p:nvPr/>
        </p:nvSpPr>
        <p:spPr>
          <a:xfrm>
            <a:off x="3886200" y="3200400"/>
            <a:ext cx="1498600" cy="520700"/>
          </a:xfrm>
          <a:prstGeom prst="rect">
            <a:avLst/>
          </a:prstGeom>
          <a:solidFill>
            <a:srgbClr val="252525"/>
          </a:solidFill>
          <a:ln w="12700">
            <a:solidFill>
              <a:srgbClr val="252525"/>
            </a:solidFill>
            <a:prstDash val="solid"/>
          </a:ln>
        </p:spPr>
      </p:sp>
      <p:sp>
        <p:nvSpPr>
          <p:cNvPr id="14" name="Text 12"/>
          <p:cNvSpPr/>
          <p:nvPr/>
        </p:nvSpPr>
        <p:spPr>
          <a:xfrm>
            <a:off x="4000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1990</a:t>
            </a:r>
            <a:endParaRPr lang="en-US" sz="2000" dirty="0"/>
          </a:p>
        </p:txBody>
      </p:sp>
      <p:sp>
        <p:nvSpPr>
          <p:cNvPr id="15" name="Shape 13"/>
          <p:cNvSpPr/>
          <p:nvPr/>
        </p:nvSpPr>
        <p:spPr>
          <a:xfrm>
            <a:off x="5664200" y="3200400"/>
            <a:ext cx="1498600" cy="520700"/>
          </a:xfrm>
          <a:prstGeom prst="rect">
            <a:avLst/>
          </a:prstGeom>
          <a:solidFill>
            <a:srgbClr val="252525"/>
          </a:solidFill>
          <a:ln w="12700">
            <a:solidFill>
              <a:srgbClr val="252525"/>
            </a:solidFill>
            <a:prstDash val="solid"/>
          </a:ln>
        </p:spPr>
      </p:sp>
      <p:sp>
        <p:nvSpPr>
          <p:cNvPr id="16" name="Text 14"/>
          <p:cNvSpPr/>
          <p:nvPr/>
        </p:nvSpPr>
        <p:spPr>
          <a:xfrm>
            <a:off x="5778500" y="3302000"/>
            <a:ext cx="1270000" cy="368300"/>
          </a:xfrm>
          <a:prstGeom prst="rect">
            <a:avLst/>
          </a:prstGeom>
          <a:noFill/>
          <a:ln/>
        </p:spPr>
        <p:txBody>
          <a:bodyPr wrap="square" lIns="0" tIns="0" rIns="0" bIns="0" rtlCol="0" anchor="t"/>
          <a:lstStyle/>
          <a:p>
            <a:pPr algn="ctr" indent="0" marL="0">
              <a:lnSpc>
                <a:spcPct val="112000"/>
              </a:lnSpc>
              <a:buNone/>
            </a:pPr>
            <a:r>
              <a:rPr lang="en-US" sz="2000" b="1" dirty="0">
                <a:solidFill>
                  <a:srgbClr val="F4F0E7"/>
                </a:solidFill>
                <a:latin typeface="Montserrat" pitchFamily="34" charset="0"/>
                <a:ea typeface="Montserrat" pitchFamily="34" charset="-122"/>
                <a:cs typeface="Montserrat" pitchFamily="34" charset="-120"/>
              </a:rPr>
              <a:t>2020</a:t>
            </a:r>
            <a:endParaRPr lang="en-US" sz="2000" dirty="0"/>
          </a:p>
        </p:txBody>
      </p:sp>
      <p:sp>
        <p:nvSpPr>
          <p:cNvPr id="17" name="Shape 15"/>
          <p:cNvSpPr/>
          <p:nvPr/>
        </p:nvSpPr>
        <p:spPr>
          <a:xfrm>
            <a:off x="457200" y="4000500"/>
            <a:ext cx="1524000" cy="596900"/>
          </a:xfrm>
          <a:prstGeom prst="rect">
            <a:avLst/>
          </a:prstGeom>
          <a:solidFill>
            <a:srgbClr val="B95332"/>
          </a:solidFill>
          <a:ln w="12700">
            <a:solidFill>
              <a:srgbClr val="B95332"/>
            </a:solidFill>
            <a:prstDash val="solid"/>
          </a:ln>
        </p:spPr>
      </p:sp>
      <p:sp>
        <p:nvSpPr>
          <p:cNvPr id="18" name="Text 16"/>
          <p:cNvSpPr/>
          <p:nvPr/>
        </p:nvSpPr>
        <p:spPr>
          <a:xfrm>
            <a:off x="546100" y="42037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Ghana</a:t>
            </a:r>
            <a:endParaRPr lang="en-US" sz="1050" dirty="0"/>
          </a:p>
        </p:txBody>
      </p:sp>
      <p:sp>
        <p:nvSpPr>
          <p:cNvPr id="19" name="Text 17"/>
          <p:cNvSpPr/>
          <p:nvPr/>
        </p:nvSpPr>
        <p:spPr>
          <a:xfrm>
            <a:off x="2108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US$1,101</a:t>
            </a:r>
            <a:endParaRPr lang="en-US" sz="1800" dirty="0"/>
          </a:p>
        </p:txBody>
      </p:sp>
      <p:sp>
        <p:nvSpPr>
          <p:cNvPr id="20" name="Text 18"/>
          <p:cNvSpPr/>
          <p:nvPr/>
        </p:nvSpPr>
        <p:spPr>
          <a:xfrm>
            <a:off x="3886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US$856</a:t>
            </a:r>
            <a:endParaRPr lang="en-US" sz="1800" dirty="0"/>
          </a:p>
        </p:txBody>
      </p:sp>
      <p:sp>
        <p:nvSpPr>
          <p:cNvPr id="21" name="Text 19"/>
          <p:cNvSpPr/>
          <p:nvPr/>
        </p:nvSpPr>
        <p:spPr>
          <a:xfrm>
            <a:off x="5664200" y="41402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B95332"/>
                </a:solidFill>
                <a:latin typeface="Montserrat" pitchFamily="34" charset="0"/>
                <a:ea typeface="Montserrat" pitchFamily="34" charset="-122"/>
                <a:cs typeface="Montserrat" pitchFamily="34" charset="-120"/>
              </a:rPr>
              <a:t>US$1,970</a:t>
            </a:r>
            <a:endParaRPr lang="en-US" sz="1800" dirty="0"/>
          </a:p>
        </p:txBody>
      </p:sp>
      <p:sp>
        <p:nvSpPr>
          <p:cNvPr id="22" name="Shape 20"/>
          <p:cNvSpPr/>
          <p:nvPr/>
        </p:nvSpPr>
        <p:spPr>
          <a:xfrm>
            <a:off x="2184400" y="4631690"/>
            <a:ext cx="4914900" cy="7620"/>
          </a:xfrm>
          <a:prstGeom prst="rect">
            <a:avLst/>
          </a:prstGeom>
          <a:solidFill>
            <a:srgbClr val="B7B0A4"/>
          </a:solidFill>
          <a:ln w="12700">
            <a:solidFill>
              <a:srgbClr val="B7B0A4"/>
            </a:solidFill>
            <a:prstDash val="solid"/>
          </a:ln>
        </p:spPr>
      </p:sp>
      <p:sp>
        <p:nvSpPr>
          <p:cNvPr id="23" name="Shape 21"/>
          <p:cNvSpPr/>
          <p:nvPr/>
        </p:nvSpPr>
        <p:spPr>
          <a:xfrm>
            <a:off x="457200" y="4749800"/>
            <a:ext cx="1524000" cy="596900"/>
          </a:xfrm>
          <a:prstGeom prst="rect">
            <a:avLst/>
          </a:prstGeom>
          <a:solidFill>
            <a:srgbClr val="3F684E"/>
          </a:solidFill>
          <a:ln w="12700">
            <a:solidFill>
              <a:srgbClr val="3F684E"/>
            </a:solidFill>
            <a:prstDash val="solid"/>
          </a:ln>
        </p:spPr>
      </p:sp>
      <p:sp>
        <p:nvSpPr>
          <p:cNvPr id="24" name="Text 22"/>
          <p:cNvSpPr/>
          <p:nvPr/>
        </p:nvSpPr>
        <p:spPr>
          <a:xfrm>
            <a:off x="546100" y="49530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Botswana</a:t>
            </a:r>
            <a:endParaRPr lang="en-US" sz="1050" dirty="0"/>
          </a:p>
        </p:txBody>
      </p:sp>
      <p:sp>
        <p:nvSpPr>
          <p:cNvPr id="25" name="Text 23"/>
          <p:cNvSpPr/>
          <p:nvPr/>
        </p:nvSpPr>
        <p:spPr>
          <a:xfrm>
            <a:off x="2108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US$394</a:t>
            </a:r>
            <a:endParaRPr lang="en-US" sz="1800" dirty="0"/>
          </a:p>
        </p:txBody>
      </p:sp>
      <p:sp>
        <p:nvSpPr>
          <p:cNvPr id="26" name="Text 24"/>
          <p:cNvSpPr/>
          <p:nvPr/>
        </p:nvSpPr>
        <p:spPr>
          <a:xfrm>
            <a:off x="3886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US$4,039</a:t>
            </a:r>
            <a:endParaRPr lang="en-US" sz="1800" dirty="0"/>
          </a:p>
        </p:txBody>
      </p:sp>
      <p:sp>
        <p:nvSpPr>
          <p:cNvPr id="27" name="Text 25"/>
          <p:cNvSpPr/>
          <p:nvPr/>
        </p:nvSpPr>
        <p:spPr>
          <a:xfrm>
            <a:off x="5664200" y="48895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F684E"/>
                </a:solidFill>
                <a:latin typeface="Montserrat" pitchFamily="34" charset="0"/>
                <a:ea typeface="Montserrat" pitchFamily="34" charset="-122"/>
                <a:cs typeface="Montserrat" pitchFamily="34" charset="-120"/>
              </a:rPr>
              <a:t>US$6,254</a:t>
            </a:r>
            <a:endParaRPr lang="en-US" sz="1800" dirty="0"/>
          </a:p>
        </p:txBody>
      </p:sp>
      <p:sp>
        <p:nvSpPr>
          <p:cNvPr id="28" name="Shape 26"/>
          <p:cNvSpPr/>
          <p:nvPr/>
        </p:nvSpPr>
        <p:spPr>
          <a:xfrm>
            <a:off x="2184400" y="5380990"/>
            <a:ext cx="4914900" cy="7620"/>
          </a:xfrm>
          <a:prstGeom prst="rect">
            <a:avLst/>
          </a:prstGeom>
          <a:solidFill>
            <a:srgbClr val="B7B0A4"/>
          </a:solidFill>
          <a:ln w="12700">
            <a:solidFill>
              <a:srgbClr val="B7B0A4"/>
            </a:solidFill>
            <a:prstDash val="solid"/>
          </a:ln>
        </p:spPr>
      </p:sp>
      <p:sp>
        <p:nvSpPr>
          <p:cNvPr id="29" name="Shape 27"/>
          <p:cNvSpPr/>
          <p:nvPr/>
        </p:nvSpPr>
        <p:spPr>
          <a:xfrm>
            <a:off x="457200" y="5499100"/>
            <a:ext cx="1524000" cy="596900"/>
          </a:xfrm>
          <a:prstGeom prst="rect">
            <a:avLst/>
          </a:prstGeom>
          <a:solidFill>
            <a:srgbClr val="D6A23A"/>
          </a:solidFill>
          <a:ln w="12700">
            <a:solidFill>
              <a:srgbClr val="D6A23A"/>
            </a:solidFill>
            <a:prstDash val="solid"/>
          </a:ln>
        </p:spPr>
      </p:sp>
      <p:sp>
        <p:nvSpPr>
          <p:cNvPr id="30" name="Text 28"/>
          <p:cNvSpPr/>
          <p:nvPr/>
        </p:nvSpPr>
        <p:spPr>
          <a:xfrm>
            <a:off x="546100" y="57023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252525"/>
                </a:solidFill>
                <a:latin typeface="Montserrat" pitchFamily="34" charset="0"/>
                <a:ea typeface="Montserrat" pitchFamily="34" charset="-122"/>
                <a:cs typeface="Montserrat" pitchFamily="34" charset="-120"/>
              </a:rPr>
              <a:t>Mauritius</a:t>
            </a:r>
            <a:endParaRPr lang="en-US" sz="1050" dirty="0"/>
          </a:p>
        </p:txBody>
      </p:sp>
      <p:sp>
        <p:nvSpPr>
          <p:cNvPr id="31" name="Text 29"/>
          <p:cNvSpPr/>
          <p:nvPr/>
        </p:nvSpPr>
        <p:spPr>
          <a:xfrm>
            <a:off x="2108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US$1,419</a:t>
            </a:r>
            <a:endParaRPr lang="en-US" sz="1800" dirty="0"/>
          </a:p>
        </p:txBody>
      </p:sp>
      <p:sp>
        <p:nvSpPr>
          <p:cNvPr id="32" name="Text 30"/>
          <p:cNvSpPr/>
          <p:nvPr/>
        </p:nvSpPr>
        <p:spPr>
          <a:xfrm>
            <a:off x="3886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US$3,846</a:t>
            </a:r>
            <a:endParaRPr lang="en-US" sz="1800" dirty="0"/>
          </a:p>
        </p:txBody>
      </p:sp>
      <p:sp>
        <p:nvSpPr>
          <p:cNvPr id="33" name="Text 31"/>
          <p:cNvSpPr/>
          <p:nvPr/>
        </p:nvSpPr>
        <p:spPr>
          <a:xfrm>
            <a:off x="5664200" y="56388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US$9,534</a:t>
            </a:r>
            <a:endParaRPr lang="en-US" sz="1800" dirty="0"/>
          </a:p>
        </p:txBody>
      </p:sp>
      <p:sp>
        <p:nvSpPr>
          <p:cNvPr id="34" name="Shape 32"/>
          <p:cNvSpPr/>
          <p:nvPr/>
        </p:nvSpPr>
        <p:spPr>
          <a:xfrm>
            <a:off x="2184400" y="6130290"/>
            <a:ext cx="4914900" cy="7620"/>
          </a:xfrm>
          <a:prstGeom prst="rect">
            <a:avLst/>
          </a:prstGeom>
          <a:solidFill>
            <a:srgbClr val="B7B0A4"/>
          </a:solidFill>
          <a:ln w="12700">
            <a:solidFill>
              <a:srgbClr val="B7B0A4"/>
            </a:solidFill>
            <a:prstDash val="solid"/>
          </a:ln>
        </p:spPr>
      </p:sp>
      <p:sp>
        <p:nvSpPr>
          <p:cNvPr id="35" name="Shape 33"/>
          <p:cNvSpPr/>
          <p:nvPr/>
        </p:nvSpPr>
        <p:spPr>
          <a:xfrm>
            <a:off x="457200" y="6248400"/>
            <a:ext cx="1524000" cy="596900"/>
          </a:xfrm>
          <a:prstGeom prst="rect">
            <a:avLst/>
          </a:prstGeom>
          <a:solidFill>
            <a:srgbClr val="315A78"/>
          </a:solidFill>
          <a:ln w="12700">
            <a:solidFill>
              <a:srgbClr val="315A78"/>
            </a:solidFill>
            <a:prstDash val="solid"/>
          </a:ln>
        </p:spPr>
      </p:sp>
      <p:sp>
        <p:nvSpPr>
          <p:cNvPr id="36" name="Text 34"/>
          <p:cNvSpPr/>
          <p:nvPr/>
        </p:nvSpPr>
        <p:spPr>
          <a:xfrm>
            <a:off x="546100" y="64516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South Korea</a:t>
            </a:r>
            <a:endParaRPr lang="en-US" sz="1050" dirty="0"/>
          </a:p>
        </p:txBody>
      </p:sp>
      <p:sp>
        <p:nvSpPr>
          <p:cNvPr id="37" name="Text 35"/>
          <p:cNvSpPr/>
          <p:nvPr/>
        </p:nvSpPr>
        <p:spPr>
          <a:xfrm>
            <a:off x="2108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US$1,038</a:t>
            </a:r>
            <a:endParaRPr lang="en-US" sz="1800" dirty="0"/>
          </a:p>
        </p:txBody>
      </p:sp>
      <p:sp>
        <p:nvSpPr>
          <p:cNvPr id="38" name="Text 36"/>
          <p:cNvSpPr/>
          <p:nvPr/>
        </p:nvSpPr>
        <p:spPr>
          <a:xfrm>
            <a:off x="3886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US$9,673</a:t>
            </a:r>
            <a:endParaRPr lang="en-US" sz="1800" dirty="0"/>
          </a:p>
        </p:txBody>
      </p:sp>
      <p:sp>
        <p:nvSpPr>
          <p:cNvPr id="39" name="Text 37"/>
          <p:cNvSpPr/>
          <p:nvPr/>
        </p:nvSpPr>
        <p:spPr>
          <a:xfrm>
            <a:off x="5664200" y="63881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15A78"/>
                </a:solidFill>
                <a:latin typeface="Montserrat" pitchFamily="34" charset="0"/>
                <a:ea typeface="Montserrat" pitchFamily="34" charset="-122"/>
                <a:cs typeface="Montserrat" pitchFamily="34" charset="-120"/>
              </a:rPr>
              <a:t>US$33,216</a:t>
            </a:r>
            <a:endParaRPr lang="en-US" sz="1800" dirty="0"/>
          </a:p>
        </p:txBody>
      </p:sp>
      <p:sp>
        <p:nvSpPr>
          <p:cNvPr id="40" name="Shape 38"/>
          <p:cNvSpPr/>
          <p:nvPr/>
        </p:nvSpPr>
        <p:spPr>
          <a:xfrm>
            <a:off x="2184400" y="6879590"/>
            <a:ext cx="4914900" cy="7620"/>
          </a:xfrm>
          <a:prstGeom prst="rect">
            <a:avLst/>
          </a:prstGeom>
          <a:solidFill>
            <a:srgbClr val="B7B0A4"/>
          </a:solidFill>
          <a:ln w="12700">
            <a:solidFill>
              <a:srgbClr val="B7B0A4"/>
            </a:solidFill>
            <a:prstDash val="solid"/>
          </a:ln>
        </p:spPr>
      </p:sp>
      <p:sp>
        <p:nvSpPr>
          <p:cNvPr id="41" name="Shape 39"/>
          <p:cNvSpPr/>
          <p:nvPr/>
        </p:nvSpPr>
        <p:spPr>
          <a:xfrm>
            <a:off x="457200" y="6997700"/>
            <a:ext cx="1524000" cy="596900"/>
          </a:xfrm>
          <a:prstGeom prst="rect">
            <a:avLst/>
          </a:prstGeom>
          <a:solidFill>
            <a:srgbClr val="3E7568"/>
          </a:solidFill>
          <a:ln w="12700">
            <a:solidFill>
              <a:srgbClr val="3E7568"/>
            </a:solidFill>
            <a:prstDash val="solid"/>
          </a:ln>
        </p:spPr>
      </p:sp>
      <p:sp>
        <p:nvSpPr>
          <p:cNvPr id="42" name="Text 40"/>
          <p:cNvSpPr/>
          <p:nvPr/>
        </p:nvSpPr>
        <p:spPr>
          <a:xfrm>
            <a:off x="546100" y="72009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Malaysia</a:t>
            </a:r>
            <a:endParaRPr lang="en-US" sz="1050" dirty="0"/>
          </a:p>
        </p:txBody>
      </p:sp>
      <p:sp>
        <p:nvSpPr>
          <p:cNvPr id="43" name="Text 41"/>
          <p:cNvSpPr/>
          <p:nvPr/>
        </p:nvSpPr>
        <p:spPr>
          <a:xfrm>
            <a:off x="2108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US$1,266 †</a:t>
            </a:r>
            <a:endParaRPr lang="en-US" sz="1800" dirty="0"/>
          </a:p>
        </p:txBody>
      </p:sp>
      <p:sp>
        <p:nvSpPr>
          <p:cNvPr id="44" name="Text 42"/>
          <p:cNvSpPr/>
          <p:nvPr/>
        </p:nvSpPr>
        <p:spPr>
          <a:xfrm>
            <a:off x="3886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US$4,185</a:t>
            </a:r>
            <a:endParaRPr lang="en-US" sz="1800" dirty="0"/>
          </a:p>
        </p:txBody>
      </p:sp>
      <p:sp>
        <p:nvSpPr>
          <p:cNvPr id="45" name="Text 43"/>
          <p:cNvSpPr/>
          <p:nvPr/>
        </p:nvSpPr>
        <p:spPr>
          <a:xfrm>
            <a:off x="5664200" y="71374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3E7568"/>
                </a:solidFill>
                <a:latin typeface="Montserrat" pitchFamily="34" charset="0"/>
                <a:ea typeface="Montserrat" pitchFamily="34" charset="-122"/>
                <a:cs typeface="Montserrat" pitchFamily="34" charset="-120"/>
              </a:rPr>
              <a:t>US$10,171</a:t>
            </a:r>
            <a:endParaRPr lang="en-US" sz="1800" dirty="0"/>
          </a:p>
        </p:txBody>
      </p:sp>
      <p:sp>
        <p:nvSpPr>
          <p:cNvPr id="46" name="Shape 44"/>
          <p:cNvSpPr/>
          <p:nvPr/>
        </p:nvSpPr>
        <p:spPr>
          <a:xfrm>
            <a:off x="2184400" y="7628890"/>
            <a:ext cx="4914900" cy="7620"/>
          </a:xfrm>
          <a:prstGeom prst="rect">
            <a:avLst/>
          </a:prstGeom>
          <a:solidFill>
            <a:srgbClr val="B7B0A4"/>
          </a:solidFill>
          <a:ln w="12700">
            <a:solidFill>
              <a:srgbClr val="B7B0A4"/>
            </a:solidFill>
            <a:prstDash val="solid"/>
          </a:ln>
        </p:spPr>
      </p:sp>
      <p:sp>
        <p:nvSpPr>
          <p:cNvPr id="47" name="Shape 45"/>
          <p:cNvSpPr/>
          <p:nvPr/>
        </p:nvSpPr>
        <p:spPr>
          <a:xfrm>
            <a:off x="457200" y="7747000"/>
            <a:ext cx="1524000" cy="596900"/>
          </a:xfrm>
          <a:prstGeom prst="rect">
            <a:avLst/>
          </a:prstGeom>
          <a:solidFill>
            <a:srgbClr val="A63A3A"/>
          </a:solidFill>
          <a:ln w="12700">
            <a:solidFill>
              <a:srgbClr val="A63A3A"/>
            </a:solidFill>
            <a:prstDash val="solid"/>
          </a:ln>
        </p:spPr>
      </p:sp>
      <p:sp>
        <p:nvSpPr>
          <p:cNvPr id="48" name="Text 46"/>
          <p:cNvSpPr/>
          <p:nvPr/>
        </p:nvSpPr>
        <p:spPr>
          <a:xfrm>
            <a:off x="546100" y="7950200"/>
            <a:ext cx="1346200" cy="279400"/>
          </a:xfrm>
          <a:prstGeom prst="rect">
            <a:avLst/>
          </a:prstGeom>
          <a:noFill/>
          <a:ln/>
        </p:spPr>
        <p:txBody>
          <a:bodyPr wrap="square" lIns="0" tIns="0" rIns="0" bIns="0" rtlCol="0" anchor="t"/>
          <a:lstStyle/>
          <a:p>
            <a:pPr indent="0" marL="0">
              <a:lnSpc>
                <a:spcPct val="112000"/>
              </a:lnSpc>
              <a:buNone/>
            </a:pPr>
            <a:r>
              <a:rPr lang="en-US" sz="1050" b="1" dirty="0">
                <a:solidFill>
                  <a:srgbClr val="F4F0E7"/>
                </a:solidFill>
                <a:latin typeface="Montserrat" pitchFamily="34" charset="0"/>
                <a:ea typeface="Montserrat" pitchFamily="34" charset="-122"/>
                <a:cs typeface="Montserrat" pitchFamily="34" charset="-120"/>
              </a:rPr>
              <a:t>Philippines</a:t>
            </a:r>
            <a:endParaRPr lang="en-US" sz="1050" dirty="0"/>
          </a:p>
        </p:txBody>
      </p:sp>
      <p:sp>
        <p:nvSpPr>
          <p:cNvPr id="49" name="Text 47"/>
          <p:cNvSpPr/>
          <p:nvPr/>
        </p:nvSpPr>
        <p:spPr>
          <a:xfrm>
            <a:off x="2108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US$1,124</a:t>
            </a:r>
            <a:endParaRPr lang="en-US" sz="1800" dirty="0"/>
          </a:p>
        </p:txBody>
      </p:sp>
      <p:sp>
        <p:nvSpPr>
          <p:cNvPr id="50" name="Text 48"/>
          <p:cNvSpPr/>
          <p:nvPr/>
        </p:nvSpPr>
        <p:spPr>
          <a:xfrm>
            <a:off x="3886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US$1,704</a:t>
            </a:r>
            <a:endParaRPr lang="en-US" sz="1800" dirty="0"/>
          </a:p>
        </p:txBody>
      </p:sp>
      <p:sp>
        <p:nvSpPr>
          <p:cNvPr id="51" name="Text 49"/>
          <p:cNvSpPr/>
          <p:nvPr/>
        </p:nvSpPr>
        <p:spPr>
          <a:xfrm>
            <a:off x="5664200" y="7886700"/>
            <a:ext cx="1498600" cy="469900"/>
          </a:xfrm>
          <a:prstGeom prst="rect">
            <a:avLst/>
          </a:prstGeom>
          <a:noFill/>
          <a:ln/>
        </p:spPr>
        <p:txBody>
          <a:bodyPr wrap="square" lIns="0" tIns="0" rIns="0" bIns="0" rtlCol="0" anchor="t"/>
          <a:lstStyle/>
          <a:p>
            <a:pPr algn="ctr" indent="0" marL="0">
              <a:lnSpc>
                <a:spcPct val="112000"/>
              </a:lnSpc>
              <a:buNone/>
            </a:pPr>
            <a:r>
              <a:rPr lang="en-US" sz="1800" b="1" dirty="0">
                <a:solidFill>
                  <a:srgbClr val="A63A3A"/>
                </a:solidFill>
                <a:latin typeface="Montserrat" pitchFamily="34" charset="0"/>
                <a:ea typeface="Montserrat" pitchFamily="34" charset="-122"/>
                <a:cs typeface="Montserrat" pitchFamily="34" charset="-120"/>
              </a:rPr>
              <a:t>US$3,199</a:t>
            </a:r>
            <a:endParaRPr lang="en-US" sz="1800" dirty="0"/>
          </a:p>
        </p:txBody>
      </p:sp>
      <p:sp>
        <p:nvSpPr>
          <p:cNvPr id="52" name="Shape 50"/>
          <p:cNvSpPr/>
          <p:nvPr/>
        </p:nvSpPr>
        <p:spPr>
          <a:xfrm>
            <a:off x="2184400" y="8378190"/>
            <a:ext cx="4914900" cy="7620"/>
          </a:xfrm>
          <a:prstGeom prst="rect">
            <a:avLst/>
          </a:prstGeom>
          <a:solidFill>
            <a:srgbClr val="B7B0A4"/>
          </a:solidFill>
          <a:ln w="12700">
            <a:solidFill>
              <a:srgbClr val="B7B0A4"/>
            </a:solidFill>
            <a:prstDash val="solid"/>
          </a:ln>
        </p:spPr>
      </p:sp>
      <p:sp>
        <p:nvSpPr>
          <p:cNvPr id="53" name="Text 51"/>
          <p:cNvSpPr/>
          <p:nvPr/>
        </p:nvSpPr>
        <p:spPr>
          <a:xfrm>
            <a:off x="457200" y="8712200"/>
            <a:ext cx="6642100" cy="3683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Every value is US dollars per person, adjusted to constant 2015 prices. Compare countries within a column; compare years across a row.</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LEARNING</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Build. Learn. Improve. Repeat.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Capability grows through repeated practice—not one factory or one policy.</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a possible learning sequence, not an automatic cycle. Institutions, resources, distribution and access to technology and markets shape every link.</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World Bank (1993, pp. 4–7, 20–26, 79–80, 127–130, 159–161); World Bank (2020, pp. 32–33, Box 2 pp. 44–47). Full references: p. 27.</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11</a:t>
            </a:r>
            <a:endParaRPr lang="en-US" sz="1000" dirty="0"/>
          </a:p>
        </p:txBody>
      </p:sp>
      <p:sp>
        <p:nvSpPr>
          <p:cNvPr id="23" name="Shape 21"/>
          <p:cNvSpPr/>
          <p:nvPr/>
        </p:nvSpPr>
        <p:spPr>
          <a:xfrm>
            <a:off x="3784600" y="3581400"/>
            <a:ext cx="1968500" cy="1054100"/>
          </a:xfrm>
          <a:prstGeom prst="line">
            <a:avLst/>
          </a:prstGeom>
          <a:noFill/>
          <a:ln w="152400">
            <a:solidFill>
              <a:srgbClr val="F4F0E7"/>
            </a:solidFill>
            <a:prstDash val="solid"/>
          </a:ln>
        </p:spPr>
      </p:sp>
      <p:sp>
        <p:nvSpPr>
          <p:cNvPr id="24" name="Shape 22"/>
          <p:cNvSpPr/>
          <p:nvPr/>
        </p:nvSpPr>
        <p:spPr>
          <a:xfrm>
            <a:off x="5676900" y="4635500"/>
            <a:ext cx="152400" cy="1943100"/>
          </a:xfrm>
          <a:prstGeom prst="rect">
            <a:avLst/>
          </a:prstGeom>
          <a:solidFill>
            <a:srgbClr val="F4F0E7"/>
          </a:solidFill>
          <a:ln w="12700">
            <a:solidFill>
              <a:srgbClr val="F4F0E7"/>
            </a:solidFill>
            <a:prstDash val="solid"/>
          </a:ln>
        </p:spPr>
      </p:sp>
      <p:sp>
        <p:nvSpPr>
          <p:cNvPr id="25" name="Shape 23"/>
          <p:cNvSpPr/>
          <p:nvPr/>
        </p:nvSpPr>
        <p:spPr>
          <a:xfrm>
            <a:off x="3784600" y="6578600"/>
            <a:ext cx="1968500" cy="1028700"/>
          </a:xfrm>
          <a:prstGeom prst="line">
            <a:avLst/>
          </a:prstGeom>
          <a:noFill/>
          <a:ln w="152400">
            <a:solidFill>
              <a:srgbClr val="F4F0E7"/>
            </a:solidFill>
            <a:prstDash val="solid"/>
          </a:ln>
        </p:spPr>
      </p:sp>
      <p:sp>
        <p:nvSpPr>
          <p:cNvPr id="26" name="Shape 24"/>
          <p:cNvSpPr/>
          <p:nvPr/>
        </p:nvSpPr>
        <p:spPr>
          <a:xfrm flipV="1">
            <a:off x="1803400" y="6578600"/>
            <a:ext cx="1981200" cy="1028700"/>
          </a:xfrm>
          <a:prstGeom prst="line">
            <a:avLst/>
          </a:prstGeom>
          <a:noFill/>
          <a:ln w="152400">
            <a:solidFill>
              <a:srgbClr val="F4F0E7"/>
            </a:solidFill>
            <a:prstDash val="solid"/>
          </a:ln>
        </p:spPr>
      </p:sp>
      <p:sp>
        <p:nvSpPr>
          <p:cNvPr id="27" name="Shape 25"/>
          <p:cNvSpPr/>
          <p:nvPr/>
        </p:nvSpPr>
        <p:spPr>
          <a:xfrm>
            <a:off x="1727200" y="4635500"/>
            <a:ext cx="152400" cy="1943100"/>
          </a:xfrm>
          <a:prstGeom prst="rect">
            <a:avLst/>
          </a:prstGeom>
          <a:solidFill>
            <a:srgbClr val="F4F0E7"/>
          </a:solidFill>
          <a:ln w="12700">
            <a:solidFill>
              <a:srgbClr val="F4F0E7"/>
            </a:solidFill>
            <a:prstDash val="solid"/>
          </a:ln>
        </p:spPr>
      </p:sp>
      <p:sp>
        <p:nvSpPr>
          <p:cNvPr id="28" name="Shape 26"/>
          <p:cNvSpPr/>
          <p:nvPr/>
        </p:nvSpPr>
        <p:spPr>
          <a:xfrm flipV="1">
            <a:off x="1803400" y="3581400"/>
            <a:ext cx="1981200" cy="1054100"/>
          </a:xfrm>
          <a:prstGeom prst="line">
            <a:avLst/>
          </a:prstGeom>
          <a:noFill/>
          <a:ln w="152400">
            <a:solidFill>
              <a:srgbClr val="F4F0E7"/>
            </a:solidFill>
            <a:prstDash val="solid"/>
          </a:ln>
        </p:spPr>
      </p:sp>
      <p:sp>
        <p:nvSpPr>
          <p:cNvPr id="29" name="Shape 27"/>
          <p:cNvSpPr/>
          <p:nvPr/>
        </p:nvSpPr>
        <p:spPr>
          <a:xfrm>
            <a:off x="2844800" y="4686300"/>
            <a:ext cx="1866900" cy="1866900"/>
          </a:xfrm>
          <a:prstGeom prst="ellipse">
            <a:avLst/>
          </a:prstGeom>
          <a:solidFill>
            <a:srgbClr val="F4F0E7"/>
          </a:solidFill>
          <a:ln w="12700">
            <a:solidFill>
              <a:srgbClr val="F4F0E7"/>
            </a:solidFill>
            <a:prstDash val="solid"/>
          </a:ln>
        </p:spPr>
      </p:sp>
      <p:sp>
        <p:nvSpPr>
          <p:cNvPr id="30" name="Shape 28"/>
          <p:cNvSpPr/>
          <p:nvPr/>
        </p:nvSpPr>
        <p:spPr>
          <a:xfrm>
            <a:off x="2971800" y="4813300"/>
            <a:ext cx="1612900" cy="1612900"/>
          </a:xfrm>
          <a:prstGeom prst="ellipse">
            <a:avLst/>
          </a:prstGeom>
          <a:solidFill>
            <a:srgbClr val="252525"/>
          </a:solidFill>
          <a:ln w="12700">
            <a:solidFill>
              <a:srgbClr val="252525"/>
            </a:solidFill>
            <a:prstDash val="solid"/>
          </a:ln>
        </p:spPr>
      </p:sp>
      <p:sp>
        <p:nvSpPr>
          <p:cNvPr id="31" name="Text 29"/>
          <p:cNvSpPr/>
          <p:nvPr/>
        </p:nvSpPr>
        <p:spPr>
          <a:xfrm>
            <a:off x="3111500" y="5245100"/>
            <a:ext cx="1333500" cy="774700"/>
          </a:xfrm>
          <a:prstGeom prst="rect">
            <a:avLst/>
          </a:prstGeom>
          <a:noFill/>
          <a:ln/>
        </p:spPr>
        <p:txBody>
          <a:bodyPr wrap="square" lIns="0" tIns="0" rIns="0" bIns="0" rtlCol="0" anchor="t"/>
          <a:lstStyle/>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LEARN</a:t>
            </a:r>
            <a:endParaRPr lang="en-US" sz="2200" dirty="0"/>
          </a:p>
          <a:p>
            <a:pPr algn="ctr" indent="0" marL="0">
              <a:lnSpc>
                <a:spcPct val="112000"/>
              </a:lnSpc>
              <a:buNone/>
            </a:pPr>
            <a:r>
              <a:rPr lang="en-US" sz="2200" b="1" dirty="0">
                <a:solidFill>
                  <a:srgbClr val="F4F0E7"/>
                </a:solidFill>
                <a:latin typeface="Montserrat" pitchFamily="34" charset="0"/>
                <a:ea typeface="Montserrat" pitchFamily="34" charset="-122"/>
                <a:cs typeface="Montserrat" pitchFamily="34" charset="-120"/>
              </a:rPr>
              <a:t>AGAIN</a:t>
            </a:r>
            <a:endParaRPr lang="en-US" sz="2200" dirty="0"/>
          </a:p>
        </p:txBody>
      </p:sp>
      <p:sp>
        <p:nvSpPr>
          <p:cNvPr id="32" name="Shape 30"/>
          <p:cNvSpPr/>
          <p:nvPr/>
        </p:nvSpPr>
        <p:spPr>
          <a:xfrm>
            <a:off x="3517900" y="3314700"/>
            <a:ext cx="533400" cy="533400"/>
          </a:xfrm>
          <a:prstGeom prst="ellipse">
            <a:avLst/>
          </a:prstGeom>
          <a:solidFill>
            <a:srgbClr val="F4F0E7"/>
          </a:solidFill>
          <a:ln w="5080">
            <a:solidFill>
              <a:srgbClr val="F4F0E7"/>
            </a:solidFill>
            <a:prstDash val="solid"/>
          </a:ln>
        </p:spPr>
      </p:sp>
      <p:sp>
        <p:nvSpPr>
          <p:cNvPr id="33" name="Text 31"/>
          <p:cNvSpPr/>
          <p:nvPr/>
        </p:nvSpPr>
        <p:spPr>
          <a:xfrm>
            <a:off x="3594100" y="34544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1</a:t>
            </a:r>
            <a:endParaRPr lang="en-US" sz="1600" dirty="0"/>
          </a:p>
        </p:txBody>
      </p:sp>
      <p:sp>
        <p:nvSpPr>
          <p:cNvPr id="34" name="Text 32"/>
          <p:cNvSpPr/>
          <p:nvPr/>
        </p:nvSpPr>
        <p:spPr>
          <a:xfrm>
            <a:off x="2667000" y="3098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Skills</a:t>
            </a:r>
            <a:endParaRPr lang="en-US" sz="1100" dirty="0"/>
          </a:p>
        </p:txBody>
      </p:sp>
      <p:sp>
        <p:nvSpPr>
          <p:cNvPr id="35" name="Shape 33"/>
          <p:cNvSpPr/>
          <p:nvPr/>
        </p:nvSpPr>
        <p:spPr>
          <a:xfrm>
            <a:off x="5486400" y="4368800"/>
            <a:ext cx="533400" cy="533400"/>
          </a:xfrm>
          <a:prstGeom prst="ellipse">
            <a:avLst/>
          </a:prstGeom>
          <a:solidFill>
            <a:srgbClr val="F4F0E7"/>
          </a:solidFill>
          <a:ln w="5080">
            <a:solidFill>
              <a:srgbClr val="F4F0E7"/>
            </a:solidFill>
            <a:prstDash val="solid"/>
          </a:ln>
        </p:spPr>
      </p:sp>
      <p:sp>
        <p:nvSpPr>
          <p:cNvPr id="36" name="Text 34"/>
          <p:cNvSpPr/>
          <p:nvPr/>
        </p:nvSpPr>
        <p:spPr>
          <a:xfrm>
            <a:off x="55626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2</a:t>
            </a:r>
            <a:endParaRPr lang="en-US" sz="1600" dirty="0"/>
          </a:p>
        </p:txBody>
      </p:sp>
      <p:sp>
        <p:nvSpPr>
          <p:cNvPr id="37" name="Text 35"/>
          <p:cNvSpPr/>
          <p:nvPr/>
        </p:nvSpPr>
        <p:spPr>
          <a:xfrm>
            <a:off x="50419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Infrastructure</a:t>
            </a:r>
            <a:endParaRPr lang="en-US" sz="1100" dirty="0"/>
          </a:p>
        </p:txBody>
      </p:sp>
      <p:sp>
        <p:nvSpPr>
          <p:cNvPr id="38" name="Shape 36"/>
          <p:cNvSpPr/>
          <p:nvPr/>
        </p:nvSpPr>
        <p:spPr>
          <a:xfrm>
            <a:off x="5486400" y="6311900"/>
            <a:ext cx="533400" cy="533400"/>
          </a:xfrm>
          <a:prstGeom prst="ellipse">
            <a:avLst/>
          </a:prstGeom>
          <a:solidFill>
            <a:srgbClr val="F4F0E7"/>
          </a:solidFill>
          <a:ln w="5080">
            <a:solidFill>
              <a:srgbClr val="F4F0E7"/>
            </a:solidFill>
            <a:prstDash val="solid"/>
          </a:ln>
        </p:spPr>
      </p:sp>
      <p:sp>
        <p:nvSpPr>
          <p:cNvPr id="39" name="Text 37"/>
          <p:cNvSpPr/>
          <p:nvPr/>
        </p:nvSpPr>
        <p:spPr>
          <a:xfrm>
            <a:off x="55626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3</a:t>
            </a:r>
            <a:endParaRPr lang="en-US" sz="1600" dirty="0"/>
          </a:p>
        </p:txBody>
      </p:sp>
      <p:sp>
        <p:nvSpPr>
          <p:cNvPr id="40" name="Text 38"/>
          <p:cNvSpPr/>
          <p:nvPr/>
        </p:nvSpPr>
        <p:spPr>
          <a:xfrm>
            <a:off x="50419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Firms + suppliers</a:t>
            </a:r>
            <a:endParaRPr lang="en-US" sz="1100" dirty="0"/>
          </a:p>
        </p:txBody>
      </p:sp>
      <p:sp>
        <p:nvSpPr>
          <p:cNvPr id="41" name="Shape 39"/>
          <p:cNvSpPr/>
          <p:nvPr/>
        </p:nvSpPr>
        <p:spPr>
          <a:xfrm>
            <a:off x="3517900" y="7340600"/>
            <a:ext cx="533400" cy="533400"/>
          </a:xfrm>
          <a:prstGeom prst="ellipse">
            <a:avLst/>
          </a:prstGeom>
          <a:solidFill>
            <a:srgbClr val="F4F0E7"/>
          </a:solidFill>
          <a:ln w="5080">
            <a:solidFill>
              <a:srgbClr val="F4F0E7"/>
            </a:solidFill>
            <a:prstDash val="solid"/>
          </a:ln>
        </p:spPr>
      </p:sp>
      <p:sp>
        <p:nvSpPr>
          <p:cNvPr id="42" name="Text 40"/>
          <p:cNvSpPr/>
          <p:nvPr/>
        </p:nvSpPr>
        <p:spPr>
          <a:xfrm>
            <a:off x="3594100" y="74803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4</a:t>
            </a:r>
            <a:endParaRPr lang="en-US" sz="1600" dirty="0"/>
          </a:p>
        </p:txBody>
      </p:sp>
      <p:sp>
        <p:nvSpPr>
          <p:cNvPr id="43" name="Text 41"/>
          <p:cNvSpPr/>
          <p:nvPr/>
        </p:nvSpPr>
        <p:spPr>
          <a:xfrm>
            <a:off x="2667000" y="80518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Production</a:t>
            </a:r>
            <a:endParaRPr lang="en-US" sz="1100" dirty="0"/>
          </a:p>
        </p:txBody>
      </p:sp>
      <p:sp>
        <p:nvSpPr>
          <p:cNvPr id="44" name="Shape 42"/>
          <p:cNvSpPr/>
          <p:nvPr/>
        </p:nvSpPr>
        <p:spPr>
          <a:xfrm>
            <a:off x="1536700" y="6311900"/>
            <a:ext cx="533400" cy="533400"/>
          </a:xfrm>
          <a:prstGeom prst="ellipse">
            <a:avLst/>
          </a:prstGeom>
          <a:solidFill>
            <a:srgbClr val="F4F0E7"/>
          </a:solidFill>
          <a:ln w="5080">
            <a:solidFill>
              <a:srgbClr val="F4F0E7"/>
            </a:solidFill>
            <a:prstDash val="solid"/>
          </a:ln>
        </p:spPr>
      </p:sp>
      <p:sp>
        <p:nvSpPr>
          <p:cNvPr id="45" name="Text 43"/>
          <p:cNvSpPr/>
          <p:nvPr/>
        </p:nvSpPr>
        <p:spPr>
          <a:xfrm>
            <a:off x="1612900" y="64516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5</a:t>
            </a:r>
            <a:endParaRPr lang="en-US" sz="1600" dirty="0"/>
          </a:p>
        </p:txBody>
      </p:sp>
      <p:sp>
        <p:nvSpPr>
          <p:cNvPr id="46" name="Text 44"/>
          <p:cNvSpPr/>
          <p:nvPr/>
        </p:nvSpPr>
        <p:spPr>
          <a:xfrm>
            <a:off x="457200" y="59690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Exports + learning</a:t>
            </a:r>
            <a:endParaRPr lang="en-US" sz="1100" dirty="0"/>
          </a:p>
        </p:txBody>
      </p:sp>
      <p:sp>
        <p:nvSpPr>
          <p:cNvPr id="47" name="Shape 45"/>
          <p:cNvSpPr/>
          <p:nvPr/>
        </p:nvSpPr>
        <p:spPr>
          <a:xfrm>
            <a:off x="1536700" y="4368800"/>
            <a:ext cx="533400" cy="533400"/>
          </a:xfrm>
          <a:prstGeom prst="ellipse">
            <a:avLst/>
          </a:prstGeom>
          <a:solidFill>
            <a:srgbClr val="F4F0E7"/>
          </a:solidFill>
          <a:ln w="5080">
            <a:solidFill>
              <a:srgbClr val="F4F0E7"/>
            </a:solidFill>
            <a:prstDash val="solid"/>
          </a:ln>
        </p:spPr>
      </p:sp>
      <p:sp>
        <p:nvSpPr>
          <p:cNvPr id="48" name="Text 46"/>
          <p:cNvSpPr/>
          <p:nvPr/>
        </p:nvSpPr>
        <p:spPr>
          <a:xfrm>
            <a:off x="1612900" y="4508500"/>
            <a:ext cx="381000" cy="317500"/>
          </a:xfrm>
          <a:prstGeom prst="rect">
            <a:avLst/>
          </a:prstGeom>
          <a:noFill/>
          <a:ln/>
        </p:spPr>
        <p:txBody>
          <a:bodyPr wrap="square" lIns="0" tIns="0" rIns="0" bIns="0" rtlCol="0" anchor="t"/>
          <a:lstStyle/>
          <a:p>
            <a:pPr algn="ct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6</a:t>
            </a:r>
            <a:endParaRPr lang="en-US" sz="1600" dirty="0"/>
          </a:p>
        </p:txBody>
      </p:sp>
      <p:sp>
        <p:nvSpPr>
          <p:cNvPr id="49" name="Text 47"/>
          <p:cNvSpPr/>
          <p:nvPr/>
        </p:nvSpPr>
        <p:spPr>
          <a:xfrm>
            <a:off x="457200" y="4025900"/>
            <a:ext cx="2057400" cy="444500"/>
          </a:xfrm>
          <a:prstGeom prst="rect">
            <a:avLst/>
          </a:prstGeom>
          <a:noFill/>
          <a:ln/>
        </p:spPr>
        <p:txBody>
          <a:bodyPr wrap="square" lIns="0" tIns="0" rIns="0" bIns="0" rtlCol="0" anchor="t"/>
          <a:lstStyle/>
          <a:p>
            <a:pPr algn="ct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Reinvestment</a:t>
            </a:r>
            <a:endParaRPr lang="en-US" sz="1100" dirty="0"/>
          </a:p>
        </p:txBody>
      </p:sp>
      <p:sp>
        <p:nvSpPr>
          <p:cNvPr id="50" name="Text 48"/>
          <p:cNvSpPr/>
          <p:nvPr/>
        </p:nvSpPr>
        <p:spPr>
          <a:xfrm>
            <a:off x="457200" y="8699500"/>
            <a:ext cx="6642100" cy="317500"/>
          </a:xfrm>
          <a:prstGeom prst="rect">
            <a:avLst/>
          </a:prstGeom>
          <a:noFill/>
          <a:ln/>
        </p:spPr>
        <p:txBody>
          <a:bodyPr wrap="square" lIns="0" tIns="0" rIns="0" bIns="0" rtlCol="0" anchor="t"/>
          <a:lstStyle/>
          <a:p>
            <a:pPr indent="0" marL="0">
              <a:lnSpc>
                <a:spcPct val="112000"/>
              </a:lnSpc>
              <a:buNone/>
            </a:pPr>
            <a:r>
              <a:rPr lang="en-US" sz="1100" b="1" dirty="0">
                <a:solidFill>
                  <a:srgbClr val="F4F0E7"/>
                </a:solidFill>
                <a:latin typeface="Montserrat" pitchFamily="34" charset="0"/>
                <a:ea typeface="Montserrat" pitchFamily="34" charset="-122"/>
                <a:cs typeface="Montserrat" pitchFamily="34" charset="-120"/>
              </a:rPr>
              <a:t>A workshop wheel: turning effort into learning.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FOLLOW THE PRODUCT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“Made here” is not the whole story.</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A country can export a product without keeping all its value—or learning how to make its most complex parts.</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Text 16"/>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Export totals and photographs cannot reveal who keeps the value, how much is local, or which skills firms have learned.</a:t>
            </a:r>
            <a:endParaRPr lang="en-US" sz="850" dirty="0"/>
          </a:p>
        </p:txBody>
      </p:sp>
      <p:sp>
        <p:nvSpPr>
          <p:cNvPr id="19" name="Shape 17"/>
          <p:cNvSpPr/>
          <p:nvPr/>
        </p:nvSpPr>
        <p:spPr>
          <a:xfrm>
            <a:off x="457200" y="9698990"/>
            <a:ext cx="6642100" cy="7620"/>
          </a:xfrm>
          <a:prstGeom prst="rect">
            <a:avLst/>
          </a:prstGeom>
          <a:solidFill>
            <a:srgbClr val="B7B0A4"/>
          </a:solidFill>
          <a:ln w="12700">
            <a:solidFill>
              <a:srgbClr val="B7B0A4"/>
            </a:solidFill>
            <a:prstDash val="solid"/>
          </a:ln>
        </p:spPr>
      </p:sp>
      <p:sp>
        <p:nvSpPr>
          <p:cNvPr id="20" name="Text 18"/>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(2020, Box 2, pp. 44–47); Nasution (2000, pp. 19–20, Table 9); World Bank (1993, pp. 20–26). Conceptual journey, not measured product shares. Photographs: jgmorard (2009), Port Klang; george ruiz (2013), Metro Manila; CC BY 2.0. Full credits p. 28.</a:t>
            </a:r>
            <a:endParaRPr lang="en-US" sz="800" dirty="0"/>
          </a:p>
        </p:txBody>
      </p:sp>
      <p:sp>
        <p:nvSpPr>
          <p:cNvPr id="21" name="Text 19"/>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2" name="Text 20"/>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12</a:t>
            </a:r>
            <a:endParaRPr lang="en-US" sz="1000" dirty="0"/>
          </a:p>
        </p:txBody>
      </p:sp>
      <p:pic>
        <p:nvPicPr>
          <p:cNvPr id="23" name="Image 0" descr="/Users/marcusgrude-grodem/Documents/GitHub/USIL/africa-asia-development-magazine/design/canva_editorial_draft/assets/print/malaysia_port_klang.jpg">    </p:cNvPr>
          <p:cNvPicPr>
            <a:picLocks noChangeAspect="1"/>
          </p:cNvPicPr>
          <p:nvPr/>
        </p:nvPicPr>
        <p:blipFill>
          <a:blip r:embed="rId1"/>
          <a:stretch>
            <a:fillRect/>
          </a:stretch>
        </p:blipFill>
        <p:spPr>
          <a:xfrm>
            <a:off x="457200" y="3037935"/>
            <a:ext cx="3162300" cy="2102930"/>
          </a:xfrm>
          <a:prstGeom prst="rect">
            <a:avLst/>
          </a:prstGeom>
        </p:spPr>
      </p:pic>
      <p:pic>
        <p:nvPicPr>
          <p:cNvPr id="24" name="Image 1" descr="/Users/marcusgrude-grodem/Documents/GitHub/USIL/africa-asia-development-magazine/design/canva_editorial_draft/assets/print/philippines_dampa.jpg">    </p:cNvPr>
          <p:cNvPicPr>
            <a:picLocks noChangeAspect="1"/>
          </p:cNvPicPr>
          <p:nvPr/>
        </p:nvPicPr>
        <p:blipFill>
          <a:blip r:embed="rId2"/>
          <a:stretch>
            <a:fillRect/>
          </a:stretch>
        </p:blipFill>
        <p:spPr>
          <a:xfrm>
            <a:off x="3949116" y="3035300"/>
            <a:ext cx="3138068" cy="2108200"/>
          </a:xfrm>
          <a:prstGeom prst="rect">
            <a:avLst/>
          </a:prstGeom>
        </p:spPr>
      </p:pic>
      <p:sp>
        <p:nvSpPr>
          <p:cNvPr id="25" name="Text 21"/>
          <p:cNvSpPr/>
          <p:nvPr/>
        </p:nvSpPr>
        <p:spPr>
          <a:xfrm>
            <a:off x="4572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Port Klang, Malaysia · 2009</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Containers show movement—not local value kept.</a:t>
            </a:r>
            <a:endParaRPr lang="en-US" sz="800" dirty="0"/>
          </a:p>
        </p:txBody>
      </p:sp>
      <p:sp>
        <p:nvSpPr>
          <p:cNvPr id="26" name="Text 22"/>
          <p:cNvSpPr/>
          <p:nvPr/>
        </p:nvSpPr>
        <p:spPr>
          <a:xfrm>
            <a:off x="3937000" y="5270500"/>
            <a:ext cx="3162300" cy="4699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Metro Manila, Philippines · 2013</a:t>
            </a:r>
            <a:endParaRPr lang="en-US" sz="800" dirty="0"/>
          </a:p>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Market exchange—not a national productivity measure.</a:t>
            </a:r>
            <a:endParaRPr lang="en-US" sz="800" dirty="0"/>
          </a:p>
        </p:txBody>
      </p:sp>
      <p:sp>
        <p:nvSpPr>
          <p:cNvPr id="27" name="Shape 23"/>
          <p:cNvSpPr/>
          <p:nvPr/>
        </p:nvSpPr>
        <p:spPr>
          <a:xfrm>
            <a:off x="503646" y="6101080"/>
            <a:ext cx="313509" cy="290286"/>
          </a:xfrm>
          <a:prstGeom prst="rect">
            <a:avLst/>
          </a:prstGeom>
          <a:solidFill>
            <a:srgbClr val="F4F0E7"/>
          </a:solidFill>
          <a:ln w="7620">
            <a:solidFill>
              <a:srgbClr val="252525"/>
            </a:solidFill>
            <a:prstDash val="solid"/>
          </a:ln>
        </p:spPr>
      </p:sp>
      <p:sp>
        <p:nvSpPr>
          <p:cNvPr id="28" name="Shape 24"/>
          <p:cNvSpPr/>
          <p:nvPr/>
        </p:nvSpPr>
        <p:spPr>
          <a:xfrm>
            <a:off x="503646" y="6183811"/>
            <a:ext cx="313509" cy="20320"/>
          </a:xfrm>
          <a:prstGeom prst="rect">
            <a:avLst/>
          </a:prstGeom>
          <a:solidFill>
            <a:srgbClr val="252525"/>
          </a:solidFill>
          <a:ln w="12700">
            <a:solidFill>
              <a:srgbClr val="252525"/>
            </a:solidFill>
            <a:prstDash val="solid"/>
          </a:ln>
        </p:spPr>
      </p:sp>
      <p:sp>
        <p:nvSpPr>
          <p:cNvPr id="29" name="Shape 25"/>
          <p:cNvSpPr/>
          <p:nvPr/>
        </p:nvSpPr>
        <p:spPr>
          <a:xfrm>
            <a:off x="644434" y="6101080"/>
            <a:ext cx="20320" cy="92891"/>
          </a:xfrm>
          <a:prstGeom prst="rect">
            <a:avLst/>
          </a:prstGeom>
          <a:solidFill>
            <a:srgbClr val="252525"/>
          </a:solidFill>
          <a:ln w="12700">
            <a:solidFill>
              <a:srgbClr val="252525"/>
            </a:solidFill>
            <a:prstDash val="solid"/>
          </a:ln>
        </p:spPr>
      </p:sp>
      <p:sp>
        <p:nvSpPr>
          <p:cNvPr id="30" name="Text 26"/>
          <p:cNvSpPr/>
          <p:nvPr/>
        </p:nvSpPr>
        <p:spPr>
          <a:xfrm>
            <a:off x="4572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INPUTS</a:t>
            </a:r>
            <a:endParaRPr lang="en-US" sz="1000" dirty="0"/>
          </a:p>
        </p:txBody>
      </p:sp>
      <p:sp>
        <p:nvSpPr>
          <p:cNvPr id="31" name="Text 27"/>
          <p:cNvSpPr/>
          <p:nvPr/>
        </p:nvSpPr>
        <p:spPr>
          <a:xfrm>
            <a:off x="4572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Parts can come from abroad.</a:t>
            </a:r>
            <a:endParaRPr lang="en-US" sz="1050" dirty="0"/>
          </a:p>
        </p:txBody>
      </p:sp>
      <p:sp>
        <p:nvSpPr>
          <p:cNvPr id="32" name="Text 28"/>
          <p:cNvSpPr/>
          <p:nvPr/>
        </p:nvSpPr>
        <p:spPr>
          <a:xfrm>
            <a:off x="22352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33" name="Shape 29"/>
          <p:cNvSpPr/>
          <p:nvPr/>
        </p:nvSpPr>
        <p:spPr>
          <a:xfrm>
            <a:off x="2753723" y="6381206"/>
            <a:ext cx="348343" cy="20320"/>
          </a:xfrm>
          <a:prstGeom prst="rect">
            <a:avLst/>
          </a:prstGeom>
          <a:solidFill>
            <a:srgbClr val="252525"/>
          </a:solidFill>
          <a:ln w="12700">
            <a:solidFill>
              <a:srgbClr val="252525"/>
            </a:solidFill>
            <a:prstDash val="solid"/>
          </a:ln>
        </p:spPr>
      </p:sp>
      <p:sp>
        <p:nvSpPr>
          <p:cNvPr id="34" name="Shape 30"/>
          <p:cNvSpPr/>
          <p:nvPr/>
        </p:nvSpPr>
        <p:spPr>
          <a:xfrm>
            <a:off x="2743563" y="6193971"/>
            <a:ext cx="20320" cy="197394"/>
          </a:xfrm>
          <a:prstGeom prst="rect">
            <a:avLst/>
          </a:prstGeom>
          <a:solidFill>
            <a:srgbClr val="252525"/>
          </a:solidFill>
          <a:ln w="12700">
            <a:solidFill>
              <a:srgbClr val="252525"/>
            </a:solidFill>
            <a:prstDash val="solid"/>
          </a:ln>
        </p:spPr>
      </p:sp>
      <p:sp>
        <p:nvSpPr>
          <p:cNvPr id="35" name="Shape 31"/>
          <p:cNvSpPr/>
          <p:nvPr/>
        </p:nvSpPr>
        <p:spPr>
          <a:xfrm flipV="1">
            <a:off x="2753723" y="6124303"/>
            <a:ext cx="116114" cy="69669"/>
          </a:xfrm>
          <a:prstGeom prst="line">
            <a:avLst/>
          </a:prstGeom>
          <a:noFill/>
          <a:ln w="20320">
            <a:solidFill>
              <a:srgbClr val="252525"/>
            </a:solidFill>
            <a:prstDash val="solid"/>
          </a:ln>
        </p:spPr>
      </p:sp>
      <p:sp>
        <p:nvSpPr>
          <p:cNvPr id="36" name="Shape 32"/>
          <p:cNvSpPr/>
          <p:nvPr/>
        </p:nvSpPr>
        <p:spPr>
          <a:xfrm>
            <a:off x="2859677" y="6124303"/>
            <a:ext cx="20320" cy="69669"/>
          </a:xfrm>
          <a:prstGeom prst="rect">
            <a:avLst/>
          </a:prstGeom>
          <a:solidFill>
            <a:srgbClr val="252525"/>
          </a:solidFill>
          <a:ln w="12700">
            <a:solidFill>
              <a:srgbClr val="252525"/>
            </a:solidFill>
            <a:prstDash val="solid"/>
          </a:ln>
        </p:spPr>
      </p:sp>
      <p:sp>
        <p:nvSpPr>
          <p:cNvPr id="37" name="Shape 33"/>
          <p:cNvSpPr/>
          <p:nvPr/>
        </p:nvSpPr>
        <p:spPr>
          <a:xfrm flipV="1">
            <a:off x="2869837" y="6124303"/>
            <a:ext cx="127726" cy="69669"/>
          </a:xfrm>
          <a:prstGeom prst="line">
            <a:avLst/>
          </a:prstGeom>
          <a:noFill/>
          <a:ln w="20320">
            <a:solidFill>
              <a:srgbClr val="252525"/>
            </a:solidFill>
            <a:prstDash val="solid"/>
          </a:ln>
        </p:spPr>
      </p:sp>
      <p:sp>
        <p:nvSpPr>
          <p:cNvPr id="38" name="Shape 34"/>
          <p:cNvSpPr/>
          <p:nvPr/>
        </p:nvSpPr>
        <p:spPr>
          <a:xfrm>
            <a:off x="2987403" y="6124303"/>
            <a:ext cx="20320" cy="267063"/>
          </a:xfrm>
          <a:prstGeom prst="rect">
            <a:avLst/>
          </a:prstGeom>
          <a:solidFill>
            <a:srgbClr val="252525"/>
          </a:solidFill>
          <a:ln w="12700">
            <a:solidFill>
              <a:srgbClr val="252525"/>
            </a:solidFill>
            <a:prstDash val="solid"/>
          </a:ln>
        </p:spPr>
      </p:sp>
      <p:sp>
        <p:nvSpPr>
          <p:cNvPr id="39" name="Shape 35"/>
          <p:cNvSpPr/>
          <p:nvPr/>
        </p:nvSpPr>
        <p:spPr>
          <a:xfrm>
            <a:off x="3033849" y="6054634"/>
            <a:ext cx="20320" cy="185783"/>
          </a:xfrm>
          <a:prstGeom prst="rect">
            <a:avLst/>
          </a:prstGeom>
          <a:solidFill>
            <a:srgbClr val="252525"/>
          </a:solidFill>
          <a:ln w="12700">
            <a:solidFill>
              <a:srgbClr val="252525"/>
            </a:solidFill>
            <a:prstDash val="solid"/>
          </a:ln>
        </p:spPr>
      </p:sp>
      <p:sp>
        <p:nvSpPr>
          <p:cNvPr id="40" name="Shape 36"/>
          <p:cNvSpPr/>
          <p:nvPr/>
        </p:nvSpPr>
        <p:spPr>
          <a:xfrm>
            <a:off x="3091906" y="6054634"/>
            <a:ext cx="20320" cy="336731"/>
          </a:xfrm>
          <a:prstGeom prst="rect">
            <a:avLst/>
          </a:prstGeom>
          <a:solidFill>
            <a:srgbClr val="252525"/>
          </a:solidFill>
          <a:ln w="12700">
            <a:solidFill>
              <a:srgbClr val="252525"/>
            </a:solidFill>
            <a:prstDash val="solid"/>
          </a:ln>
        </p:spPr>
      </p:sp>
      <p:sp>
        <p:nvSpPr>
          <p:cNvPr id="41" name="Shape 37"/>
          <p:cNvSpPr/>
          <p:nvPr/>
        </p:nvSpPr>
        <p:spPr>
          <a:xfrm>
            <a:off x="3044009" y="6044474"/>
            <a:ext cx="58057" cy="20320"/>
          </a:xfrm>
          <a:prstGeom prst="rect">
            <a:avLst/>
          </a:prstGeom>
          <a:solidFill>
            <a:srgbClr val="252525"/>
          </a:solidFill>
          <a:ln w="12700">
            <a:solidFill>
              <a:srgbClr val="252525"/>
            </a:solidFill>
            <a:prstDash val="solid"/>
          </a:ln>
        </p:spPr>
      </p:sp>
      <p:sp>
        <p:nvSpPr>
          <p:cNvPr id="42" name="Shape 38"/>
          <p:cNvSpPr/>
          <p:nvPr/>
        </p:nvSpPr>
        <p:spPr>
          <a:xfrm>
            <a:off x="2811780" y="6276703"/>
            <a:ext cx="34834" cy="20320"/>
          </a:xfrm>
          <a:prstGeom prst="rect">
            <a:avLst/>
          </a:prstGeom>
          <a:solidFill>
            <a:srgbClr val="252525"/>
          </a:solidFill>
          <a:ln w="12700">
            <a:solidFill>
              <a:srgbClr val="252525"/>
            </a:solidFill>
            <a:prstDash val="solid"/>
          </a:ln>
        </p:spPr>
      </p:sp>
      <p:sp>
        <p:nvSpPr>
          <p:cNvPr id="43" name="Shape 39"/>
          <p:cNvSpPr/>
          <p:nvPr/>
        </p:nvSpPr>
        <p:spPr>
          <a:xfrm>
            <a:off x="2916283" y="6276703"/>
            <a:ext cx="34834" cy="20320"/>
          </a:xfrm>
          <a:prstGeom prst="rect">
            <a:avLst/>
          </a:prstGeom>
          <a:solidFill>
            <a:srgbClr val="252525"/>
          </a:solidFill>
          <a:ln w="12700">
            <a:solidFill>
              <a:srgbClr val="252525"/>
            </a:solidFill>
            <a:prstDash val="solid"/>
          </a:ln>
        </p:spPr>
      </p:sp>
      <p:sp>
        <p:nvSpPr>
          <p:cNvPr id="44" name="Text 40"/>
          <p:cNvSpPr/>
          <p:nvPr/>
        </p:nvSpPr>
        <p:spPr>
          <a:xfrm>
            <a:off x="27305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ASSEMBLY</a:t>
            </a:r>
            <a:endParaRPr lang="en-US" sz="1000" dirty="0"/>
          </a:p>
        </p:txBody>
      </p:sp>
      <p:sp>
        <p:nvSpPr>
          <p:cNvPr id="45" name="Text 41"/>
          <p:cNvSpPr/>
          <p:nvPr/>
        </p:nvSpPr>
        <p:spPr>
          <a:xfrm>
            <a:off x="27305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work is one part of the value.</a:t>
            </a:r>
            <a:endParaRPr lang="en-US" sz="1050" dirty="0"/>
          </a:p>
        </p:txBody>
      </p:sp>
      <p:sp>
        <p:nvSpPr>
          <p:cNvPr id="46" name="Text 42"/>
          <p:cNvSpPr/>
          <p:nvPr/>
        </p:nvSpPr>
        <p:spPr>
          <a:xfrm>
            <a:off x="4508500" y="6057900"/>
            <a:ext cx="381000" cy="4191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Montserrat" pitchFamily="34" charset="0"/>
                <a:ea typeface="Montserrat" pitchFamily="34" charset="-122"/>
                <a:cs typeface="Montserrat" pitchFamily="34" charset="-120"/>
              </a:rPr>
              <a:t>→</a:t>
            </a:r>
            <a:endParaRPr lang="en-US" sz="2300" dirty="0"/>
          </a:p>
        </p:txBody>
      </p:sp>
      <p:sp>
        <p:nvSpPr>
          <p:cNvPr id="47" name="Shape 43"/>
          <p:cNvSpPr/>
          <p:nvPr/>
        </p:nvSpPr>
        <p:spPr>
          <a:xfrm flipV="1">
            <a:off x="5038634" y="6054634"/>
            <a:ext cx="162560" cy="162560"/>
          </a:xfrm>
          <a:prstGeom prst="line">
            <a:avLst/>
          </a:prstGeom>
          <a:noFill/>
          <a:ln w="20320">
            <a:solidFill>
              <a:srgbClr val="252525"/>
            </a:solidFill>
            <a:prstDash val="solid"/>
          </a:ln>
        </p:spPr>
      </p:sp>
      <p:sp>
        <p:nvSpPr>
          <p:cNvPr id="48" name="Shape 44"/>
          <p:cNvSpPr/>
          <p:nvPr/>
        </p:nvSpPr>
        <p:spPr>
          <a:xfrm>
            <a:off x="5201194" y="6054634"/>
            <a:ext cx="162560" cy="162560"/>
          </a:xfrm>
          <a:prstGeom prst="line">
            <a:avLst/>
          </a:prstGeom>
          <a:noFill/>
          <a:ln w="20320">
            <a:solidFill>
              <a:srgbClr val="252525"/>
            </a:solidFill>
            <a:prstDash val="solid"/>
          </a:ln>
        </p:spPr>
      </p:sp>
      <p:sp>
        <p:nvSpPr>
          <p:cNvPr id="49" name="Shape 45"/>
          <p:cNvSpPr/>
          <p:nvPr/>
        </p:nvSpPr>
        <p:spPr>
          <a:xfrm>
            <a:off x="5201194" y="6217194"/>
            <a:ext cx="162560" cy="162560"/>
          </a:xfrm>
          <a:prstGeom prst="line">
            <a:avLst/>
          </a:prstGeom>
          <a:noFill/>
          <a:ln w="20320">
            <a:solidFill>
              <a:srgbClr val="252525"/>
            </a:solidFill>
            <a:prstDash val="solid"/>
          </a:ln>
        </p:spPr>
      </p:sp>
      <p:sp>
        <p:nvSpPr>
          <p:cNvPr id="50" name="Shape 46"/>
          <p:cNvSpPr/>
          <p:nvPr/>
        </p:nvSpPr>
        <p:spPr>
          <a:xfrm flipV="1">
            <a:off x="5038634" y="6217194"/>
            <a:ext cx="162560" cy="162560"/>
          </a:xfrm>
          <a:prstGeom prst="line">
            <a:avLst/>
          </a:prstGeom>
          <a:noFill/>
          <a:ln w="20320">
            <a:solidFill>
              <a:srgbClr val="252525"/>
            </a:solidFill>
            <a:prstDash val="solid"/>
          </a:ln>
        </p:spPr>
      </p:sp>
      <p:sp>
        <p:nvSpPr>
          <p:cNvPr id="51" name="Shape 47"/>
          <p:cNvSpPr/>
          <p:nvPr/>
        </p:nvSpPr>
        <p:spPr>
          <a:xfrm>
            <a:off x="5038634" y="6207034"/>
            <a:ext cx="325120" cy="20320"/>
          </a:xfrm>
          <a:prstGeom prst="rect">
            <a:avLst/>
          </a:prstGeom>
          <a:solidFill>
            <a:srgbClr val="252525"/>
          </a:solidFill>
          <a:ln w="12700">
            <a:solidFill>
              <a:srgbClr val="252525"/>
            </a:solidFill>
            <a:prstDash val="solid"/>
          </a:ln>
        </p:spPr>
      </p:sp>
      <p:sp>
        <p:nvSpPr>
          <p:cNvPr id="52" name="Shape 48"/>
          <p:cNvSpPr/>
          <p:nvPr/>
        </p:nvSpPr>
        <p:spPr>
          <a:xfrm>
            <a:off x="5015411" y="6193971"/>
            <a:ext cx="46446" cy="46446"/>
          </a:xfrm>
          <a:prstGeom prst="ellipse">
            <a:avLst/>
          </a:prstGeom>
          <a:solidFill>
            <a:srgbClr val="252525"/>
          </a:solidFill>
          <a:ln w="12700">
            <a:solidFill>
              <a:srgbClr val="252525"/>
            </a:solidFill>
            <a:prstDash val="solid"/>
          </a:ln>
        </p:spPr>
      </p:sp>
      <p:sp>
        <p:nvSpPr>
          <p:cNvPr id="53" name="Shape 49"/>
          <p:cNvSpPr/>
          <p:nvPr/>
        </p:nvSpPr>
        <p:spPr>
          <a:xfrm>
            <a:off x="5177971" y="6031411"/>
            <a:ext cx="46446" cy="46446"/>
          </a:xfrm>
          <a:prstGeom prst="ellipse">
            <a:avLst/>
          </a:prstGeom>
          <a:solidFill>
            <a:srgbClr val="252525"/>
          </a:solidFill>
          <a:ln w="12700">
            <a:solidFill>
              <a:srgbClr val="252525"/>
            </a:solidFill>
            <a:prstDash val="solid"/>
          </a:ln>
        </p:spPr>
      </p:sp>
      <p:sp>
        <p:nvSpPr>
          <p:cNvPr id="54" name="Shape 50"/>
          <p:cNvSpPr/>
          <p:nvPr/>
        </p:nvSpPr>
        <p:spPr>
          <a:xfrm>
            <a:off x="5340531" y="6193971"/>
            <a:ext cx="46446" cy="46446"/>
          </a:xfrm>
          <a:prstGeom prst="ellipse">
            <a:avLst/>
          </a:prstGeom>
          <a:solidFill>
            <a:srgbClr val="252525"/>
          </a:solidFill>
          <a:ln w="12700">
            <a:solidFill>
              <a:srgbClr val="252525"/>
            </a:solidFill>
            <a:prstDash val="solid"/>
          </a:ln>
        </p:spPr>
      </p:sp>
      <p:sp>
        <p:nvSpPr>
          <p:cNvPr id="55" name="Shape 51"/>
          <p:cNvSpPr/>
          <p:nvPr/>
        </p:nvSpPr>
        <p:spPr>
          <a:xfrm>
            <a:off x="5177971" y="6356531"/>
            <a:ext cx="46446" cy="46446"/>
          </a:xfrm>
          <a:prstGeom prst="ellipse">
            <a:avLst/>
          </a:prstGeom>
          <a:solidFill>
            <a:srgbClr val="252525"/>
          </a:solidFill>
          <a:ln w="12700">
            <a:solidFill>
              <a:srgbClr val="252525"/>
            </a:solidFill>
            <a:prstDash val="solid"/>
          </a:ln>
        </p:spPr>
      </p:sp>
      <p:sp>
        <p:nvSpPr>
          <p:cNvPr id="56" name="Text 52"/>
          <p:cNvSpPr/>
          <p:nvPr/>
        </p:nvSpPr>
        <p:spPr>
          <a:xfrm>
            <a:off x="5003800" y="6616700"/>
            <a:ext cx="2095500" cy="266700"/>
          </a:xfrm>
          <a:prstGeom prst="rect">
            <a:avLst/>
          </a:prstGeom>
          <a:noFill/>
          <a:ln/>
        </p:spPr>
        <p:txBody>
          <a:bodyPr wrap="square" lIns="0" tIns="0" rIns="0" bIns="0" rtlCol="0" anchor="t"/>
          <a:lstStyle/>
          <a:p>
            <a:pP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SUPPLIERS</a:t>
            </a:r>
            <a:endParaRPr lang="en-US" sz="1000" dirty="0"/>
          </a:p>
        </p:txBody>
      </p:sp>
      <p:sp>
        <p:nvSpPr>
          <p:cNvPr id="57" name="Text 53"/>
          <p:cNvSpPr/>
          <p:nvPr/>
        </p:nvSpPr>
        <p:spPr>
          <a:xfrm>
            <a:off x="5003800" y="7010400"/>
            <a:ext cx="2095500" cy="7620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Local links may deepen—or stay thin.</a:t>
            </a:r>
            <a:endParaRPr lang="en-US" sz="1050" dirty="0"/>
          </a:p>
        </p:txBody>
      </p:sp>
      <p:sp>
        <p:nvSpPr>
          <p:cNvPr id="58" name="Text 54"/>
          <p:cNvSpPr/>
          <p:nvPr/>
        </p:nvSpPr>
        <p:spPr>
          <a:xfrm>
            <a:off x="457200" y="8064500"/>
            <a:ext cx="6642100" cy="508000"/>
          </a:xfrm>
          <a:prstGeom prst="rect">
            <a:avLst/>
          </a:prstGeom>
          <a:noFill/>
          <a:ln/>
        </p:spPr>
        <p:txBody>
          <a:bodyPr wrap="square" lIns="0" tIns="0" rIns="0" bIns="0" rtlCol="0" anchor="t"/>
          <a:lstStyle/>
          <a:p>
            <a:pPr indent="0" marL="0">
              <a:lnSpc>
                <a:spcPct val="112000"/>
              </a:lnSpc>
              <a:buNone/>
            </a:pPr>
            <a:r>
              <a:rPr lang="en-US" sz="2400" b="1" dirty="0">
                <a:solidFill>
                  <a:srgbClr val="252525"/>
                </a:solidFill>
                <a:latin typeface="Alegreya" pitchFamily="34" charset="0"/>
                <a:ea typeface="Alegreya" pitchFamily="34" charset="-122"/>
                <a:cs typeface="Alegreya" pitchFamily="34" charset="-120"/>
              </a:rPr>
              <a:t>Exports ≠ local value ≠ local skills.</a:t>
            </a:r>
            <a:endParaRPr lang="en-US" sz="2400" dirty="0"/>
          </a:p>
        </p:txBody>
      </p:sp>
      <p:sp>
        <p:nvSpPr>
          <p:cNvPr id="59" name="Text 55"/>
          <p:cNvSpPr/>
          <p:nvPr/>
        </p:nvSpPr>
        <p:spPr>
          <a:xfrm>
            <a:off x="457200" y="8572500"/>
            <a:ext cx="6642100" cy="2921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Manufacturing share measures production mix, not technological capability. More assembly does not automatically mean deeper domestic learning.</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315A78"/>
          </a:solidFill>
          <a:ln w="12700">
            <a:solidFill>
              <a:srgbClr val="315A78"/>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Why learning kept building.</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Skills, investment and pressure to perform reinforced one another. The sequence also depended on international opportunities.</a:t>
            </a:r>
            <a:endParaRPr lang="en-US" sz="1100" dirty="0"/>
          </a:p>
        </p:txBody>
      </p:sp>
      <p:sp>
        <p:nvSpPr>
          <p:cNvPr id="6" name="Text 4"/>
          <p:cNvSpPr/>
          <p:nvPr/>
        </p:nvSpPr>
        <p:spPr>
          <a:xfrm>
            <a:off x="457200" y="2679700"/>
            <a:ext cx="66421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LEARNING OVER TIME</a:t>
            </a:r>
            <a:endParaRPr lang="en-US" sz="800" dirty="0"/>
          </a:p>
        </p:txBody>
      </p:sp>
      <p:sp>
        <p:nvSpPr>
          <p:cNvPr id="7" name="Text 5"/>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 account cannot isolate one cause. Aid, security ties, market access and technology flows mattered too. Other countries cannot simply copy this setting.</a:t>
            </a:r>
            <a:endParaRPr lang="en-US" sz="850" dirty="0"/>
          </a:p>
        </p:txBody>
      </p:sp>
      <p:sp>
        <p:nvSpPr>
          <p:cNvPr id="8" name="Shape 6"/>
          <p:cNvSpPr/>
          <p:nvPr/>
        </p:nvSpPr>
        <p:spPr>
          <a:xfrm>
            <a:off x="457200" y="9698990"/>
            <a:ext cx="6642100" cy="7620"/>
          </a:xfrm>
          <a:prstGeom prst="rect">
            <a:avLst/>
          </a:prstGeom>
          <a:solidFill>
            <a:srgbClr val="B7B0A4"/>
          </a:solidFill>
          <a:ln w="12700">
            <a:solidFill>
              <a:srgbClr val="B7B0A4"/>
            </a:solidFill>
            <a:prstDash val="solid"/>
          </a:ln>
        </p:spPr>
      </p:sp>
      <p:sp>
        <p:nvSpPr>
          <p:cNvPr id="9" name="Text 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(1993, pp. 14–15, 20–26, 79–80, 127–130, 159–161, 242). Rodrik (1995), registered working-paper abstract: investment-coordination alternative.</a:t>
            </a:r>
            <a:endParaRPr lang="en-US" sz="800" dirty="0"/>
          </a:p>
        </p:txBody>
      </p:sp>
      <p:sp>
        <p:nvSpPr>
          <p:cNvPr id="10" name="Text 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1" name="Text 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13</a:t>
            </a:r>
            <a:endParaRPr lang="en-US" sz="1000" dirty="0"/>
          </a:p>
        </p:txBody>
      </p:sp>
      <p:sp>
        <p:nvSpPr>
          <p:cNvPr id="12" name="Text 10"/>
          <p:cNvSpPr/>
          <p:nvPr/>
        </p:nvSpPr>
        <p:spPr>
          <a:xfrm>
            <a:off x="457200" y="3111500"/>
            <a:ext cx="1752600" cy="431800"/>
          </a:xfrm>
          <a:prstGeom prst="rect">
            <a:avLst/>
          </a:prstGeom>
          <a:noFill/>
          <a:ln/>
        </p:spPr>
        <p:txBody>
          <a:bodyPr wrap="square" lIns="0" tIns="0" rIns="0" bIns="0" rtlCol="0" anchor="t"/>
          <a:lstStyle/>
          <a:p>
            <a:pPr indent="0" marL="0">
              <a:lnSpc>
                <a:spcPct val="112000"/>
              </a:lnSpc>
              <a:buNone/>
            </a:pPr>
            <a:r>
              <a:rPr lang="en-US" sz="2600" b="1" dirty="0">
                <a:solidFill>
                  <a:srgbClr val="315A78"/>
                </a:solidFill>
                <a:latin typeface="Montserrat" pitchFamily="34" charset="0"/>
                <a:ea typeface="Montserrat" pitchFamily="34" charset="-122"/>
                <a:cs typeface="Montserrat" pitchFamily="34" charset="-120"/>
              </a:rPr>
              <a:t>1950s</a:t>
            </a:r>
            <a:endParaRPr lang="en-US" sz="2600" dirty="0"/>
          </a:p>
        </p:txBody>
      </p:sp>
      <p:sp>
        <p:nvSpPr>
          <p:cNvPr id="13" name="Text 11"/>
          <p:cNvSpPr/>
          <p:nvPr/>
        </p:nvSpPr>
        <p:spPr>
          <a:xfrm>
            <a:off x="2413000" y="3111500"/>
            <a:ext cx="4686300" cy="3683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Build foundations</a:t>
            </a:r>
            <a:endParaRPr lang="en-US" sz="1800" dirty="0"/>
          </a:p>
        </p:txBody>
      </p:sp>
      <p:sp>
        <p:nvSpPr>
          <p:cNvPr id="14" name="Text 12"/>
          <p:cNvSpPr/>
          <p:nvPr/>
        </p:nvSpPr>
        <p:spPr>
          <a:xfrm>
            <a:off x="2413000" y="3556000"/>
            <a:ext cx="4686300" cy="584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Education, agricultural change and infrastructure helped people and firms take up new activities.</a:t>
            </a:r>
            <a:endParaRPr lang="en-US" sz="1050" dirty="0"/>
          </a:p>
        </p:txBody>
      </p:sp>
      <p:sp>
        <p:nvSpPr>
          <p:cNvPr id="15" name="Text 13"/>
          <p:cNvSpPr/>
          <p:nvPr/>
        </p:nvSpPr>
        <p:spPr>
          <a:xfrm>
            <a:off x="457200" y="4178300"/>
            <a:ext cx="1752600" cy="431800"/>
          </a:xfrm>
          <a:prstGeom prst="rect">
            <a:avLst/>
          </a:prstGeom>
          <a:noFill/>
          <a:ln/>
        </p:spPr>
        <p:txBody>
          <a:bodyPr wrap="square" lIns="0" tIns="0" rIns="0" bIns="0" rtlCol="0" anchor="t"/>
          <a:lstStyle/>
          <a:p>
            <a:pPr indent="0" marL="0">
              <a:lnSpc>
                <a:spcPct val="112000"/>
              </a:lnSpc>
              <a:buNone/>
            </a:pPr>
            <a:r>
              <a:rPr lang="en-US" sz="2600" b="1" dirty="0">
                <a:solidFill>
                  <a:srgbClr val="315A78"/>
                </a:solidFill>
                <a:latin typeface="Montserrat" pitchFamily="34" charset="0"/>
                <a:ea typeface="Montserrat" pitchFamily="34" charset="-122"/>
                <a:cs typeface="Montserrat" pitchFamily="34" charset="-120"/>
              </a:rPr>
              <a:t>1960s</a:t>
            </a:r>
            <a:endParaRPr lang="en-US" sz="2600" dirty="0"/>
          </a:p>
        </p:txBody>
      </p:sp>
      <p:sp>
        <p:nvSpPr>
          <p:cNvPr id="16" name="Text 14"/>
          <p:cNvSpPr/>
          <p:nvPr/>
        </p:nvSpPr>
        <p:spPr>
          <a:xfrm>
            <a:off x="2413000" y="4178300"/>
            <a:ext cx="4686300" cy="3683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Invest—and test results</a:t>
            </a:r>
            <a:endParaRPr lang="en-US" sz="1800" dirty="0"/>
          </a:p>
        </p:txBody>
      </p:sp>
      <p:sp>
        <p:nvSpPr>
          <p:cNvPr id="17" name="Text 15"/>
          <p:cNvSpPr/>
          <p:nvPr/>
        </p:nvSpPr>
        <p:spPr>
          <a:xfrm>
            <a:off x="2413000" y="4622800"/>
            <a:ext cx="4686300" cy="584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Coordinated credit and investment helped firms expand; export performance put pressure on results.</a:t>
            </a:r>
            <a:endParaRPr lang="en-US" sz="1050" dirty="0"/>
          </a:p>
        </p:txBody>
      </p:sp>
      <p:sp>
        <p:nvSpPr>
          <p:cNvPr id="18" name="Text 16"/>
          <p:cNvSpPr/>
          <p:nvPr/>
        </p:nvSpPr>
        <p:spPr>
          <a:xfrm>
            <a:off x="457200" y="5245100"/>
            <a:ext cx="1752600" cy="431800"/>
          </a:xfrm>
          <a:prstGeom prst="rect">
            <a:avLst/>
          </a:prstGeom>
          <a:noFill/>
          <a:ln/>
        </p:spPr>
        <p:txBody>
          <a:bodyPr wrap="square" lIns="0" tIns="0" rIns="0" bIns="0" rtlCol="0" anchor="t"/>
          <a:lstStyle/>
          <a:p>
            <a:pPr indent="0" marL="0">
              <a:lnSpc>
                <a:spcPct val="112000"/>
              </a:lnSpc>
              <a:buNone/>
            </a:pPr>
            <a:r>
              <a:rPr lang="en-US" sz="2600" b="1" dirty="0">
                <a:solidFill>
                  <a:srgbClr val="315A78"/>
                </a:solidFill>
                <a:latin typeface="Montserrat" pitchFamily="34" charset="0"/>
                <a:ea typeface="Montserrat" pitchFamily="34" charset="-122"/>
                <a:cs typeface="Montserrat" pitchFamily="34" charset="-120"/>
              </a:rPr>
              <a:t>1970s</a:t>
            </a:r>
            <a:endParaRPr lang="en-US" sz="2600" dirty="0"/>
          </a:p>
        </p:txBody>
      </p:sp>
      <p:sp>
        <p:nvSpPr>
          <p:cNvPr id="19" name="Text 17"/>
          <p:cNvSpPr/>
          <p:nvPr/>
        </p:nvSpPr>
        <p:spPr>
          <a:xfrm>
            <a:off x="2413000" y="5245100"/>
            <a:ext cx="4686300" cy="3683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Learn through production</a:t>
            </a:r>
            <a:endParaRPr lang="en-US" sz="1800" dirty="0"/>
          </a:p>
        </p:txBody>
      </p:sp>
      <p:sp>
        <p:nvSpPr>
          <p:cNvPr id="20" name="Text 18"/>
          <p:cNvSpPr/>
          <p:nvPr/>
        </p:nvSpPr>
        <p:spPr>
          <a:xfrm>
            <a:off x="2413000" y="5689600"/>
            <a:ext cx="4686300" cy="584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Heavy industry pushed capabilities further—but debt and bottlenecks exposed costly mistakes.</a:t>
            </a:r>
            <a:endParaRPr lang="en-US" sz="1050" dirty="0"/>
          </a:p>
        </p:txBody>
      </p:sp>
      <p:sp>
        <p:nvSpPr>
          <p:cNvPr id="21" name="Text 19"/>
          <p:cNvSpPr/>
          <p:nvPr/>
        </p:nvSpPr>
        <p:spPr>
          <a:xfrm>
            <a:off x="457200" y="6311900"/>
            <a:ext cx="1752600" cy="431800"/>
          </a:xfrm>
          <a:prstGeom prst="rect">
            <a:avLst/>
          </a:prstGeom>
          <a:noFill/>
          <a:ln/>
        </p:spPr>
        <p:txBody>
          <a:bodyPr wrap="square" lIns="0" tIns="0" rIns="0" bIns="0" rtlCol="0" anchor="t"/>
          <a:lstStyle/>
          <a:p>
            <a:pPr indent="0" marL="0">
              <a:lnSpc>
                <a:spcPct val="112000"/>
              </a:lnSpc>
              <a:buNone/>
            </a:pPr>
            <a:r>
              <a:rPr lang="en-US" sz="2600" b="1" dirty="0">
                <a:solidFill>
                  <a:srgbClr val="315A78"/>
                </a:solidFill>
                <a:latin typeface="Montserrat" pitchFamily="34" charset="0"/>
                <a:ea typeface="Montserrat" pitchFamily="34" charset="-122"/>
                <a:cs typeface="Montserrat" pitchFamily="34" charset="-120"/>
              </a:rPr>
              <a:t>1980s</a:t>
            </a:r>
            <a:endParaRPr lang="en-US" sz="2600" dirty="0"/>
          </a:p>
        </p:txBody>
      </p:sp>
      <p:sp>
        <p:nvSpPr>
          <p:cNvPr id="22" name="Text 20"/>
          <p:cNvSpPr/>
          <p:nvPr/>
        </p:nvSpPr>
        <p:spPr>
          <a:xfrm>
            <a:off x="2413000" y="6311900"/>
            <a:ext cx="4686300" cy="368300"/>
          </a:xfrm>
          <a:prstGeom prst="rect">
            <a:avLst/>
          </a:prstGeom>
          <a:noFill/>
          <a:ln/>
        </p:spPr>
        <p:txBody>
          <a:bodyPr wrap="square" lIns="0" tIns="0" rIns="0" bIns="0" rtlCol="0" anchor="t"/>
          <a:lstStyle/>
          <a:p>
            <a:pPr indent="0" marL="0">
              <a:lnSpc>
                <a:spcPct val="112000"/>
              </a:lnSpc>
              <a:buNone/>
            </a:pPr>
            <a:r>
              <a:rPr lang="en-US" sz="1800" b="1" dirty="0">
                <a:solidFill>
                  <a:srgbClr val="252525"/>
                </a:solidFill>
                <a:latin typeface="Montserrat" pitchFamily="34" charset="0"/>
                <a:ea typeface="Montserrat" pitchFamily="34" charset="-122"/>
                <a:cs typeface="Montserrat" pitchFamily="34" charset="-120"/>
              </a:rPr>
              <a:t>Correct and upgrade</a:t>
            </a:r>
            <a:endParaRPr lang="en-US" sz="1800" dirty="0"/>
          </a:p>
        </p:txBody>
      </p:sp>
      <p:sp>
        <p:nvSpPr>
          <p:cNvPr id="23" name="Text 21"/>
          <p:cNvSpPr/>
          <p:nvPr/>
        </p:nvSpPr>
        <p:spPr>
          <a:xfrm>
            <a:off x="2413000" y="6756400"/>
            <a:ext cx="4686300" cy="5842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Policy adjustment and firm learning mattered because continuity alone could have protected failure.</a:t>
            </a:r>
            <a:endParaRPr lang="en-US" sz="1050" dirty="0"/>
          </a:p>
        </p:txBody>
      </p:sp>
      <p:sp>
        <p:nvSpPr>
          <p:cNvPr id="24" name="Shape 22"/>
          <p:cNvSpPr/>
          <p:nvPr/>
        </p:nvSpPr>
        <p:spPr>
          <a:xfrm>
            <a:off x="457200" y="7620000"/>
            <a:ext cx="6642100" cy="1219200"/>
          </a:xfrm>
          <a:prstGeom prst="rect">
            <a:avLst/>
          </a:prstGeom>
          <a:solidFill>
            <a:srgbClr val="252525"/>
          </a:solidFill>
          <a:ln w="12700">
            <a:solidFill>
              <a:srgbClr val="252525"/>
            </a:solidFill>
            <a:prstDash val="solid"/>
          </a:ln>
        </p:spPr>
      </p:sp>
      <p:sp>
        <p:nvSpPr>
          <p:cNvPr id="25" name="Text 23"/>
          <p:cNvSpPr/>
          <p:nvPr/>
        </p:nvSpPr>
        <p:spPr>
          <a:xfrm>
            <a:off x="635000" y="77470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8013700"/>
            <a:ext cx="6286500" cy="7493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Our reading: investment helped create capability; export competition helped test it. Neither “exports alone” nor “culture alone” explains the path.</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GHANA + SOUTH KOREA</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Two paths. Why such a large gap?</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GDP per capita · constant 2015 US dollars per person · 1960, 1990, 2020</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A two-country trajectory cannot isolate culture, colonial rule, policy, institutions or any single cause. Straight lines connect anchors, not annual estimates.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World Bank (2026), World Development Indicators, NY.GDP.PCAP.KD; release 13 July 2026, retrieved 6 October 2026. GDP per capita, constant 2015 US dollars per person. Full reference: p. 27. Explanation: World Bank (2020, pp. 1, 5–7, 32–33); World Bank (1993, pp. 20–26, 127–130).</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14</a:t>
            </a:r>
            <a:endParaRPr lang="en-US" sz="1000" dirty="0"/>
          </a:p>
        </p:txBody>
      </p:sp>
      <p:sp>
        <p:nvSpPr>
          <p:cNvPr id="11" name="Shape 9"/>
          <p:cNvSpPr/>
          <p:nvPr/>
        </p:nvSpPr>
        <p:spPr>
          <a:xfrm>
            <a:off x="1092200" y="6727825"/>
            <a:ext cx="5638800" cy="6350"/>
          </a:xfrm>
          <a:prstGeom prst="rect">
            <a:avLst/>
          </a:prstGeom>
          <a:solidFill>
            <a:srgbClr val="B7B0A4"/>
          </a:solidFill>
          <a:ln w="12700">
            <a:solidFill>
              <a:srgbClr val="B7B0A4"/>
            </a:solidFill>
            <a:prstDash val="solid"/>
          </a:ln>
        </p:spPr>
      </p:sp>
      <p:sp>
        <p:nvSpPr>
          <p:cNvPr id="12" name="Text 10"/>
          <p:cNvSpPr/>
          <p:nvPr/>
        </p:nvSpPr>
        <p:spPr>
          <a:xfrm>
            <a:off x="457200" y="6654800"/>
            <a:ext cx="546100" cy="203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0</a:t>
            </a:r>
            <a:endParaRPr lang="en-US" sz="800" dirty="0"/>
          </a:p>
        </p:txBody>
      </p:sp>
      <p:sp>
        <p:nvSpPr>
          <p:cNvPr id="13" name="Shape 11"/>
          <p:cNvSpPr/>
          <p:nvPr/>
        </p:nvSpPr>
        <p:spPr>
          <a:xfrm>
            <a:off x="1092200" y="5788025"/>
            <a:ext cx="5638800" cy="6350"/>
          </a:xfrm>
          <a:prstGeom prst="rect">
            <a:avLst/>
          </a:prstGeom>
          <a:solidFill>
            <a:srgbClr val="B7B0A4"/>
          </a:solidFill>
          <a:ln w="12700">
            <a:solidFill>
              <a:srgbClr val="B7B0A4"/>
            </a:solidFill>
            <a:prstDash val="solid"/>
          </a:ln>
        </p:spPr>
      </p:sp>
      <p:sp>
        <p:nvSpPr>
          <p:cNvPr id="14" name="Text 12"/>
          <p:cNvSpPr/>
          <p:nvPr/>
        </p:nvSpPr>
        <p:spPr>
          <a:xfrm>
            <a:off x="457200" y="5715000"/>
            <a:ext cx="546100" cy="203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10k</a:t>
            </a:r>
            <a:endParaRPr lang="en-US" sz="800" dirty="0"/>
          </a:p>
        </p:txBody>
      </p:sp>
      <p:sp>
        <p:nvSpPr>
          <p:cNvPr id="15" name="Shape 13"/>
          <p:cNvSpPr/>
          <p:nvPr/>
        </p:nvSpPr>
        <p:spPr>
          <a:xfrm>
            <a:off x="1092200" y="4848225"/>
            <a:ext cx="5638800" cy="6350"/>
          </a:xfrm>
          <a:prstGeom prst="rect">
            <a:avLst/>
          </a:prstGeom>
          <a:solidFill>
            <a:srgbClr val="B7B0A4"/>
          </a:solidFill>
          <a:ln w="12700">
            <a:solidFill>
              <a:srgbClr val="B7B0A4"/>
            </a:solidFill>
            <a:prstDash val="solid"/>
          </a:ln>
        </p:spPr>
      </p:sp>
      <p:sp>
        <p:nvSpPr>
          <p:cNvPr id="16" name="Text 14"/>
          <p:cNvSpPr/>
          <p:nvPr/>
        </p:nvSpPr>
        <p:spPr>
          <a:xfrm>
            <a:off x="457200" y="4775200"/>
            <a:ext cx="546100" cy="203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20k</a:t>
            </a:r>
            <a:endParaRPr lang="en-US" sz="800" dirty="0"/>
          </a:p>
        </p:txBody>
      </p:sp>
      <p:sp>
        <p:nvSpPr>
          <p:cNvPr id="17" name="Shape 15"/>
          <p:cNvSpPr/>
          <p:nvPr/>
        </p:nvSpPr>
        <p:spPr>
          <a:xfrm>
            <a:off x="1092200" y="3908425"/>
            <a:ext cx="5638800" cy="6350"/>
          </a:xfrm>
          <a:prstGeom prst="rect">
            <a:avLst/>
          </a:prstGeom>
          <a:solidFill>
            <a:srgbClr val="B7B0A4"/>
          </a:solidFill>
          <a:ln w="12700">
            <a:solidFill>
              <a:srgbClr val="B7B0A4"/>
            </a:solidFill>
            <a:prstDash val="solid"/>
          </a:ln>
        </p:spPr>
      </p:sp>
      <p:sp>
        <p:nvSpPr>
          <p:cNvPr id="18" name="Text 16"/>
          <p:cNvSpPr/>
          <p:nvPr/>
        </p:nvSpPr>
        <p:spPr>
          <a:xfrm>
            <a:off x="457200" y="3835400"/>
            <a:ext cx="546100" cy="203200"/>
          </a:xfrm>
          <a:prstGeom prst="rect">
            <a:avLst/>
          </a:prstGeom>
          <a:noFill/>
          <a:ln/>
        </p:spPr>
        <p:txBody>
          <a:bodyPr wrap="square" lIns="0" tIns="0" rIns="0" bIns="0" rtlCol="0" anchor="t"/>
          <a:lstStyle/>
          <a:p>
            <a:pPr indent="0" marL="0">
              <a:lnSpc>
                <a:spcPct val="112000"/>
              </a:lnSpc>
              <a:buNone/>
            </a:pPr>
            <a:r>
              <a:rPr lang="en-US" sz="800" dirty="0">
                <a:solidFill>
                  <a:srgbClr val="252525"/>
                </a:solidFill>
                <a:latin typeface="Montserrat" pitchFamily="34" charset="0"/>
                <a:ea typeface="Montserrat" pitchFamily="34" charset="-122"/>
                <a:cs typeface="Montserrat" pitchFamily="34" charset="-120"/>
              </a:rPr>
              <a:t>30k</a:t>
            </a:r>
            <a:endParaRPr lang="en-US" sz="800" dirty="0"/>
          </a:p>
        </p:txBody>
      </p:sp>
      <p:sp>
        <p:nvSpPr>
          <p:cNvPr id="19" name="Shape 17"/>
          <p:cNvSpPr/>
          <p:nvPr/>
        </p:nvSpPr>
        <p:spPr>
          <a:xfrm>
            <a:off x="1333500" y="6627550"/>
            <a:ext cx="2540000" cy="23017"/>
          </a:xfrm>
          <a:prstGeom prst="line">
            <a:avLst/>
          </a:prstGeom>
          <a:noFill/>
          <a:ln w="25400">
            <a:solidFill>
              <a:srgbClr val="B95332"/>
            </a:solidFill>
            <a:prstDash val="solid"/>
          </a:ln>
        </p:spPr>
      </p:sp>
      <p:sp>
        <p:nvSpPr>
          <p:cNvPr id="20" name="Shape 18"/>
          <p:cNvSpPr/>
          <p:nvPr/>
        </p:nvSpPr>
        <p:spPr>
          <a:xfrm>
            <a:off x="1289050" y="6583100"/>
            <a:ext cx="88900" cy="88900"/>
          </a:xfrm>
          <a:prstGeom prst="ellipse">
            <a:avLst/>
          </a:prstGeom>
          <a:solidFill>
            <a:srgbClr val="B95332"/>
          </a:solidFill>
          <a:ln w="7620">
            <a:solidFill>
              <a:srgbClr val="252525"/>
            </a:solidFill>
            <a:prstDash val="solid"/>
          </a:ln>
        </p:spPr>
      </p:sp>
      <p:sp>
        <p:nvSpPr>
          <p:cNvPr id="21" name="Shape 19"/>
          <p:cNvSpPr/>
          <p:nvPr/>
        </p:nvSpPr>
        <p:spPr>
          <a:xfrm flipV="1">
            <a:off x="3873500" y="6545841"/>
            <a:ext cx="2540000" cy="104726"/>
          </a:xfrm>
          <a:prstGeom prst="line">
            <a:avLst/>
          </a:prstGeom>
          <a:noFill/>
          <a:ln w="25400">
            <a:solidFill>
              <a:srgbClr val="B95332"/>
            </a:solidFill>
            <a:prstDash val="solid"/>
          </a:ln>
        </p:spPr>
      </p:sp>
      <p:sp>
        <p:nvSpPr>
          <p:cNvPr id="22" name="Shape 20"/>
          <p:cNvSpPr/>
          <p:nvPr/>
        </p:nvSpPr>
        <p:spPr>
          <a:xfrm>
            <a:off x="3829050" y="6606117"/>
            <a:ext cx="88900" cy="88900"/>
          </a:xfrm>
          <a:prstGeom prst="ellipse">
            <a:avLst/>
          </a:prstGeom>
          <a:solidFill>
            <a:srgbClr val="B95332"/>
          </a:solidFill>
          <a:ln w="7620">
            <a:solidFill>
              <a:srgbClr val="252525"/>
            </a:solidFill>
            <a:prstDash val="solid"/>
          </a:ln>
        </p:spPr>
      </p:sp>
      <p:sp>
        <p:nvSpPr>
          <p:cNvPr id="23" name="Shape 21"/>
          <p:cNvSpPr/>
          <p:nvPr/>
        </p:nvSpPr>
        <p:spPr>
          <a:xfrm>
            <a:off x="6369050" y="6501391"/>
            <a:ext cx="88900" cy="88900"/>
          </a:xfrm>
          <a:prstGeom prst="ellipse">
            <a:avLst/>
          </a:prstGeom>
          <a:solidFill>
            <a:srgbClr val="B95332"/>
          </a:solidFill>
          <a:ln w="7620">
            <a:solidFill>
              <a:srgbClr val="252525"/>
            </a:solidFill>
            <a:prstDash val="solid"/>
          </a:ln>
        </p:spPr>
      </p:sp>
      <p:sp>
        <p:nvSpPr>
          <p:cNvPr id="24" name="Shape 22"/>
          <p:cNvSpPr/>
          <p:nvPr/>
        </p:nvSpPr>
        <p:spPr>
          <a:xfrm flipV="1">
            <a:off x="1333500" y="5821971"/>
            <a:ext cx="2540000" cy="811503"/>
          </a:xfrm>
          <a:prstGeom prst="line">
            <a:avLst/>
          </a:prstGeom>
          <a:noFill/>
          <a:ln w="25400">
            <a:solidFill>
              <a:srgbClr val="315A78"/>
            </a:solidFill>
            <a:prstDash val="dash"/>
          </a:ln>
        </p:spPr>
      </p:sp>
      <p:sp>
        <p:nvSpPr>
          <p:cNvPr id="25" name="Shape 23"/>
          <p:cNvSpPr/>
          <p:nvPr/>
        </p:nvSpPr>
        <p:spPr>
          <a:xfrm>
            <a:off x="1289050" y="6589024"/>
            <a:ext cx="88900" cy="88900"/>
          </a:xfrm>
          <a:prstGeom prst="diamond">
            <a:avLst/>
          </a:prstGeom>
          <a:solidFill>
            <a:srgbClr val="315A78"/>
          </a:solidFill>
          <a:ln w="7620">
            <a:solidFill>
              <a:srgbClr val="252525"/>
            </a:solidFill>
            <a:prstDash val="solid"/>
          </a:ln>
        </p:spPr>
      </p:sp>
      <p:sp>
        <p:nvSpPr>
          <p:cNvPr id="26" name="Shape 24"/>
          <p:cNvSpPr/>
          <p:nvPr/>
        </p:nvSpPr>
        <p:spPr>
          <a:xfrm flipV="1">
            <a:off x="3873500" y="3609367"/>
            <a:ext cx="2540000" cy="2212604"/>
          </a:xfrm>
          <a:prstGeom prst="line">
            <a:avLst/>
          </a:prstGeom>
          <a:noFill/>
          <a:ln w="25400">
            <a:solidFill>
              <a:srgbClr val="315A78"/>
            </a:solidFill>
            <a:prstDash val="dash"/>
          </a:ln>
        </p:spPr>
      </p:sp>
      <p:sp>
        <p:nvSpPr>
          <p:cNvPr id="27" name="Shape 25"/>
          <p:cNvSpPr/>
          <p:nvPr/>
        </p:nvSpPr>
        <p:spPr>
          <a:xfrm>
            <a:off x="3829050" y="5777521"/>
            <a:ext cx="88900" cy="88900"/>
          </a:xfrm>
          <a:prstGeom prst="diamond">
            <a:avLst/>
          </a:prstGeom>
          <a:solidFill>
            <a:srgbClr val="315A78"/>
          </a:solidFill>
          <a:ln w="7620">
            <a:solidFill>
              <a:srgbClr val="252525"/>
            </a:solidFill>
            <a:prstDash val="solid"/>
          </a:ln>
        </p:spPr>
      </p:sp>
      <p:sp>
        <p:nvSpPr>
          <p:cNvPr id="28" name="Shape 26"/>
          <p:cNvSpPr/>
          <p:nvPr/>
        </p:nvSpPr>
        <p:spPr>
          <a:xfrm>
            <a:off x="6369050" y="3564917"/>
            <a:ext cx="88900" cy="88900"/>
          </a:xfrm>
          <a:prstGeom prst="diamond">
            <a:avLst/>
          </a:prstGeom>
          <a:solidFill>
            <a:srgbClr val="315A78"/>
          </a:solidFill>
          <a:ln w="7620">
            <a:solidFill>
              <a:srgbClr val="252525"/>
            </a:solidFill>
            <a:prstDash val="solid"/>
          </a:ln>
        </p:spPr>
      </p:sp>
      <p:sp>
        <p:nvSpPr>
          <p:cNvPr id="29" name="Text 27"/>
          <p:cNvSpPr/>
          <p:nvPr/>
        </p:nvSpPr>
        <p:spPr>
          <a:xfrm>
            <a:off x="977900" y="6921500"/>
            <a:ext cx="7112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1960</a:t>
            </a:r>
            <a:endParaRPr lang="en-US" sz="1000" dirty="0"/>
          </a:p>
        </p:txBody>
      </p:sp>
      <p:sp>
        <p:nvSpPr>
          <p:cNvPr id="30" name="Text 28"/>
          <p:cNvSpPr/>
          <p:nvPr/>
        </p:nvSpPr>
        <p:spPr>
          <a:xfrm>
            <a:off x="3517900" y="6921500"/>
            <a:ext cx="7112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1990</a:t>
            </a:r>
            <a:endParaRPr lang="en-US" sz="1000" dirty="0"/>
          </a:p>
        </p:txBody>
      </p:sp>
      <p:sp>
        <p:nvSpPr>
          <p:cNvPr id="31" name="Text 29"/>
          <p:cNvSpPr/>
          <p:nvPr/>
        </p:nvSpPr>
        <p:spPr>
          <a:xfrm>
            <a:off x="6057900" y="6921500"/>
            <a:ext cx="7112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2020</a:t>
            </a:r>
            <a:endParaRPr lang="en-US" sz="1000" dirty="0"/>
          </a:p>
        </p:txBody>
      </p:sp>
      <p:sp>
        <p:nvSpPr>
          <p:cNvPr id="32" name="Text 30"/>
          <p:cNvSpPr/>
          <p:nvPr/>
        </p:nvSpPr>
        <p:spPr>
          <a:xfrm>
            <a:off x="457200" y="3086100"/>
            <a:ext cx="6642100" cy="254000"/>
          </a:xfrm>
          <a:prstGeom prst="rect">
            <a:avLst/>
          </a:prstGeom>
          <a:noFill/>
          <a:ln/>
        </p:spPr>
        <p:txBody>
          <a:bodyPr wrap="square" lIns="0" tIns="0" rIns="0" bIns="0" rtlCol="0" anchor="t"/>
          <a:lstStyle/>
          <a:p>
            <a:pPr indent="0" marL="0">
              <a:lnSpc>
                <a:spcPct val="112000"/>
              </a:lnSpc>
              <a:buNone/>
            </a:pPr>
            <a:r>
              <a:rPr lang="en-US" sz="1000" b="1" dirty="0">
                <a:solidFill>
                  <a:srgbClr val="315A78"/>
                </a:solidFill>
                <a:latin typeface="Montserrat" pitchFamily="34" charset="0"/>
                <a:ea typeface="Montserrat" pitchFamily="34" charset="-122"/>
                <a:cs typeface="Montserrat" pitchFamily="34" charset="-120"/>
              </a:rPr>
              <a:t>South Korea: US$1,038 → US$9,673 → US$33,216</a:t>
            </a:r>
            <a:endParaRPr lang="en-US" sz="1000" dirty="0"/>
          </a:p>
        </p:txBody>
      </p:sp>
      <p:sp>
        <p:nvSpPr>
          <p:cNvPr id="33" name="Text 31"/>
          <p:cNvSpPr/>
          <p:nvPr/>
        </p:nvSpPr>
        <p:spPr>
          <a:xfrm>
            <a:off x="457200" y="7302500"/>
            <a:ext cx="6642100" cy="266700"/>
          </a:xfrm>
          <a:prstGeom prst="rect">
            <a:avLst/>
          </a:prstGeom>
          <a:noFill/>
          <a:ln/>
        </p:spPr>
        <p:txBody>
          <a:bodyPr wrap="square" lIns="0" tIns="0" rIns="0" bIns="0" rtlCol="0" anchor="t"/>
          <a:lstStyle/>
          <a:p>
            <a:pPr indent="0" marL="0">
              <a:lnSpc>
                <a:spcPct val="112000"/>
              </a:lnSpc>
              <a:buNone/>
            </a:pPr>
            <a:r>
              <a:rPr lang="en-US" sz="1000" b="1" dirty="0">
                <a:solidFill>
                  <a:srgbClr val="B95332"/>
                </a:solidFill>
                <a:latin typeface="Montserrat" pitchFamily="34" charset="0"/>
                <a:ea typeface="Montserrat" pitchFamily="34" charset="-122"/>
                <a:cs typeface="Montserrat" pitchFamily="34" charset="-120"/>
              </a:rPr>
              <a:t>Ghana: US$1,101 → US$856 → US$1,970</a:t>
            </a:r>
            <a:endParaRPr lang="en-US" sz="1000" dirty="0"/>
          </a:p>
        </p:txBody>
      </p:sp>
      <p:sp>
        <p:nvSpPr>
          <p:cNvPr id="34" name="Text 32"/>
          <p:cNvSpPr/>
          <p:nvPr/>
        </p:nvSpPr>
        <p:spPr>
          <a:xfrm>
            <a:off x="457200" y="7696200"/>
            <a:ext cx="6642100" cy="406400"/>
          </a:xfrm>
          <a:prstGeom prst="rect">
            <a:avLst/>
          </a:prstGeom>
          <a:noFill/>
          <a:ln/>
        </p:spPr>
        <p:txBody>
          <a:bodyPr wrap="square" lIns="0" tIns="0" rIns="0" bIns="0" rtlCol="0" anchor="t"/>
          <a:lstStyle/>
          <a:p>
            <a:pPr indent="0" marL="0">
              <a:lnSpc>
                <a:spcPct val="112000"/>
              </a:lnSpc>
              <a:buNone/>
            </a:pPr>
            <a:r>
              <a:rPr lang="en-US" sz="2200" b="1" dirty="0">
                <a:solidFill>
                  <a:srgbClr val="252525"/>
                </a:solidFill>
                <a:latin typeface="Montserrat" pitchFamily="34" charset="0"/>
                <a:ea typeface="Montserrat" pitchFamily="34" charset="-122"/>
                <a:cs typeface="Montserrat" pitchFamily="34" charset="-120"/>
              </a:rPr>
              <a:t>2020: about 16.9 to 1.</a:t>
            </a:r>
            <a:endParaRPr lang="en-US" sz="2200" dirty="0"/>
          </a:p>
        </p:txBody>
      </p:sp>
      <p:sp>
        <p:nvSpPr>
          <p:cNvPr id="35" name="Text 33"/>
          <p:cNvSpPr/>
          <p:nvPr/>
        </p:nvSpPr>
        <p:spPr>
          <a:xfrm>
            <a:off x="457200" y="8242300"/>
            <a:ext cx="6642100" cy="787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WHY? Korea built deeper manufacturing capabilities. Ghana also changed, but many workers moved into services, construction and mining without comparable manufacturing deepening. This helps explain the gap; it does not identify a single cause.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CULTURE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Meet Hofstede. Then test the idea.</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Hofstede grouped survey responses into six dimensions of national culture. They are lenses for questions—not scores that explain growth.</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National averages are historical, country-level lenses—not individual personalities, timeless truths or causal scores. Missing country scores are not invented.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15</a:t>
            </a:r>
            <a:endParaRPr lang="en-US" sz="1000" dirty="0"/>
          </a:p>
        </p:txBody>
      </p:sp>
      <p:sp>
        <p:nvSpPr>
          <p:cNvPr id="11" name="Text 9"/>
          <p:cNvSpPr/>
          <p:nvPr/>
        </p:nvSpPr>
        <p:spPr>
          <a:xfrm>
            <a:off x="457200" y="3187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Power distance</a:t>
            </a:r>
            <a:endParaRPr lang="en-US" sz="1200" dirty="0"/>
          </a:p>
        </p:txBody>
      </p:sp>
      <p:sp>
        <p:nvSpPr>
          <p:cNvPr id="12" name="Text 10"/>
          <p:cNvSpPr/>
          <p:nvPr/>
        </p:nvSpPr>
        <p:spPr>
          <a:xfrm>
            <a:off x="3937000" y="3187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accepted is unequal power?</a:t>
            </a:r>
            <a:endParaRPr lang="en-US" sz="1000" dirty="0"/>
          </a:p>
        </p:txBody>
      </p:sp>
      <p:sp>
        <p:nvSpPr>
          <p:cNvPr id="13" name="Text 11"/>
          <p:cNvSpPr/>
          <p:nvPr/>
        </p:nvSpPr>
        <p:spPr>
          <a:xfrm>
            <a:off x="457200" y="3556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4" name="Shape 12"/>
          <p:cNvSpPr/>
          <p:nvPr/>
        </p:nvSpPr>
        <p:spPr>
          <a:xfrm>
            <a:off x="457200" y="3780790"/>
            <a:ext cx="6642100" cy="7620"/>
          </a:xfrm>
          <a:prstGeom prst="rect">
            <a:avLst/>
          </a:prstGeom>
          <a:solidFill>
            <a:srgbClr val="B7B0A4"/>
          </a:solidFill>
          <a:ln w="12700">
            <a:solidFill>
              <a:srgbClr val="B7B0A4"/>
            </a:solidFill>
            <a:prstDash val="solid"/>
          </a:ln>
        </p:spPr>
      </p:sp>
      <p:sp>
        <p:nvSpPr>
          <p:cNvPr id="15" name="Text 13"/>
          <p:cNvSpPr/>
          <p:nvPr/>
        </p:nvSpPr>
        <p:spPr>
          <a:xfrm>
            <a:off x="457200" y="38735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Individualism / collectivism</a:t>
            </a:r>
            <a:endParaRPr lang="en-US" sz="1200" dirty="0"/>
          </a:p>
        </p:txBody>
      </p:sp>
      <p:sp>
        <p:nvSpPr>
          <p:cNvPr id="16" name="Text 14"/>
          <p:cNvSpPr/>
          <p:nvPr/>
        </p:nvSpPr>
        <p:spPr>
          <a:xfrm>
            <a:off x="3937000" y="38735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How strongly are people tied to groups? Not a trust score.</a:t>
            </a:r>
            <a:endParaRPr lang="en-US" sz="1000" dirty="0"/>
          </a:p>
        </p:txBody>
      </p:sp>
      <p:sp>
        <p:nvSpPr>
          <p:cNvPr id="17" name="Text 15"/>
          <p:cNvSpPr/>
          <p:nvPr/>
        </p:nvSpPr>
        <p:spPr>
          <a:xfrm>
            <a:off x="457200" y="42418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18" name="Shape 16"/>
          <p:cNvSpPr/>
          <p:nvPr/>
        </p:nvSpPr>
        <p:spPr>
          <a:xfrm>
            <a:off x="457200" y="4466590"/>
            <a:ext cx="6642100" cy="7620"/>
          </a:xfrm>
          <a:prstGeom prst="rect">
            <a:avLst/>
          </a:prstGeom>
          <a:solidFill>
            <a:srgbClr val="B7B0A4"/>
          </a:solidFill>
          <a:ln w="12700">
            <a:solidFill>
              <a:srgbClr val="B7B0A4"/>
            </a:solidFill>
            <a:prstDash val="solid"/>
          </a:ln>
        </p:spPr>
      </p:sp>
      <p:sp>
        <p:nvSpPr>
          <p:cNvPr id="19" name="Text 17"/>
          <p:cNvSpPr/>
          <p:nvPr/>
        </p:nvSpPr>
        <p:spPr>
          <a:xfrm>
            <a:off x="457200" y="45593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Masculinity / femininity</a:t>
            </a:r>
            <a:endParaRPr lang="en-US" sz="1200" dirty="0"/>
          </a:p>
        </p:txBody>
      </p:sp>
      <p:sp>
        <p:nvSpPr>
          <p:cNvPr id="20" name="Text 18"/>
          <p:cNvSpPr/>
          <p:nvPr/>
        </p:nvSpPr>
        <p:spPr>
          <a:xfrm>
            <a:off x="3937000" y="45593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Competition and achievement versus care and quality of life. Historical labels.</a:t>
            </a:r>
            <a:endParaRPr lang="en-US" sz="1000" dirty="0"/>
          </a:p>
        </p:txBody>
      </p:sp>
      <p:sp>
        <p:nvSpPr>
          <p:cNvPr id="21" name="Text 19"/>
          <p:cNvSpPr/>
          <p:nvPr/>
        </p:nvSpPr>
        <p:spPr>
          <a:xfrm>
            <a:off x="457200" y="49276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2" name="Shape 20"/>
          <p:cNvSpPr/>
          <p:nvPr/>
        </p:nvSpPr>
        <p:spPr>
          <a:xfrm>
            <a:off x="457200" y="5152390"/>
            <a:ext cx="6642100" cy="7620"/>
          </a:xfrm>
          <a:prstGeom prst="rect">
            <a:avLst/>
          </a:prstGeom>
          <a:solidFill>
            <a:srgbClr val="B7B0A4"/>
          </a:solidFill>
          <a:ln w="12700">
            <a:solidFill>
              <a:srgbClr val="B7B0A4"/>
            </a:solidFill>
            <a:prstDash val="solid"/>
          </a:ln>
        </p:spPr>
      </p:sp>
      <p:sp>
        <p:nvSpPr>
          <p:cNvPr id="23" name="Text 21"/>
          <p:cNvSpPr/>
          <p:nvPr/>
        </p:nvSpPr>
        <p:spPr>
          <a:xfrm>
            <a:off x="457200" y="52451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Uncertainty avoidance</a:t>
            </a:r>
            <a:endParaRPr lang="en-US" sz="1200" dirty="0"/>
          </a:p>
        </p:txBody>
      </p:sp>
      <p:sp>
        <p:nvSpPr>
          <p:cNvPr id="24" name="Text 22"/>
          <p:cNvSpPr/>
          <p:nvPr/>
        </p:nvSpPr>
        <p:spPr>
          <a:xfrm>
            <a:off x="3937000" y="52451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Responses to ambiguity—not simply risk-taking.</a:t>
            </a:r>
            <a:endParaRPr lang="en-US" sz="1000" dirty="0"/>
          </a:p>
        </p:txBody>
      </p:sp>
      <p:sp>
        <p:nvSpPr>
          <p:cNvPr id="25" name="Text 23"/>
          <p:cNvSpPr/>
          <p:nvPr/>
        </p:nvSpPr>
        <p:spPr>
          <a:xfrm>
            <a:off x="457200" y="56134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26" name="Shape 24"/>
          <p:cNvSpPr/>
          <p:nvPr/>
        </p:nvSpPr>
        <p:spPr>
          <a:xfrm>
            <a:off x="457200" y="5838190"/>
            <a:ext cx="6642100" cy="7620"/>
          </a:xfrm>
          <a:prstGeom prst="rect">
            <a:avLst/>
          </a:prstGeom>
          <a:solidFill>
            <a:srgbClr val="B7B0A4"/>
          </a:solidFill>
          <a:ln w="12700">
            <a:solidFill>
              <a:srgbClr val="B7B0A4"/>
            </a:solidFill>
            <a:prstDash val="solid"/>
          </a:ln>
        </p:spPr>
      </p:sp>
      <p:sp>
        <p:nvSpPr>
          <p:cNvPr id="27" name="Text 25"/>
          <p:cNvSpPr/>
          <p:nvPr/>
        </p:nvSpPr>
        <p:spPr>
          <a:xfrm>
            <a:off x="457200" y="59309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Long-term orientation</a:t>
            </a:r>
            <a:endParaRPr lang="en-US" sz="1200" dirty="0"/>
          </a:p>
        </p:txBody>
      </p:sp>
      <p:sp>
        <p:nvSpPr>
          <p:cNvPr id="28" name="Text 26"/>
          <p:cNvSpPr/>
          <p:nvPr/>
        </p:nvSpPr>
        <p:spPr>
          <a:xfrm>
            <a:off x="3937000" y="59309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Future-focused adaptation versus present/past obligations. Not policy duration.</a:t>
            </a:r>
            <a:endParaRPr lang="en-US" sz="1000" dirty="0"/>
          </a:p>
        </p:txBody>
      </p:sp>
      <p:sp>
        <p:nvSpPr>
          <p:cNvPr id="29" name="Text 27"/>
          <p:cNvSpPr/>
          <p:nvPr/>
        </p:nvSpPr>
        <p:spPr>
          <a:xfrm>
            <a:off x="457200" y="62992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CONDITIONAL TEST</a:t>
            </a:r>
            <a:endParaRPr lang="en-US" sz="800" dirty="0"/>
          </a:p>
        </p:txBody>
      </p:sp>
      <p:sp>
        <p:nvSpPr>
          <p:cNvPr id="30" name="Shape 28"/>
          <p:cNvSpPr/>
          <p:nvPr/>
        </p:nvSpPr>
        <p:spPr>
          <a:xfrm>
            <a:off x="457200" y="6523990"/>
            <a:ext cx="6642100" cy="7620"/>
          </a:xfrm>
          <a:prstGeom prst="rect">
            <a:avLst/>
          </a:prstGeom>
          <a:solidFill>
            <a:srgbClr val="B7B0A4"/>
          </a:solidFill>
          <a:ln w="12700">
            <a:solidFill>
              <a:srgbClr val="B7B0A4"/>
            </a:solidFill>
            <a:prstDash val="solid"/>
          </a:ln>
        </p:spPr>
      </p:sp>
      <p:sp>
        <p:nvSpPr>
          <p:cNvPr id="31" name="Text 29"/>
          <p:cNvSpPr/>
          <p:nvPr/>
        </p:nvSpPr>
        <p:spPr>
          <a:xfrm>
            <a:off x="457200" y="6616700"/>
            <a:ext cx="3162300" cy="3429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Indulgence / restraint</a:t>
            </a:r>
            <a:endParaRPr lang="en-US" sz="1200" dirty="0"/>
          </a:p>
        </p:txBody>
      </p:sp>
      <p:sp>
        <p:nvSpPr>
          <p:cNvPr id="32" name="Text 30"/>
          <p:cNvSpPr/>
          <p:nvPr/>
        </p:nvSpPr>
        <p:spPr>
          <a:xfrm>
            <a:off x="3937000" y="6616700"/>
            <a:ext cx="3162300" cy="444500"/>
          </a:xfrm>
          <a:prstGeom prst="rect">
            <a:avLst/>
          </a:prstGeom>
          <a:noFill/>
          <a:ln/>
        </p:spPr>
        <p:txBody>
          <a:bodyPr wrap="square" lIns="0" tIns="0" rIns="0" bIns="0" rtlCol="0" anchor="t"/>
          <a:lstStyle/>
          <a:p>
            <a:pPr indent="0" marL="0">
              <a:lnSpc>
                <a:spcPct val="112000"/>
              </a:lnSpc>
              <a:buNone/>
            </a:pPr>
            <a:r>
              <a:rPr lang="en-US" sz="1000" dirty="0">
                <a:solidFill>
                  <a:srgbClr val="252525"/>
                </a:solidFill>
                <a:latin typeface="Montserrat" pitchFamily="34" charset="0"/>
                <a:ea typeface="Montserrat" pitchFamily="34" charset="-122"/>
                <a:cs typeface="Montserrat" pitchFamily="34" charset="-120"/>
              </a:rPr>
              <a:t>Social regulation of gratification. Not work ethic.</a:t>
            </a:r>
            <a:endParaRPr lang="en-US" sz="1000" dirty="0"/>
          </a:p>
        </p:txBody>
      </p:sp>
      <p:sp>
        <p:nvSpPr>
          <p:cNvPr id="33" name="Text 31"/>
          <p:cNvSpPr/>
          <p:nvPr/>
        </p:nvSpPr>
        <p:spPr>
          <a:xfrm>
            <a:off x="457200" y="6985000"/>
            <a:ext cx="3162300" cy="1778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CONTEXT ONLY</a:t>
            </a:r>
            <a:endParaRPr lang="en-US" sz="800" dirty="0"/>
          </a:p>
        </p:txBody>
      </p:sp>
      <p:sp>
        <p:nvSpPr>
          <p:cNvPr id="34" name="Shape 32"/>
          <p:cNvSpPr/>
          <p:nvPr/>
        </p:nvSpPr>
        <p:spPr>
          <a:xfrm>
            <a:off x="457200" y="7209790"/>
            <a:ext cx="6642100" cy="7620"/>
          </a:xfrm>
          <a:prstGeom prst="rect">
            <a:avLst/>
          </a:prstGeom>
          <a:solidFill>
            <a:srgbClr val="B7B0A4"/>
          </a:solidFill>
          <a:ln w="12700">
            <a:solidFill>
              <a:srgbClr val="B7B0A4"/>
            </a:solidFill>
            <a:prstDash val="solid"/>
          </a:ln>
        </p:spPr>
      </p:sp>
      <p:sp>
        <p:nvSpPr>
          <p:cNvPr id="35" name="Shape 33"/>
          <p:cNvSpPr/>
          <p:nvPr/>
        </p:nvSpPr>
        <p:spPr>
          <a:xfrm>
            <a:off x="457200" y="7467600"/>
            <a:ext cx="6642100" cy="1371600"/>
          </a:xfrm>
          <a:prstGeom prst="rect">
            <a:avLst/>
          </a:prstGeom>
          <a:solidFill>
            <a:srgbClr val="252525"/>
          </a:solidFill>
          <a:ln w="12700">
            <a:solidFill>
              <a:srgbClr val="252525"/>
            </a:solidFill>
            <a:prstDash val="solid"/>
          </a:ln>
        </p:spPr>
      </p:sp>
      <p:sp>
        <p:nvSpPr>
          <p:cNvPr id="36" name="Text 34"/>
          <p:cNvSpPr/>
          <p:nvPr/>
        </p:nvSpPr>
        <p:spPr>
          <a:xfrm>
            <a:off x="635000" y="75946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37" name="Text 35"/>
          <p:cNvSpPr/>
          <p:nvPr/>
        </p:nvSpPr>
        <p:spPr>
          <a:xfrm>
            <a:off x="635000" y="7861300"/>
            <a:ext cx="6286500" cy="9017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Culture matters. It isn’t destiny. We think shared expectations influence cooperation, while history, resources and institutions shape what people can do.</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Trust whom—with what?</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Trust in a relative, a bank and “most people” are not the same thing.</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Governance indicators are not trust measures. Different questions, years and survey samples cannot be turned into one six-country trust ranking.</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16</a:t>
            </a:r>
            <a:endParaRPr lang="en-US" sz="1000" dirty="0"/>
          </a:p>
        </p:txBody>
      </p:sp>
      <p:sp>
        <p:nvSpPr>
          <p:cNvPr id="11" name="Shape 9"/>
          <p:cNvSpPr/>
          <p:nvPr/>
        </p:nvSpPr>
        <p:spPr>
          <a:xfrm>
            <a:off x="1066800" y="3492500"/>
            <a:ext cx="304800" cy="304800"/>
          </a:xfrm>
          <a:prstGeom prst="ellipse">
            <a:avLst/>
          </a:prstGeom>
          <a:solidFill>
            <a:srgbClr val="252525"/>
          </a:solidFill>
          <a:ln w="5080">
            <a:solidFill>
              <a:srgbClr val="252525"/>
            </a:solidFill>
            <a:prstDash val="solid"/>
          </a:ln>
        </p:spPr>
      </p:sp>
      <p:sp>
        <p:nvSpPr>
          <p:cNvPr id="12" name="Shape 10"/>
          <p:cNvSpPr/>
          <p:nvPr/>
        </p:nvSpPr>
        <p:spPr>
          <a:xfrm>
            <a:off x="1028700" y="3860800"/>
            <a:ext cx="381000" cy="533400"/>
          </a:xfrm>
          <a:prstGeom prst="rect">
            <a:avLst/>
          </a:prstGeom>
          <a:solidFill>
            <a:srgbClr val="252525"/>
          </a:solidFill>
          <a:ln w="12700">
            <a:solidFill>
              <a:srgbClr val="252525"/>
            </a:solidFill>
            <a:prstDash val="solid"/>
          </a:ln>
        </p:spPr>
      </p:sp>
      <p:sp>
        <p:nvSpPr>
          <p:cNvPr id="13" name="Shape 11"/>
          <p:cNvSpPr/>
          <p:nvPr/>
        </p:nvSpPr>
        <p:spPr>
          <a:xfrm>
            <a:off x="1041400" y="4394200"/>
            <a:ext cx="76200" cy="317500"/>
          </a:xfrm>
          <a:prstGeom prst="line">
            <a:avLst/>
          </a:prstGeom>
          <a:noFill/>
          <a:ln w="63500">
            <a:solidFill>
              <a:srgbClr val="252525"/>
            </a:solidFill>
            <a:prstDash val="solid"/>
          </a:ln>
        </p:spPr>
      </p:sp>
      <p:sp>
        <p:nvSpPr>
          <p:cNvPr id="14" name="Shape 12"/>
          <p:cNvSpPr/>
          <p:nvPr/>
        </p:nvSpPr>
        <p:spPr>
          <a:xfrm>
            <a:off x="1320800" y="4394200"/>
            <a:ext cx="76200" cy="317500"/>
          </a:xfrm>
          <a:prstGeom prst="line">
            <a:avLst/>
          </a:prstGeom>
          <a:noFill/>
          <a:ln w="63500">
            <a:solidFill>
              <a:srgbClr val="252525"/>
            </a:solidFill>
            <a:prstDash val="solid"/>
          </a:ln>
        </p:spPr>
      </p:sp>
      <p:sp>
        <p:nvSpPr>
          <p:cNvPr id="15" name="Shape 13"/>
          <p:cNvSpPr/>
          <p:nvPr/>
        </p:nvSpPr>
        <p:spPr>
          <a:xfrm>
            <a:off x="2324100" y="3492500"/>
            <a:ext cx="304800" cy="304800"/>
          </a:xfrm>
          <a:prstGeom prst="ellipse">
            <a:avLst/>
          </a:prstGeom>
          <a:solidFill>
            <a:srgbClr val="252525"/>
          </a:solidFill>
          <a:ln w="5080">
            <a:solidFill>
              <a:srgbClr val="252525"/>
            </a:solidFill>
            <a:prstDash val="solid"/>
          </a:ln>
        </p:spPr>
      </p:sp>
      <p:sp>
        <p:nvSpPr>
          <p:cNvPr id="16" name="Shape 14"/>
          <p:cNvSpPr/>
          <p:nvPr/>
        </p:nvSpPr>
        <p:spPr>
          <a:xfrm>
            <a:off x="2286000" y="3860800"/>
            <a:ext cx="381000" cy="533400"/>
          </a:xfrm>
          <a:prstGeom prst="rect">
            <a:avLst/>
          </a:prstGeom>
          <a:solidFill>
            <a:srgbClr val="252525"/>
          </a:solidFill>
          <a:ln w="12700">
            <a:solidFill>
              <a:srgbClr val="252525"/>
            </a:solidFill>
            <a:prstDash val="solid"/>
          </a:ln>
        </p:spPr>
      </p:sp>
      <p:sp>
        <p:nvSpPr>
          <p:cNvPr id="17" name="Shape 15"/>
          <p:cNvSpPr/>
          <p:nvPr/>
        </p:nvSpPr>
        <p:spPr>
          <a:xfrm>
            <a:off x="2298700" y="4394200"/>
            <a:ext cx="76200" cy="317500"/>
          </a:xfrm>
          <a:prstGeom prst="line">
            <a:avLst/>
          </a:prstGeom>
          <a:noFill/>
          <a:ln w="63500">
            <a:solidFill>
              <a:srgbClr val="252525"/>
            </a:solidFill>
            <a:prstDash val="solid"/>
          </a:ln>
        </p:spPr>
      </p:sp>
      <p:sp>
        <p:nvSpPr>
          <p:cNvPr id="18" name="Shape 16"/>
          <p:cNvSpPr/>
          <p:nvPr/>
        </p:nvSpPr>
        <p:spPr>
          <a:xfrm>
            <a:off x="2578100" y="4394200"/>
            <a:ext cx="76200" cy="317500"/>
          </a:xfrm>
          <a:prstGeom prst="line">
            <a:avLst/>
          </a:prstGeom>
          <a:noFill/>
          <a:ln w="63500">
            <a:solidFill>
              <a:srgbClr val="252525"/>
            </a:solidFill>
            <a:prstDash val="solid"/>
          </a:ln>
        </p:spPr>
      </p:sp>
      <p:sp>
        <p:nvSpPr>
          <p:cNvPr id="19" name="Shape 17"/>
          <p:cNvSpPr/>
          <p:nvPr/>
        </p:nvSpPr>
        <p:spPr>
          <a:xfrm>
            <a:off x="1409700" y="4089400"/>
            <a:ext cx="419100" cy="190500"/>
          </a:xfrm>
          <a:prstGeom prst="line">
            <a:avLst/>
          </a:prstGeom>
          <a:noFill/>
          <a:ln w="63500">
            <a:solidFill>
              <a:srgbClr val="252525"/>
            </a:solidFill>
            <a:prstDash val="solid"/>
          </a:ln>
        </p:spPr>
      </p:sp>
      <p:sp>
        <p:nvSpPr>
          <p:cNvPr id="20" name="Shape 18"/>
          <p:cNvSpPr/>
          <p:nvPr/>
        </p:nvSpPr>
        <p:spPr>
          <a:xfrm>
            <a:off x="1828800" y="4089400"/>
            <a:ext cx="457200" cy="190500"/>
          </a:xfrm>
          <a:prstGeom prst="line">
            <a:avLst/>
          </a:prstGeom>
          <a:noFill/>
          <a:ln w="63500">
            <a:solidFill>
              <a:srgbClr val="252525"/>
            </a:solidFill>
            <a:prstDash val="solid"/>
          </a:ln>
        </p:spPr>
      </p:sp>
      <p:sp>
        <p:nvSpPr>
          <p:cNvPr id="21" name="Text 19"/>
          <p:cNvSpPr/>
          <p:nvPr/>
        </p:nvSpPr>
        <p:spPr>
          <a:xfrm>
            <a:off x="1028700" y="4965700"/>
            <a:ext cx="1765300" cy="254000"/>
          </a:xfrm>
          <a:prstGeom prst="rect">
            <a:avLst/>
          </a:prstGeom>
          <a:noFill/>
          <a:ln/>
        </p:spPr>
        <p:txBody>
          <a:bodyPr wrap="square" lIns="0" tIns="0" rIns="0" bIns="0" rtlCol="0" anchor="t"/>
          <a:lstStyle/>
          <a:p>
            <a:pPr algn="ct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COOPERATE</a:t>
            </a:r>
            <a:endParaRPr lang="en-US" sz="1000" dirty="0"/>
          </a:p>
        </p:txBody>
      </p:sp>
      <p:sp>
        <p:nvSpPr>
          <p:cNvPr id="22" name="Text 20"/>
          <p:cNvSpPr/>
          <p:nvPr/>
        </p:nvSpPr>
        <p:spPr>
          <a:xfrm>
            <a:off x="3517900" y="31750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PERSON</a:t>
            </a:r>
            <a:endParaRPr lang="en-US" sz="1100" dirty="0"/>
          </a:p>
        </p:txBody>
      </p:sp>
      <p:sp>
        <p:nvSpPr>
          <p:cNvPr id="23" name="Text 21"/>
          <p:cNvSpPr/>
          <p:nvPr/>
        </p:nvSpPr>
        <p:spPr>
          <a:xfrm>
            <a:off x="3517900" y="35179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Knowing someone is different from trusting a stranger.</a:t>
            </a:r>
            <a:endParaRPr lang="en-US" sz="1100" dirty="0"/>
          </a:p>
        </p:txBody>
      </p:sp>
      <p:sp>
        <p:nvSpPr>
          <p:cNvPr id="24" name="Text 22"/>
          <p:cNvSpPr/>
          <p:nvPr/>
        </p:nvSpPr>
        <p:spPr>
          <a:xfrm>
            <a:off x="3517900" y="41529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NETWORK</a:t>
            </a:r>
            <a:endParaRPr lang="en-US" sz="1100" dirty="0"/>
          </a:p>
        </p:txBody>
      </p:sp>
      <p:sp>
        <p:nvSpPr>
          <p:cNvPr id="25" name="Text 23"/>
          <p:cNvSpPr/>
          <p:nvPr/>
        </p:nvSpPr>
        <p:spPr>
          <a:xfrm>
            <a:off x="3517900" y="44958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and contacts can support cooperation.</a:t>
            </a:r>
            <a:endParaRPr lang="en-US" sz="1100" dirty="0"/>
          </a:p>
        </p:txBody>
      </p:sp>
      <p:sp>
        <p:nvSpPr>
          <p:cNvPr id="26" name="Text 24"/>
          <p:cNvSpPr/>
          <p:nvPr/>
        </p:nvSpPr>
        <p:spPr>
          <a:xfrm>
            <a:off x="3517900" y="51308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AN INSTITUTION</a:t>
            </a:r>
            <a:endParaRPr lang="en-US" sz="1100" dirty="0"/>
          </a:p>
        </p:txBody>
      </p:sp>
      <p:sp>
        <p:nvSpPr>
          <p:cNvPr id="27" name="Text 25"/>
          <p:cNvSpPr/>
          <p:nvPr/>
        </p:nvSpPr>
        <p:spPr>
          <a:xfrm>
            <a:off x="3517900" y="54737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Name it: a court, bank or government.</a:t>
            </a:r>
            <a:endParaRPr lang="en-US" sz="1100" dirty="0"/>
          </a:p>
        </p:txBody>
      </p:sp>
      <p:sp>
        <p:nvSpPr>
          <p:cNvPr id="28" name="Text 26"/>
          <p:cNvSpPr/>
          <p:nvPr/>
        </p:nvSpPr>
        <p:spPr>
          <a:xfrm>
            <a:off x="3517900" y="6108700"/>
            <a:ext cx="3581400" cy="279400"/>
          </a:xfrm>
          <a:prstGeom prst="rect">
            <a:avLst/>
          </a:prstGeom>
          <a:noFill/>
          <a:ln/>
        </p:spPr>
        <p:txBody>
          <a:bodyPr wrap="square" lIns="0" tIns="0" rIns="0" bIns="0" rtlCol="0" anchor="t"/>
          <a:lstStyle/>
          <a:p>
            <a:pPr indent="0" marL="0">
              <a:lnSpc>
                <a:spcPct val="112000"/>
              </a:lnSpc>
              <a:buNone/>
            </a:pPr>
            <a:r>
              <a:rPr lang="en-US" sz="1100" b="1" dirty="0">
                <a:solidFill>
                  <a:srgbClr val="252525"/>
                </a:solidFill>
                <a:latin typeface="Montserrat" pitchFamily="34" charset="0"/>
                <a:ea typeface="Montserrat" pitchFamily="34" charset="-122"/>
                <a:cs typeface="Montserrat" pitchFamily="34" charset="-120"/>
              </a:rPr>
              <a:t>A SURVEY ANSWER</a:t>
            </a:r>
            <a:endParaRPr lang="en-US" sz="1100" dirty="0"/>
          </a:p>
        </p:txBody>
      </p:sp>
      <p:sp>
        <p:nvSpPr>
          <p:cNvPr id="29" name="Text 27"/>
          <p:cNvSpPr/>
          <p:nvPr/>
        </p:nvSpPr>
        <p:spPr>
          <a:xfrm>
            <a:off x="3517900" y="6451600"/>
            <a:ext cx="3581400" cy="5334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Wording, timing and who was asked all matter.</a:t>
            </a:r>
            <a:endParaRPr lang="en-US" sz="1100" dirty="0"/>
          </a:p>
        </p:txBody>
      </p:sp>
      <p:sp>
        <p:nvSpPr>
          <p:cNvPr id="30" name="Text 28"/>
          <p:cNvSpPr/>
          <p:nvPr/>
        </p:nvSpPr>
        <p:spPr>
          <a:xfrm>
            <a:off x="457200" y="7353300"/>
            <a:ext cx="6642100" cy="622300"/>
          </a:xfrm>
          <a:prstGeom prst="rect">
            <a:avLst/>
          </a:prstGeom>
          <a:noFill/>
          <a:ln/>
        </p:spPr>
        <p:txBody>
          <a:bodyPr wrap="square" lIns="0" tIns="0" rIns="0" bIns="0" rtlCol="0" anchor="t"/>
          <a:lstStyle/>
          <a:p>
            <a:pPr indent="0" marL="0">
              <a:lnSpc>
                <a:spcPct val="112000"/>
              </a:lnSpc>
              <a:buNone/>
            </a:pPr>
            <a:r>
              <a:rPr lang="en-US" sz="2700" b="1" dirty="0">
                <a:solidFill>
                  <a:srgbClr val="252525"/>
                </a:solidFill>
                <a:latin typeface="Alegreya" pitchFamily="34" charset="0"/>
                <a:ea typeface="Alegreya" pitchFamily="34" charset="-122"/>
                <a:cs typeface="Alegreya" pitchFamily="34" charset="-120"/>
              </a:rPr>
              <a:t>Trust is not one common scale.</a:t>
            </a:r>
            <a:endParaRPr lang="en-US" sz="2700" dirty="0"/>
          </a:p>
        </p:txBody>
      </p:sp>
      <p:sp>
        <p:nvSpPr>
          <p:cNvPr id="31" name="Text 29"/>
          <p:cNvSpPr/>
          <p:nvPr/>
        </p:nvSpPr>
        <p:spPr>
          <a:xfrm>
            <a:off x="457200" y="8229600"/>
            <a:ext cx="6642100" cy="660400"/>
          </a:xfrm>
          <a:prstGeom prst="rect">
            <a:avLst/>
          </a:prstGeom>
          <a:noFill/>
          <a:ln/>
        </p:spPr>
        <p:txBody>
          <a:bodyPr wrap="square" lIns="0" tIns="0" rIns="0" bIns="0" rtlCol="0" anchor="t"/>
          <a:lstStyle/>
          <a:p>
            <a:pPr indent="0" marL="0">
              <a:lnSpc>
                <a:spcPct val="112000"/>
              </a:lnSpc>
              <a:buNone/>
            </a:pPr>
            <a:r>
              <a:rPr lang="en-US" sz="1200" dirty="0">
                <a:solidFill>
                  <a:srgbClr val="252525"/>
                </a:solidFill>
                <a:latin typeface="Montserrat" pitchFamily="34" charset="0"/>
                <a:ea typeface="Montserrat" pitchFamily="34" charset="-122"/>
                <a:cs typeface="Montserrat" pitchFamily="34" charset="-120"/>
              </a:rPr>
              <a:t>“Asia trusts more” was our initial impression—not a finding supported by comparable evidence across these six countries.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CLOSE NETWORKS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Family first. Doors open—or closed?</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Close ties can help people cooperate. They can also shut outsiders out.</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This is a conditional explanation and a discussion prompt—not a measure of any country’s culture, corruption or trust.</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17</a:t>
            </a:r>
            <a:endParaRPr lang="en-US" sz="1000" dirty="0"/>
          </a:p>
        </p:txBody>
      </p:sp>
      <p:sp>
        <p:nvSpPr>
          <p:cNvPr id="11" name="Shape 9"/>
          <p:cNvSpPr/>
          <p:nvPr/>
        </p:nvSpPr>
        <p:spPr>
          <a:xfrm>
            <a:off x="1155700" y="3416300"/>
            <a:ext cx="685800" cy="1219200"/>
          </a:xfrm>
          <a:prstGeom prst="rect">
            <a:avLst/>
          </a:prstGeom>
          <a:solidFill>
            <a:srgbClr val="252525"/>
          </a:solidFill>
          <a:ln w="12700">
            <a:solidFill>
              <a:srgbClr val="252525"/>
            </a:solidFill>
            <a:prstDash val="solid"/>
          </a:ln>
        </p:spPr>
      </p:sp>
      <p:sp>
        <p:nvSpPr>
          <p:cNvPr id="12" name="Shape 10"/>
          <p:cNvSpPr/>
          <p:nvPr/>
        </p:nvSpPr>
        <p:spPr>
          <a:xfrm>
            <a:off x="1231900" y="3492500"/>
            <a:ext cx="533400" cy="1143000"/>
          </a:xfrm>
          <a:prstGeom prst="rect">
            <a:avLst/>
          </a:prstGeom>
          <a:solidFill>
            <a:srgbClr val="F4F0E7"/>
          </a:solidFill>
          <a:ln w="12700">
            <a:solidFill>
              <a:srgbClr val="F4F0E7"/>
            </a:solidFill>
            <a:prstDash val="solid"/>
          </a:ln>
        </p:spPr>
      </p:sp>
      <p:sp>
        <p:nvSpPr>
          <p:cNvPr id="13" name="Shape 11"/>
          <p:cNvSpPr/>
          <p:nvPr/>
        </p:nvSpPr>
        <p:spPr>
          <a:xfrm>
            <a:off x="1651000" y="3530600"/>
            <a:ext cx="114300" cy="1066800"/>
          </a:xfrm>
          <a:prstGeom prst="rect">
            <a:avLst/>
          </a:prstGeom>
          <a:solidFill>
            <a:srgbClr val="252525"/>
          </a:solidFill>
          <a:ln w="12700">
            <a:solidFill>
              <a:srgbClr val="252525"/>
            </a:solidFill>
            <a:prstDash val="solid"/>
          </a:ln>
        </p:spPr>
      </p:sp>
      <p:sp>
        <p:nvSpPr>
          <p:cNvPr id="14" name="Shape 12"/>
          <p:cNvSpPr/>
          <p:nvPr/>
        </p:nvSpPr>
        <p:spPr>
          <a:xfrm>
            <a:off x="1651000" y="3530600"/>
            <a:ext cx="406400" cy="190500"/>
          </a:xfrm>
          <a:prstGeom prst="line">
            <a:avLst/>
          </a:prstGeom>
          <a:noFill/>
          <a:ln w="38100">
            <a:solidFill>
              <a:srgbClr val="252525"/>
            </a:solidFill>
            <a:prstDash val="solid"/>
          </a:ln>
        </p:spPr>
      </p:sp>
      <p:sp>
        <p:nvSpPr>
          <p:cNvPr id="15" name="Shape 13"/>
          <p:cNvSpPr/>
          <p:nvPr/>
        </p:nvSpPr>
        <p:spPr>
          <a:xfrm>
            <a:off x="2038350" y="3721100"/>
            <a:ext cx="38100" cy="1066800"/>
          </a:xfrm>
          <a:prstGeom prst="rect">
            <a:avLst/>
          </a:prstGeom>
          <a:solidFill>
            <a:srgbClr val="252525"/>
          </a:solidFill>
          <a:ln w="12700">
            <a:solidFill>
              <a:srgbClr val="252525"/>
            </a:solidFill>
            <a:prstDash val="solid"/>
          </a:ln>
        </p:spPr>
      </p:sp>
      <p:sp>
        <p:nvSpPr>
          <p:cNvPr id="16" name="Shape 14"/>
          <p:cNvSpPr/>
          <p:nvPr/>
        </p:nvSpPr>
        <p:spPr>
          <a:xfrm flipV="1">
            <a:off x="1651000" y="4597400"/>
            <a:ext cx="406400" cy="190500"/>
          </a:xfrm>
          <a:prstGeom prst="line">
            <a:avLst/>
          </a:prstGeom>
          <a:noFill/>
          <a:ln w="38100">
            <a:solidFill>
              <a:srgbClr val="252525"/>
            </a:solidFill>
            <a:prstDash val="solid"/>
          </a:ln>
        </p:spPr>
      </p:sp>
      <p:sp>
        <p:nvSpPr>
          <p:cNvPr id="17" name="Shape 15"/>
          <p:cNvSpPr/>
          <p:nvPr/>
        </p:nvSpPr>
        <p:spPr>
          <a:xfrm>
            <a:off x="1930400" y="4216400"/>
            <a:ext cx="50800" cy="50800"/>
          </a:xfrm>
          <a:prstGeom prst="ellipse">
            <a:avLst/>
          </a:prstGeom>
          <a:solidFill>
            <a:srgbClr val="252525"/>
          </a:solidFill>
          <a:ln w="5080">
            <a:solidFill>
              <a:srgbClr val="252525"/>
            </a:solidFill>
            <a:prstDash val="solid"/>
          </a:ln>
        </p:spPr>
      </p:sp>
      <p:sp>
        <p:nvSpPr>
          <p:cNvPr id="18" name="Text 16"/>
          <p:cNvSpPr/>
          <p:nvPr/>
        </p:nvSpPr>
        <p:spPr>
          <a:xfrm>
            <a:off x="457200" y="5168900"/>
            <a:ext cx="2641600" cy="355600"/>
          </a:xfrm>
          <a:prstGeom prst="rect">
            <a:avLst/>
          </a:prstGeom>
          <a:noFill/>
          <a:ln/>
        </p:spPr>
        <p:txBody>
          <a:bodyPr wrap="square" lIns="0" tIns="0" rIns="0" bIns="0" rtlCol="0" anchor="t"/>
          <a:lstStyle/>
          <a:p>
            <a:pPr indent="0" marL="0">
              <a:lnSpc>
                <a:spcPct val="112000"/>
              </a:lnSpc>
              <a:buNone/>
            </a:pPr>
            <a:r>
              <a:rPr lang="en-US" sz="1600" b="1" dirty="0">
                <a:solidFill>
                  <a:srgbClr val="252525"/>
                </a:solidFill>
                <a:latin typeface="Montserrat" pitchFamily="34" charset="0"/>
                <a:ea typeface="Montserrat" pitchFamily="34" charset="-122"/>
                <a:cs typeface="Montserrat" pitchFamily="34" charset="-120"/>
              </a:rPr>
              <a:t>WHO GETS IN?</a:t>
            </a:r>
            <a:endParaRPr lang="en-US" sz="1600" dirty="0"/>
          </a:p>
        </p:txBody>
      </p:sp>
      <p:sp>
        <p:nvSpPr>
          <p:cNvPr id="19" name="Text 17"/>
          <p:cNvSpPr/>
          <p:nvPr/>
        </p:nvSpPr>
        <p:spPr>
          <a:xfrm>
            <a:off x="3517900" y="31750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strength</a:t>
            </a:r>
            <a:endParaRPr lang="en-US" sz="2100" dirty="0"/>
          </a:p>
        </p:txBody>
      </p:sp>
      <p:sp>
        <p:nvSpPr>
          <p:cNvPr id="20" name="Text 18"/>
          <p:cNvSpPr/>
          <p:nvPr/>
        </p:nvSpPr>
        <p:spPr>
          <a:xfrm>
            <a:off x="3517900" y="39243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Credit, labour and mutual help can keep people and businesses going.</a:t>
            </a:r>
            <a:endParaRPr lang="en-US" sz="1100" dirty="0"/>
          </a:p>
        </p:txBody>
      </p:sp>
      <p:sp>
        <p:nvSpPr>
          <p:cNvPr id="21" name="Text 19"/>
          <p:cNvSpPr/>
          <p:nvPr/>
        </p:nvSpPr>
        <p:spPr>
          <a:xfrm>
            <a:off x="3517900" y="4940300"/>
            <a:ext cx="3581400" cy="673100"/>
          </a:xfrm>
          <a:prstGeom prst="rect">
            <a:avLst/>
          </a:prstGeom>
          <a:noFill/>
          <a:ln/>
        </p:spPr>
        <p:txBody>
          <a:bodyPr wrap="square" lIns="0" tIns="0" rIns="0" bIns="0" rtlCol="0" anchor="t"/>
          <a:lstStyle/>
          <a:p>
            <a:pPr indent="0" marL="0">
              <a:lnSpc>
                <a:spcPct val="112000"/>
              </a:lnSpc>
              <a:buNone/>
            </a:pPr>
            <a:r>
              <a:rPr lang="en-US" sz="2100" b="1" dirty="0">
                <a:solidFill>
                  <a:srgbClr val="252525"/>
                </a:solidFill>
                <a:latin typeface="Alegreya" pitchFamily="34" charset="0"/>
                <a:ea typeface="Alegreya" pitchFamily="34" charset="-122"/>
                <a:cs typeface="Alegreya" pitchFamily="34" charset="-120"/>
              </a:rPr>
              <a:t>The boundary</a:t>
            </a:r>
            <a:endParaRPr lang="en-US" sz="2100" dirty="0"/>
          </a:p>
        </p:txBody>
      </p:sp>
      <p:sp>
        <p:nvSpPr>
          <p:cNvPr id="22" name="Text 20"/>
          <p:cNvSpPr/>
          <p:nvPr/>
        </p:nvSpPr>
        <p:spPr>
          <a:xfrm>
            <a:off x="3517900" y="5689600"/>
            <a:ext cx="3581400" cy="10160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Hiring outsiders or sharing control may be harder without reliable organisations and contracts.</a:t>
            </a:r>
            <a:endParaRPr lang="en-US" sz="1100" dirty="0"/>
          </a:p>
        </p:txBody>
      </p:sp>
      <p:sp>
        <p:nvSpPr>
          <p:cNvPr id="23" name="Text 21"/>
          <p:cNvSpPr/>
          <p:nvPr/>
        </p:nvSpPr>
        <p:spPr>
          <a:xfrm>
            <a:off x="457200" y="6781800"/>
            <a:ext cx="6642100" cy="4699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Who would you trust with money?</a:t>
            </a:r>
            <a:endParaRPr lang="en-US" sz="2300" dirty="0"/>
          </a:p>
        </p:txBody>
      </p:sp>
      <p:sp>
        <p:nvSpPr>
          <p:cNvPr id="24" name="Text 22"/>
          <p:cNvSpPr/>
          <p:nvPr/>
        </p:nvSpPr>
        <p:spPr>
          <a:xfrm>
            <a:off x="457200" y="7340600"/>
            <a:ext cx="6642100" cy="4318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Family? A friend? A bank? An unfamiliar partner backed by a reliable contract?</a:t>
            </a:r>
            <a:endParaRPr lang="en-US" sz="1100" dirty="0"/>
          </a:p>
        </p:txBody>
      </p:sp>
      <p:sp>
        <p:nvSpPr>
          <p:cNvPr id="25" name="Shape 23"/>
          <p:cNvSpPr/>
          <p:nvPr/>
        </p:nvSpPr>
        <p:spPr>
          <a:xfrm>
            <a:off x="457200" y="7937500"/>
            <a:ext cx="6642100" cy="927100"/>
          </a:xfrm>
          <a:prstGeom prst="rect">
            <a:avLst/>
          </a:prstGeom>
          <a:solidFill>
            <a:srgbClr val="252525"/>
          </a:solidFill>
          <a:ln w="12700">
            <a:solidFill>
              <a:srgbClr val="252525"/>
            </a:solidFill>
            <a:prstDash val="solid"/>
          </a:ln>
        </p:spPr>
      </p:sp>
      <p:sp>
        <p:nvSpPr>
          <p:cNvPr id="26" name="Text 24"/>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27" name="Text 25"/>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We see family networks mainly as a strength. But conflict, exclusion and closed-minded decisions can turn that strength into a limit.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LEADERSHIP</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Lead. Listen. Change course.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Long-term direction works better when people can challenge mistakes.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National cultural scores cannot replace direct evidence about leadership, policy duration, investment or correction.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Hofstede (2011, pp. 6–8, 9–16); McSweeney (2002, pp. 93–107). National averages are not individual traits or causal scores.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18</a:t>
            </a:r>
            <a:endParaRPr lang="en-US" sz="1000" dirty="0"/>
          </a:p>
        </p:txBody>
      </p:sp>
      <p:sp>
        <p:nvSpPr>
          <p:cNvPr id="11" name="Editable road path 1"/>
          <p:cNvSpPr/>
          <p:nvPr/>
        </p:nvSpPr>
        <p:spPr>
          <a:xfrm>
            <a:off x="457200" y="3822700"/>
            <a:ext cx="6426200" cy="1193800"/>
          </a:xfrm>
          <a:custGeom>
            <a:avLst/>
            <a:gdLst/>
            <a:ahLst/>
            <a:cxnLst/>
            <a:rect l="0" t="0" r="r" b="b"/>
            <a:pathLst>
              <a:path w="10000" h="10000">
                <a:moveTo>
                  <a:pt x="0" y="7021"/>
                </a:moveTo>
                <a:lnTo>
                  <a:pt x="6344" y="7021"/>
                </a:lnTo>
                <a:lnTo>
                  <a:pt x="7253" y="6277"/>
                </a:lnTo>
                <a:lnTo>
                  <a:pt x="8182" y="3936"/>
                </a:lnTo>
                <a:lnTo>
                  <a:pt x="9229" y="0"/>
                </a:lnTo>
                <a:lnTo>
                  <a:pt x="10000" y="0"/>
                </a:lnTo>
                <a:lnTo>
                  <a:pt x="10000" y="2766"/>
                </a:lnTo>
                <a:lnTo>
                  <a:pt x="9387" y="2766"/>
                </a:lnTo>
                <a:lnTo>
                  <a:pt x="8458" y="6596"/>
                </a:lnTo>
                <a:lnTo>
                  <a:pt x="7411" y="9149"/>
                </a:lnTo>
                <a:lnTo>
                  <a:pt x="6462" y="10000"/>
                </a:lnTo>
                <a:lnTo>
                  <a:pt x="0" y="10000"/>
                </a:lnTo>
                <a:close/>
                <a:close/>
              </a:path>
            </a:pathLst>
          </a:custGeom>
          <a:solidFill>
            <a:srgbClr val="F4F0E7"/>
          </a:solidFill>
          <a:ln w="12700">
            <a:solidFill>
              <a:srgbClr val="F4F0E7"/>
            </a:solidFill>
            <a:prstDash val="solid"/>
          </a:ln>
        </p:spPr>
      </p:sp>
      <p:sp>
        <p:nvSpPr>
          <p:cNvPr id="12" name="Editable road path 2"/>
          <p:cNvSpPr/>
          <p:nvPr/>
        </p:nvSpPr>
        <p:spPr>
          <a:xfrm>
            <a:off x="6883400" y="3670300"/>
            <a:ext cx="215900" cy="635000"/>
          </a:xfrm>
          <a:custGeom>
            <a:avLst/>
            <a:gdLst/>
            <a:ahLst/>
            <a:cxnLst/>
            <a:rect l="0" t="0" r="r" b="b"/>
            <a:pathLst>
              <a:path w="10000" h="10000">
                <a:moveTo>
                  <a:pt x="0" y="0"/>
                </a:moveTo>
                <a:lnTo>
                  <a:pt x="10000" y="5000"/>
                </a:lnTo>
                <a:lnTo>
                  <a:pt x="0" y="10000"/>
                </a:lnTo>
                <a:close/>
                <a:close/>
              </a:path>
            </a:pathLst>
          </a:custGeom>
          <a:solidFill>
            <a:srgbClr val="F4F0E7"/>
          </a:solidFill>
          <a:ln w="12700">
            <a:solidFill>
              <a:srgbClr val="F4F0E7"/>
            </a:solidFill>
            <a:prstDash val="solid"/>
          </a:ln>
        </p:spPr>
      </p:sp>
      <p:sp>
        <p:nvSpPr>
          <p:cNvPr id="13" name="Text 11"/>
          <p:cNvSpPr/>
          <p:nvPr/>
        </p:nvSpPr>
        <p:spPr>
          <a:xfrm>
            <a:off x="4572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01</a:t>
            </a:r>
            <a:endParaRPr lang="en-US" sz="3000" dirty="0"/>
          </a:p>
        </p:txBody>
      </p:sp>
      <p:sp>
        <p:nvSpPr>
          <p:cNvPr id="14" name="Text 12"/>
          <p:cNvSpPr/>
          <p:nvPr/>
        </p:nvSpPr>
        <p:spPr>
          <a:xfrm>
            <a:off x="4572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LEAD</a:t>
            </a:r>
            <a:endParaRPr lang="en-US" sz="1600" dirty="0"/>
          </a:p>
        </p:txBody>
      </p:sp>
      <p:sp>
        <p:nvSpPr>
          <p:cNvPr id="15" name="Text 13"/>
          <p:cNvSpPr/>
          <p:nvPr/>
        </p:nvSpPr>
        <p:spPr>
          <a:xfrm>
            <a:off x="4572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Set a useful direction.</a:t>
            </a:r>
            <a:endParaRPr lang="en-US" sz="1200" dirty="0"/>
          </a:p>
        </p:txBody>
      </p:sp>
      <p:sp>
        <p:nvSpPr>
          <p:cNvPr id="16" name="Text 14"/>
          <p:cNvSpPr/>
          <p:nvPr/>
        </p:nvSpPr>
        <p:spPr>
          <a:xfrm>
            <a:off x="27305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02</a:t>
            </a:r>
            <a:endParaRPr lang="en-US" sz="3000" dirty="0"/>
          </a:p>
        </p:txBody>
      </p:sp>
      <p:sp>
        <p:nvSpPr>
          <p:cNvPr id="17" name="Text 15"/>
          <p:cNvSpPr/>
          <p:nvPr/>
        </p:nvSpPr>
        <p:spPr>
          <a:xfrm>
            <a:off x="27305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LISTEN</a:t>
            </a:r>
            <a:endParaRPr lang="en-US" sz="1600" dirty="0"/>
          </a:p>
        </p:txBody>
      </p:sp>
      <p:sp>
        <p:nvSpPr>
          <p:cNvPr id="18" name="Text 16"/>
          <p:cNvSpPr/>
          <p:nvPr/>
        </p:nvSpPr>
        <p:spPr>
          <a:xfrm>
            <a:off x="27305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Let people challenge mistakes.</a:t>
            </a:r>
            <a:endParaRPr lang="en-US" sz="1200" dirty="0"/>
          </a:p>
        </p:txBody>
      </p:sp>
      <p:sp>
        <p:nvSpPr>
          <p:cNvPr id="19" name="Text 17"/>
          <p:cNvSpPr/>
          <p:nvPr/>
        </p:nvSpPr>
        <p:spPr>
          <a:xfrm>
            <a:off x="5003800" y="3390900"/>
            <a:ext cx="1917700" cy="558800"/>
          </a:xfrm>
          <a:prstGeom prst="rect">
            <a:avLst/>
          </a:prstGeom>
          <a:noFill/>
          <a:ln/>
        </p:spPr>
        <p:txBody>
          <a:bodyPr wrap="square" lIns="0" tIns="0" rIns="0" bIns="0" rtlCol="0" anchor="t"/>
          <a:lstStyle/>
          <a:p>
            <a:pPr indent="0" marL="0">
              <a:lnSpc>
                <a:spcPct val="112000"/>
              </a:lnSpc>
              <a:buNone/>
            </a:pPr>
            <a:r>
              <a:rPr lang="en-US" sz="3000" b="1" dirty="0">
                <a:solidFill>
                  <a:srgbClr val="F4F0E7"/>
                </a:solidFill>
                <a:latin typeface="Montserrat Black" pitchFamily="34" charset="0"/>
                <a:ea typeface="Montserrat Black" pitchFamily="34" charset="-122"/>
                <a:cs typeface="Montserrat Black" pitchFamily="34" charset="-120"/>
              </a:rPr>
              <a:t>03</a:t>
            </a:r>
            <a:endParaRPr lang="en-US" sz="3000" dirty="0"/>
          </a:p>
        </p:txBody>
      </p:sp>
      <p:sp>
        <p:nvSpPr>
          <p:cNvPr id="20" name="Text 18"/>
          <p:cNvSpPr/>
          <p:nvPr/>
        </p:nvSpPr>
        <p:spPr>
          <a:xfrm>
            <a:off x="5003800" y="5562600"/>
            <a:ext cx="2095500" cy="4318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CHANGE COURSE</a:t>
            </a:r>
            <a:endParaRPr lang="en-US" sz="1600" dirty="0"/>
          </a:p>
        </p:txBody>
      </p:sp>
      <p:sp>
        <p:nvSpPr>
          <p:cNvPr id="21" name="Text 19"/>
          <p:cNvSpPr/>
          <p:nvPr/>
        </p:nvSpPr>
        <p:spPr>
          <a:xfrm>
            <a:off x="5003800" y="6172200"/>
            <a:ext cx="2095500" cy="7239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Fix what is not working.</a:t>
            </a:r>
            <a:endParaRPr lang="en-US" sz="1200" dirty="0"/>
          </a:p>
        </p:txBody>
      </p:sp>
      <p:sp>
        <p:nvSpPr>
          <p:cNvPr id="22" name="Text 20"/>
          <p:cNvSpPr/>
          <p:nvPr/>
        </p:nvSpPr>
        <p:spPr>
          <a:xfrm>
            <a:off x="457200" y="7188200"/>
            <a:ext cx="6642100" cy="368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A steady direction. Room to turn.</a:t>
            </a:r>
            <a:endParaRPr lang="en-US" sz="2000" dirty="0"/>
          </a:p>
        </p:txBody>
      </p:sp>
      <p:sp>
        <p:nvSpPr>
          <p:cNvPr id="23" name="Text 21"/>
          <p:cNvSpPr/>
          <p:nvPr/>
        </p:nvSpPr>
        <p:spPr>
          <a:xfrm>
            <a:off x="457200" y="7645400"/>
            <a:ext cx="6642100" cy="5461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Hierarchy can coordinate action—or silence feedback. Look at actual decisions and results, not just cultural scores.</a:t>
            </a:r>
            <a:endParaRPr lang="en-US" sz="1100" dirty="0"/>
          </a:p>
        </p:txBody>
      </p:sp>
      <p:sp>
        <p:nvSpPr>
          <p:cNvPr id="24" name="Shape 22"/>
          <p:cNvSpPr/>
          <p:nvPr/>
        </p:nvSpPr>
        <p:spPr>
          <a:xfrm>
            <a:off x="457200" y="8305800"/>
            <a:ext cx="6642100" cy="800100"/>
          </a:xfrm>
          <a:prstGeom prst="rect">
            <a:avLst/>
          </a:prstGeom>
          <a:solidFill>
            <a:srgbClr val="F4F0E7"/>
          </a:solidFill>
          <a:ln w="12700">
            <a:solidFill>
              <a:srgbClr val="F4F0E7"/>
            </a:solidFill>
            <a:prstDash val="solid"/>
          </a:ln>
        </p:spPr>
      </p:sp>
      <p:sp>
        <p:nvSpPr>
          <p:cNvPr id="25" name="Text 23"/>
          <p:cNvSpPr/>
          <p:nvPr/>
        </p:nvSpPr>
        <p:spPr>
          <a:xfrm>
            <a:off x="635000" y="84328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26" name="Text 24"/>
          <p:cNvSpPr/>
          <p:nvPr/>
        </p:nvSpPr>
        <p:spPr>
          <a:xfrm>
            <a:off x="635000" y="8699500"/>
            <a:ext cx="6286500" cy="3302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Strong government—for whose benefit? We support planning ahead, but leaders must serve the country and face accountability when policies fail.</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IDEAS ON TRIAL</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Three roads into the question.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Connections. Cooperation. Direction + correction. We test each idea against the six countries.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A supporting case may fit several explanations. These qualitative comparisons do not isolate a single cause.</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Original group hypotheses and six-country matrix. Sources: World Bank (1993, 2020); Maipose (2008); Svirydzenka and Petri (2014); OECD (2017).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19</a:t>
            </a:r>
            <a:endParaRPr lang="en-US" sz="1000" dirty="0"/>
          </a:p>
        </p:txBody>
      </p:sp>
      <p:sp>
        <p:nvSpPr>
          <p:cNvPr id="11" name="Editable road path 3"/>
          <p:cNvSpPr/>
          <p:nvPr/>
        </p:nvSpPr>
        <p:spPr>
          <a:xfrm>
            <a:off x="2616200" y="4368800"/>
            <a:ext cx="2324100" cy="2590800"/>
          </a:xfrm>
          <a:custGeom>
            <a:avLst/>
            <a:gdLst/>
            <a:ahLst/>
            <a:cxnLst/>
            <a:rect l="0" t="0" r="r" b="b"/>
            <a:pathLst>
              <a:path w="10000" h="10000">
                <a:moveTo>
                  <a:pt x="0" y="10000"/>
                </a:moveTo>
                <a:lnTo>
                  <a:pt x="10000" y="10000"/>
                </a:lnTo>
                <a:lnTo>
                  <a:pt x="6339" y="0"/>
                </a:lnTo>
                <a:lnTo>
                  <a:pt x="3661" y="0"/>
                </a:lnTo>
                <a:close/>
                <a:close/>
              </a:path>
            </a:pathLst>
          </a:custGeom>
          <a:solidFill>
            <a:srgbClr val="B7B0A4"/>
          </a:solidFill>
          <a:ln w="12700">
            <a:solidFill>
              <a:srgbClr val="B7B0A4"/>
            </a:solidFill>
            <a:prstDash val="solid"/>
          </a:ln>
        </p:spPr>
      </p:sp>
      <p:sp>
        <p:nvSpPr>
          <p:cNvPr id="12" name="Editable road path 4"/>
          <p:cNvSpPr/>
          <p:nvPr/>
        </p:nvSpPr>
        <p:spPr>
          <a:xfrm>
            <a:off x="2730500" y="4368800"/>
            <a:ext cx="2095500" cy="2590800"/>
          </a:xfrm>
          <a:custGeom>
            <a:avLst/>
            <a:gdLst/>
            <a:ahLst/>
            <a:cxnLst/>
            <a:rect l="0" t="0" r="r" b="b"/>
            <a:pathLst>
              <a:path w="10000" h="10000">
                <a:moveTo>
                  <a:pt x="0" y="10000"/>
                </a:moveTo>
                <a:lnTo>
                  <a:pt x="10000" y="10000"/>
                </a:lnTo>
                <a:lnTo>
                  <a:pt x="6182" y="0"/>
                </a:lnTo>
                <a:lnTo>
                  <a:pt x="3818" y="0"/>
                </a:lnTo>
                <a:close/>
                <a:close/>
              </a:path>
            </a:pathLst>
          </a:custGeom>
          <a:solidFill>
            <a:srgbClr val="514E48"/>
          </a:solidFill>
          <a:ln w="12700">
            <a:solidFill>
              <a:srgbClr val="514E48"/>
            </a:solidFill>
            <a:prstDash val="solid"/>
          </a:ln>
        </p:spPr>
      </p:sp>
      <p:sp>
        <p:nvSpPr>
          <p:cNvPr id="13" name="Editable road path 5"/>
          <p:cNvSpPr/>
          <p:nvPr/>
        </p:nvSpPr>
        <p:spPr>
          <a:xfrm>
            <a:off x="457200" y="3949700"/>
            <a:ext cx="3454400" cy="1524000"/>
          </a:xfrm>
          <a:custGeom>
            <a:avLst/>
            <a:gdLst/>
            <a:ahLst/>
            <a:cxnLst/>
            <a:rect l="0" t="0" r="r" b="b"/>
            <a:pathLst>
              <a:path w="10000" h="10000">
                <a:moveTo>
                  <a:pt x="0" y="10000"/>
                </a:moveTo>
                <a:lnTo>
                  <a:pt x="0" y="4667"/>
                </a:lnTo>
                <a:lnTo>
                  <a:pt x="8235" y="917"/>
                </a:lnTo>
                <a:lnTo>
                  <a:pt x="9228" y="0"/>
                </a:lnTo>
                <a:lnTo>
                  <a:pt x="10000" y="2667"/>
                </a:lnTo>
                <a:lnTo>
                  <a:pt x="8860" y="4667"/>
                </a:lnTo>
                <a:close/>
                <a:close/>
              </a:path>
            </a:pathLst>
          </a:custGeom>
          <a:solidFill>
            <a:srgbClr val="B7B0A4"/>
          </a:solidFill>
          <a:ln w="12700">
            <a:solidFill>
              <a:srgbClr val="B7B0A4"/>
            </a:solidFill>
            <a:prstDash val="solid"/>
          </a:ln>
        </p:spPr>
      </p:sp>
      <p:sp>
        <p:nvSpPr>
          <p:cNvPr id="14" name="Editable road path 6"/>
          <p:cNvSpPr/>
          <p:nvPr/>
        </p:nvSpPr>
        <p:spPr>
          <a:xfrm>
            <a:off x="457200" y="4051300"/>
            <a:ext cx="3365500" cy="1308100"/>
          </a:xfrm>
          <a:custGeom>
            <a:avLst/>
            <a:gdLst/>
            <a:ahLst/>
            <a:cxnLst/>
            <a:rect l="0" t="0" r="r" b="b"/>
            <a:pathLst>
              <a:path w="10000" h="10000">
                <a:moveTo>
                  <a:pt x="0" y="10000"/>
                </a:moveTo>
                <a:lnTo>
                  <a:pt x="0" y="5437"/>
                </a:lnTo>
                <a:lnTo>
                  <a:pt x="8566" y="1068"/>
                </a:lnTo>
                <a:lnTo>
                  <a:pt x="9434" y="0"/>
                </a:lnTo>
                <a:lnTo>
                  <a:pt x="10000" y="1942"/>
                </a:lnTo>
                <a:lnTo>
                  <a:pt x="8981" y="3883"/>
                </a:lnTo>
                <a:close/>
                <a:close/>
              </a:path>
            </a:pathLst>
          </a:custGeom>
          <a:solidFill>
            <a:srgbClr val="514E48"/>
          </a:solidFill>
          <a:ln w="12700">
            <a:solidFill>
              <a:srgbClr val="514E48"/>
            </a:solidFill>
            <a:prstDash val="solid"/>
          </a:ln>
        </p:spPr>
      </p:sp>
      <p:sp>
        <p:nvSpPr>
          <p:cNvPr id="15" name="Editable road path 7"/>
          <p:cNvSpPr/>
          <p:nvPr/>
        </p:nvSpPr>
        <p:spPr>
          <a:xfrm>
            <a:off x="3644900" y="3949700"/>
            <a:ext cx="3454400" cy="1524000"/>
          </a:xfrm>
          <a:custGeom>
            <a:avLst/>
            <a:gdLst/>
            <a:ahLst/>
            <a:cxnLst/>
            <a:rect l="0" t="0" r="r" b="b"/>
            <a:pathLst>
              <a:path w="10000" h="10000">
                <a:moveTo>
                  <a:pt x="10000" y="10000"/>
                </a:moveTo>
                <a:lnTo>
                  <a:pt x="10000" y="4667"/>
                </a:lnTo>
                <a:lnTo>
                  <a:pt x="1765" y="917"/>
                </a:lnTo>
                <a:lnTo>
                  <a:pt x="772" y="0"/>
                </a:lnTo>
                <a:lnTo>
                  <a:pt x="0" y="2667"/>
                </a:lnTo>
                <a:lnTo>
                  <a:pt x="1140" y="4667"/>
                </a:lnTo>
                <a:close/>
                <a:close/>
              </a:path>
            </a:pathLst>
          </a:custGeom>
          <a:solidFill>
            <a:srgbClr val="B7B0A4"/>
          </a:solidFill>
          <a:ln w="12700">
            <a:solidFill>
              <a:srgbClr val="B7B0A4"/>
            </a:solidFill>
            <a:prstDash val="solid"/>
          </a:ln>
        </p:spPr>
      </p:sp>
      <p:sp>
        <p:nvSpPr>
          <p:cNvPr id="16" name="Editable road path 8"/>
          <p:cNvSpPr/>
          <p:nvPr/>
        </p:nvSpPr>
        <p:spPr>
          <a:xfrm>
            <a:off x="3733800" y="4051300"/>
            <a:ext cx="3365500" cy="1308100"/>
          </a:xfrm>
          <a:custGeom>
            <a:avLst/>
            <a:gdLst/>
            <a:ahLst/>
            <a:cxnLst/>
            <a:rect l="0" t="0" r="r" b="b"/>
            <a:pathLst>
              <a:path w="10000" h="10000">
                <a:moveTo>
                  <a:pt x="10000" y="10000"/>
                </a:moveTo>
                <a:lnTo>
                  <a:pt x="10000" y="5437"/>
                </a:lnTo>
                <a:lnTo>
                  <a:pt x="1434" y="1068"/>
                </a:lnTo>
                <a:lnTo>
                  <a:pt x="566" y="0"/>
                </a:lnTo>
                <a:lnTo>
                  <a:pt x="0" y="1942"/>
                </a:lnTo>
                <a:lnTo>
                  <a:pt x="1019" y="3883"/>
                </a:lnTo>
                <a:close/>
                <a:close/>
              </a:path>
            </a:pathLst>
          </a:custGeom>
          <a:solidFill>
            <a:srgbClr val="514E48"/>
          </a:solidFill>
          <a:ln w="12700">
            <a:solidFill>
              <a:srgbClr val="514E48"/>
            </a:solidFill>
            <a:prstDash val="solid"/>
          </a:ln>
        </p:spPr>
      </p:sp>
      <p:sp>
        <p:nvSpPr>
          <p:cNvPr id="17" name="Editable road path 9"/>
          <p:cNvSpPr/>
          <p:nvPr/>
        </p:nvSpPr>
        <p:spPr>
          <a:xfrm>
            <a:off x="3467100" y="3225800"/>
            <a:ext cx="622300" cy="1155700"/>
          </a:xfrm>
          <a:custGeom>
            <a:avLst/>
            <a:gdLst/>
            <a:ahLst/>
            <a:cxnLst/>
            <a:rect l="0" t="0" r="r" b="b"/>
            <a:pathLst>
              <a:path w="10000" h="10000">
                <a:moveTo>
                  <a:pt x="0" y="10000"/>
                </a:moveTo>
                <a:lnTo>
                  <a:pt x="10000" y="10000"/>
                </a:lnTo>
                <a:lnTo>
                  <a:pt x="6939" y="0"/>
                </a:lnTo>
                <a:lnTo>
                  <a:pt x="3061" y="0"/>
                </a:lnTo>
                <a:close/>
                <a:close/>
              </a:path>
            </a:pathLst>
          </a:custGeom>
          <a:solidFill>
            <a:srgbClr val="B7B0A4"/>
          </a:solidFill>
          <a:ln w="12700">
            <a:solidFill>
              <a:srgbClr val="B7B0A4"/>
            </a:solidFill>
            <a:prstDash val="solid"/>
          </a:ln>
        </p:spPr>
      </p:sp>
      <p:sp>
        <p:nvSpPr>
          <p:cNvPr id="18" name="Editable road path 10"/>
          <p:cNvSpPr/>
          <p:nvPr/>
        </p:nvSpPr>
        <p:spPr>
          <a:xfrm>
            <a:off x="3543300" y="3225800"/>
            <a:ext cx="469900" cy="1155700"/>
          </a:xfrm>
          <a:custGeom>
            <a:avLst/>
            <a:gdLst/>
            <a:ahLst/>
            <a:cxnLst/>
            <a:rect l="0" t="0" r="r" b="b"/>
            <a:pathLst>
              <a:path w="10000" h="10000">
                <a:moveTo>
                  <a:pt x="0" y="10000"/>
                </a:moveTo>
                <a:lnTo>
                  <a:pt x="10000" y="10000"/>
                </a:lnTo>
                <a:lnTo>
                  <a:pt x="6757" y="0"/>
                </a:lnTo>
                <a:lnTo>
                  <a:pt x="3243" y="0"/>
                </a:lnTo>
                <a:close/>
                <a:close/>
              </a:path>
            </a:pathLst>
          </a:custGeom>
          <a:solidFill>
            <a:srgbClr val="514E48"/>
          </a:solidFill>
          <a:ln w="12700">
            <a:solidFill>
              <a:srgbClr val="514E48"/>
            </a:solidFill>
            <a:prstDash val="solid"/>
          </a:ln>
        </p:spPr>
      </p:sp>
      <p:sp>
        <p:nvSpPr>
          <p:cNvPr id="19" name="Shape 17"/>
          <p:cNvSpPr/>
          <p:nvPr/>
        </p:nvSpPr>
        <p:spPr>
          <a:xfrm>
            <a:off x="3702050" y="6591300"/>
            <a:ext cx="139700" cy="279400"/>
          </a:xfrm>
          <a:prstGeom prst="rect">
            <a:avLst/>
          </a:prstGeom>
          <a:solidFill>
            <a:srgbClr val="F4F0E7"/>
          </a:solidFill>
          <a:ln w="12700">
            <a:solidFill>
              <a:srgbClr val="F4F0E7"/>
            </a:solidFill>
            <a:prstDash val="solid"/>
          </a:ln>
        </p:spPr>
      </p:sp>
      <p:sp>
        <p:nvSpPr>
          <p:cNvPr id="20" name="Shape 18"/>
          <p:cNvSpPr/>
          <p:nvPr/>
        </p:nvSpPr>
        <p:spPr>
          <a:xfrm>
            <a:off x="3714750" y="6108700"/>
            <a:ext cx="114300" cy="215900"/>
          </a:xfrm>
          <a:prstGeom prst="rect">
            <a:avLst/>
          </a:prstGeom>
          <a:solidFill>
            <a:srgbClr val="F4F0E7"/>
          </a:solidFill>
          <a:ln w="12700">
            <a:solidFill>
              <a:srgbClr val="F4F0E7"/>
            </a:solidFill>
            <a:prstDash val="solid"/>
          </a:ln>
        </p:spPr>
      </p:sp>
      <p:sp>
        <p:nvSpPr>
          <p:cNvPr id="21" name="Shape 19"/>
          <p:cNvSpPr/>
          <p:nvPr/>
        </p:nvSpPr>
        <p:spPr>
          <a:xfrm>
            <a:off x="3727450" y="5702300"/>
            <a:ext cx="88900" cy="165100"/>
          </a:xfrm>
          <a:prstGeom prst="rect">
            <a:avLst/>
          </a:prstGeom>
          <a:solidFill>
            <a:srgbClr val="F4F0E7"/>
          </a:solidFill>
          <a:ln w="12700">
            <a:solidFill>
              <a:srgbClr val="F4F0E7"/>
            </a:solidFill>
            <a:prstDash val="solid"/>
          </a:ln>
        </p:spPr>
      </p:sp>
      <p:sp>
        <p:nvSpPr>
          <p:cNvPr id="22" name="Shape 20"/>
          <p:cNvSpPr/>
          <p:nvPr/>
        </p:nvSpPr>
        <p:spPr>
          <a:xfrm>
            <a:off x="3740150" y="5372100"/>
            <a:ext cx="63500" cy="127000"/>
          </a:xfrm>
          <a:prstGeom prst="rect">
            <a:avLst/>
          </a:prstGeom>
          <a:solidFill>
            <a:srgbClr val="F4F0E7"/>
          </a:solidFill>
          <a:ln w="12700">
            <a:solidFill>
              <a:srgbClr val="F4F0E7"/>
            </a:solidFill>
            <a:prstDash val="solid"/>
          </a:ln>
        </p:spPr>
      </p:sp>
      <p:sp>
        <p:nvSpPr>
          <p:cNvPr id="23" name="Shape 21"/>
          <p:cNvSpPr/>
          <p:nvPr/>
        </p:nvSpPr>
        <p:spPr>
          <a:xfrm>
            <a:off x="3746500" y="5105400"/>
            <a:ext cx="50800" cy="101600"/>
          </a:xfrm>
          <a:prstGeom prst="rect">
            <a:avLst/>
          </a:prstGeom>
          <a:solidFill>
            <a:srgbClr val="F4F0E7"/>
          </a:solidFill>
          <a:ln w="12700">
            <a:solidFill>
              <a:srgbClr val="F4F0E7"/>
            </a:solidFill>
            <a:prstDash val="solid"/>
          </a:ln>
        </p:spPr>
      </p:sp>
      <p:sp>
        <p:nvSpPr>
          <p:cNvPr id="24" name="Shape 22"/>
          <p:cNvSpPr/>
          <p:nvPr/>
        </p:nvSpPr>
        <p:spPr>
          <a:xfrm>
            <a:off x="3752850" y="4876800"/>
            <a:ext cx="38100" cy="76200"/>
          </a:xfrm>
          <a:prstGeom prst="rect">
            <a:avLst/>
          </a:prstGeom>
          <a:solidFill>
            <a:srgbClr val="F4F0E7"/>
          </a:solidFill>
          <a:ln w="12700">
            <a:solidFill>
              <a:srgbClr val="F4F0E7"/>
            </a:solidFill>
            <a:prstDash val="solid"/>
          </a:ln>
        </p:spPr>
      </p:sp>
      <p:sp>
        <p:nvSpPr>
          <p:cNvPr id="25" name="Shape 23"/>
          <p:cNvSpPr/>
          <p:nvPr/>
        </p:nvSpPr>
        <p:spPr>
          <a:xfrm>
            <a:off x="3759200" y="4686300"/>
            <a:ext cx="25400" cy="63500"/>
          </a:xfrm>
          <a:prstGeom prst="rect">
            <a:avLst/>
          </a:prstGeom>
          <a:solidFill>
            <a:srgbClr val="F4F0E7"/>
          </a:solidFill>
          <a:ln w="12700">
            <a:solidFill>
              <a:srgbClr val="F4F0E7"/>
            </a:solidFill>
            <a:prstDash val="solid"/>
          </a:ln>
        </p:spPr>
      </p:sp>
      <p:sp>
        <p:nvSpPr>
          <p:cNvPr id="26" name="Shape 24"/>
          <p:cNvSpPr/>
          <p:nvPr/>
        </p:nvSpPr>
        <p:spPr>
          <a:xfrm>
            <a:off x="3759200" y="3721100"/>
            <a:ext cx="25400" cy="63500"/>
          </a:xfrm>
          <a:prstGeom prst="rect">
            <a:avLst/>
          </a:prstGeom>
          <a:solidFill>
            <a:srgbClr val="F4F0E7"/>
          </a:solidFill>
          <a:ln w="12700">
            <a:solidFill>
              <a:srgbClr val="F4F0E7"/>
            </a:solidFill>
            <a:prstDash val="solid"/>
          </a:ln>
        </p:spPr>
      </p:sp>
      <p:sp>
        <p:nvSpPr>
          <p:cNvPr id="27" name="Shape 25"/>
          <p:cNvSpPr/>
          <p:nvPr/>
        </p:nvSpPr>
        <p:spPr>
          <a:xfrm>
            <a:off x="3762375" y="3543300"/>
            <a:ext cx="19050" cy="50800"/>
          </a:xfrm>
          <a:prstGeom prst="rect">
            <a:avLst/>
          </a:prstGeom>
          <a:solidFill>
            <a:srgbClr val="F4F0E7"/>
          </a:solidFill>
          <a:ln w="12700">
            <a:solidFill>
              <a:srgbClr val="F4F0E7"/>
            </a:solidFill>
            <a:prstDash val="solid"/>
          </a:ln>
        </p:spPr>
      </p:sp>
      <p:sp>
        <p:nvSpPr>
          <p:cNvPr id="28" name="Shape 26"/>
          <p:cNvSpPr/>
          <p:nvPr/>
        </p:nvSpPr>
        <p:spPr>
          <a:xfrm>
            <a:off x="3765550" y="3403600"/>
            <a:ext cx="12700" cy="38100"/>
          </a:xfrm>
          <a:prstGeom prst="rect">
            <a:avLst/>
          </a:prstGeom>
          <a:solidFill>
            <a:srgbClr val="F4F0E7"/>
          </a:solidFill>
          <a:ln w="12700">
            <a:solidFill>
              <a:srgbClr val="F4F0E7"/>
            </a:solidFill>
            <a:prstDash val="solid"/>
          </a:ln>
        </p:spPr>
      </p:sp>
      <p:sp>
        <p:nvSpPr>
          <p:cNvPr id="29" name="Editable road path 11"/>
          <p:cNvSpPr/>
          <p:nvPr/>
        </p:nvSpPr>
        <p:spPr>
          <a:xfrm>
            <a:off x="876300" y="4914900"/>
            <a:ext cx="241300" cy="101600"/>
          </a:xfrm>
          <a:custGeom>
            <a:avLst/>
            <a:gdLst/>
            <a:ahLst/>
            <a:cxnLst/>
            <a:rect l="0" t="0" r="r" b="b"/>
            <a:pathLst>
              <a:path w="10000" h="10000">
                <a:moveTo>
                  <a:pt x="0" y="5000"/>
                </a:moveTo>
                <a:lnTo>
                  <a:pt x="9474" y="0"/>
                </a:lnTo>
                <a:lnTo>
                  <a:pt x="10000" y="5000"/>
                </a:lnTo>
                <a:lnTo>
                  <a:pt x="526" y="10000"/>
                </a:lnTo>
                <a:close/>
                <a:close/>
              </a:path>
            </a:pathLst>
          </a:custGeom>
          <a:solidFill>
            <a:srgbClr val="F4F0E7"/>
          </a:solidFill>
          <a:ln w="12700">
            <a:solidFill>
              <a:srgbClr val="F4F0E7"/>
            </a:solidFill>
            <a:prstDash val="solid"/>
          </a:ln>
        </p:spPr>
      </p:sp>
      <p:sp>
        <p:nvSpPr>
          <p:cNvPr id="30" name="Editable road path 12"/>
          <p:cNvSpPr/>
          <p:nvPr/>
        </p:nvSpPr>
        <p:spPr>
          <a:xfrm>
            <a:off x="1447800" y="4800600"/>
            <a:ext cx="215900" cy="101600"/>
          </a:xfrm>
          <a:custGeom>
            <a:avLst/>
            <a:gdLst/>
            <a:ahLst/>
            <a:cxnLst/>
            <a:rect l="0" t="0" r="r" b="b"/>
            <a:pathLst>
              <a:path w="10000" h="10000">
                <a:moveTo>
                  <a:pt x="0" y="5000"/>
                </a:moveTo>
                <a:lnTo>
                  <a:pt x="9412" y="0"/>
                </a:lnTo>
                <a:lnTo>
                  <a:pt x="10000" y="5000"/>
                </a:lnTo>
                <a:lnTo>
                  <a:pt x="588" y="10000"/>
                </a:lnTo>
                <a:close/>
                <a:close/>
              </a:path>
            </a:pathLst>
          </a:custGeom>
          <a:solidFill>
            <a:srgbClr val="F4F0E7"/>
          </a:solidFill>
          <a:ln w="12700">
            <a:solidFill>
              <a:srgbClr val="F4F0E7"/>
            </a:solidFill>
            <a:prstDash val="solid"/>
          </a:ln>
        </p:spPr>
      </p:sp>
      <p:sp>
        <p:nvSpPr>
          <p:cNvPr id="31" name="Editable road path 13"/>
          <p:cNvSpPr/>
          <p:nvPr/>
        </p:nvSpPr>
        <p:spPr>
          <a:xfrm>
            <a:off x="1993900" y="4699000"/>
            <a:ext cx="190500" cy="101600"/>
          </a:xfrm>
          <a:custGeom>
            <a:avLst/>
            <a:gdLst/>
            <a:ahLst/>
            <a:cxnLst/>
            <a:rect l="0" t="0" r="r" b="b"/>
            <a:pathLst>
              <a:path w="10000" h="10000">
                <a:moveTo>
                  <a:pt x="0" y="5000"/>
                </a:moveTo>
                <a:lnTo>
                  <a:pt x="9333" y="0"/>
                </a:lnTo>
                <a:lnTo>
                  <a:pt x="10000" y="5000"/>
                </a:lnTo>
                <a:lnTo>
                  <a:pt x="667" y="10000"/>
                </a:lnTo>
                <a:close/>
                <a:close/>
              </a:path>
            </a:pathLst>
          </a:custGeom>
          <a:solidFill>
            <a:srgbClr val="F4F0E7"/>
          </a:solidFill>
          <a:ln w="12700">
            <a:solidFill>
              <a:srgbClr val="F4F0E7"/>
            </a:solidFill>
            <a:prstDash val="solid"/>
          </a:ln>
        </p:spPr>
      </p:sp>
      <p:sp>
        <p:nvSpPr>
          <p:cNvPr id="32" name="Editable road path 14"/>
          <p:cNvSpPr/>
          <p:nvPr/>
        </p:nvSpPr>
        <p:spPr>
          <a:xfrm>
            <a:off x="2501900" y="4584700"/>
            <a:ext cx="165100" cy="101600"/>
          </a:xfrm>
          <a:custGeom>
            <a:avLst/>
            <a:gdLst/>
            <a:ahLst/>
            <a:cxnLst/>
            <a:rect l="0" t="0" r="r" b="b"/>
            <a:pathLst>
              <a:path w="10000" h="10000">
                <a:moveTo>
                  <a:pt x="0" y="5000"/>
                </a:moveTo>
                <a:lnTo>
                  <a:pt x="9231" y="0"/>
                </a:lnTo>
                <a:lnTo>
                  <a:pt x="10000" y="5000"/>
                </a:lnTo>
                <a:lnTo>
                  <a:pt x="769" y="10000"/>
                </a:lnTo>
                <a:close/>
                <a:close/>
              </a:path>
            </a:pathLst>
          </a:custGeom>
          <a:solidFill>
            <a:srgbClr val="F4F0E7"/>
          </a:solidFill>
          <a:ln w="12700">
            <a:solidFill>
              <a:srgbClr val="F4F0E7"/>
            </a:solidFill>
            <a:prstDash val="solid"/>
          </a:ln>
        </p:spPr>
      </p:sp>
      <p:sp>
        <p:nvSpPr>
          <p:cNvPr id="33" name="Editable road path 15"/>
          <p:cNvSpPr/>
          <p:nvPr/>
        </p:nvSpPr>
        <p:spPr>
          <a:xfrm>
            <a:off x="2984500" y="4419600"/>
            <a:ext cx="139700" cy="101600"/>
          </a:xfrm>
          <a:custGeom>
            <a:avLst/>
            <a:gdLst/>
            <a:ahLst/>
            <a:cxnLst/>
            <a:rect l="0" t="0" r="r" b="b"/>
            <a:pathLst>
              <a:path w="10000" h="10000">
                <a:moveTo>
                  <a:pt x="0" y="5000"/>
                </a:moveTo>
                <a:lnTo>
                  <a:pt x="9091" y="0"/>
                </a:lnTo>
                <a:lnTo>
                  <a:pt x="10000" y="5000"/>
                </a:lnTo>
                <a:lnTo>
                  <a:pt x="909" y="10000"/>
                </a:lnTo>
                <a:close/>
                <a:close/>
              </a:path>
            </a:pathLst>
          </a:custGeom>
          <a:solidFill>
            <a:srgbClr val="F4F0E7"/>
          </a:solidFill>
          <a:ln w="12700">
            <a:solidFill>
              <a:srgbClr val="F4F0E7"/>
            </a:solidFill>
            <a:prstDash val="solid"/>
          </a:ln>
        </p:spPr>
      </p:sp>
      <p:sp>
        <p:nvSpPr>
          <p:cNvPr id="34" name="Editable road path 16"/>
          <p:cNvSpPr/>
          <p:nvPr/>
        </p:nvSpPr>
        <p:spPr>
          <a:xfrm>
            <a:off x="6438900" y="4914900"/>
            <a:ext cx="241300" cy="101600"/>
          </a:xfrm>
          <a:custGeom>
            <a:avLst/>
            <a:gdLst/>
            <a:ahLst/>
            <a:cxnLst/>
            <a:rect l="0" t="0" r="r" b="b"/>
            <a:pathLst>
              <a:path w="10000" h="10000">
                <a:moveTo>
                  <a:pt x="10000" y="5000"/>
                </a:moveTo>
                <a:lnTo>
                  <a:pt x="526" y="0"/>
                </a:lnTo>
                <a:lnTo>
                  <a:pt x="0" y="5000"/>
                </a:lnTo>
                <a:lnTo>
                  <a:pt x="9474" y="10000"/>
                </a:lnTo>
                <a:close/>
                <a:close/>
              </a:path>
            </a:pathLst>
          </a:custGeom>
          <a:solidFill>
            <a:srgbClr val="F4F0E7"/>
          </a:solidFill>
          <a:ln w="12700">
            <a:solidFill>
              <a:srgbClr val="F4F0E7"/>
            </a:solidFill>
            <a:prstDash val="solid"/>
          </a:ln>
        </p:spPr>
      </p:sp>
      <p:sp>
        <p:nvSpPr>
          <p:cNvPr id="35" name="Editable road path 17"/>
          <p:cNvSpPr/>
          <p:nvPr/>
        </p:nvSpPr>
        <p:spPr>
          <a:xfrm>
            <a:off x="5892800" y="4800600"/>
            <a:ext cx="215900" cy="101600"/>
          </a:xfrm>
          <a:custGeom>
            <a:avLst/>
            <a:gdLst/>
            <a:ahLst/>
            <a:cxnLst/>
            <a:rect l="0" t="0" r="r" b="b"/>
            <a:pathLst>
              <a:path w="10000" h="10000">
                <a:moveTo>
                  <a:pt x="10000" y="5000"/>
                </a:moveTo>
                <a:lnTo>
                  <a:pt x="588" y="0"/>
                </a:lnTo>
                <a:lnTo>
                  <a:pt x="0" y="5000"/>
                </a:lnTo>
                <a:lnTo>
                  <a:pt x="9412" y="10000"/>
                </a:lnTo>
                <a:close/>
                <a:close/>
              </a:path>
            </a:pathLst>
          </a:custGeom>
          <a:solidFill>
            <a:srgbClr val="F4F0E7"/>
          </a:solidFill>
          <a:ln w="12700">
            <a:solidFill>
              <a:srgbClr val="F4F0E7"/>
            </a:solidFill>
            <a:prstDash val="solid"/>
          </a:ln>
        </p:spPr>
      </p:sp>
      <p:sp>
        <p:nvSpPr>
          <p:cNvPr id="36" name="Editable road path 18"/>
          <p:cNvSpPr/>
          <p:nvPr/>
        </p:nvSpPr>
        <p:spPr>
          <a:xfrm>
            <a:off x="5372100" y="4699000"/>
            <a:ext cx="190500" cy="101600"/>
          </a:xfrm>
          <a:custGeom>
            <a:avLst/>
            <a:gdLst/>
            <a:ahLst/>
            <a:cxnLst/>
            <a:rect l="0" t="0" r="r" b="b"/>
            <a:pathLst>
              <a:path w="10000" h="10000">
                <a:moveTo>
                  <a:pt x="10000" y="5000"/>
                </a:moveTo>
                <a:lnTo>
                  <a:pt x="667" y="0"/>
                </a:lnTo>
                <a:lnTo>
                  <a:pt x="0" y="5000"/>
                </a:lnTo>
                <a:lnTo>
                  <a:pt x="9333" y="10000"/>
                </a:lnTo>
                <a:close/>
                <a:close/>
              </a:path>
            </a:pathLst>
          </a:custGeom>
          <a:solidFill>
            <a:srgbClr val="F4F0E7"/>
          </a:solidFill>
          <a:ln w="12700">
            <a:solidFill>
              <a:srgbClr val="F4F0E7"/>
            </a:solidFill>
            <a:prstDash val="solid"/>
          </a:ln>
        </p:spPr>
      </p:sp>
      <p:sp>
        <p:nvSpPr>
          <p:cNvPr id="37" name="Editable road path 19"/>
          <p:cNvSpPr/>
          <p:nvPr/>
        </p:nvSpPr>
        <p:spPr>
          <a:xfrm>
            <a:off x="4889500" y="4584700"/>
            <a:ext cx="165100" cy="101600"/>
          </a:xfrm>
          <a:custGeom>
            <a:avLst/>
            <a:gdLst/>
            <a:ahLst/>
            <a:cxnLst/>
            <a:rect l="0" t="0" r="r" b="b"/>
            <a:pathLst>
              <a:path w="10000" h="10000">
                <a:moveTo>
                  <a:pt x="10000" y="5000"/>
                </a:moveTo>
                <a:lnTo>
                  <a:pt x="769" y="0"/>
                </a:lnTo>
                <a:lnTo>
                  <a:pt x="0" y="5000"/>
                </a:lnTo>
                <a:lnTo>
                  <a:pt x="9231" y="10000"/>
                </a:lnTo>
                <a:close/>
                <a:close/>
              </a:path>
            </a:pathLst>
          </a:custGeom>
          <a:solidFill>
            <a:srgbClr val="F4F0E7"/>
          </a:solidFill>
          <a:ln w="12700">
            <a:solidFill>
              <a:srgbClr val="F4F0E7"/>
            </a:solidFill>
            <a:prstDash val="solid"/>
          </a:ln>
        </p:spPr>
      </p:sp>
      <p:sp>
        <p:nvSpPr>
          <p:cNvPr id="38" name="Editable road path 20"/>
          <p:cNvSpPr/>
          <p:nvPr/>
        </p:nvSpPr>
        <p:spPr>
          <a:xfrm>
            <a:off x="4432300" y="4419600"/>
            <a:ext cx="139700" cy="101600"/>
          </a:xfrm>
          <a:custGeom>
            <a:avLst/>
            <a:gdLst/>
            <a:ahLst/>
            <a:cxnLst/>
            <a:rect l="0" t="0" r="r" b="b"/>
            <a:pathLst>
              <a:path w="10000" h="10000">
                <a:moveTo>
                  <a:pt x="10000" y="5000"/>
                </a:moveTo>
                <a:lnTo>
                  <a:pt x="909" y="0"/>
                </a:lnTo>
                <a:lnTo>
                  <a:pt x="0" y="5000"/>
                </a:lnTo>
                <a:lnTo>
                  <a:pt x="9091" y="10000"/>
                </a:lnTo>
                <a:close/>
                <a:close/>
              </a:path>
            </a:pathLst>
          </a:custGeom>
          <a:solidFill>
            <a:srgbClr val="F4F0E7"/>
          </a:solidFill>
          <a:ln w="12700">
            <a:solidFill>
              <a:srgbClr val="F4F0E7"/>
            </a:solidFill>
            <a:prstDash val="solid"/>
          </a:ln>
        </p:spPr>
      </p:sp>
      <p:sp>
        <p:nvSpPr>
          <p:cNvPr id="39" name="Text 37"/>
          <p:cNvSpPr/>
          <p:nvPr/>
        </p:nvSpPr>
        <p:spPr>
          <a:xfrm>
            <a:off x="457200" y="3924300"/>
            <a:ext cx="2260600" cy="3429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Connections</a:t>
            </a:r>
            <a:endParaRPr lang="en-US" sz="1500" dirty="0"/>
          </a:p>
        </p:txBody>
      </p:sp>
      <p:sp>
        <p:nvSpPr>
          <p:cNvPr id="40" name="Text 38"/>
          <p:cNvSpPr/>
          <p:nvPr/>
        </p:nvSpPr>
        <p:spPr>
          <a:xfrm>
            <a:off x="2768600" y="2844800"/>
            <a:ext cx="2286000" cy="317500"/>
          </a:xfrm>
          <a:prstGeom prst="rect">
            <a:avLst/>
          </a:prstGeom>
          <a:noFill/>
          <a:ln/>
        </p:spPr>
        <p:txBody>
          <a:bodyPr wrap="square" lIns="0" tIns="0" rIns="0" bIns="0" rtlCol="0" anchor="t"/>
          <a:lstStyle/>
          <a:p>
            <a:pPr algn="ct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Cooperation</a:t>
            </a:r>
            <a:endParaRPr lang="en-US" sz="1500" dirty="0"/>
          </a:p>
        </p:txBody>
      </p:sp>
      <p:sp>
        <p:nvSpPr>
          <p:cNvPr id="41" name="Text 39"/>
          <p:cNvSpPr/>
          <p:nvPr/>
        </p:nvSpPr>
        <p:spPr>
          <a:xfrm>
            <a:off x="5181600" y="3810000"/>
            <a:ext cx="1917700" cy="546100"/>
          </a:xfrm>
          <a:prstGeom prst="rect">
            <a:avLst/>
          </a:prstGeom>
          <a:noFill/>
          <a:ln/>
        </p:spPr>
        <p:txBody>
          <a:bodyPr wrap="square" lIns="0" tIns="0" rIns="0" bIns="0" rtlCol="0" anchor="t"/>
          <a:lstStyle/>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Direction +</a:t>
            </a:r>
            <a:endParaRPr lang="en-US" sz="1500" dirty="0"/>
          </a:p>
          <a:p>
            <a:pPr indent="0" marL="0">
              <a:lnSpc>
                <a:spcPct val="112000"/>
              </a:lnSpc>
              <a:buNone/>
            </a:pPr>
            <a:r>
              <a:rPr lang="en-US" sz="1500" b="1" dirty="0">
                <a:solidFill>
                  <a:srgbClr val="F4F0E7"/>
                </a:solidFill>
                <a:latin typeface="Montserrat" pitchFamily="34" charset="0"/>
                <a:ea typeface="Montserrat" pitchFamily="34" charset="-122"/>
                <a:cs typeface="Montserrat" pitchFamily="34" charset="-120"/>
              </a:rPr>
              <a:t>correction</a:t>
            </a:r>
            <a:endParaRPr lang="en-US" sz="1500" dirty="0"/>
          </a:p>
        </p:txBody>
      </p:sp>
      <p:sp>
        <p:nvSpPr>
          <p:cNvPr id="42" name="Text 40"/>
          <p:cNvSpPr/>
          <p:nvPr/>
        </p:nvSpPr>
        <p:spPr>
          <a:xfrm>
            <a:off x="457200" y="7213600"/>
            <a:ext cx="6642100" cy="304800"/>
          </a:xfrm>
          <a:prstGeom prst="rect">
            <a:avLst/>
          </a:prstGeom>
          <a:noFill/>
          <a:ln/>
        </p:spPr>
        <p:txBody>
          <a:bodyPr wrap="square" lIns="0" tIns="0" rIns="0" bIns="0" rtlCol="0" anchor="t"/>
          <a:lstStyle/>
          <a:p>
            <a:pP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THREE IDEAS. NOT THREE CERTAINTIES.</a:t>
            </a:r>
            <a:endParaRPr lang="en-US" sz="1200" dirty="0"/>
          </a:p>
        </p:txBody>
      </p:sp>
      <p:sp>
        <p:nvSpPr>
          <p:cNvPr id="43" name="Text 41"/>
          <p:cNvSpPr/>
          <p:nvPr/>
        </p:nvSpPr>
        <p:spPr>
          <a:xfrm>
            <a:off x="457200" y="7810500"/>
            <a:ext cx="6642100" cy="12192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Connections: supported with exceptions.</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Trust: inconclusive.</a:t>
            </a:r>
            <a:endParaRPr lang="en-US" sz="1700" dirty="0"/>
          </a:p>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Continuity + adaptation: supported with exceptions.</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1 / CONNECTED DEVELOPMENT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Connections must reach further.</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Illustrative networks—not actual routes or measured infrastructure. Line weight is visual hierarchy, not traffic or capacity.</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Country outlines are generalized and independently fitted, not a common map scale. Networks are fictional—not road/rail inventories or an infrastructure ranking. Connections alone do not establish causality.</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 Outlines: Natural Earth (n.d.), 1:110m, public domain.</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20</a:t>
            </a:r>
            <a:endParaRPr lang="en-US" sz="1000" dirty="0"/>
          </a:p>
        </p:txBody>
      </p:sp>
      <p:sp>
        <p:nvSpPr>
          <p:cNvPr id="11" name="Text 9"/>
          <p:cNvSpPr/>
          <p:nvPr/>
        </p:nvSpPr>
        <p:spPr>
          <a:xfrm>
            <a:off x="4572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15A78"/>
                </a:solidFill>
                <a:latin typeface="Montserrat" pitchFamily="34" charset="0"/>
                <a:ea typeface="Montserrat" pitchFamily="34" charset="-122"/>
                <a:cs typeface="Montserrat" pitchFamily="34" charset="-120"/>
              </a:rPr>
              <a:t>South Korea</a:t>
            </a:r>
            <a:endParaRPr lang="en-US" sz="1500" dirty="0"/>
          </a:p>
        </p:txBody>
      </p:sp>
      <p:pic>
        <p:nvPicPr>
          <p:cNvPr id="1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7560005" cy="10692003"/>
          </a:xfrm>
          <a:prstGeom prst="rect">
            <a:avLst/>
          </a:prstGeom>
        </p:spPr>
      </p:pic>
      <p:sp>
        <p:nvSpPr>
          <p:cNvPr id="13" name="Editable road path 21"/>
          <p:cNvSpPr/>
          <p:nvPr/>
        </p:nvSpPr>
        <p:spPr>
          <a:xfrm>
            <a:off x="701267" y="3972870"/>
            <a:ext cx="1734529" cy="2192050"/>
          </a:xfrm>
          <a:custGeom>
            <a:avLst/>
            <a:gdLst/>
            <a:ahLst/>
            <a:cxnLst/>
            <a:rect l="0" t="0" r="r" b="b"/>
            <a:pathLst>
              <a:path w="10000" h="10000">
                <a:moveTo>
                  <a:pt x="4657" y="265"/>
                </a:moveTo>
                <a:lnTo>
                  <a:pt x="5355" y="121"/>
                </a:lnTo>
                <a:lnTo>
                  <a:pt x="5345" y="90"/>
                </a:lnTo>
                <a:lnTo>
                  <a:pt x="4647" y="234"/>
                </a:lnTo>
                <a:close/>
                <a:moveTo>
                  <a:pt x="4633" y="244"/>
                </a:moveTo>
                <a:lnTo>
                  <a:pt x="4327" y="900"/>
                </a:lnTo>
                <a:lnTo>
                  <a:pt x="4365" y="911"/>
                </a:lnTo>
                <a:lnTo>
                  <a:pt x="4671" y="255"/>
                </a:lnTo>
                <a:close/>
                <a:moveTo>
                  <a:pt x="5353" y="122"/>
                </a:moveTo>
                <a:lnTo>
                  <a:pt x="6099" y="32"/>
                </a:lnTo>
                <a:lnTo>
                  <a:pt x="6093" y="0"/>
                </a:lnTo>
                <a:lnTo>
                  <a:pt x="5347" y="90"/>
                </a:lnTo>
                <a:close/>
                <a:moveTo>
                  <a:pt x="5330" y="106"/>
                </a:moveTo>
                <a:lnTo>
                  <a:pt x="5350" y="707"/>
                </a:lnTo>
                <a:lnTo>
                  <a:pt x="5390" y="706"/>
                </a:lnTo>
                <a:lnTo>
                  <a:pt x="5370" y="105"/>
                </a:lnTo>
                <a:close/>
                <a:moveTo>
                  <a:pt x="6091" y="31"/>
                </a:moveTo>
                <a:lnTo>
                  <a:pt x="7007" y="233"/>
                </a:lnTo>
                <a:lnTo>
                  <a:pt x="7018" y="202"/>
                </a:lnTo>
                <a:lnTo>
                  <a:pt x="6101" y="0"/>
                </a:lnTo>
                <a:close/>
                <a:moveTo>
                  <a:pt x="6077" y="21"/>
                </a:moveTo>
                <a:lnTo>
                  <a:pt x="6405" y="816"/>
                </a:lnTo>
                <a:lnTo>
                  <a:pt x="6443" y="807"/>
                </a:lnTo>
                <a:lnTo>
                  <a:pt x="6115" y="11"/>
                </a:lnTo>
                <a:close/>
                <a:moveTo>
                  <a:pt x="6996" y="208"/>
                </a:moveTo>
                <a:lnTo>
                  <a:pt x="6408" y="802"/>
                </a:lnTo>
                <a:lnTo>
                  <a:pt x="6440" y="821"/>
                </a:lnTo>
                <a:lnTo>
                  <a:pt x="7028" y="227"/>
                </a:lnTo>
                <a:close/>
                <a:moveTo>
                  <a:pt x="6993" y="223"/>
                </a:moveTo>
                <a:lnTo>
                  <a:pt x="7327" y="948"/>
                </a:lnTo>
                <a:lnTo>
                  <a:pt x="7365" y="937"/>
                </a:lnTo>
                <a:lnTo>
                  <a:pt x="7031" y="212"/>
                </a:lnTo>
                <a:close/>
                <a:moveTo>
                  <a:pt x="2058" y="856"/>
                </a:moveTo>
                <a:lnTo>
                  <a:pt x="2776" y="714"/>
                </a:lnTo>
                <a:lnTo>
                  <a:pt x="2766" y="683"/>
                </a:lnTo>
                <a:lnTo>
                  <a:pt x="2048" y="825"/>
                </a:lnTo>
                <a:close/>
                <a:moveTo>
                  <a:pt x="2035" y="834"/>
                </a:moveTo>
                <a:lnTo>
                  <a:pt x="1677" y="1416"/>
                </a:lnTo>
                <a:lnTo>
                  <a:pt x="1714" y="1430"/>
                </a:lnTo>
                <a:lnTo>
                  <a:pt x="2071" y="847"/>
                </a:lnTo>
                <a:close/>
                <a:moveTo>
                  <a:pt x="2765" y="713"/>
                </a:moveTo>
                <a:lnTo>
                  <a:pt x="3479" y="897"/>
                </a:lnTo>
                <a:lnTo>
                  <a:pt x="3491" y="867"/>
                </a:lnTo>
                <a:lnTo>
                  <a:pt x="2777" y="683"/>
                </a:lnTo>
                <a:close/>
                <a:moveTo>
                  <a:pt x="2751" y="697"/>
                </a:moveTo>
                <a:lnTo>
                  <a:pt x="2659" y="1467"/>
                </a:lnTo>
                <a:lnTo>
                  <a:pt x="2699" y="1470"/>
                </a:lnTo>
                <a:lnTo>
                  <a:pt x="2791" y="700"/>
                </a:lnTo>
                <a:close/>
                <a:moveTo>
                  <a:pt x="3484" y="898"/>
                </a:moveTo>
                <a:lnTo>
                  <a:pt x="4345" y="921"/>
                </a:lnTo>
                <a:lnTo>
                  <a:pt x="4347" y="889"/>
                </a:lnTo>
                <a:lnTo>
                  <a:pt x="3486" y="866"/>
                </a:lnTo>
                <a:close/>
                <a:moveTo>
                  <a:pt x="3466" y="886"/>
                </a:moveTo>
                <a:lnTo>
                  <a:pt x="3724" y="1646"/>
                </a:lnTo>
                <a:lnTo>
                  <a:pt x="3763" y="1637"/>
                </a:lnTo>
                <a:lnTo>
                  <a:pt x="3504" y="878"/>
                </a:lnTo>
                <a:close/>
                <a:moveTo>
                  <a:pt x="4328" y="913"/>
                </a:moveTo>
                <a:lnTo>
                  <a:pt x="4699" y="1491"/>
                </a:lnTo>
                <a:lnTo>
                  <a:pt x="4735" y="1477"/>
                </a:lnTo>
                <a:lnTo>
                  <a:pt x="4364" y="898"/>
                </a:lnTo>
                <a:close/>
                <a:moveTo>
                  <a:pt x="4351" y="921"/>
                </a:moveTo>
                <a:lnTo>
                  <a:pt x="5375" y="722"/>
                </a:lnTo>
                <a:lnTo>
                  <a:pt x="5365" y="691"/>
                </a:lnTo>
                <a:lnTo>
                  <a:pt x="4341" y="890"/>
                </a:lnTo>
                <a:close/>
                <a:moveTo>
                  <a:pt x="5350" y="709"/>
                </a:moveTo>
                <a:lnTo>
                  <a:pt x="5493" y="1415"/>
                </a:lnTo>
                <a:lnTo>
                  <a:pt x="5533" y="1410"/>
                </a:lnTo>
                <a:lnTo>
                  <a:pt x="5390" y="704"/>
                </a:lnTo>
                <a:close/>
                <a:moveTo>
                  <a:pt x="5368" y="722"/>
                </a:moveTo>
                <a:lnTo>
                  <a:pt x="6421" y="827"/>
                </a:lnTo>
                <a:lnTo>
                  <a:pt x="6426" y="796"/>
                </a:lnTo>
                <a:lnTo>
                  <a:pt x="5373" y="691"/>
                </a:lnTo>
                <a:close/>
                <a:moveTo>
                  <a:pt x="6420" y="827"/>
                </a:moveTo>
                <a:lnTo>
                  <a:pt x="7343" y="958"/>
                </a:lnTo>
                <a:lnTo>
                  <a:pt x="7350" y="927"/>
                </a:lnTo>
                <a:lnTo>
                  <a:pt x="6428" y="796"/>
                </a:lnTo>
                <a:close/>
                <a:moveTo>
                  <a:pt x="6404" y="808"/>
                </a:moveTo>
                <a:lnTo>
                  <a:pt x="6187" y="1613"/>
                </a:lnTo>
                <a:lnTo>
                  <a:pt x="6227" y="1620"/>
                </a:lnTo>
                <a:lnTo>
                  <a:pt x="6444" y="815"/>
                </a:lnTo>
                <a:close/>
                <a:moveTo>
                  <a:pt x="7332" y="954"/>
                </a:moveTo>
                <a:lnTo>
                  <a:pt x="7892" y="1403"/>
                </a:lnTo>
                <a:lnTo>
                  <a:pt x="7921" y="1380"/>
                </a:lnTo>
                <a:lnTo>
                  <a:pt x="7360" y="931"/>
                </a:lnTo>
                <a:close/>
                <a:moveTo>
                  <a:pt x="7328" y="936"/>
                </a:moveTo>
                <a:lnTo>
                  <a:pt x="6951" y="1549"/>
                </a:lnTo>
                <a:lnTo>
                  <a:pt x="6987" y="1563"/>
                </a:lnTo>
                <a:lnTo>
                  <a:pt x="7364" y="949"/>
                </a:lnTo>
                <a:close/>
                <a:moveTo>
                  <a:pt x="189" y="1556"/>
                </a:moveTo>
                <a:lnTo>
                  <a:pt x="885" y="1641"/>
                </a:lnTo>
                <a:lnTo>
                  <a:pt x="891" y="1610"/>
                </a:lnTo>
                <a:lnTo>
                  <a:pt x="195" y="1524"/>
                </a:lnTo>
                <a:close/>
                <a:moveTo>
                  <a:pt x="178" y="1551"/>
                </a:moveTo>
                <a:lnTo>
                  <a:pt x="1040" y="2230"/>
                </a:lnTo>
                <a:lnTo>
                  <a:pt x="1068" y="2207"/>
                </a:lnTo>
                <a:lnTo>
                  <a:pt x="206" y="1529"/>
                </a:lnTo>
                <a:close/>
                <a:moveTo>
                  <a:pt x="869" y="1629"/>
                </a:moveTo>
                <a:lnTo>
                  <a:pt x="1034" y="2222"/>
                </a:lnTo>
                <a:lnTo>
                  <a:pt x="1074" y="2215"/>
                </a:lnTo>
                <a:lnTo>
                  <a:pt x="908" y="1622"/>
                </a:lnTo>
                <a:close/>
                <a:moveTo>
                  <a:pt x="894" y="1641"/>
                </a:moveTo>
                <a:lnTo>
                  <a:pt x="1702" y="1438"/>
                </a:lnTo>
                <a:lnTo>
                  <a:pt x="1689" y="1408"/>
                </a:lnTo>
                <a:lnTo>
                  <a:pt x="882" y="1610"/>
                </a:lnTo>
                <a:close/>
                <a:moveTo>
                  <a:pt x="1677" y="1429"/>
                </a:moveTo>
                <a:lnTo>
                  <a:pt x="2052" y="2098"/>
                </a:lnTo>
                <a:lnTo>
                  <a:pt x="2089" y="2085"/>
                </a:lnTo>
                <a:lnTo>
                  <a:pt x="1714" y="1416"/>
                </a:lnTo>
                <a:close/>
                <a:moveTo>
                  <a:pt x="1694" y="1439"/>
                </a:moveTo>
                <a:lnTo>
                  <a:pt x="2678" y="1484"/>
                </a:lnTo>
                <a:lnTo>
                  <a:pt x="2681" y="1452"/>
                </a:lnTo>
                <a:lnTo>
                  <a:pt x="1697" y="1407"/>
                </a:lnTo>
                <a:close/>
                <a:moveTo>
                  <a:pt x="2664" y="1459"/>
                </a:moveTo>
                <a:lnTo>
                  <a:pt x="2054" y="2082"/>
                </a:lnTo>
                <a:lnTo>
                  <a:pt x="2086" y="2101"/>
                </a:lnTo>
                <a:lnTo>
                  <a:pt x="2695" y="1478"/>
                </a:lnTo>
                <a:close/>
                <a:moveTo>
                  <a:pt x="2660" y="1472"/>
                </a:moveTo>
                <a:lnTo>
                  <a:pt x="2899" y="2286"/>
                </a:lnTo>
                <a:lnTo>
                  <a:pt x="2938" y="2279"/>
                </a:lnTo>
                <a:lnTo>
                  <a:pt x="2699" y="1465"/>
                </a:lnTo>
                <a:close/>
                <a:moveTo>
                  <a:pt x="3723" y="1639"/>
                </a:moveTo>
                <a:lnTo>
                  <a:pt x="3607" y="2284"/>
                </a:lnTo>
                <a:lnTo>
                  <a:pt x="3647" y="2288"/>
                </a:lnTo>
                <a:lnTo>
                  <a:pt x="3763" y="1644"/>
                </a:lnTo>
                <a:close/>
                <a:moveTo>
                  <a:pt x="3730" y="1653"/>
                </a:moveTo>
                <a:lnTo>
                  <a:pt x="4338" y="2104"/>
                </a:lnTo>
                <a:lnTo>
                  <a:pt x="4366" y="2081"/>
                </a:lnTo>
                <a:lnTo>
                  <a:pt x="3757" y="1630"/>
                </a:lnTo>
                <a:close/>
                <a:moveTo>
                  <a:pt x="4719" y="1500"/>
                </a:moveTo>
                <a:lnTo>
                  <a:pt x="5515" y="1429"/>
                </a:lnTo>
                <a:lnTo>
                  <a:pt x="5510" y="1397"/>
                </a:lnTo>
                <a:lnTo>
                  <a:pt x="4715" y="1468"/>
                </a:lnTo>
                <a:close/>
                <a:moveTo>
                  <a:pt x="4699" y="1477"/>
                </a:moveTo>
                <a:lnTo>
                  <a:pt x="4334" y="2086"/>
                </a:lnTo>
                <a:lnTo>
                  <a:pt x="4370" y="2099"/>
                </a:lnTo>
                <a:lnTo>
                  <a:pt x="4735" y="1491"/>
                </a:lnTo>
                <a:close/>
                <a:moveTo>
                  <a:pt x="5506" y="1428"/>
                </a:moveTo>
                <a:lnTo>
                  <a:pt x="6200" y="1631"/>
                </a:lnTo>
                <a:lnTo>
                  <a:pt x="6214" y="1601"/>
                </a:lnTo>
                <a:lnTo>
                  <a:pt x="5520" y="1398"/>
                </a:lnTo>
                <a:close/>
                <a:moveTo>
                  <a:pt x="5493" y="1408"/>
                </a:moveTo>
                <a:lnTo>
                  <a:pt x="5215" y="2210"/>
                </a:lnTo>
                <a:lnTo>
                  <a:pt x="5254" y="2219"/>
                </a:lnTo>
                <a:lnTo>
                  <a:pt x="5532" y="1417"/>
                </a:lnTo>
                <a:close/>
                <a:moveTo>
                  <a:pt x="6209" y="1632"/>
                </a:moveTo>
                <a:lnTo>
                  <a:pt x="6971" y="1572"/>
                </a:lnTo>
                <a:lnTo>
                  <a:pt x="6967" y="1540"/>
                </a:lnTo>
                <a:lnTo>
                  <a:pt x="6205" y="1600"/>
                </a:lnTo>
                <a:close/>
                <a:moveTo>
                  <a:pt x="6187" y="1617"/>
                </a:moveTo>
                <a:lnTo>
                  <a:pt x="6251" y="2330"/>
                </a:lnTo>
                <a:lnTo>
                  <a:pt x="6291" y="2328"/>
                </a:lnTo>
                <a:lnTo>
                  <a:pt x="6227" y="1615"/>
                </a:lnTo>
                <a:close/>
                <a:moveTo>
                  <a:pt x="6951" y="1563"/>
                </a:moveTo>
                <a:lnTo>
                  <a:pt x="7299" y="2140"/>
                </a:lnTo>
                <a:lnTo>
                  <a:pt x="7335" y="2126"/>
                </a:lnTo>
                <a:lnTo>
                  <a:pt x="6987" y="1549"/>
                </a:lnTo>
                <a:close/>
                <a:moveTo>
                  <a:pt x="6974" y="1571"/>
                </a:moveTo>
                <a:lnTo>
                  <a:pt x="7911" y="1407"/>
                </a:lnTo>
                <a:lnTo>
                  <a:pt x="7902" y="1376"/>
                </a:lnTo>
                <a:lnTo>
                  <a:pt x="6965" y="1540"/>
                </a:lnTo>
                <a:close/>
                <a:moveTo>
                  <a:pt x="7887" y="1396"/>
                </a:moveTo>
                <a:lnTo>
                  <a:pt x="8199" y="2150"/>
                </a:lnTo>
                <a:lnTo>
                  <a:pt x="8237" y="2140"/>
                </a:lnTo>
                <a:lnTo>
                  <a:pt x="7926" y="1386"/>
                </a:lnTo>
                <a:close/>
                <a:moveTo>
                  <a:pt x="7889" y="1383"/>
                </a:moveTo>
                <a:lnTo>
                  <a:pt x="7300" y="2125"/>
                </a:lnTo>
                <a:lnTo>
                  <a:pt x="7334" y="2142"/>
                </a:lnTo>
                <a:lnTo>
                  <a:pt x="7923" y="1400"/>
                </a:lnTo>
                <a:close/>
                <a:moveTo>
                  <a:pt x="1034" y="2218"/>
                </a:moveTo>
                <a:lnTo>
                  <a:pt x="1029" y="2805"/>
                </a:lnTo>
                <a:lnTo>
                  <a:pt x="1069" y="2806"/>
                </a:lnTo>
                <a:lnTo>
                  <a:pt x="1074" y="2219"/>
                </a:lnTo>
                <a:close/>
                <a:moveTo>
                  <a:pt x="1057" y="2234"/>
                </a:moveTo>
                <a:lnTo>
                  <a:pt x="2073" y="2107"/>
                </a:lnTo>
                <a:lnTo>
                  <a:pt x="2067" y="2076"/>
                </a:lnTo>
                <a:lnTo>
                  <a:pt x="1051" y="2203"/>
                </a:lnTo>
                <a:close/>
                <a:moveTo>
                  <a:pt x="2065" y="2107"/>
                </a:moveTo>
                <a:lnTo>
                  <a:pt x="2913" y="2298"/>
                </a:lnTo>
                <a:lnTo>
                  <a:pt x="2924" y="2268"/>
                </a:lnTo>
                <a:lnTo>
                  <a:pt x="2076" y="2076"/>
                </a:lnTo>
                <a:close/>
                <a:moveTo>
                  <a:pt x="2051" y="2086"/>
                </a:moveTo>
                <a:lnTo>
                  <a:pt x="1731" y="2866"/>
                </a:lnTo>
                <a:lnTo>
                  <a:pt x="1769" y="2875"/>
                </a:lnTo>
                <a:lnTo>
                  <a:pt x="2089" y="2096"/>
                </a:lnTo>
                <a:close/>
                <a:moveTo>
                  <a:pt x="2919" y="2299"/>
                </a:moveTo>
                <a:lnTo>
                  <a:pt x="3627" y="2302"/>
                </a:lnTo>
                <a:lnTo>
                  <a:pt x="3627" y="2270"/>
                </a:lnTo>
                <a:lnTo>
                  <a:pt x="2919" y="2267"/>
                </a:lnTo>
                <a:close/>
                <a:moveTo>
                  <a:pt x="2904" y="2294"/>
                </a:moveTo>
                <a:lnTo>
                  <a:pt x="3564" y="2873"/>
                </a:lnTo>
                <a:lnTo>
                  <a:pt x="3594" y="2852"/>
                </a:lnTo>
                <a:lnTo>
                  <a:pt x="2934" y="2272"/>
                </a:lnTo>
                <a:close/>
                <a:moveTo>
                  <a:pt x="3607" y="2285"/>
                </a:moveTo>
                <a:lnTo>
                  <a:pt x="3559" y="2862"/>
                </a:lnTo>
                <a:lnTo>
                  <a:pt x="3599" y="2864"/>
                </a:lnTo>
                <a:lnTo>
                  <a:pt x="3647" y="2287"/>
                </a:lnTo>
                <a:close/>
                <a:moveTo>
                  <a:pt x="3634" y="2301"/>
                </a:moveTo>
                <a:lnTo>
                  <a:pt x="4358" y="2108"/>
                </a:lnTo>
                <a:lnTo>
                  <a:pt x="4346" y="2077"/>
                </a:lnTo>
                <a:lnTo>
                  <a:pt x="3621" y="2271"/>
                </a:lnTo>
                <a:close/>
                <a:moveTo>
                  <a:pt x="4349" y="2108"/>
                </a:moveTo>
                <a:lnTo>
                  <a:pt x="5231" y="2230"/>
                </a:lnTo>
                <a:lnTo>
                  <a:pt x="5238" y="2199"/>
                </a:lnTo>
                <a:lnTo>
                  <a:pt x="4356" y="2077"/>
                </a:lnTo>
                <a:close/>
                <a:moveTo>
                  <a:pt x="4333" y="2097"/>
                </a:moveTo>
                <a:lnTo>
                  <a:pt x="4621" y="2815"/>
                </a:lnTo>
                <a:lnTo>
                  <a:pt x="4660" y="2806"/>
                </a:lnTo>
                <a:lnTo>
                  <a:pt x="4371" y="2088"/>
                </a:lnTo>
                <a:close/>
                <a:moveTo>
                  <a:pt x="5219" y="2205"/>
                </a:moveTo>
                <a:lnTo>
                  <a:pt x="4625" y="2801"/>
                </a:lnTo>
                <a:lnTo>
                  <a:pt x="4656" y="2821"/>
                </a:lnTo>
                <a:lnTo>
                  <a:pt x="5250" y="2224"/>
                </a:lnTo>
                <a:close/>
                <a:moveTo>
                  <a:pt x="5232" y="2230"/>
                </a:moveTo>
                <a:lnTo>
                  <a:pt x="6268" y="2345"/>
                </a:lnTo>
                <a:lnTo>
                  <a:pt x="6274" y="2314"/>
                </a:lnTo>
                <a:lnTo>
                  <a:pt x="5237" y="2199"/>
                </a:lnTo>
                <a:close/>
                <a:moveTo>
                  <a:pt x="6251" y="2331"/>
                </a:moveTo>
                <a:lnTo>
                  <a:pt x="6352" y="2936"/>
                </a:lnTo>
                <a:lnTo>
                  <a:pt x="6392" y="2932"/>
                </a:lnTo>
                <a:lnTo>
                  <a:pt x="6291" y="2327"/>
                </a:lnTo>
                <a:close/>
                <a:moveTo>
                  <a:pt x="6260" y="2342"/>
                </a:moveTo>
                <a:lnTo>
                  <a:pt x="7054" y="2796"/>
                </a:lnTo>
                <a:lnTo>
                  <a:pt x="7077" y="2770"/>
                </a:lnTo>
                <a:lnTo>
                  <a:pt x="6283" y="2316"/>
                </a:lnTo>
                <a:close/>
                <a:moveTo>
                  <a:pt x="7298" y="2128"/>
                </a:moveTo>
                <a:lnTo>
                  <a:pt x="7046" y="2778"/>
                </a:lnTo>
                <a:lnTo>
                  <a:pt x="7085" y="2787"/>
                </a:lnTo>
                <a:lnTo>
                  <a:pt x="7336" y="2138"/>
                </a:lnTo>
                <a:close/>
                <a:moveTo>
                  <a:pt x="7316" y="2149"/>
                </a:moveTo>
                <a:lnTo>
                  <a:pt x="8217" y="2161"/>
                </a:lnTo>
                <a:lnTo>
                  <a:pt x="8218" y="2129"/>
                </a:lnTo>
                <a:lnTo>
                  <a:pt x="7317" y="2117"/>
                </a:lnTo>
                <a:close/>
                <a:moveTo>
                  <a:pt x="8211" y="2160"/>
                </a:moveTo>
                <a:lnTo>
                  <a:pt x="8947" y="2349"/>
                </a:lnTo>
                <a:lnTo>
                  <a:pt x="8960" y="2318"/>
                </a:lnTo>
                <a:lnTo>
                  <a:pt x="8224" y="2130"/>
                </a:lnTo>
                <a:close/>
                <a:moveTo>
                  <a:pt x="8199" y="2140"/>
                </a:moveTo>
                <a:lnTo>
                  <a:pt x="7826" y="2955"/>
                </a:lnTo>
                <a:lnTo>
                  <a:pt x="7864" y="2966"/>
                </a:lnTo>
                <a:lnTo>
                  <a:pt x="8237" y="2151"/>
                </a:lnTo>
                <a:close/>
                <a:moveTo>
                  <a:pt x="8934" y="2331"/>
                </a:moveTo>
                <a:lnTo>
                  <a:pt x="8783" y="2994"/>
                </a:lnTo>
                <a:lnTo>
                  <a:pt x="8822" y="3000"/>
                </a:lnTo>
                <a:lnTo>
                  <a:pt x="8973" y="2336"/>
                </a:lnTo>
                <a:close/>
                <a:moveTo>
                  <a:pt x="8942" y="2321"/>
                </a:moveTo>
                <a:lnTo>
                  <a:pt x="7833" y="2947"/>
                </a:lnTo>
                <a:lnTo>
                  <a:pt x="7857" y="2973"/>
                </a:lnTo>
                <a:lnTo>
                  <a:pt x="8965" y="2347"/>
                </a:lnTo>
                <a:close/>
                <a:moveTo>
                  <a:pt x="1047" y="2821"/>
                </a:moveTo>
                <a:lnTo>
                  <a:pt x="1748" y="2886"/>
                </a:lnTo>
                <a:lnTo>
                  <a:pt x="1752" y="2855"/>
                </a:lnTo>
                <a:lnTo>
                  <a:pt x="1051" y="2790"/>
                </a:lnTo>
                <a:close/>
                <a:moveTo>
                  <a:pt x="1033" y="2816"/>
                </a:moveTo>
                <a:lnTo>
                  <a:pt x="1938" y="3693"/>
                </a:lnTo>
                <a:lnTo>
                  <a:pt x="1970" y="3673"/>
                </a:lnTo>
                <a:lnTo>
                  <a:pt x="1065" y="2795"/>
                </a:lnTo>
                <a:close/>
                <a:moveTo>
                  <a:pt x="1745" y="2886"/>
                </a:moveTo>
                <a:lnTo>
                  <a:pt x="2573" y="3048"/>
                </a:lnTo>
                <a:lnTo>
                  <a:pt x="2583" y="3017"/>
                </a:lnTo>
                <a:lnTo>
                  <a:pt x="1755" y="2855"/>
                </a:lnTo>
                <a:close/>
                <a:moveTo>
                  <a:pt x="1730" y="2874"/>
                </a:moveTo>
                <a:lnTo>
                  <a:pt x="1934" y="3686"/>
                </a:lnTo>
                <a:lnTo>
                  <a:pt x="1974" y="3680"/>
                </a:lnTo>
                <a:lnTo>
                  <a:pt x="1770" y="2867"/>
                </a:lnTo>
                <a:close/>
                <a:moveTo>
                  <a:pt x="2560" y="3039"/>
                </a:moveTo>
                <a:lnTo>
                  <a:pt x="2937" y="3673"/>
                </a:lnTo>
                <a:lnTo>
                  <a:pt x="2973" y="3659"/>
                </a:lnTo>
                <a:lnTo>
                  <a:pt x="2596" y="3025"/>
                </a:lnTo>
                <a:close/>
                <a:moveTo>
                  <a:pt x="2582" y="3048"/>
                </a:moveTo>
                <a:lnTo>
                  <a:pt x="3583" y="2878"/>
                </a:lnTo>
                <a:lnTo>
                  <a:pt x="3575" y="2847"/>
                </a:lnTo>
                <a:lnTo>
                  <a:pt x="2574" y="3016"/>
                </a:lnTo>
                <a:close/>
                <a:moveTo>
                  <a:pt x="3559" y="2867"/>
                </a:moveTo>
                <a:lnTo>
                  <a:pt x="3763" y="3484"/>
                </a:lnTo>
                <a:lnTo>
                  <a:pt x="3802" y="3476"/>
                </a:lnTo>
                <a:lnTo>
                  <a:pt x="3598" y="2859"/>
                </a:lnTo>
                <a:close/>
                <a:moveTo>
                  <a:pt x="3580" y="2878"/>
                </a:moveTo>
                <a:lnTo>
                  <a:pt x="4642" y="2827"/>
                </a:lnTo>
                <a:lnTo>
                  <a:pt x="4639" y="2795"/>
                </a:lnTo>
                <a:lnTo>
                  <a:pt x="3578" y="2847"/>
                </a:lnTo>
                <a:close/>
                <a:moveTo>
                  <a:pt x="4635" y="2826"/>
                </a:moveTo>
                <a:lnTo>
                  <a:pt x="5590" y="3029"/>
                </a:lnTo>
                <a:lnTo>
                  <a:pt x="5600" y="2998"/>
                </a:lnTo>
                <a:lnTo>
                  <a:pt x="4646" y="2795"/>
                </a:lnTo>
                <a:close/>
                <a:moveTo>
                  <a:pt x="4621" y="2808"/>
                </a:moveTo>
                <a:lnTo>
                  <a:pt x="4464" y="3615"/>
                </a:lnTo>
                <a:lnTo>
                  <a:pt x="4503" y="3620"/>
                </a:lnTo>
                <a:lnTo>
                  <a:pt x="4661" y="2813"/>
                </a:lnTo>
                <a:close/>
                <a:moveTo>
                  <a:pt x="5597" y="3030"/>
                </a:moveTo>
                <a:lnTo>
                  <a:pt x="6375" y="2950"/>
                </a:lnTo>
                <a:lnTo>
                  <a:pt x="6369" y="2919"/>
                </a:lnTo>
                <a:lnTo>
                  <a:pt x="5592" y="2998"/>
                </a:lnTo>
                <a:close/>
                <a:moveTo>
                  <a:pt x="5579" y="3024"/>
                </a:moveTo>
                <a:lnTo>
                  <a:pt x="6110" y="3525"/>
                </a:lnTo>
                <a:lnTo>
                  <a:pt x="6141" y="3504"/>
                </a:lnTo>
                <a:lnTo>
                  <a:pt x="5610" y="3003"/>
                </a:lnTo>
                <a:close/>
                <a:moveTo>
                  <a:pt x="6377" y="2950"/>
                </a:moveTo>
                <a:lnTo>
                  <a:pt x="7071" y="2798"/>
                </a:lnTo>
                <a:lnTo>
                  <a:pt x="7060" y="2767"/>
                </a:lnTo>
                <a:lnTo>
                  <a:pt x="6367" y="2919"/>
                </a:lnTo>
                <a:close/>
                <a:moveTo>
                  <a:pt x="6353" y="2929"/>
                </a:moveTo>
                <a:lnTo>
                  <a:pt x="6107" y="3509"/>
                </a:lnTo>
                <a:lnTo>
                  <a:pt x="6145" y="3519"/>
                </a:lnTo>
                <a:lnTo>
                  <a:pt x="6391" y="2939"/>
                </a:lnTo>
                <a:close/>
                <a:moveTo>
                  <a:pt x="7060" y="2798"/>
                </a:moveTo>
                <a:lnTo>
                  <a:pt x="7840" y="2975"/>
                </a:lnTo>
                <a:lnTo>
                  <a:pt x="7851" y="2945"/>
                </a:lnTo>
                <a:lnTo>
                  <a:pt x="7071" y="2767"/>
                </a:lnTo>
                <a:close/>
                <a:moveTo>
                  <a:pt x="7045" y="2784"/>
                </a:moveTo>
                <a:lnTo>
                  <a:pt x="7152" y="3548"/>
                </a:lnTo>
                <a:lnTo>
                  <a:pt x="7192" y="3545"/>
                </a:lnTo>
                <a:lnTo>
                  <a:pt x="7085" y="2781"/>
                </a:lnTo>
                <a:close/>
                <a:moveTo>
                  <a:pt x="7844" y="2976"/>
                </a:moveTo>
                <a:lnTo>
                  <a:pt x="8801" y="3013"/>
                </a:lnTo>
                <a:lnTo>
                  <a:pt x="8803" y="2981"/>
                </a:lnTo>
                <a:lnTo>
                  <a:pt x="7846" y="2944"/>
                </a:lnTo>
                <a:close/>
                <a:moveTo>
                  <a:pt x="7830" y="2949"/>
                </a:moveTo>
                <a:lnTo>
                  <a:pt x="7158" y="3536"/>
                </a:lnTo>
                <a:lnTo>
                  <a:pt x="7187" y="3557"/>
                </a:lnTo>
                <a:lnTo>
                  <a:pt x="7860" y="2971"/>
                </a:lnTo>
                <a:close/>
                <a:moveTo>
                  <a:pt x="8784" y="3003"/>
                </a:moveTo>
                <a:lnTo>
                  <a:pt x="9068" y="3584"/>
                </a:lnTo>
                <a:lnTo>
                  <a:pt x="9105" y="3572"/>
                </a:lnTo>
                <a:lnTo>
                  <a:pt x="8821" y="2991"/>
                </a:lnTo>
                <a:close/>
                <a:moveTo>
                  <a:pt x="8786" y="2988"/>
                </a:moveTo>
                <a:lnTo>
                  <a:pt x="8191" y="3718"/>
                </a:lnTo>
                <a:lnTo>
                  <a:pt x="8224" y="3735"/>
                </a:lnTo>
                <a:lnTo>
                  <a:pt x="8819" y="3006"/>
                </a:lnTo>
                <a:close/>
                <a:moveTo>
                  <a:pt x="1934" y="3682"/>
                </a:moveTo>
                <a:lnTo>
                  <a:pt x="1885" y="4421"/>
                </a:lnTo>
                <a:lnTo>
                  <a:pt x="1925" y="4422"/>
                </a:lnTo>
                <a:lnTo>
                  <a:pt x="1974" y="3684"/>
                </a:lnTo>
                <a:close/>
                <a:moveTo>
                  <a:pt x="1939" y="3694"/>
                </a:moveTo>
                <a:lnTo>
                  <a:pt x="2599" y="4252"/>
                </a:lnTo>
                <a:lnTo>
                  <a:pt x="2629" y="4231"/>
                </a:lnTo>
                <a:lnTo>
                  <a:pt x="1969" y="3672"/>
                </a:lnTo>
                <a:close/>
                <a:moveTo>
                  <a:pt x="2937" y="3660"/>
                </a:moveTo>
                <a:lnTo>
                  <a:pt x="2596" y="4235"/>
                </a:lnTo>
                <a:lnTo>
                  <a:pt x="2632" y="4248"/>
                </a:lnTo>
                <a:lnTo>
                  <a:pt x="2973" y="3673"/>
                </a:lnTo>
                <a:close/>
                <a:moveTo>
                  <a:pt x="2939" y="3676"/>
                </a:moveTo>
                <a:lnTo>
                  <a:pt x="3446" y="4219"/>
                </a:lnTo>
                <a:lnTo>
                  <a:pt x="3479" y="4200"/>
                </a:lnTo>
                <a:lnTo>
                  <a:pt x="2971" y="3657"/>
                </a:lnTo>
                <a:close/>
                <a:moveTo>
                  <a:pt x="3778" y="3495"/>
                </a:moveTo>
                <a:lnTo>
                  <a:pt x="4479" y="3633"/>
                </a:lnTo>
                <a:lnTo>
                  <a:pt x="4488" y="3602"/>
                </a:lnTo>
                <a:lnTo>
                  <a:pt x="3787" y="3464"/>
                </a:lnTo>
                <a:close/>
                <a:moveTo>
                  <a:pt x="3763" y="3475"/>
                </a:moveTo>
                <a:lnTo>
                  <a:pt x="3444" y="4204"/>
                </a:lnTo>
                <a:lnTo>
                  <a:pt x="3482" y="4215"/>
                </a:lnTo>
                <a:lnTo>
                  <a:pt x="3801" y="3485"/>
                </a:lnTo>
                <a:close/>
                <a:moveTo>
                  <a:pt x="4480" y="3633"/>
                </a:moveTo>
                <a:lnTo>
                  <a:pt x="5218" y="3731"/>
                </a:lnTo>
                <a:lnTo>
                  <a:pt x="5225" y="3699"/>
                </a:lnTo>
                <a:lnTo>
                  <a:pt x="4487" y="3602"/>
                </a:lnTo>
                <a:close/>
                <a:moveTo>
                  <a:pt x="4463" y="3617"/>
                </a:moveTo>
                <a:lnTo>
                  <a:pt x="4459" y="4410"/>
                </a:lnTo>
                <a:lnTo>
                  <a:pt x="4499" y="4410"/>
                </a:lnTo>
                <a:lnTo>
                  <a:pt x="4504" y="3617"/>
                </a:lnTo>
                <a:close/>
                <a:moveTo>
                  <a:pt x="5203" y="3721"/>
                </a:moveTo>
                <a:lnTo>
                  <a:pt x="5518" y="4319"/>
                </a:lnTo>
                <a:lnTo>
                  <a:pt x="5555" y="4306"/>
                </a:lnTo>
                <a:lnTo>
                  <a:pt x="5240" y="3709"/>
                </a:lnTo>
                <a:close/>
                <a:moveTo>
                  <a:pt x="5227" y="3730"/>
                </a:moveTo>
                <a:lnTo>
                  <a:pt x="6131" y="3530"/>
                </a:lnTo>
                <a:lnTo>
                  <a:pt x="6120" y="3499"/>
                </a:lnTo>
                <a:lnTo>
                  <a:pt x="5216" y="3700"/>
                </a:lnTo>
                <a:close/>
                <a:moveTo>
                  <a:pt x="6107" y="3520"/>
                </a:moveTo>
                <a:lnTo>
                  <a:pt x="6452" y="4181"/>
                </a:lnTo>
                <a:lnTo>
                  <a:pt x="6489" y="4169"/>
                </a:lnTo>
                <a:lnTo>
                  <a:pt x="6144" y="3508"/>
                </a:lnTo>
                <a:close/>
                <a:moveTo>
                  <a:pt x="6125" y="3530"/>
                </a:moveTo>
                <a:lnTo>
                  <a:pt x="7172" y="3562"/>
                </a:lnTo>
                <a:lnTo>
                  <a:pt x="7173" y="3531"/>
                </a:lnTo>
                <a:lnTo>
                  <a:pt x="6126" y="3498"/>
                </a:lnTo>
                <a:close/>
                <a:moveTo>
                  <a:pt x="7152" y="3547"/>
                </a:moveTo>
                <a:lnTo>
                  <a:pt x="7210" y="4363"/>
                </a:lnTo>
                <a:lnTo>
                  <a:pt x="7250" y="4361"/>
                </a:lnTo>
                <a:lnTo>
                  <a:pt x="7193" y="3546"/>
                </a:lnTo>
                <a:close/>
                <a:moveTo>
                  <a:pt x="7168" y="3562"/>
                </a:moveTo>
                <a:lnTo>
                  <a:pt x="8203" y="3742"/>
                </a:lnTo>
                <a:lnTo>
                  <a:pt x="8212" y="3711"/>
                </a:lnTo>
                <a:lnTo>
                  <a:pt x="7177" y="3531"/>
                </a:lnTo>
                <a:close/>
                <a:moveTo>
                  <a:pt x="8192" y="3737"/>
                </a:moveTo>
                <a:lnTo>
                  <a:pt x="8709" y="4192"/>
                </a:lnTo>
                <a:lnTo>
                  <a:pt x="8739" y="4170"/>
                </a:lnTo>
                <a:lnTo>
                  <a:pt x="8222" y="3716"/>
                </a:lnTo>
                <a:close/>
                <a:moveTo>
                  <a:pt x="8188" y="3721"/>
                </a:moveTo>
                <a:lnTo>
                  <a:pt x="7906" y="4373"/>
                </a:lnTo>
                <a:lnTo>
                  <a:pt x="7944" y="4384"/>
                </a:lnTo>
                <a:lnTo>
                  <a:pt x="8226" y="3731"/>
                </a:lnTo>
                <a:close/>
                <a:moveTo>
                  <a:pt x="9069" y="3571"/>
                </a:moveTo>
                <a:lnTo>
                  <a:pt x="8706" y="4174"/>
                </a:lnTo>
                <a:lnTo>
                  <a:pt x="8742" y="4188"/>
                </a:lnTo>
                <a:lnTo>
                  <a:pt x="9105" y="3585"/>
                </a:lnTo>
                <a:close/>
                <a:moveTo>
                  <a:pt x="9070" y="3587"/>
                </a:moveTo>
                <a:lnTo>
                  <a:pt x="9683" y="4301"/>
                </a:lnTo>
                <a:lnTo>
                  <a:pt x="9717" y="4283"/>
                </a:lnTo>
                <a:lnTo>
                  <a:pt x="9103" y="3569"/>
                </a:lnTo>
                <a:close/>
                <a:moveTo>
                  <a:pt x="296" y="4205"/>
                </a:moveTo>
                <a:lnTo>
                  <a:pt x="1178" y="4289"/>
                </a:lnTo>
                <a:lnTo>
                  <a:pt x="1183" y="4257"/>
                </a:lnTo>
                <a:lnTo>
                  <a:pt x="301" y="4173"/>
                </a:lnTo>
                <a:close/>
                <a:moveTo>
                  <a:pt x="279" y="4184"/>
                </a:moveTo>
                <a:lnTo>
                  <a:pt x="1" y="4877"/>
                </a:lnTo>
                <a:lnTo>
                  <a:pt x="39" y="4886"/>
                </a:lnTo>
                <a:lnTo>
                  <a:pt x="317" y="4194"/>
                </a:lnTo>
                <a:close/>
                <a:moveTo>
                  <a:pt x="1176" y="4289"/>
                </a:moveTo>
                <a:lnTo>
                  <a:pt x="1900" y="4437"/>
                </a:lnTo>
                <a:lnTo>
                  <a:pt x="1910" y="4406"/>
                </a:lnTo>
                <a:lnTo>
                  <a:pt x="1186" y="4258"/>
                </a:lnTo>
                <a:close/>
                <a:moveTo>
                  <a:pt x="1162" y="4268"/>
                </a:moveTo>
                <a:lnTo>
                  <a:pt x="797" y="5078"/>
                </a:lnTo>
                <a:lnTo>
                  <a:pt x="835" y="5088"/>
                </a:lnTo>
                <a:lnTo>
                  <a:pt x="1200" y="4279"/>
                </a:lnTo>
                <a:close/>
                <a:moveTo>
                  <a:pt x="1911" y="4437"/>
                </a:moveTo>
                <a:lnTo>
                  <a:pt x="2620" y="4257"/>
                </a:lnTo>
                <a:lnTo>
                  <a:pt x="2608" y="4226"/>
                </a:lnTo>
                <a:lnTo>
                  <a:pt x="1899" y="4406"/>
                </a:lnTo>
                <a:close/>
                <a:moveTo>
                  <a:pt x="1885" y="4419"/>
                </a:moveTo>
                <a:lnTo>
                  <a:pt x="1770" y="5043"/>
                </a:lnTo>
                <a:lnTo>
                  <a:pt x="1809" y="5048"/>
                </a:lnTo>
                <a:lnTo>
                  <a:pt x="1925" y="4424"/>
                </a:lnTo>
                <a:close/>
                <a:moveTo>
                  <a:pt x="2595" y="4246"/>
                </a:moveTo>
                <a:lnTo>
                  <a:pt x="2834" y="4873"/>
                </a:lnTo>
                <a:lnTo>
                  <a:pt x="2873" y="4864"/>
                </a:lnTo>
                <a:lnTo>
                  <a:pt x="2633" y="4237"/>
                </a:lnTo>
                <a:close/>
                <a:moveTo>
                  <a:pt x="2615" y="4258"/>
                </a:moveTo>
                <a:lnTo>
                  <a:pt x="3464" y="4226"/>
                </a:lnTo>
                <a:lnTo>
                  <a:pt x="3462" y="4194"/>
                </a:lnTo>
                <a:lnTo>
                  <a:pt x="2613" y="4226"/>
                </a:lnTo>
                <a:close/>
                <a:moveTo>
                  <a:pt x="3446" y="4200"/>
                </a:moveTo>
                <a:lnTo>
                  <a:pt x="2837" y="4859"/>
                </a:lnTo>
                <a:lnTo>
                  <a:pt x="2870" y="4878"/>
                </a:lnTo>
                <a:lnTo>
                  <a:pt x="3479" y="4219"/>
                </a:lnTo>
                <a:close/>
                <a:moveTo>
                  <a:pt x="3458" y="4225"/>
                </a:moveTo>
                <a:lnTo>
                  <a:pt x="4474" y="4426"/>
                </a:lnTo>
                <a:lnTo>
                  <a:pt x="4484" y="4395"/>
                </a:lnTo>
                <a:lnTo>
                  <a:pt x="3468" y="4194"/>
                </a:lnTo>
                <a:close/>
                <a:moveTo>
                  <a:pt x="4459" y="4413"/>
                </a:moveTo>
                <a:lnTo>
                  <a:pt x="4625" y="5102"/>
                </a:lnTo>
                <a:lnTo>
                  <a:pt x="4664" y="5096"/>
                </a:lnTo>
                <a:lnTo>
                  <a:pt x="4499" y="4407"/>
                </a:lnTo>
                <a:close/>
                <a:moveTo>
                  <a:pt x="4464" y="4400"/>
                </a:moveTo>
                <a:lnTo>
                  <a:pt x="3822" y="5010"/>
                </a:lnTo>
                <a:lnTo>
                  <a:pt x="3853" y="5030"/>
                </a:lnTo>
                <a:lnTo>
                  <a:pt x="4495" y="4420"/>
                </a:lnTo>
                <a:close/>
                <a:moveTo>
                  <a:pt x="5517" y="4308"/>
                </a:moveTo>
                <a:lnTo>
                  <a:pt x="5321" y="4892"/>
                </a:lnTo>
                <a:lnTo>
                  <a:pt x="5360" y="4900"/>
                </a:lnTo>
                <a:lnTo>
                  <a:pt x="5556" y="4317"/>
                </a:lnTo>
                <a:close/>
                <a:moveTo>
                  <a:pt x="5540" y="4328"/>
                </a:moveTo>
                <a:lnTo>
                  <a:pt x="6474" y="4191"/>
                </a:lnTo>
                <a:lnTo>
                  <a:pt x="6467" y="4159"/>
                </a:lnTo>
                <a:lnTo>
                  <a:pt x="5533" y="4297"/>
                </a:lnTo>
                <a:close/>
                <a:moveTo>
                  <a:pt x="6464" y="4190"/>
                </a:moveTo>
                <a:lnTo>
                  <a:pt x="7224" y="4377"/>
                </a:lnTo>
                <a:lnTo>
                  <a:pt x="7236" y="4346"/>
                </a:lnTo>
                <a:lnTo>
                  <a:pt x="6476" y="4160"/>
                </a:lnTo>
                <a:close/>
                <a:moveTo>
                  <a:pt x="6452" y="4169"/>
                </a:moveTo>
                <a:lnTo>
                  <a:pt x="6075" y="4943"/>
                </a:lnTo>
                <a:lnTo>
                  <a:pt x="6112" y="4954"/>
                </a:lnTo>
                <a:lnTo>
                  <a:pt x="6489" y="4181"/>
                </a:lnTo>
                <a:close/>
                <a:moveTo>
                  <a:pt x="7230" y="4378"/>
                </a:moveTo>
                <a:lnTo>
                  <a:pt x="7924" y="4394"/>
                </a:lnTo>
                <a:lnTo>
                  <a:pt x="7926" y="4363"/>
                </a:lnTo>
                <a:lnTo>
                  <a:pt x="7231" y="4346"/>
                </a:lnTo>
                <a:close/>
                <a:moveTo>
                  <a:pt x="7211" y="4358"/>
                </a:moveTo>
                <a:lnTo>
                  <a:pt x="6999" y="5114"/>
                </a:lnTo>
                <a:lnTo>
                  <a:pt x="7038" y="5121"/>
                </a:lnTo>
                <a:lnTo>
                  <a:pt x="7250" y="4365"/>
                </a:lnTo>
                <a:close/>
                <a:moveTo>
                  <a:pt x="7905" y="4382"/>
                </a:moveTo>
                <a:lnTo>
                  <a:pt x="8054" y="4959"/>
                </a:lnTo>
                <a:lnTo>
                  <a:pt x="8093" y="4953"/>
                </a:lnTo>
                <a:lnTo>
                  <a:pt x="7945" y="4375"/>
                </a:lnTo>
                <a:close/>
                <a:moveTo>
                  <a:pt x="7931" y="4394"/>
                </a:moveTo>
                <a:lnTo>
                  <a:pt x="8730" y="4196"/>
                </a:lnTo>
                <a:lnTo>
                  <a:pt x="8718" y="4166"/>
                </a:lnTo>
                <a:lnTo>
                  <a:pt x="7919" y="4363"/>
                </a:lnTo>
                <a:close/>
                <a:moveTo>
                  <a:pt x="8705" y="4187"/>
                </a:moveTo>
                <a:lnTo>
                  <a:pt x="9077" y="4897"/>
                </a:lnTo>
                <a:lnTo>
                  <a:pt x="9114" y="4885"/>
                </a:lnTo>
                <a:lnTo>
                  <a:pt x="8742" y="4175"/>
                </a:lnTo>
                <a:close/>
                <a:moveTo>
                  <a:pt x="8721" y="4197"/>
                </a:moveTo>
                <a:lnTo>
                  <a:pt x="9697" y="4308"/>
                </a:lnTo>
                <a:lnTo>
                  <a:pt x="9703" y="4276"/>
                </a:lnTo>
                <a:lnTo>
                  <a:pt x="8727" y="4165"/>
                </a:lnTo>
                <a:close/>
                <a:moveTo>
                  <a:pt x="9684" y="4282"/>
                </a:moveTo>
                <a:lnTo>
                  <a:pt x="9080" y="4881"/>
                </a:lnTo>
                <a:lnTo>
                  <a:pt x="9111" y="4901"/>
                </a:lnTo>
                <a:lnTo>
                  <a:pt x="9716" y="4302"/>
                </a:lnTo>
                <a:close/>
                <a:moveTo>
                  <a:pt x="9680" y="4296"/>
                </a:moveTo>
                <a:lnTo>
                  <a:pt x="9934" y="5099"/>
                </a:lnTo>
                <a:lnTo>
                  <a:pt x="9973" y="5091"/>
                </a:lnTo>
                <a:lnTo>
                  <a:pt x="9720" y="4288"/>
                </a:lnTo>
                <a:close/>
                <a:moveTo>
                  <a:pt x="14" y="4897"/>
                </a:moveTo>
                <a:lnTo>
                  <a:pt x="810" y="5098"/>
                </a:lnTo>
                <a:lnTo>
                  <a:pt x="822" y="5068"/>
                </a:lnTo>
                <a:lnTo>
                  <a:pt x="26" y="4866"/>
                </a:lnTo>
                <a:close/>
                <a:moveTo>
                  <a:pt x="0" y="4884"/>
                </a:moveTo>
                <a:lnTo>
                  <a:pt x="143" y="5678"/>
                </a:lnTo>
                <a:lnTo>
                  <a:pt x="183" y="5674"/>
                </a:lnTo>
                <a:lnTo>
                  <a:pt x="40" y="4879"/>
                </a:lnTo>
                <a:close/>
                <a:moveTo>
                  <a:pt x="817" y="5099"/>
                </a:moveTo>
                <a:lnTo>
                  <a:pt x="1791" y="5062"/>
                </a:lnTo>
                <a:lnTo>
                  <a:pt x="1789" y="5030"/>
                </a:lnTo>
                <a:lnTo>
                  <a:pt x="815" y="5067"/>
                </a:lnTo>
                <a:close/>
                <a:moveTo>
                  <a:pt x="797" y="5089"/>
                </a:moveTo>
                <a:lnTo>
                  <a:pt x="1168" y="5816"/>
                </a:lnTo>
                <a:lnTo>
                  <a:pt x="1206" y="5804"/>
                </a:lnTo>
                <a:lnTo>
                  <a:pt x="835" y="5077"/>
                </a:lnTo>
                <a:close/>
                <a:moveTo>
                  <a:pt x="1771" y="5051"/>
                </a:moveTo>
                <a:lnTo>
                  <a:pt x="2029" y="5627"/>
                </a:lnTo>
                <a:lnTo>
                  <a:pt x="2067" y="5616"/>
                </a:lnTo>
                <a:lnTo>
                  <a:pt x="1809" y="5040"/>
                </a:lnTo>
                <a:close/>
                <a:moveTo>
                  <a:pt x="1794" y="5061"/>
                </a:moveTo>
                <a:lnTo>
                  <a:pt x="2858" y="4884"/>
                </a:lnTo>
                <a:lnTo>
                  <a:pt x="2849" y="4853"/>
                </a:lnTo>
                <a:lnTo>
                  <a:pt x="1785" y="5030"/>
                </a:lnTo>
                <a:close/>
                <a:moveTo>
                  <a:pt x="2833" y="4867"/>
                </a:moveTo>
                <a:lnTo>
                  <a:pt x="2741" y="5608"/>
                </a:lnTo>
                <a:lnTo>
                  <a:pt x="2781" y="5611"/>
                </a:lnTo>
                <a:lnTo>
                  <a:pt x="2873" y="4870"/>
                </a:lnTo>
                <a:close/>
                <a:moveTo>
                  <a:pt x="2850" y="4884"/>
                </a:moveTo>
                <a:lnTo>
                  <a:pt x="3833" y="5036"/>
                </a:lnTo>
                <a:lnTo>
                  <a:pt x="3841" y="5005"/>
                </a:lnTo>
                <a:lnTo>
                  <a:pt x="2857" y="4853"/>
                </a:lnTo>
                <a:close/>
                <a:moveTo>
                  <a:pt x="3835" y="5036"/>
                </a:moveTo>
                <a:lnTo>
                  <a:pt x="4642" y="5115"/>
                </a:lnTo>
                <a:lnTo>
                  <a:pt x="4647" y="5084"/>
                </a:lnTo>
                <a:lnTo>
                  <a:pt x="3840" y="5004"/>
                </a:lnTo>
                <a:close/>
                <a:moveTo>
                  <a:pt x="3820" y="5028"/>
                </a:moveTo>
                <a:lnTo>
                  <a:pt x="4333" y="5699"/>
                </a:lnTo>
                <a:lnTo>
                  <a:pt x="4367" y="5682"/>
                </a:lnTo>
                <a:lnTo>
                  <a:pt x="3854" y="5012"/>
                </a:lnTo>
                <a:close/>
                <a:moveTo>
                  <a:pt x="4651" y="5114"/>
                </a:moveTo>
                <a:lnTo>
                  <a:pt x="5347" y="4911"/>
                </a:lnTo>
                <a:lnTo>
                  <a:pt x="5333" y="4881"/>
                </a:lnTo>
                <a:lnTo>
                  <a:pt x="4637" y="5084"/>
                </a:lnTo>
                <a:close/>
                <a:moveTo>
                  <a:pt x="4626" y="5094"/>
                </a:moveTo>
                <a:lnTo>
                  <a:pt x="4331" y="5685"/>
                </a:lnTo>
                <a:lnTo>
                  <a:pt x="4369" y="5696"/>
                </a:lnTo>
                <a:lnTo>
                  <a:pt x="4663" y="5105"/>
                </a:lnTo>
                <a:close/>
                <a:moveTo>
                  <a:pt x="5339" y="4912"/>
                </a:moveTo>
                <a:lnTo>
                  <a:pt x="6092" y="4964"/>
                </a:lnTo>
                <a:lnTo>
                  <a:pt x="6095" y="4933"/>
                </a:lnTo>
                <a:lnTo>
                  <a:pt x="5342" y="4880"/>
                </a:lnTo>
                <a:close/>
                <a:moveTo>
                  <a:pt x="5320" y="4897"/>
                </a:moveTo>
                <a:lnTo>
                  <a:pt x="5360" y="5569"/>
                </a:lnTo>
                <a:lnTo>
                  <a:pt x="5400" y="5568"/>
                </a:lnTo>
                <a:lnTo>
                  <a:pt x="5361" y="4896"/>
                </a:lnTo>
                <a:close/>
                <a:moveTo>
                  <a:pt x="6089" y="4964"/>
                </a:moveTo>
                <a:lnTo>
                  <a:pt x="7014" y="5133"/>
                </a:lnTo>
                <a:lnTo>
                  <a:pt x="7023" y="5102"/>
                </a:lnTo>
                <a:lnTo>
                  <a:pt x="6098" y="4933"/>
                </a:lnTo>
                <a:close/>
                <a:moveTo>
                  <a:pt x="6078" y="4938"/>
                </a:moveTo>
                <a:lnTo>
                  <a:pt x="5365" y="5558"/>
                </a:lnTo>
                <a:lnTo>
                  <a:pt x="5395" y="5579"/>
                </a:lnTo>
                <a:lnTo>
                  <a:pt x="6108" y="4959"/>
                </a:lnTo>
                <a:close/>
                <a:moveTo>
                  <a:pt x="7000" y="5124"/>
                </a:moveTo>
                <a:lnTo>
                  <a:pt x="7325" y="5765"/>
                </a:lnTo>
                <a:lnTo>
                  <a:pt x="7362" y="5753"/>
                </a:lnTo>
                <a:lnTo>
                  <a:pt x="7037" y="5112"/>
                </a:lnTo>
                <a:close/>
                <a:moveTo>
                  <a:pt x="7002" y="5108"/>
                </a:moveTo>
                <a:lnTo>
                  <a:pt x="6414" y="5753"/>
                </a:lnTo>
                <a:lnTo>
                  <a:pt x="6447" y="5772"/>
                </a:lnTo>
                <a:lnTo>
                  <a:pt x="7035" y="5127"/>
                </a:lnTo>
                <a:close/>
                <a:moveTo>
                  <a:pt x="8053" y="4956"/>
                </a:moveTo>
                <a:lnTo>
                  <a:pt x="8067" y="5568"/>
                </a:lnTo>
                <a:lnTo>
                  <a:pt x="8107" y="5567"/>
                </a:lnTo>
                <a:lnTo>
                  <a:pt x="8094" y="4956"/>
                </a:lnTo>
                <a:close/>
                <a:moveTo>
                  <a:pt x="8075" y="4972"/>
                </a:moveTo>
                <a:lnTo>
                  <a:pt x="9097" y="4907"/>
                </a:lnTo>
                <a:lnTo>
                  <a:pt x="9094" y="4875"/>
                </a:lnTo>
                <a:lnTo>
                  <a:pt x="8072" y="4940"/>
                </a:lnTo>
                <a:close/>
                <a:moveTo>
                  <a:pt x="9090" y="4907"/>
                </a:moveTo>
                <a:lnTo>
                  <a:pt x="9948" y="5110"/>
                </a:lnTo>
                <a:lnTo>
                  <a:pt x="9959" y="5080"/>
                </a:lnTo>
                <a:lnTo>
                  <a:pt x="9102" y="4876"/>
                </a:lnTo>
                <a:close/>
                <a:moveTo>
                  <a:pt x="9076" y="4887"/>
                </a:moveTo>
                <a:lnTo>
                  <a:pt x="8767" y="5690"/>
                </a:lnTo>
                <a:lnTo>
                  <a:pt x="8805" y="5699"/>
                </a:lnTo>
                <a:lnTo>
                  <a:pt x="9115" y="4896"/>
                </a:lnTo>
                <a:close/>
                <a:moveTo>
                  <a:pt x="9935" y="5089"/>
                </a:moveTo>
                <a:lnTo>
                  <a:pt x="9586" y="5798"/>
                </a:lnTo>
                <a:lnTo>
                  <a:pt x="9624" y="5810"/>
                </a:lnTo>
                <a:lnTo>
                  <a:pt x="9972" y="5101"/>
                </a:lnTo>
                <a:close/>
                <a:moveTo>
                  <a:pt x="9942" y="5082"/>
                </a:moveTo>
                <a:lnTo>
                  <a:pt x="8775" y="5681"/>
                </a:lnTo>
                <a:lnTo>
                  <a:pt x="8797" y="5708"/>
                </a:lnTo>
                <a:lnTo>
                  <a:pt x="9964" y="5108"/>
                </a:lnTo>
                <a:close/>
                <a:moveTo>
                  <a:pt x="159" y="5692"/>
                </a:moveTo>
                <a:lnTo>
                  <a:pt x="1184" y="5825"/>
                </a:lnTo>
                <a:lnTo>
                  <a:pt x="1190" y="5794"/>
                </a:lnTo>
                <a:lnTo>
                  <a:pt x="166" y="5660"/>
                </a:lnTo>
                <a:close/>
                <a:moveTo>
                  <a:pt x="147" y="5686"/>
                </a:moveTo>
                <a:lnTo>
                  <a:pt x="865" y="6434"/>
                </a:lnTo>
                <a:lnTo>
                  <a:pt x="897" y="6415"/>
                </a:lnTo>
                <a:lnTo>
                  <a:pt x="179" y="5666"/>
                </a:lnTo>
                <a:close/>
                <a:moveTo>
                  <a:pt x="1172" y="5820"/>
                </a:moveTo>
                <a:lnTo>
                  <a:pt x="1682" y="6269"/>
                </a:lnTo>
                <a:lnTo>
                  <a:pt x="1712" y="6247"/>
                </a:lnTo>
                <a:lnTo>
                  <a:pt x="1202" y="5799"/>
                </a:lnTo>
                <a:close/>
                <a:moveTo>
                  <a:pt x="1168" y="5804"/>
                </a:moveTo>
                <a:lnTo>
                  <a:pt x="862" y="6419"/>
                </a:lnTo>
                <a:lnTo>
                  <a:pt x="900" y="6430"/>
                </a:lnTo>
                <a:lnTo>
                  <a:pt x="1206" y="5816"/>
                </a:lnTo>
                <a:close/>
                <a:moveTo>
                  <a:pt x="2048" y="5637"/>
                </a:moveTo>
                <a:lnTo>
                  <a:pt x="2762" y="5625"/>
                </a:lnTo>
                <a:lnTo>
                  <a:pt x="2761" y="5593"/>
                </a:lnTo>
                <a:lnTo>
                  <a:pt x="2047" y="5605"/>
                </a:lnTo>
                <a:close/>
                <a:moveTo>
                  <a:pt x="2029" y="5615"/>
                </a:moveTo>
                <a:lnTo>
                  <a:pt x="1678" y="6252"/>
                </a:lnTo>
                <a:lnTo>
                  <a:pt x="1715" y="6264"/>
                </a:lnTo>
                <a:lnTo>
                  <a:pt x="2066" y="5628"/>
                </a:lnTo>
                <a:close/>
                <a:moveTo>
                  <a:pt x="2755" y="5624"/>
                </a:moveTo>
                <a:lnTo>
                  <a:pt x="3473" y="5821"/>
                </a:lnTo>
                <a:lnTo>
                  <a:pt x="3486" y="5790"/>
                </a:lnTo>
                <a:lnTo>
                  <a:pt x="2768" y="5594"/>
                </a:lnTo>
                <a:close/>
                <a:moveTo>
                  <a:pt x="2741" y="5608"/>
                </a:moveTo>
                <a:lnTo>
                  <a:pt x="2668" y="6422"/>
                </a:lnTo>
                <a:lnTo>
                  <a:pt x="2708" y="6424"/>
                </a:lnTo>
                <a:lnTo>
                  <a:pt x="2781" y="5611"/>
                </a:lnTo>
                <a:close/>
                <a:moveTo>
                  <a:pt x="3483" y="5821"/>
                </a:moveTo>
                <a:lnTo>
                  <a:pt x="4353" y="5706"/>
                </a:lnTo>
                <a:lnTo>
                  <a:pt x="4347" y="5675"/>
                </a:lnTo>
                <a:lnTo>
                  <a:pt x="3476" y="5790"/>
                </a:lnTo>
                <a:close/>
                <a:moveTo>
                  <a:pt x="3461" y="5810"/>
                </a:moveTo>
                <a:lnTo>
                  <a:pt x="3732" y="6488"/>
                </a:lnTo>
                <a:lnTo>
                  <a:pt x="3771" y="6478"/>
                </a:lnTo>
                <a:lnTo>
                  <a:pt x="3499" y="5801"/>
                </a:lnTo>
                <a:close/>
                <a:moveTo>
                  <a:pt x="4332" y="5698"/>
                </a:moveTo>
                <a:lnTo>
                  <a:pt x="4699" y="6286"/>
                </a:lnTo>
                <a:lnTo>
                  <a:pt x="4735" y="6272"/>
                </a:lnTo>
                <a:lnTo>
                  <a:pt x="4368" y="5683"/>
                </a:lnTo>
                <a:close/>
                <a:moveTo>
                  <a:pt x="4353" y="5706"/>
                </a:moveTo>
                <a:lnTo>
                  <a:pt x="5383" y="5585"/>
                </a:lnTo>
                <a:lnTo>
                  <a:pt x="5377" y="5553"/>
                </a:lnTo>
                <a:lnTo>
                  <a:pt x="4347" y="5675"/>
                </a:lnTo>
                <a:close/>
                <a:moveTo>
                  <a:pt x="5360" y="5571"/>
                </a:moveTo>
                <a:lnTo>
                  <a:pt x="5485" y="6353"/>
                </a:lnTo>
                <a:lnTo>
                  <a:pt x="5524" y="6349"/>
                </a:lnTo>
                <a:lnTo>
                  <a:pt x="5400" y="5567"/>
                </a:lnTo>
                <a:close/>
                <a:moveTo>
                  <a:pt x="5375" y="5584"/>
                </a:moveTo>
                <a:lnTo>
                  <a:pt x="6426" y="5778"/>
                </a:lnTo>
                <a:lnTo>
                  <a:pt x="6435" y="5747"/>
                </a:lnTo>
                <a:lnTo>
                  <a:pt x="5384" y="5553"/>
                </a:lnTo>
                <a:close/>
                <a:moveTo>
                  <a:pt x="6414" y="5772"/>
                </a:moveTo>
                <a:lnTo>
                  <a:pt x="6952" y="6344"/>
                </a:lnTo>
                <a:lnTo>
                  <a:pt x="6984" y="6325"/>
                </a:lnTo>
                <a:lnTo>
                  <a:pt x="6447" y="5753"/>
                </a:lnTo>
                <a:close/>
                <a:moveTo>
                  <a:pt x="6430" y="5778"/>
                </a:moveTo>
                <a:lnTo>
                  <a:pt x="7343" y="5775"/>
                </a:lnTo>
                <a:lnTo>
                  <a:pt x="7343" y="5743"/>
                </a:lnTo>
                <a:lnTo>
                  <a:pt x="6430" y="5747"/>
                </a:lnTo>
                <a:close/>
                <a:moveTo>
                  <a:pt x="7350" y="5774"/>
                </a:moveTo>
                <a:lnTo>
                  <a:pt x="8094" y="5583"/>
                </a:lnTo>
                <a:lnTo>
                  <a:pt x="8081" y="5552"/>
                </a:lnTo>
                <a:lnTo>
                  <a:pt x="7337" y="5744"/>
                </a:lnTo>
                <a:close/>
                <a:moveTo>
                  <a:pt x="7325" y="5752"/>
                </a:moveTo>
                <a:lnTo>
                  <a:pt x="6950" y="6328"/>
                </a:lnTo>
                <a:lnTo>
                  <a:pt x="6986" y="6342"/>
                </a:lnTo>
                <a:lnTo>
                  <a:pt x="7361" y="5766"/>
                </a:lnTo>
                <a:close/>
                <a:moveTo>
                  <a:pt x="8083" y="5583"/>
                </a:moveTo>
                <a:lnTo>
                  <a:pt x="8782" y="5710"/>
                </a:lnTo>
                <a:lnTo>
                  <a:pt x="8791" y="5679"/>
                </a:lnTo>
                <a:lnTo>
                  <a:pt x="8092" y="5552"/>
                </a:lnTo>
                <a:close/>
                <a:moveTo>
                  <a:pt x="8068" y="5565"/>
                </a:moveTo>
                <a:lnTo>
                  <a:pt x="7894" y="6287"/>
                </a:lnTo>
                <a:lnTo>
                  <a:pt x="7933" y="6293"/>
                </a:lnTo>
                <a:lnTo>
                  <a:pt x="8107" y="5570"/>
                </a:lnTo>
                <a:close/>
                <a:moveTo>
                  <a:pt x="8783" y="5711"/>
                </a:moveTo>
                <a:lnTo>
                  <a:pt x="9602" y="5820"/>
                </a:lnTo>
                <a:lnTo>
                  <a:pt x="9608" y="5788"/>
                </a:lnTo>
                <a:lnTo>
                  <a:pt x="8789" y="5679"/>
                </a:lnTo>
                <a:close/>
                <a:moveTo>
                  <a:pt x="8766" y="5698"/>
                </a:moveTo>
                <a:lnTo>
                  <a:pt x="8954" y="6495"/>
                </a:lnTo>
                <a:lnTo>
                  <a:pt x="8994" y="6489"/>
                </a:lnTo>
                <a:lnTo>
                  <a:pt x="8806" y="5692"/>
                </a:lnTo>
                <a:close/>
                <a:moveTo>
                  <a:pt x="9587" y="5811"/>
                </a:moveTo>
                <a:lnTo>
                  <a:pt x="9964" y="6414"/>
                </a:lnTo>
                <a:lnTo>
                  <a:pt x="10000" y="6399"/>
                </a:lnTo>
                <a:lnTo>
                  <a:pt x="9623" y="5797"/>
                </a:lnTo>
                <a:close/>
                <a:moveTo>
                  <a:pt x="9589" y="5795"/>
                </a:moveTo>
                <a:lnTo>
                  <a:pt x="8958" y="6483"/>
                </a:lnTo>
                <a:lnTo>
                  <a:pt x="8990" y="6501"/>
                </a:lnTo>
                <a:lnTo>
                  <a:pt x="9621" y="5813"/>
                </a:lnTo>
                <a:close/>
                <a:moveTo>
                  <a:pt x="861" y="6428"/>
                </a:moveTo>
                <a:lnTo>
                  <a:pt x="1044" y="7005"/>
                </a:lnTo>
                <a:lnTo>
                  <a:pt x="1083" y="6998"/>
                </a:lnTo>
                <a:lnTo>
                  <a:pt x="900" y="6421"/>
                </a:lnTo>
                <a:close/>
                <a:moveTo>
                  <a:pt x="886" y="6440"/>
                </a:moveTo>
                <a:lnTo>
                  <a:pt x="1702" y="6273"/>
                </a:lnTo>
                <a:lnTo>
                  <a:pt x="1692" y="6243"/>
                </a:lnTo>
                <a:lnTo>
                  <a:pt x="876" y="6409"/>
                </a:lnTo>
                <a:close/>
                <a:moveTo>
                  <a:pt x="1693" y="6274"/>
                </a:moveTo>
                <a:lnTo>
                  <a:pt x="2684" y="6438"/>
                </a:lnTo>
                <a:lnTo>
                  <a:pt x="2692" y="6407"/>
                </a:lnTo>
                <a:lnTo>
                  <a:pt x="1701" y="6242"/>
                </a:lnTo>
                <a:close/>
                <a:moveTo>
                  <a:pt x="1678" y="6264"/>
                </a:moveTo>
                <a:lnTo>
                  <a:pt x="2054" y="7016"/>
                </a:lnTo>
                <a:lnTo>
                  <a:pt x="2092" y="7004"/>
                </a:lnTo>
                <a:lnTo>
                  <a:pt x="1715" y="6252"/>
                </a:lnTo>
                <a:close/>
                <a:moveTo>
                  <a:pt x="2673" y="6413"/>
                </a:moveTo>
                <a:lnTo>
                  <a:pt x="2058" y="7000"/>
                </a:lnTo>
                <a:lnTo>
                  <a:pt x="2089" y="7020"/>
                </a:lnTo>
                <a:lnTo>
                  <a:pt x="2704" y="6433"/>
                </a:lnTo>
                <a:close/>
                <a:moveTo>
                  <a:pt x="2669" y="6426"/>
                </a:moveTo>
                <a:lnTo>
                  <a:pt x="2893" y="7203"/>
                </a:lnTo>
                <a:lnTo>
                  <a:pt x="2932" y="7196"/>
                </a:lnTo>
                <a:lnTo>
                  <a:pt x="2708" y="6419"/>
                </a:lnTo>
                <a:close/>
                <a:moveTo>
                  <a:pt x="3732" y="6480"/>
                </a:moveTo>
                <a:lnTo>
                  <a:pt x="3598" y="7066"/>
                </a:lnTo>
                <a:lnTo>
                  <a:pt x="3637" y="7071"/>
                </a:lnTo>
                <a:lnTo>
                  <a:pt x="3771" y="6486"/>
                </a:lnTo>
                <a:close/>
                <a:moveTo>
                  <a:pt x="3737" y="6494"/>
                </a:moveTo>
                <a:lnTo>
                  <a:pt x="4333" y="6975"/>
                </a:lnTo>
                <a:lnTo>
                  <a:pt x="4362" y="6952"/>
                </a:lnTo>
                <a:lnTo>
                  <a:pt x="3766" y="6472"/>
                </a:lnTo>
                <a:close/>
                <a:moveTo>
                  <a:pt x="4715" y="6295"/>
                </a:moveTo>
                <a:lnTo>
                  <a:pt x="5502" y="6367"/>
                </a:lnTo>
                <a:lnTo>
                  <a:pt x="5507" y="6335"/>
                </a:lnTo>
                <a:lnTo>
                  <a:pt x="4719" y="6263"/>
                </a:lnTo>
                <a:close/>
                <a:moveTo>
                  <a:pt x="4698" y="6273"/>
                </a:moveTo>
                <a:lnTo>
                  <a:pt x="4329" y="6957"/>
                </a:lnTo>
                <a:lnTo>
                  <a:pt x="4366" y="6970"/>
                </a:lnTo>
                <a:lnTo>
                  <a:pt x="4735" y="6286"/>
                </a:lnTo>
                <a:close/>
                <a:moveTo>
                  <a:pt x="5499" y="6366"/>
                </a:moveTo>
                <a:lnTo>
                  <a:pt x="6193" y="6523"/>
                </a:lnTo>
                <a:lnTo>
                  <a:pt x="6204" y="6493"/>
                </a:lnTo>
                <a:lnTo>
                  <a:pt x="5510" y="6335"/>
                </a:lnTo>
                <a:close/>
                <a:moveTo>
                  <a:pt x="5485" y="6347"/>
                </a:moveTo>
                <a:lnTo>
                  <a:pt x="5220" y="7159"/>
                </a:lnTo>
                <a:lnTo>
                  <a:pt x="5259" y="7167"/>
                </a:lnTo>
                <a:lnTo>
                  <a:pt x="5524" y="6355"/>
                </a:lnTo>
                <a:close/>
                <a:moveTo>
                  <a:pt x="6204" y="6523"/>
                </a:moveTo>
                <a:lnTo>
                  <a:pt x="6973" y="6350"/>
                </a:lnTo>
                <a:lnTo>
                  <a:pt x="6962" y="6320"/>
                </a:lnTo>
                <a:lnTo>
                  <a:pt x="6193" y="6493"/>
                </a:lnTo>
                <a:close/>
                <a:moveTo>
                  <a:pt x="6178" y="6510"/>
                </a:moveTo>
                <a:lnTo>
                  <a:pt x="6261" y="7140"/>
                </a:lnTo>
                <a:lnTo>
                  <a:pt x="6301" y="7137"/>
                </a:lnTo>
                <a:lnTo>
                  <a:pt x="6218" y="6506"/>
                </a:lnTo>
                <a:close/>
                <a:moveTo>
                  <a:pt x="6949" y="6341"/>
                </a:moveTo>
                <a:lnTo>
                  <a:pt x="7304" y="6962"/>
                </a:lnTo>
                <a:lnTo>
                  <a:pt x="7341" y="6949"/>
                </a:lnTo>
                <a:lnTo>
                  <a:pt x="6986" y="6328"/>
                </a:lnTo>
                <a:close/>
                <a:moveTo>
                  <a:pt x="6969" y="6351"/>
                </a:moveTo>
                <a:lnTo>
                  <a:pt x="7915" y="6305"/>
                </a:lnTo>
                <a:lnTo>
                  <a:pt x="7912" y="6274"/>
                </a:lnTo>
                <a:lnTo>
                  <a:pt x="6967" y="6319"/>
                </a:lnTo>
                <a:close/>
                <a:moveTo>
                  <a:pt x="7897" y="6280"/>
                </a:moveTo>
                <a:lnTo>
                  <a:pt x="7306" y="6946"/>
                </a:lnTo>
                <a:lnTo>
                  <a:pt x="7339" y="6964"/>
                </a:lnTo>
                <a:lnTo>
                  <a:pt x="7930" y="6299"/>
                </a:lnTo>
                <a:close/>
                <a:moveTo>
                  <a:pt x="7894" y="6294"/>
                </a:moveTo>
                <a:lnTo>
                  <a:pt x="8194" y="7102"/>
                </a:lnTo>
                <a:lnTo>
                  <a:pt x="8233" y="7093"/>
                </a:lnTo>
                <a:lnTo>
                  <a:pt x="7933" y="6285"/>
                </a:lnTo>
                <a:close/>
                <a:moveTo>
                  <a:pt x="8954" y="6492"/>
                </a:moveTo>
                <a:lnTo>
                  <a:pt x="8924" y="7189"/>
                </a:lnTo>
                <a:lnTo>
                  <a:pt x="8964" y="7190"/>
                </a:lnTo>
                <a:lnTo>
                  <a:pt x="8994" y="6493"/>
                </a:lnTo>
                <a:close/>
                <a:moveTo>
                  <a:pt x="8960" y="6504"/>
                </a:moveTo>
                <a:lnTo>
                  <a:pt x="9635" y="6999"/>
                </a:lnTo>
                <a:lnTo>
                  <a:pt x="9663" y="6976"/>
                </a:lnTo>
                <a:lnTo>
                  <a:pt x="8988" y="6480"/>
                </a:lnTo>
                <a:close/>
                <a:moveTo>
                  <a:pt x="9963" y="6400"/>
                </a:moveTo>
                <a:lnTo>
                  <a:pt x="9631" y="6981"/>
                </a:lnTo>
                <a:lnTo>
                  <a:pt x="9667" y="6994"/>
                </a:lnTo>
                <a:lnTo>
                  <a:pt x="10000" y="6413"/>
                </a:lnTo>
                <a:close/>
                <a:moveTo>
                  <a:pt x="9968" y="6395"/>
                </a:moveTo>
                <a:lnTo>
                  <a:pt x="8930" y="7178"/>
                </a:lnTo>
                <a:lnTo>
                  <a:pt x="8958" y="7201"/>
                </a:lnTo>
                <a:lnTo>
                  <a:pt x="9996" y="6418"/>
                </a:lnTo>
                <a:close/>
                <a:moveTo>
                  <a:pt x="1043" y="7001"/>
                </a:moveTo>
                <a:lnTo>
                  <a:pt x="1019" y="7649"/>
                </a:lnTo>
                <a:lnTo>
                  <a:pt x="1060" y="7650"/>
                </a:lnTo>
                <a:lnTo>
                  <a:pt x="1083" y="7002"/>
                </a:lnTo>
                <a:close/>
                <a:moveTo>
                  <a:pt x="1063" y="7017"/>
                </a:moveTo>
                <a:lnTo>
                  <a:pt x="2073" y="7026"/>
                </a:lnTo>
                <a:lnTo>
                  <a:pt x="2073" y="6994"/>
                </a:lnTo>
                <a:lnTo>
                  <a:pt x="1064" y="6986"/>
                </a:lnTo>
                <a:close/>
                <a:moveTo>
                  <a:pt x="2068" y="7025"/>
                </a:moveTo>
                <a:lnTo>
                  <a:pt x="2907" y="7215"/>
                </a:lnTo>
                <a:lnTo>
                  <a:pt x="2918" y="7184"/>
                </a:lnTo>
                <a:lnTo>
                  <a:pt x="2079" y="6995"/>
                </a:lnTo>
                <a:close/>
                <a:moveTo>
                  <a:pt x="2054" y="7005"/>
                </a:moveTo>
                <a:lnTo>
                  <a:pt x="1724" y="7820"/>
                </a:lnTo>
                <a:lnTo>
                  <a:pt x="1763" y="7830"/>
                </a:lnTo>
                <a:lnTo>
                  <a:pt x="2092" y="7015"/>
                </a:lnTo>
                <a:close/>
                <a:moveTo>
                  <a:pt x="2917" y="7215"/>
                </a:moveTo>
                <a:lnTo>
                  <a:pt x="3622" y="7084"/>
                </a:lnTo>
                <a:lnTo>
                  <a:pt x="3613" y="7053"/>
                </a:lnTo>
                <a:lnTo>
                  <a:pt x="2908" y="7184"/>
                </a:lnTo>
                <a:close/>
                <a:moveTo>
                  <a:pt x="2899" y="7212"/>
                </a:moveTo>
                <a:lnTo>
                  <a:pt x="3575" y="7675"/>
                </a:lnTo>
                <a:lnTo>
                  <a:pt x="3601" y="7651"/>
                </a:lnTo>
                <a:lnTo>
                  <a:pt x="2926" y="7188"/>
                </a:lnTo>
                <a:close/>
                <a:moveTo>
                  <a:pt x="3621" y="7084"/>
                </a:moveTo>
                <a:lnTo>
                  <a:pt x="4351" y="6979"/>
                </a:lnTo>
                <a:lnTo>
                  <a:pt x="4344" y="6948"/>
                </a:lnTo>
                <a:lnTo>
                  <a:pt x="3614" y="7053"/>
                </a:lnTo>
                <a:close/>
                <a:moveTo>
                  <a:pt x="3597" y="7068"/>
                </a:moveTo>
                <a:lnTo>
                  <a:pt x="3568" y="7663"/>
                </a:lnTo>
                <a:lnTo>
                  <a:pt x="3608" y="7664"/>
                </a:lnTo>
                <a:lnTo>
                  <a:pt x="3638" y="7069"/>
                </a:lnTo>
                <a:close/>
                <a:moveTo>
                  <a:pt x="4342" y="6979"/>
                </a:moveTo>
                <a:lnTo>
                  <a:pt x="5234" y="7178"/>
                </a:lnTo>
                <a:lnTo>
                  <a:pt x="5245" y="7147"/>
                </a:lnTo>
                <a:lnTo>
                  <a:pt x="4353" y="6948"/>
                </a:lnTo>
                <a:close/>
                <a:moveTo>
                  <a:pt x="4328" y="6968"/>
                </a:moveTo>
                <a:lnTo>
                  <a:pt x="4629" y="7758"/>
                </a:lnTo>
                <a:lnTo>
                  <a:pt x="4668" y="7749"/>
                </a:lnTo>
                <a:lnTo>
                  <a:pt x="4367" y="6959"/>
                </a:lnTo>
                <a:close/>
                <a:moveTo>
                  <a:pt x="5224" y="7153"/>
                </a:moveTo>
                <a:lnTo>
                  <a:pt x="4632" y="7744"/>
                </a:lnTo>
                <a:lnTo>
                  <a:pt x="4664" y="7763"/>
                </a:lnTo>
                <a:lnTo>
                  <a:pt x="5255" y="7173"/>
                </a:lnTo>
                <a:close/>
                <a:moveTo>
                  <a:pt x="5221" y="7168"/>
                </a:moveTo>
                <a:lnTo>
                  <a:pt x="5575" y="7903"/>
                </a:lnTo>
                <a:lnTo>
                  <a:pt x="5613" y="7891"/>
                </a:lnTo>
                <a:lnTo>
                  <a:pt x="5258" y="7157"/>
                </a:lnTo>
                <a:close/>
                <a:moveTo>
                  <a:pt x="6261" y="7141"/>
                </a:moveTo>
                <a:lnTo>
                  <a:pt x="6343" y="7716"/>
                </a:lnTo>
                <a:lnTo>
                  <a:pt x="6383" y="7712"/>
                </a:lnTo>
                <a:lnTo>
                  <a:pt x="6301" y="7137"/>
                </a:lnTo>
                <a:close/>
                <a:moveTo>
                  <a:pt x="6268" y="7151"/>
                </a:moveTo>
                <a:lnTo>
                  <a:pt x="7043" y="7701"/>
                </a:lnTo>
                <a:lnTo>
                  <a:pt x="7070" y="7677"/>
                </a:lnTo>
                <a:lnTo>
                  <a:pt x="6294" y="7127"/>
                </a:lnTo>
                <a:close/>
                <a:moveTo>
                  <a:pt x="7318" y="6971"/>
                </a:moveTo>
                <a:lnTo>
                  <a:pt x="8210" y="7113"/>
                </a:lnTo>
                <a:lnTo>
                  <a:pt x="8218" y="7082"/>
                </a:lnTo>
                <a:lnTo>
                  <a:pt x="7326" y="6940"/>
                </a:lnTo>
                <a:close/>
                <a:moveTo>
                  <a:pt x="7303" y="6951"/>
                </a:moveTo>
                <a:lnTo>
                  <a:pt x="7038" y="7684"/>
                </a:lnTo>
                <a:lnTo>
                  <a:pt x="7076" y="7693"/>
                </a:lnTo>
                <a:lnTo>
                  <a:pt x="7342" y="6960"/>
                </a:lnTo>
                <a:close/>
                <a:moveTo>
                  <a:pt x="8211" y="7113"/>
                </a:moveTo>
                <a:lnTo>
                  <a:pt x="8941" y="7205"/>
                </a:lnTo>
                <a:lnTo>
                  <a:pt x="8947" y="7173"/>
                </a:lnTo>
                <a:lnTo>
                  <a:pt x="8217" y="7082"/>
                </a:lnTo>
                <a:close/>
                <a:moveTo>
                  <a:pt x="8197" y="7107"/>
                </a:moveTo>
                <a:lnTo>
                  <a:pt x="8794" y="7794"/>
                </a:lnTo>
                <a:lnTo>
                  <a:pt x="8827" y="7775"/>
                </a:lnTo>
                <a:lnTo>
                  <a:pt x="8230" y="7089"/>
                </a:lnTo>
                <a:close/>
                <a:moveTo>
                  <a:pt x="8951" y="7204"/>
                </a:moveTo>
                <a:lnTo>
                  <a:pt x="9656" y="7003"/>
                </a:lnTo>
                <a:lnTo>
                  <a:pt x="9642" y="6973"/>
                </a:lnTo>
                <a:lnTo>
                  <a:pt x="8937" y="7174"/>
                </a:lnTo>
                <a:close/>
                <a:moveTo>
                  <a:pt x="8924" y="7186"/>
                </a:moveTo>
                <a:lnTo>
                  <a:pt x="8791" y="7782"/>
                </a:lnTo>
                <a:lnTo>
                  <a:pt x="8830" y="7787"/>
                </a:lnTo>
                <a:lnTo>
                  <a:pt x="8964" y="7192"/>
                </a:lnTo>
                <a:close/>
                <a:moveTo>
                  <a:pt x="9633" y="6977"/>
                </a:moveTo>
                <a:lnTo>
                  <a:pt x="8795" y="7774"/>
                </a:lnTo>
                <a:lnTo>
                  <a:pt x="8826" y="7795"/>
                </a:lnTo>
                <a:lnTo>
                  <a:pt x="9664" y="6998"/>
                </a:lnTo>
                <a:close/>
                <a:moveTo>
                  <a:pt x="1033" y="7664"/>
                </a:moveTo>
                <a:lnTo>
                  <a:pt x="1737" y="7840"/>
                </a:lnTo>
                <a:lnTo>
                  <a:pt x="1750" y="7810"/>
                </a:lnTo>
                <a:lnTo>
                  <a:pt x="1045" y="7634"/>
                </a:lnTo>
                <a:close/>
                <a:moveTo>
                  <a:pt x="1020" y="7647"/>
                </a:moveTo>
                <a:lnTo>
                  <a:pt x="880" y="8409"/>
                </a:lnTo>
                <a:lnTo>
                  <a:pt x="920" y="8414"/>
                </a:lnTo>
                <a:lnTo>
                  <a:pt x="1059" y="7651"/>
                </a:lnTo>
                <a:close/>
                <a:moveTo>
                  <a:pt x="1742" y="7841"/>
                </a:moveTo>
                <a:lnTo>
                  <a:pt x="2579" y="7881"/>
                </a:lnTo>
                <a:lnTo>
                  <a:pt x="2581" y="7849"/>
                </a:lnTo>
                <a:lnTo>
                  <a:pt x="1745" y="7809"/>
                </a:lnTo>
                <a:close/>
                <a:moveTo>
                  <a:pt x="1724" y="7828"/>
                </a:moveTo>
                <a:lnTo>
                  <a:pt x="1944" y="8596"/>
                </a:lnTo>
                <a:lnTo>
                  <a:pt x="1983" y="8589"/>
                </a:lnTo>
                <a:lnTo>
                  <a:pt x="1763" y="7821"/>
                </a:lnTo>
                <a:close/>
                <a:moveTo>
                  <a:pt x="2562" y="7872"/>
                </a:moveTo>
                <a:lnTo>
                  <a:pt x="2939" y="8454"/>
                </a:lnTo>
                <a:lnTo>
                  <a:pt x="2975" y="8439"/>
                </a:lnTo>
                <a:lnTo>
                  <a:pt x="2598" y="7858"/>
                </a:lnTo>
                <a:close/>
                <a:moveTo>
                  <a:pt x="2585" y="7881"/>
                </a:moveTo>
                <a:lnTo>
                  <a:pt x="3593" y="7679"/>
                </a:lnTo>
                <a:lnTo>
                  <a:pt x="3583" y="7648"/>
                </a:lnTo>
                <a:lnTo>
                  <a:pt x="2575" y="7850"/>
                </a:lnTo>
                <a:close/>
                <a:moveTo>
                  <a:pt x="3568" y="7667"/>
                </a:moveTo>
                <a:lnTo>
                  <a:pt x="3756" y="8363"/>
                </a:lnTo>
                <a:lnTo>
                  <a:pt x="3795" y="8356"/>
                </a:lnTo>
                <a:lnTo>
                  <a:pt x="3608" y="7660"/>
                </a:lnTo>
                <a:close/>
                <a:moveTo>
                  <a:pt x="3586" y="7679"/>
                </a:moveTo>
                <a:lnTo>
                  <a:pt x="4646" y="7769"/>
                </a:lnTo>
                <a:lnTo>
                  <a:pt x="4650" y="7738"/>
                </a:lnTo>
                <a:lnTo>
                  <a:pt x="3590" y="7647"/>
                </a:lnTo>
                <a:close/>
                <a:moveTo>
                  <a:pt x="4644" y="7769"/>
                </a:moveTo>
                <a:lnTo>
                  <a:pt x="5590" y="7913"/>
                </a:lnTo>
                <a:lnTo>
                  <a:pt x="5598" y="7881"/>
                </a:lnTo>
                <a:lnTo>
                  <a:pt x="4652" y="7738"/>
                </a:lnTo>
                <a:close/>
                <a:moveTo>
                  <a:pt x="4628" y="7751"/>
                </a:moveTo>
                <a:lnTo>
                  <a:pt x="4454" y="8559"/>
                </a:lnTo>
                <a:lnTo>
                  <a:pt x="4494" y="8565"/>
                </a:lnTo>
                <a:lnTo>
                  <a:pt x="4668" y="7756"/>
                </a:lnTo>
                <a:close/>
                <a:moveTo>
                  <a:pt x="5579" y="7908"/>
                </a:moveTo>
                <a:lnTo>
                  <a:pt x="6117" y="8355"/>
                </a:lnTo>
                <a:lnTo>
                  <a:pt x="6146" y="8333"/>
                </a:lnTo>
                <a:lnTo>
                  <a:pt x="5608" y="7886"/>
                </a:lnTo>
                <a:close/>
                <a:moveTo>
                  <a:pt x="5600" y="7912"/>
                </a:moveTo>
                <a:lnTo>
                  <a:pt x="6369" y="7729"/>
                </a:lnTo>
                <a:lnTo>
                  <a:pt x="6358" y="7699"/>
                </a:lnTo>
                <a:lnTo>
                  <a:pt x="5588" y="7882"/>
                </a:lnTo>
                <a:close/>
                <a:moveTo>
                  <a:pt x="6364" y="7730"/>
                </a:moveTo>
                <a:lnTo>
                  <a:pt x="7058" y="7705"/>
                </a:lnTo>
                <a:lnTo>
                  <a:pt x="7056" y="7673"/>
                </a:lnTo>
                <a:lnTo>
                  <a:pt x="6362" y="7698"/>
                </a:lnTo>
                <a:close/>
                <a:moveTo>
                  <a:pt x="6344" y="7710"/>
                </a:moveTo>
                <a:lnTo>
                  <a:pt x="6112" y="8340"/>
                </a:lnTo>
                <a:lnTo>
                  <a:pt x="6151" y="8349"/>
                </a:lnTo>
                <a:lnTo>
                  <a:pt x="6383" y="7719"/>
                </a:lnTo>
                <a:close/>
                <a:moveTo>
                  <a:pt x="7051" y="7704"/>
                </a:moveTo>
                <a:lnTo>
                  <a:pt x="7839" y="7903"/>
                </a:lnTo>
                <a:lnTo>
                  <a:pt x="7851" y="7873"/>
                </a:lnTo>
                <a:lnTo>
                  <a:pt x="7063" y="7674"/>
                </a:lnTo>
                <a:close/>
                <a:moveTo>
                  <a:pt x="7037" y="7691"/>
                </a:moveTo>
                <a:lnTo>
                  <a:pt x="7162" y="8502"/>
                </a:lnTo>
                <a:lnTo>
                  <a:pt x="7202" y="8499"/>
                </a:lnTo>
                <a:lnTo>
                  <a:pt x="7077" y="7687"/>
                </a:lnTo>
                <a:close/>
                <a:moveTo>
                  <a:pt x="7848" y="7904"/>
                </a:moveTo>
                <a:lnTo>
                  <a:pt x="8813" y="7800"/>
                </a:lnTo>
                <a:lnTo>
                  <a:pt x="8808" y="7769"/>
                </a:lnTo>
                <a:lnTo>
                  <a:pt x="7842" y="7872"/>
                </a:lnTo>
                <a:close/>
                <a:moveTo>
                  <a:pt x="7830" y="7878"/>
                </a:moveTo>
                <a:lnTo>
                  <a:pt x="7167" y="8490"/>
                </a:lnTo>
                <a:lnTo>
                  <a:pt x="7197" y="8511"/>
                </a:lnTo>
                <a:lnTo>
                  <a:pt x="7860" y="7899"/>
                </a:lnTo>
                <a:close/>
                <a:moveTo>
                  <a:pt x="884" y="8402"/>
                </a:moveTo>
                <a:lnTo>
                  <a:pt x="287" y="9032"/>
                </a:lnTo>
                <a:lnTo>
                  <a:pt x="319" y="9051"/>
                </a:lnTo>
                <a:lnTo>
                  <a:pt x="916" y="8421"/>
                </a:lnTo>
                <a:close/>
                <a:moveTo>
                  <a:pt x="881" y="8415"/>
                </a:moveTo>
                <a:lnTo>
                  <a:pt x="1156" y="9231"/>
                </a:lnTo>
                <a:lnTo>
                  <a:pt x="1195" y="9222"/>
                </a:lnTo>
                <a:lnTo>
                  <a:pt x="920" y="8407"/>
                </a:lnTo>
                <a:close/>
                <a:moveTo>
                  <a:pt x="1943" y="8591"/>
                </a:moveTo>
                <a:lnTo>
                  <a:pt x="1876" y="9245"/>
                </a:lnTo>
                <a:lnTo>
                  <a:pt x="1916" y="9248"/>
                </a:lnTo>
                <a:lnTo>
                  <a:pt x="1983" y="8594"/>
                </a:lnTo>
                <a:close/>
                <a:moveTo>
                  <a:pt x="1950" y="8605"/>
                </a:moveTo>
                <a:lnTo>
                  <a:pt x="2595" y="9060"/>
                </a:lnTo>
                <a:lnTo>
                  <a:pt x="2622" y="9037"/>
                </a:lnTo>
                <a:lnTo>
                  <a:pt x="1977" y="8581"/>
                </a:lnTo>
                <a:close/>
                <a:moveTo>
                  <a:pt x="2960" y="8462"/>
                </a:moveTo>
                <a:lnTo>
                  <a:pt x="3778" y="8375"/>
                </a:lnTo>
                <a:lnTo>
                  <a:pt x="3773" y="8344"/>
                </a:lnTo>
                <a:lnTo>
                  <a:pt x="2954" y="8431"/>
                </a:lnTo>
                <a:close/>
                <a:moveTo>
                  <a:pt x="2939" y="8440"/>
                </a:moveTo>
                <a:lnTo>
                  <a:pt x="2590" y="9042"/>
                </a:lnTo>
                <a:lnTo>
                  <a:pt x="2626" y="9055"/>
                </a:lnTo>
                <a:lnTo>
                  <a:pt x="2975" y="8453"/>
                </a:lnTo>
                <a:close/>
                <a:moveTo>
                  <a:pt x="3769" y="8375"/>
                </a:moveTo>
                <a:lnTo>
                  <a:pt x="4467" y="8577"/>
                </a:lnTo>
                <a:lnTo>
                  <a:pt x="4481" y="8547"/>
                </a:lnTo>
                <a:lnTo>
                  <a:pt x="3782" y="8345"/>
                </a:lnTo>
                <a:close/>
                <a:moveTo>
                  <a:pt x="3756" y="8355"/>
                </a:moveTo>
                <a:lnTo>
                  <a:pt x="3447" y="9152"/>
                </a:lnTo>
                <a:lnTo>
                  <a:pt x="3485" y="9161"/>
                </a:lnTo>
                <a:lnTo>
                  <a:pt x="3795" y="8364"/>
                </a:lnTo>
                <a:close/>
                <a:moveTo>
                  <a:pt x="4476" y="8578"/>
                </a:moveTo>
                <a:lnTo>
                  <a:pt x="5220" y="8534"/>
                </a:lnTo>
                <a:lnTo>
                  <a:pt x="5217" y="8502"/>
                </a:lnTo>
                <a:lnTo>
                  <a:pt x="4473" y="8546"/>
                </a:lnTo>
                <a:close/>
                <a:moveTo>
                  <a:pt x="4454" y="8562"/>
                </a:moveTo>
                <a:lnTo>
                  <a:pt x="4468" y="9285"/>
                </a:lnTo>
                <a:lnTo>
                  <a:pt x="4509" y="9285"/>
                </a:lnTo>
                <a:lnTo>
                  <a:pt x="4494" y="8562"/>
                </a:lnTo>
                <a:close/>
                <a:moveTo>
                  <a:pt x="5223" y="8534"/>
                </a:moveTo>
                <a:lnTo>
                  <a:pt x="6136" y="8360"/>
                </a:lnTo>
                <a:lnTo>
                  <a:pt x="6127" y="8329"/>
                </a:lnTo>
                <a:lnTo>
                  <a:pt x="5214" y="8503"/>
                </a:lnTo>
                <a:close/>
                <a:moveTo>
                  <a:pt x="5202" y="8508"/>
                </a:moveTo>
                <a:lnTo>
                  <a:pt x="4472" y="9275"/>
                </a:lnTo>
                <a:lnTo>
                  <a:pt x="4505" y="9294"/>
                </a:lnTo>
                <a:lnTo>
                  <a:pt x="5234" y="8528"/>
                </a:lnTo>
                <a:close/>
                <a:moveTo>
                  <a:pt x="6128" y="8360"/>
                </a:moveTo>
                <a:lnTo>
                  <a:pt x="7178" y="8516"/>
                </a:lnTo>
                <a:lnTo>
                  <a:pt x="7186" y="8485"/>
                </a:lnTo>
                <a:lnTo>
                  <a:pt x="6135" y="8328"/>
                </a:lnTo>
                <a:close/>
                <a:moveTo>
                  <a:pt x="298" y="9057"/>
                </a:moveTo>
                <a:lnTo>
                  <a:pt x="1171" y="9242"/>
                </a:lnTo>
                <a:lnTo>
                  <a:pt x="1181" y="9211"/>
                </a:lnTo>
                <a:lnTo>
                  <a:pt x="308" y="9026"/>
                </a:lnTo>
                <a:close/>
                <a:moveTo>
                  <a:pt x="284" y="9048"/>
                </a:moveTo>
                <a:lnTo>
                  <a:pt x="798" y="9991"/>
                </a:lnTo>
                <a:lnTo>
                  <a:pt x="835" y="9978"/>
                </a:lnTo>
                <a:lnTo>
                  <a:pt x="321" y="9035"/>
                </a:lnTo>
                <a:close/>
                <a:moveTo>
                  <a:pt x="1175" y="9242"/>
                </a:moveTo>
                <a:lnTo>
                  <a:pt x="1895" y="9263"/>
                </a:lnTo>
                <a:lnTo>
                  <a:pt x="1896" y="9231"/>
                </a:lnTo>
                <a:lnTo>
                  <a:pt x="1177" y="9211"/>
                </a:lnTo>
                <a:close/>
                <a:moveTo>
                  <a:pt x="1160" y="9237"/>
                </a:moveTo>
                <a:lnTo>
                  <a:pt x="1783" y="9835"/>
                </a:lnTo>
                <a:lnTo>
                  <a:pt x="1814" y="9815"/>
                </a:lnTo>
                <a:lnTo>
                  <a:pt x="1191" y="9216"/>
                </a:lnTo>
                <a:close/>
                <a:moveTo>
                  <a:pt x="1876" y="9245"/>
                </a:moveTo>
                <a:lnTo>
                  <a:pt x="1778" y="9823"/>
                </a:lnTo>
                <a:lnTo>
                  <a:pt x="1818" y="9827"/>
                </a:lnTo>
                <a:lnTo>
                  <a:pt x="1916" y="9249"/>
                </a:lnTo>
                <a:close/>
                <a:moveTo>
                  <a:pt x="1902" y="9262"/>
                </a:moveTo>
                <a:lnTo>
                  <a:pt x="2615" y="9064"/>
                </a:lnTo>
                <a:lnTo>
                  <a:pt x="2601" y="9033"/>
                </a:lnTo>
                <a:lnTo>
                  <a:pt x="1889" y="9232"/>
                </a:lnTo>
                <a:close/>
                <a:moveTo>
                  <a:pt x="2605" y="9064"/>
                </a:moveTo>
                <a:lnTo>
                  <a:pt x="3463" y="9172"/>
                </a:lnTo>
                <a:lnTo>
                  <a:pt x="3469" y="9141"/>
                </a:lnTo>
                <a:lnTo>
                  <a:pt x="2611" y="9033"/>
                </a:lnTo>
                <a:close/>
                <a:moveTo>
                  <a:pt x="2589" y="9053"/>
                </a:moveTo>
                <a:lnTo>
                  <a:pt x="2843" y="9761"/>
                </a:lnTo>
                <a:lnTo>
                  <a:pt x="2881" y="9752"/>
                </a:lnTo>
                <a:lnTo>
                  <a:pt x="2627" y="9044"/>
                </a:lnTo>
                <a:close/>
                <a:moveTo>
                  <a:pt x="3450" y="9146"/>
                </a:moveTo>
                <a:lnTo>
                  <a:pt x="2846" y="9747"/>
                </a:lnTo>
                <a:lnTo>
                  <a:pt x="2878" y="9767"/>
                </a:lnTo>
                <a:lnTo>
                  <a:pt x="3482" y="9166"/>
                </a:lnTo>
                <a:close/>
                <a:moveTo>
                  <a:pt x="3463" y="9172"/>
                </a:moveTo>
                <a:lnTo>
                  <a:pt x="4485" y="9301"/>
                </a:lnTo>
                <a:lnTo>
                  <a:pt x="4492" y="9269"/>
                </a:lnTo>
                <a:lnTo>
                  <a:pt x="3469" y="9141"/>
                </a:lnTo>
                <a:close/>
                <a:moveTo>
                  <a:pt x="821" y="10000"/>
                </a:moveTo>
                <a:lnTo>
                  <a:pt x="1802" y="9840"/>
                </a:lnTo>
                <a:lnTo>
                  <a:pt x="1794" y="9809"/>
                </a:lnTo>
                <a:lnTo>
                  <a:pt x="813" y="9969"/>
                </a:lnTo>
                <a:close/>
                <a:moveTo>
                  <a:pt x="1800" y="9841"/>
                </a:moveTo>
                <a:lnTo>
                  <a:pt x="2864" y="9773"/>
                </a:lnTo>
                <a:lnTo>
                  <a:pt x="2860" y="9741"/>
                </a:lnTo>
                <a:lnTo>
                  <a:pt x="1796" y="9809"/>
                </a:lnTo>
                <a:close/>
                <a:close/>
              </a:path>
            </a:pathLst>
          </a:custGeom>
          <a:solidFill>
            <a:srgbClr val="514E48"/>
          </a:solidFill>
          <a:ln w="12700">
            <a:solidFill>
              <a:srgbClr val="514E48"/>
            </a:solidFill>
            <a:prstDash val="solid"/>
          </a:ln>
        </p:spPr>
      </p:sp>
      <p:sp>
        <p:nvSpPr>
          <p:cNvPr id="14" name="Editable road path 22"/>
          <p:cNvSpPr/>
          <p:nvPr/>
        </p:nvSpPr>
        <p:spPr>
          <a:xfrm>
            <a:off x="691522" y="3995693"/>
            <a:ext cx="1694131" cy="2119544"/>
          </a:xfrm>
          <a:custGeom>
            <a:avLst/>
            <a:gdLst/>
            <a:ahLst/>
            <a:cxnLst/>
            <a:rect l="0" t="0" r="r" b="b"/>
            <a:pathLst>
              <a:path w="10000" h="10000">
                <a:moveTo>
                  <a:pt x="2179" y="823"/>
                </a:moveTo>
                <a:lnTo>
                  <a:pt x="2914" y="675"/>
                </a:lnTo>
                <a:lnTo>
                  <a:pt x="2876" y="553"/>
                </a:lnTo>
                <a:lnTo>
                  <a:pt x="2140" y="701"/>
                </a:lnTo>
                <a:close/>
                <a:moveTo>
                  <a:pt x="2870" y="674"/>
                </a:moveTo>
                <a:lnTo>
                  <a:pt x="3601" y="864"/>
                </a:lnTo>
                <a:lnTo>
                  <a:pt x="3650" y="744"/>
                </a:lnTo>
                <a:lnTo>
                  <a:pt x="2919" y="554"/>
                </a:lnTo>
                <a:close/>
                <a:moveTo>
                  <a:pt x="3623" y="867"/>
                </a:moveTo>
                <a:lnTo>
                  <a:pt x="4504" y="892"/>
                </a:lnTo>
                <a:lnTo>
                  <a:pt x="4510" y="766"/>
                </a:lnTo>
                <a:lnTo>
                  <a:pt x="3628" y="741"/>
                </a:lnTo>
                <a:close/>
                <a:moveTo>
                  <a:pt x="4526" y="890"/>
                </a:moveTo>
                <a:lnTo>
                  <a:pt x="5575" y="684"/>
                </a:lnTo>
                <a:lnTo>
                  <a:pt x="5537" y="562"/>
                </a:lnTo>
                <a:lnTo>
                  <a:pt x="4488" y="768"/>
                </a:lnTo>
                <a:close/>
                <a:moveTo>
                  <a:pt x="5546" y="685"/>
                </a:moveTo>
                <a:lnTo>
                  <a:pt x="6625" y="794"/>
                </a:lnTo>
                <a:lnTo>
                  <a:pt x="6645" y="669"/>
                </a:lnTo>
                <a:lnTo>
                  <a:pt x="5566" y="560"/>
                </a:lnTo>
                <a:close/>
                <a:moveTo>
                  <a:pt x="6621" y="793"/>
                </a:moveTo>
                <a:lnTo>
                  <a:pt x="7565" y="929"/>
                </a:lnTo>
                <a:lnTo>
                  <a:pt x="7593" y="805"/>
                </a:lnTo>
                <a:lnTo>
                  <a:pt x="6649" y="670"/>
                </a:lnTo>
                <a:close/>
                <a:moveTo>
                  <a:pt x="353" y="4287"/>
                </a:moveTo>
                <a:lnTo>
                  <a:pt x="1257" y="4374"/>
                </a:lnTo>
                <a:lnTo>
                  <a:pt x="1276" y="4249"/>
                </a:lnTo>
                <a:lnTo>
                  <a:pt x="372" y="4162"/>
                </a:lnTo>
                <a:close/>
                <a:moveTo>
                  <a:pt x="1247" y="4373"/>
                </a:moveTo>
                <a:lnTo>
                  <a:pt x="1989" y="4526"/>
                </a:lnTo>
                <a:lnTo>
                  <a:pt x="2028" y="4404"/>
                </a:lnTo>
                <a:lnTo>
                  <a:pt x="1286" y="4251"/>
                </a:lnTo>
                <a:close/>
                <a:moveTo>
                  <a:pt x="2032" y="4525"/>
                </a:moveTo>
                <a:lnTo>
                  <a:pt x="2758" y="4339"/>
                </a:lnTo>
                <a:lnTo>
                  <a:pt x="2710" y="4219"/>
                </a:lnTo>
                <a:lnTo>
                  <a:pt x="1984" y="4405"/>
                </a:lnTo>
                <a:close/>
                <a:moveTo>
                  <a:pt x="2737" y="4342"/>
                </a:moveTo>
                <a:lnTo>
                  <a:pt x="3606" y="4309"/>
                </a:lnTo>
                <a:lnTo>
                  <a:pt x="3599" y="4183"/>
                </a:lnTo>
                <a:lnTo>
                  <a:pt x="2730" y="4216"/>
                </a:lnTo>
                <a:close/>
                <a:moveTo>
                  <a:pt x="3584" y="4307"/>
                </a:moveTo>
                <a:lnTo>
                  <a:pt x="4624" y="4514"/>
                </a:lnTo>
                <a:lnTo>
                  <a:pt x="4662" y="4392"/>
                </a:lnTo>
                <a:lnTo>
                  <a:pt x="3622" y="4185"/>
                </a:lnTo>
                <a:close/>
                <a:moveTo>
                  <a:pt x="4652" y="4516"/>
                </a:moveTo>
                <a:lnTo>
                  <a:pt x="5735" y="4415"/>
                </a:lnTo>
                <a:lnTo>
                  <a:pt x="5717" y="4290"/>
                </a:lnTo>
                <a:lnTo>
                  <a:pt x="4634" y="4391"/>
                </a:lnTo>
                <a:close/>
                <a:moveTo>
                  <a:pt x="5740" y="4414"/>
                </a:moveTo>
                <a:lnTo>
                  <a:pt x="6697" y="4272"/>
                </a:lnTo>
                <a:lnTo>
                  <a:pt x="6668" y="4148"/>
                </a:lnTo>
                <a:lnTo>
                  <a:pt x="5712" y="4291"/>
                </a:lnTo>
                <a:close/>
                <a:moveTo>
                  <a:pt x="6659" y="4270"/>
                </a:moveTo>
                <a:lnTo>
                  <a:pt x="7437" y="4463"/>
                </a:lnTo>
                <a:lnTo>
                  <a:pt x="7483" y="4343"/>
                </a:lnTo>
                <a:lnTo>
                  <a:pt x="6706" y="4150"/>
                </a:lnTo>
                <a:close/>
                <a:moveTo>
                  <a:pt x="7458" y="4466"/>
                </a:moveTo>
                <a:lnTo>
                  <a:pt x="8169" y="4483"/>
                </a:lnTo>
                <a:lnTo>
                  <a:pt x="8174" y="4358"/>
                </a:lnTo>
                <a:lnTo>
                  <a:pt x="7463" y="4340"/>
                </a:lnTo>
                <a:close/>
                <a:moveTo>
                  <a:pt x="8195" y="4481"/>
                </a:moveTo>
                <a:lnTo>
                  <a:pt x="9013" y="4276"/>
                </a:lnTo>
                <a:lnTo>
                  <a:pt x="8966" y="4156"/>
                </a:lnTo>
                <a:lnTo>
                  <a:pt x="8148" y="4360"/>
                </a:lnTo>
                <a:close/>
                <a:moveTo>
                  <a:pt x="8978" y="4279"/>
                </a:moveTo>
                <a:lnTo>
                  <a:pt x="9978" y="4393"/>
                </a:lnTo>
                <a:lnTo>
                  <a:pt x="10000" y="4269"/>
                </a:lnTo>
                <a:lnTo>
                  <a:pt x="9000" y="4154"/>
                </a:lnTo>
                <a:close/>
                <a:moveTo>
                  <a:pt x="1098" y="7863"/>
                </a:moveTo>
                <a:lnTo>
                  <a:pt x="1819" y="8045"/>
                </a:lnTo>
                <a:lnTo>
                  <a:pt x="1866" y="7925"/>
                </a:lnTo>
                <a:lnTo>
                  <a:pt x="1145" y="7743"/>
                </a:lnTo>
                <a:close/>
                <a:moveTo>
                  <a:pt x="1838" y="8048"/>
                </a:moveTo>
                <a:lnTo>
                  <a:pt x="2694" y="8089"/>
                </a:lnTo>
                <a:lnTo>
                  <a:pt x="2704" y="7964"/>
                </a:lnTo>
                <a:lnTo>
                  <a:pt x="1847" y="7922"/>
                </a:lnTo>
                <a:close/>
                <a:moveTo>
                  <a:pt x="2719" y="8088"/>
                </a:moveTo>
                <a:lnTo>
                  <a:pt x="3750" y="7879"/>
                </a:lnTo>
                <a:lnTo>
                  <a:pt x="3712" y="7757"/>
                </a:lnTo>
                <a:lnTo>
                  <a:pt x="2680" y="7966"/>
                </a:lnTo>
                <a:close/>
                <a:moveTo>
                  <a:pt x="3723" y="7880"/>
                </a:moveTo>
                <a:lnTo>
                  <a:pt x="4808" y="7974"/>
                </a:lnTo>
                <a:lnTo>
                  <a:pt x="4825" y="7849"/>
                </a:lnTo>
                <a:lnTo>
                  <a:pt x="3740" y="7755"/>
                </a:lnTo>
                <a:close/>
                <a:moveTo>
                  <a:pt x="4802" y="7973"/>
                </a:moveTo>
                <a:lnTo>
                  <a:pt x="5770" y="8121"/>
                </a:lnTo>
                <a:lnTo>
                  <a:pt x="5800" y="7998"/>
                </a:lnTo>
                <a:lnTo>
                  <a:pt x="4831" y="7849"/>
                </a:lnTo>
                <a:close/>
                <a:moveTo>
                  <a:pt x="5807" y="8120"/>
                </a:moveTo>
                <a:lnTo>
                  <a:pt x="6595" y="7931"/>
                </a:lnTo>
                <a:lnTo>
                  <a:pt x="6550" y="7810"/>
                </a:lnTo>
                <a:lnTo>
                  <a:pt x="5762" y="7999"/>
                </a:lnTo>
                <a:close/>
                <a:moveTo>
                  <a:pt x="6576" y="7933"/>
                </a:moveTo>
                <a:lnTo>
                  <a:pt x="7286" y="7907"/>
                </a:lnTo>
                <a:lnTo>
                  <a:pt x="7279" y="7781"/>
                </a:lnTo>
                <a:lnTo>
                  <a:pt x="6569" y="7807"/>
                </a:lnTo>
                <a:close/>
                <a:moveTo>
                  <a:pt x="7259" y="7904"/>
                </a:moveTo>
                <a:lnTo>
                  <a:pt x="8065" y="8110"/>
                </a:lnTo>
                <a:lnTo>
                  <a:pt x="8113" y="7990"/>
                </a:lnTo>
                <a:lnTo>
                  <a:pt x="7307" y="7784"/>
                </a:lnTo>
                <a:close/>
                <a:moveTo>
                  <a:pt x="8100" y="8113"/>
                </a:moveTo>
                <a:lnTo>
                  <a:pt x="9089" y="8005"/>
                </a:lnTo>
                <a:lnTo>
                  <a:pt x="9067" y="7881"/>
                </a:lnTo>
                <a:lnTo>
                  <a:pt x="8079" y="7988"/>
                </a:lnTo>
                <a:close/>
                <a:moveTo>
                  <a:pt x="5456" y="3"/>
                </a:moveTo>
                <a:lnTo>
                  <a:pt x="5477" y="625"/>
                </a:lnTo>
                <a:lnTo>
                  <a:pt x="5634" y="621"/>
                </a:lnTo>
                <a:lnTo>
                  <a:pt x="5613" y="0"/>
                </a:lnTo>
                <a:close/>
                <a:moveTo>
                  <a:pt x="5478" y="633"/>
                </a:moveTo>
                <a:lnTo>
                  <a:pt x="5624" y="1363"/>
                </a:lnTo>
                <a:lnTo>
                  <a:pt x="5779" y="1343"/>
                </a:lnTo>
                <a:lnTo>
                  <a:pt x="5634" y="613"/>
                </a:lnTo>
                <a:close/>
                <a:moveTo>
                  <a:pt x="5626" y="1337"/>
                </a:moveTo>
                <a:lnTo>
                  <a:pt x="5341" y="2166"/>
                </a:lnTo>
                <a:lnTo>
                  <a:pt x="5493" y="2199"/>
                </a:lnTo>
                <a:lnTo>
                  <a:pt x="5778" y="1370"/>
                </a:lnTo>
                <a:close/>
                <a:moveTo>
                  <a:pt x="5343" y="2204"/>
                </a:moveTo>
                <a:lnTo>
                  <a:pt x="5712" y="3030"/>
                </a:lnTo>
                <a:lnTo>
                  <a:pt x="5860" y="2988"/>
                </a:lnTo>
                <a:lnTo>
                  <a:pt x="5491" y="2161"/>
                </a:lnTo>
                <a:close/>
                <a:moveTo>
                  <a:pt x="5713" y="2985"/>
                </a:moveTo>
                <a:lnTo>
                  <a:pt x="5331" y="3710"/>
                </a:lnTo>
                <a:lnTo>
                  <a:pt x="5476" y="3759"/>
                </a:lnTo>
                <a:lnTo>
                  <a:pt x="5858" y="3034"/>
                </a:lnTo>
                <a:close/>
                <a:moveTo>
                  <a:pt x="5331" y="3759"/>
                </a:moveTo>
                <a:lnTo>
                  <a:pt x="5653" y="4377"/>
                </a:lnTo>
                <a:lnTo>
                  <a:pt x="5799" y="4328"/>
                </a:lnTo>
                <a:lnTo>
                  <a:pt x="5476" y="3710"/>
                </a:lnTo>
                <a:close/>
                <a:moveTo>
                  <a:pt x="5650" y="4336"/>
                </a:moveTo>
                <a:lnTo>
                  <a:pt x="5449" y="4940"/>
                </a:lnTo>
                <a:lnTo>
                  <a:pt x="5601" y="4972"/>
                </a:lnTo>
                <a:lnTo>
                  <a:pt x="5802" y="4369"/>
                </a:lnTo>
                <a:close/>
                <a:moveTo>
                  <a:pt x="5447" y="4959"/>
                </a:moveTo>
                <a:lnTo>
                  <a:pt x="5487" y="5654"/>
                </a:lnTo>
                <a:lnTo>
                  <a:pt x="5644" y="5649"/>
                </a:lnTo>
                <a:lnTo>
                  <a:pt x="5604" y="4953"/>
                </a:lnTo>
                <a:close/>
                <a:moveTo>
                  <a:pt x="5488" y="5659"/>
                </a:moveTo>
                <a:lnTo>
                  <a:pt x="5615" y="6468"/>
                </a:lnTo>
                <a:lnTo>
                  <a:pt x="5771" y="6452"/>
                </a:lnTo>
                <a:lnTo>
                  <a:pt x="5644" y="5644"/>
                </a:lnTo>
                <a:close/>
                <a:moveTo>
                  <a:pt x="5617" y="6445"/>
                </a:moveTo>
                <a:lnTo>
                  <a:pt x="5346" y="7284"/>
                </a:lnTo>
                <a:lnTo>
                  <a:pt x="5498" y="7316"/>
                </a:lnTo>
                <a:lnTo>
                  <a:pt x="5769" y="6476"/>
                </a:lnTo>
                <a:close/>
                <a:moveTo>
                  <a:pt x="5349" y="7322"/>
                </a:moveTo>
                <a:lnTo>
                  <a:pt x="5711" y="8082"/>
                </a:lnTo>
                <a:lnTo>
                  <a:pt x="5858" y="8037"/>
                </a:lnTo>
                <a:lnTo>
                  <a:pt x="5496" y="7278"/>
                </a:lnTo>
                <a:close/>
                <a:moveTo>
                  <a:pt x="5714" y="8032"/>
                </a:moveTo>
                <a:lnTo>
                  <a:pt x="5329" y="8675"/>
                </a:lnTo>
                <a:lnTo>
                  <a:pt x="5471" y="8729"/>
                </a:lnTo>
                <a:lnTo>
                  <a:pt x="5856" y="8087"/>
                </a:lnTo>
                <a:close/>
                <a:moveTo>
                  <a:pt x="2816" y="608"/>
                </a:moveTo>
                <a:lnTo>
                  <a:pt x="2722" y="1405"/>
                </a:lnTo>
                <a:lnTo>
                  <a:pt x="2879" y="1417"/>
                </a:lnTo>
                <a:lnTo>
                  <a:pt x="2973" y="620"/>
                </a:lnTo>
                <a:close/>
                <a:moveTo>
                  <a:pt x="2724" y="1425"/>
                </a:moveTo>
                <a:lnTo>
                  <a:pt x="2969" y="2268"/>
                </a:lnTo>
                <a:lnTo>
                  <a:pt x="3123" y="2239"/>
                </a:lnTo>
                <a:lnTo>
                  <a:pt x="2878" y="1397"/>
                </a:lnTo>
                <a:close/>
                <a:moveTo>
                  <a:pt x="2972" y="2232"/>
                </a:moveTo>
                <a:lnTo>
                  <a:pt x="2623" y="3007"/>
                </a:lnTo>
                <a:lnTo>
                  <a:pt x="2771" y="3049"/>
                </a:lnTo>
                <a:lnTo>
                  <a:pt x="3120" y="2275"/>
                </a:lnTo>
                <a:close/>
                <a:moveTo>
                  <a:pt x="2626" y="3055"/>
                </a:moveTo>
                <a:lnTo>
                  <a:pt x="3012" y="3711"/>
                </a:lnTo>
                <a:lnTo>
                  <a:pt x="3154" y="3657"/>
                </a:lnTo>
                <a:lnTo>
                  <a:pt x="2768" y="3001"/>
                </a:lnTo>
                <a:close/>
                <a:moveTo>
                  <a:pt x="3012" y="3657"/>
                </a:moveTo>
                <a:lnTo>
                  <a:pt x="2662" y="4252"/>
                </a:lnTo>
                <a:lnTo>
                  <a:pt x="2805" y="4306"/>
                </a:lnTo>
                <a:lnTo>
                  <a:pt x="3154" y="3711"/>
                </a:lnTo>
                <a:close/>
                <a:moveTo>
                  <a:pt x="2658" y="4297"/>
                </a:moveTo>
                <a:lnTo>
                  <a:pt x="2904" y="4945"/>
                </a:lnTo>
                <a:lnTo>
                  <a:pt x="3054" y="4909"/>
                </a:lnTo>
                <a:lnTo>
                  <a:pt x="2809" y="4261"/>
                </a:lnTo>
                <a:close/>
                <a:moveTo>
                  <a:pt x="2901" y="4921"/>
                </a:moveTo>
                <a:lnTo>
                  <a:pt x="2806" y="5687"/>
                </a:lnTo>
                <a:lnTo>
                  <a:pt x="2963" y="5700"/>
                </a:lnTo>
                <a:lnTo>
                  <a:pt x="3057" y="4933"/>
                </a:lnTo>
                <a:close/>
                <a:moveTo>
                  <a:pt x="2806" y="5689"/>
                </a:moveTo>
                <a:lnTo>
                  <a:pt x="2731" y="6530"/>
                </a:lnTo>
                <a:lnTo>
                  <a:pt x="2888" y="6539"/>
                </a:lnTo>
                <a:lnTo>
                  <a:pt x="2963" y="5698"/>
                </a:lnTo>
                <a:close/>
                <a:moveTo>
                  <a:pt x="2733" y="6549"/>
                </a:moveTo>
                <a:lnTo>
                  <a:pt x="2963" y="7352"/>
                </a:lnTo>
                <a:lnTo>
                  <a:pt x="3116" y="7324"/>
                </a:lnTo>
                <a:lnTo>
                  <a:pt x="2887" y="6521"/>
                </a:lnTo>
                <a:close/>
                <a:moveTo>
                  <a:pt x="2966" y="7315"/>
                </a:moveTo>
                <a:lnTo>
                  <a:pt x="2626" y="8003"/>
                </a:lnTo>
                <a:lnTo>
                  <a:pt x="2772" y="8050"/>
                </a:lnTo>
                <a:lnTo>
                  <a:pt x="3113" y="7361"/>
                </a:lnTo>
                <a:close/>
                <a:moveTo>
                  <a:pt x="2629" y="8055"/>
                </a:moveTo>
                <a:lnTo>
                  <a:pt x="3015" y="8657"/>
                </a:lnTo>
                <a:lnTo>
                  <a:pt x="3155" y="8599"/>
                </a:lnTo>
                <a:lnTo>
                  <a:pt x="2769" y="7998"/>
                </a:lnTo>
                <a:close/>
                <a:moveTo>
                  <a:pt x="3013" y="8602"/>
                </a:moveTo>
                <a:lnTo>
                  <a:pt x="2656" y="9224"/>
                </a:lnTo>
                <a:lnTo>
                  <a:pt x="2799" y="9277"/>
                </a:lnTo>
                <a:lnTo>
                  <a:pt x="3156" y="8654"/>
                </a:lnTo>
                <a:close/>
                <a:moveTo>
                  <a:pt x="2652" y="9267"/>
                </a:moveTo>
                <a:lnTo>
                  <a:pt x="2912" y="10000"/>
                </a:lnTo>
                <a:lnTo>
                  <a:pt x="3064" y="9966"/>
                </a:lnTo>
                <a:lnTo>
                  <a:pt x="2804" y="9233"/>
                </a:lnTo>
                <a:close/>
                <a:moveTo>
                  <a:pt x="288" y="4206"/>
                </a:moveTo>
                <a:lnTo>
                  <a:pt x="3" y="4922"/>
                </a:lnTo>
                <a:lnTo>
                  <a:pt x="153" y="4960"/>
                </a:lnTo>
                <a:lnTo>
                  <a:pt x="438" y="4244"/>
                </a:lnTo>
                <a:close/>
                <a:moveTo>
                  <a:pt x="0" y="4950"/>
                </a:moveTo>
                <a:lnTo>
                  <a:pt x="146" y="5771"/>
                </a:lnTo>
                <a:lnTo>
                  <a:pt x="302" y="5754"/>
                </a:lnTo>
                <a:lnTo>
                  <a:pt x="156" y="4932"/>
                </a:lnTo>
                <a:close/>
                <a:moveTo>
                  <a:pt x="8078" y="1351"/>
                </a:moveTo>
                <a:lnTo>
                  <a:pt x="8396" y="2130"/>
                </a:lnTo>
                <a:lnTo>
                  <a:pt x="8546" y="2091"/>
                </a:lnTo>
                <a:lnTo>
                  <a:pt x="8227" y="1312"/>
                </a:lnTo>
                <a:close/>
                <a:moveTo>
                  <a:pt x="8397" y="2089"/>
                </a:moveTo>
                <a:lnTo>
                  <a:pt x="8016" y="2932"/>
                </a:lnTo>
                <a:lnTo>
                  <a:pt x="8164" y="2975"/>
                </a:lnTo>
                <a:lnTo>
                  <a:pt x="8545" y="2132"/>
                </a:lnTo>
                <a:close/>
                <a:moveTo>
                  <a:pt x="8016" y="2976"/>
                </a:moveTo>
                <a:lnTo>
                  <a:pt x="8387" y="3768"/>
                </a:lnTo>
                <a:lnTo>
                  <a:pt x="8534" y="3724"/>
                </a:lnTo>
                <a:lnTo>
                  <a:pt x="8164" y="2932"/>
                </a:lnTo>
                <a:close/>
                <a:moveTo>
                  <a:pt x="8386" y="3726"/>
                </a:moveTo>
                <a:lnTo>
                  <a:pt x="8097" y="4400"/>
                </a:lnTo>
                <a:lnTo>
                  <a:pt x="8246" y="4441"/>
                </a:lnTo>
                <a:lnTo>
                  <a:pt x="8535" y="3766"/>
                </a:lnTo>
                <a:close/>
                <a:moveTo>
                  <a:pt x="8094" y="4433"/>
                </a:moveTo>
                <a:lnTo>
                  <a:pt x="8246" y="5031"/>
                </a:lnTo>
                <a:lnTo>
                  <a:pt x="8401" y="5005"/>
                </a:lnTo>
                <a:lnTo>
                  <a:pt x="8249" y="4408"/>
                </a:lnTo>
                <a:close/>
                <a:moveTo>
                  <a:pt x="8245" y="5019"/>
                </a:moveTo>
                <a:lnTo>
                  <a:pt x="8259" y="5651"/>
                </a:lnTo>
                <a:lnTo>
                  <a:pt x="8416" y="5649"/>
                </a:lnTo>
                <a:lnTo>
                  <a:pt x="8402" y="5017"/>
                </a:lnTo>
                <a:close/>
                <a:moveTo>
                  <a:pt x="8260" y="5639"/>
                </a:moveTo>
                <a:lnTo>
                  <a:pt x="8083" y="6385"/>
                </a:lnTo>
                <a:lnTo>
                  <a:pt x="8237" y="6409"/>
                </a:lnTo>
                <a:lnTo>
                  <a:pt x="8415" y="5662"/>
                </a:lnTo>
                <a:close/>
                <a:moveTo>
                  <a:pt x="8084" y="6415"/>
                </a:moveTo>
                <a:lnTo>
                  <a:pt x="8392" y="7251"/>
                </a:lnTo>
                <a:lnTo>
                  <a:pt x="8543" y="7215"/>
                </a:lnTo>
                <a:lnTo>
                  <a:pt x="8235" y="6379"/>
                </a:lnTo>
                <a:close/>
                <a:moveTo>
                  <a:pt x="8393" y="7211"/>
                </a:moveTo>
                <a:lnTo>
                  <a:pt x="8016" y="8029"/>
                </a:lnTo>
                <a:lnTo>
                  <a:pt x="8163" y="8072"/>
                </a:lnTo>
                <a:lnTo>
                  <a:pt x="8541" y="7255"/>
                </a:lnTo>
                <a:close/>
                <a:close/>
              </a:path>
            </a:pathLst>
          </a:custGeom>
          <a:solidFill>
            <a:srgbClr val="315A78"/>
          </a:solidFill>
          <a:ln w="12700">
            <a:solidFill>
              <a:srgbClr val="315A78"/>
            </a:solidFill>
            <a:prstDash val="solid"/>
          </a:ln>
        </p:spPr>
      </p:sp>
      <p:sp>
        <p:nvSpPr>
          <p:cNvPr id="15" name="Text 12"/>
          <p:cNvSpPr/>
          <p:nvPr/>
        </p:nvSpPr>
        <p:spPr>
          <a:xfrm>
            <a:off x="4572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Build deeper links</a:t>
            </a:r>
            <a:endParaRPr lang="en-US" sz="1500" dirty="0"/>
          </a:p>
        </p:txBody>
      </p:sp>
      <p:sp>
        <p:nvSpPr>
          <p:cNvPr id="16" name="Text 13"/>
          <p:cNvSpPr/>
          <p:nvPr/>
        </p:nvSpPr>
        <p:spPr>
          <a:xfrm>
            <a:off x="4572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Skills, firms and markets developed together. Several causes contributed.</a:t>
            </a:r>
            <a:endParaRPr lang="en-US" sz="1050" dirty="0"/>
          </a:p>
        </p:txBody>
      </p:sp>
      <p:sp>
        <p:nvSpPr>
          <p:cNvPr id="17" name="Text 14"/>
          <p:cNvSpPr/>
          <p:nvPr/>
        </p:nvSpPr>
        <p:spPr>
          <a:xfrm>
            <a:off x="27305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3E7568"/>
                </a:solidFill>
                <a:latin typeface="Montserrat" pitchFamily="34" charset="0"/>
                <a:ea typeface="Montserrat" pitchFamily="34" charset="-122"/>
                <a:cs typeface="Montserrat" pitchFamily="34" charset="-120"/>
              </a:rPr>
              <a:t>Malaysia</a:t>
            </a:r>
            <a:endParaRPr lang="en-US" sz="150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560005" cy="10692003"/>
          </a:xfrm>
          <a:prstGeom prst="rect">
            <a:avLst/>
          </a:prstGeom>
        </p:spPr>
      </p:pic>
      <p:sp>
        <p:nvSpPr>
          <p:cNvPr id="19" name="Editable road path 23"/>
          <p:cNvSpPr/>
          <p:nvPr/>
        </p:nvSpPr>
        <p:spPr>
          <a:xfrm>
            <a:off x="2863039" y="4757809"/>
            <a:ext cx="1721638" cy="515884"/>
          </a:xfrm>
          <a:custGeom>
            <a:avLst/>
            <a:gdLst/>
            <a:ahLst/>
            <a:cxnLst/>
            <a:rect l="0" t="0" r="r" b="b"/>
            <a:pathLst>
              <a:path w="10000" h="10000">
                <a:moveTo>
                  <a:pt x="9384" y="23"/>
                </a:moveTo>
                <a:lnTo>
                  <a:pt x="9209" y="1718"/>
                </a:lnTo>
                <a:lnTo>
                  <a:pt x="9247" y="1762"/>
                </a:lnTo>
                <a:lnTo>
                  <a:pt x="9422" y="67"/>
                </a:lnTo>
                <a:close/>
                <a:moveTo>
                  <a:pt x="9388" y="90"/>
                </a:moveTo>
                <a:lnTo>
                  <a:pt x="9913" y="2066"/>
                </a:lnTo>
                <a:lnTo>
                  <a:pt x="9944" y="1976"/>
                </a:lnTo>
                <a:lnTo>
                  <a:pt x="9418" y="0"/>
                </a:lnTo>
                <a:close/>
                <a:moveTo>
                  <a:pt x="12" y="1827"/>
                </a:moveTo>
                <a:lnTo>
                  <a:pt x="513" y="2403"/>
                </a:lnTo>
                <a:lnTo>
                  <a:pt x="526" y="2275"/>
                </a:lnTo>
                <a:lnTo>
                  <a:pt x="25" y="1699"/>
                </a:lnTo>
                <a:close/>
                <a:moveTo>
                  <a:pt x="0" y="1793"/>
                </a:moveTo>
                <a:lnTo>
                  <a:pt x="381" y="4394"/>
                </a:lnTo>
                <a:lnTo>
                  <a:pt x="417" y="4335"/>
                </a:lnTo>
                <a:lnTo>
                  <a:pt x="36" y="1733"/>
                </a:lnTo>
                <a:close/>
                <a:moveTo>
                  <a:pt x="521" y="2406"/>
                </a:moveTo>
                <a:lnTo>
                  <a:pt x="990" y="2245"/>
                </a:lnTo>
                <a:lnTo>
                  <a:pt x="986" y="2110"/>
                </a:lnTo>
                <a:lnTo>
                  <a:pt x="517" y="2272"/>
                </a:lnTo>
                <a:close/>
                <a:moveTo>
                  <a:pt x="499" y="2326"/>
                </a:moveTo>
                <a:lnTo>
                  <a:pt x="379" y="4352"/>
                </a:lnTo>
                <a:lnTo>
                  <a:pt x="419" y="4378"/>
                </a:lnTo>
                <a:lnTo>
                  <a:pt x="539" y="2352"/>
                </a:lnTo>
                <a:close/>
                <a:moveTo>
                  <a:pt x="968" y="2194"/>
                </a:moveTo>
                <a:lnTo>
                  <a:pt x="1091" y="3828"/>
                </a:lnTo>
                <a:lnTo>
                  <a:pt x="1130" y="3795"/>
                </a:lnTo>
                <a:lnTo>
                  <a:pt x="1008" y="2161"/>
                </a:lnTo>
                <a:close/>
                <a:moveTo>
                  <a:pt x="973" y="2132"/>
                </a:moveTo>
                <a:lnTo>
                  <a:pt x="384" y="4319"/>
                </a:lnTo>
                <a:lnTo>
                  <a:pt x="414" y="4410"/>
                </a:lnTo>
                <a:lnTo>
                  <a:pt x="1003" y="2223"/>
                </a:lnTo>
                <a:close/>
                <a:moveTo>
                  <a:pt x="8608" y="2333"/>
                </a:moveTo>
                <a:lnTo>
                  <a:pt x="8813" y="3975"/>
                </a:lnTo>
                <a:lnTo>
                  <a:pt x="8850" y="3923"/>
                </a:lnTo>
                <a:lnTo>
                  <a:pt x="8646" y="2281"/>
                </a:lnTo>
                <a:close/>
                <a:moveTo>
                  <a:pt x="8633" y="2372"/>
                </a:moveTo>
                <a:lnTo>
                  <a:pt x="9234" y="1805"/>
                </a:lnTo>
                <a:lnTo>
                  <a:pt x="9223" y="1675"/>
                </a:lnTo>
                <a:lnTo>
                  <a:pt x="8622" y="2242"/>
                </a:lnTo>
                <a:close/>
                <a:moveTo>
                  <a:pt x="9209" y="1765"/>
                </a:moveTo>
                <a:lnTo>
                  <a:pt x="9446" y="3754"/>
                </a:lnTo>
                <a:lnTo>
                  <a:pt x="9484" y="3704"/>
                </a:lnTo>
                <a:lnTo>
                  <a:pt x="9247" y="1715"/>
                </a:lnTo>
                <a:close/>
                <a:moveTo>
                  <a:pt x="9226" y="1807"/>
                </a:moveTo>
                <a:lnTo>
                  <a:pt x="9926" y="2088"/>
                </a:lnTo>
                <a:lnTo>
                  <a:pt x="9931" y="1954"/>
                </a:lnTo>
                <a:lnTo>
                  <a:pt x="9231" y="1673"/>
                </a:lnTo>
                <a:close/>
                <a:moveTo>
                  <a:pt x="9908" y="2026"/>
                </a:moveTo>
                <a:lnTo>
                  <a:pt x="9960" y="4310"/>
                </a:lnTo>
                <a:lnTo>
                  <a:pt x="10000" y="4300"/>
                </a:lnTo>
                <a:lnTo>
                  <a:pt x="9949" y="2016"/>
                </a:lnTo>
                <a:close/>
                <a:moveTo>
                  <a:pt x="9914" y="1975"/>
                </a:moveTo>
                <a:lnTo>
                  <a:pt x="9450" y="3684"/>
                </a:lnTo>
                <a:lnTo>
                  <a:pt x="9480" y="3775"/>
                </a:lnTo>
                <a:lnTo>
                  <a:pt x="9944" y="2066"/>
                </a:lnTo>
                <a:close/>
                <a:moveTo>
                  <a:pt x="380" y="4390"/>
                </a:moveTo>
                <a:lnTo>
                  <a:pt x="584" y="6107"/>
                </a:lnTo>
                <a:lnTo>
                  <a:pt x="622" y="6058"/>
                </a:lnTo>
                <a:lnTo>
                  <a:pt x="418" y="4340"/>
                </a:lnTo>
                <a:close/>
                <a:moveTo>
                  <a:pt x="404" y="4431"/>
                </a:moveTo>
                <a:lnTo>
                  <a:pt x="1115" y="3878"/>
                </a:lnTo>
                <a:lnTo>
                  <a:pt x="1106" y="3746"/>
                </a:lnTo>
                <a:lnTo>
                  <a:pt x="394" y="4299"/>
                </a:lnTo>
                <a:close/>
                <a:moveTo>
                  <a:pt x="1090" y="3810"/>
                </a:moveTo>
                <a:lnTo>
                  <a:pt x="1074" y="5644"/>
                </a:lnTo>
                <a:lnTo>
                  <a:pt x="1115" y="5648"/>
                </a:lnTo>
                <a:lnTo>
                  <a:pt x="1131" y="3814"/>
                </a:lnTo>
                <a:close/>
                <a:moveTo>
                  <a:pt x="1094" y="3849"/>
                </a:moveTo>
                <a:lnTo>
                  <a:pt x="1551" y="6181"/>
                </a:lnTo>
                <a:lnTo>
                  <a:pt x="1585" y="6107"/>
                </a:lnTo>
                <a:lnTo>
                  <a:pt x="1128" y="3775"/>
                </a:lnTo>
                <a:close/>
                <a:moveTo>
                  <a:pt x="8812" y="3933"/>
                </a:moveTo>
                <a:lnTo>
                  <a:pt x="8691" y="5650"/>
                </a:lnTo>
                <a:lnTo>
                  <a:pt x="8730" y="5681"/>
                </a:lnTo>
                <a:lnTo>
                  <a:pt x="8851" y="3964"/>
                </a:lnTo>
                <a:close/>
                <a:moveTo>
                  <a:pt x="8834" y="4016"/>
                </a:moveTo>
                <a:lnTo>
                  <a:pt x="9467" y="3797"/>
                </a:lnTo>
                <a:lnTo>
                  <a:pt x="9463" y="3662"/>
                </a:lnTo>
                <a:lnTo>
                  <a:pt x="8829" y="3882"/>
                </a:lnTo>
                <a:close/>
                <a:moveTo>
                  <a:pt x="9458" y="3794"/>
                </a:moveTo>
                <a:lnTo>
                  <a:pt x="9973" y="4369"/>
                </a:lnTo>
                <a:lnTo>
                  <a:pt x="9986" y="4241"/>
                </a:lnTo>
                <a:lnTo>
                  <a:pt x="9471" y="3665"/>
                </a:lnTo>
                <a:close/>
                <a:moveTo>
                  <a:pt x="608" y="6148"/>
                </a:moveTo>
                <a:lnTo>
                  <a:pt x="1100" y="5712"/>
                </a:lnTo>
                <a:lnTo>
                  <a:pt x="1089" y="5581"/>
                </a:lnTo>
                <a:lnTo>
                  <a:pt x="598" y="6017"/>
                </a:lnTo>
                <a:close/>
                <a:moveTo>
                  <a:pt x="587" y="6124"/>
                </a:moveTo>
                <a:lnTo>
                  <a:pt x="985" y="7847"/>
                </a:lnTo>
                <a:lnTo>
                  <a:pt x="1017" y="7764"/>
                </a:lnTo>
                <a:lnTo>
                  <a:pt x="619" y="6041"/>
                </a:lnTo>
                <a:close/>
                <a:moveTo>
                  <a:pt x="1089" y="5711"/>
                </a:moveTo>
                <a:lnTo>
                  <a:pt x="1561" y="6209"/>
                </a:lnTo>
                <a:lnTo>
                  <a:pt x="1574" y="6080"/>
                </a:lnTo>
                <a:lnTo>
                  <a:pt x="1101" y="5582"/>
                </a:lnTo>
                <a:close/>
                <a:moveTo>
                  <a:pt x="1075" y="5637"/>
                </a:moveTo>
                <a:lnTo>
                  <a:pt x="981" y="7796"/>
                </a:lnTo>
                <a:lnTo>
                  <a:pt x="1021" y="7815"/>
                </a:lnTo>
                <a:lnTo>
                  <a:pt x="1115" y="5656"/>
                </a:lnTo>
                <a:close/>
                <a:moveTo>
                  <a:pt x="1548" y="6159"/>
                </a:moveTo>
                <a:lnTo>
                  <a:pt x="1695" y="8334"/>
                </a:lnTo>
                <a:lnTo>
                  <a:pt x="1735" y="8304"/>
                </a:lnTo>
                <a:lnTo>
                  <a:pt x="1587" y="6129"/>
                </a:lnTo>
                <a:close/>
                <a:moveTo>
                  <a:pt x="1554" y="6093"/>
                </a:moveTo>
                <a:lnTo>
                  <a:pt x="988" y="7755"/>
                </a:lnTo>
                <a:lnTo>
                  <a:pt x="1015" y="7856"/>
                </a:lnTo>
                <a:lnTo>
                  <a:pt x="1581" y="6195"/>
                </a:lnTo>
                <a:close/>
                <a:moveTo>
                  <a:pt x="7694" y="6259"/>
                </a:moveTo>
                <a:lnTo>
                  <a:pt x="8242" y="6287"/>
                </a:lnTo>
                <a:lnTo>
                  <a:pt x="8242" y="6152"/>
                </a:lnTo>
                <a:lnTo>
                  <a:pt x="7694" y="6123"/>
                </a:lnTo>
                <a:close/>
                <a:moveTo>
                  <a:pt x="7677" y="6229"/>
                </a:moveTo>
                <a:lnTo>
                  <a:pt x="8020" y="7892"/>
                </a:lnTo>
                <a:lnTo>
                  <a:pt x="8053" y="7815"/>
                </a:lnTo>
                <a:lnTo>
                  <a:pt x="7711" y="6153"/>
                </a:lnTo>
                <a:close/>
                <a:moveTo>
                  <a:pt x="8249" y="6283"/>
                </a:moveTo>
                <a:lnTo>
                  <a:pt x="8717" y="5729"/>
                </a:lnTo>
                <a:lnTo>
                  <a:pt x="8704" y="5601"/>
                </a:lnTo>
                <a:lnTo>
                  <a:pt x="8235" y="6156"/>
                </a:lnTo>
                <a:close/>
                <a:moveTo>
                  <a:pt x="8223" y="6193"/>
                </a:moveTo>
                <a:lnTo>
                  <a:pt x="8018" y="7828"/>
                </a:lnTo>
                <a:lnTo>
                  <a:pt x="8055" y="7880"/>
                </a:lnTo>
                <a:lnTo>
                  <a:pt x="8261" y="6246"/>
                </a:lnTo>
                <a:close/>
                <a:moveTo>
                  <a:pt x="8697" y="5617"/>
                </a:moveTo>
                <a:lnTo>
                  <a:pt x="8023" y="7805"/>
                </a:lnTo>
                <a:lnTo>
                  <a:pt x="8051" y="7902"/>
                </a:lnTo>
                <a:lnTo>
                  <a:pt x="8725" y="5714"/>
                </a:lnTo>
                <a:close/>
                <a:moveTo>
                  <a:pt x="997" y="7872"/>
                </a:moveTo>
                <a:lnTo>
                  <a:pt x="1711" y="8385"/>
                </a:lnTo>
                <a:lnTo>
                  <a:pt x="1719" y="8253"/>
                </a:lnTo>
                <a:lnTo>
                  <a:pt x="1005" y="7739"/>
                </a:lnTo>
                <a:close/>
                <a:moveTo>
                  <a:pt x="1702" y="8370"/>
                </a:moveTo>
                <a:lnTo>
                  <a:pt x="2135" y="9661"/>
                </a:lnTo>
                <a:lnTo>
                  <a:pt x="2162" y="9560"/>
                </a:lnTo>
                <a:lnTo>
                  <a:pt x="1729" y="8269"/>
                </a:lnTo>
                <a:close/>
                <a:moveTo>
                  <a:pt x="6494" y="7755"/>
                </a:moveTo>
                <a:lnTo>
                  <a:pt x="6977" y="7922"/>
                </a:lnTo>
                <a:lnTo>
                  <a:pt x="6981" y="7787"/>
                </a:lnTo>
                <a:lnTo>
                  <a:pt x="6499" y="7621"/>
                </a:lnTo>
                <a:close/>
                <a:moveTo>
                  <a:pt x="6478" y="7662"/>
                </a:moveTo>
                <a:lnTo>
                  <a:pt x="6238" y="9578"/>
                </a:lnTo>
                <a:lnTo>
                  <a:pt x="6275" y="9630"/>
                </a:lnTo>
                <a:lnTo>
                  <a:pt x="6515" y="7714"/>
                </a:lnTo>
                <a:close/>
                <a:moveTo>
                  <a:pt x="6973" y="7919"/>
                </a:moveTo>
                <a:lnTo>
                  <a:pt x="7453" y="8388"/>
                </a:lnTo>
                <a:lnTo>
                  <a:pt x="7464" y="8258"/>
                </a:lnTo>
                <a:lnTo>
                  <a:pt x="6984" y="7789"/>
                </a:lnTo>
                <a:close/>
                <a:moveTo>
                  <a:pt x="6967" y="7800"/>
                </a:moveTo>
                <a:lnTo>
                  <a:pt x="6245" y="9549"/>
                </a:lnTo>
                <a:lnTo>
                  <a:pt x="6268" y="9659"/>
                </a:lnTo>
                <a:lnTo>
                  <a:pt x="6991" y="7909"/>
                </a:lnTo>
                <a:close/>
                <a:moveTo>
                  <a:pt x="7463" y="8389"/>
                </a:moveTo>
                <a:lnTo>
                  <a:pt x="8041" y="7920"/>
                </a:lnTo>
                <a:lnTo>
                  <a:pt x="8032" y="7788"/>
                </a:lnTo>
                <a:lnTo>
                  <a:pt x="7453" y="8257"/>
                </a:lnTo>
                <a:close/>
                <a:moveTo>
                  <a:pt x="5718" y="10000"/>
                </a:moveTo>
                <a:lnTo>
                  <a:pt x="6260" y="9671"/>
                </a:lnTo>
                <a:lnTo>
                  <a:pt x="6253" y="9538"/>
                </a:lnTo>
                <a:lnTo>
                  <a:pt x="5711" y="9867"/>
                </a:lnTo>
                <a:close/>
                <a:close/>
              </a:path>
            </a:pathLst>
          </a:custGeom>
          <a:solidFill>
            <a:srgbClr val="514E48"/>
          </a:solidFill>
          <a:ln w="12700">
            <a:solidFill>
              <a:srgbClr val="514E48"/>
            </a:solidFill>
            <a:prstDash val="solid"/>
          </a:ln>
        </p:spPr>
      </p:sp>
      <p:sp>
        <p:nvSpPr>
          <p:cNvPr id="20" name="Editable road path 24"/>
          <p:cNvSpPr/>
          <p:nvPr/>
        </p:nvSpPr>
        <p:spPr>
          <a:xfrm>
            <a:off x="2918650" y="4755787"/>
            <a:ext cx="1586257" cy="436019"/>
          </a:xfrm>
          <a:custGeom>
            <a:avLst/>
            <a:gdLst/>
            <a:ahLst/>
            <a:cxnLst/>
            <a:rect l="0" t="0" r="r" b="b"/>
            <a:pathLst>
              <a:path w="10000" h="10000">
                <a:moveTo>
                  <a:pt x="326" y="7539"/>
                </a:moveTo>
                <a:lnTo>
                  <a:pt x="859" y="7022"/>
                </a:lnTo>
                <a:lnTo>
                  <a:pt x="816" y="6431"/>
                </a:lnTo>
                <a:lnTo>
                  <a:pt x="282" y="6947"/>
                </a:lnTo>
                <a:close/>
                <a:moveTo>
                  <a:pt x="812" y="7018"/>
                </a:moveTo>
                <a:lnTo>
                  <a:pt x="1325" y="7608"/>
                </a:lnTo>
                <a:lnTo>
                  <a:pt x="1376" y="7024"/>
                </a:lnTo>
                <a:lnTo>
                  <a:pt x="863" y="6435"/>
                </a:lnTo>
                <a:close/>
                <a:moveTo>
                  <a:pt x="7999" y="7677"/>
                </a:moveTo>
                <a:lnTo>
                  <a:pt x="8593" y="7711"/>
                </a:lnTo>
                <a:lnTo>
                  <a:pt x="8596" y="7099"/>
                </a:lnTo>
                <a:lnTo>
                  <a:pt x="8002" y="7066"/>
                </a:lnTo>
                <a:close/>
                <a:moveTo>
                  <a:pt x="8623" y="7693"/>
                </a:moveTo>
                <a:lnTo>
                  <a:pt x="9132" y="7037"/>
                </a:lnTo>
                <a:lnTo>
                  <a:pt x="9075" y="6461"/>
                </a:lnTo>
                <a:lnTo>
                  <a:pt x="8567" y="7117"/>
                </a:lnTo>
                <a:close/>
                <a:moveTo>
                  <a:pt x="9776" y="0"/>
                </a:moveTo>
                <a:lnTo>
                  <a:pt x="9586" y="2005"/>
                </a:lnTo>
                <a:lnTo>
                  <a:pt x="9745" y="2204"/>
                </a:lnTo>
                <a:lnTo>
                  <a:pt x="9934" y="199"/>
                </a:lnTo>
                <a:close/>
                <a:moveTo>
                  <a:pt x="9587" y="2218"/>
                </a:moveTo>
                <a:lnTo>
                  <a:pt x="9844" y="4572"/>
                </a:lnTo>
                <a:lnTo>
                  <a:pt x="10000" y="4346"/>
                </a:lnTo>
                <a:lnTo>
                  <a:pt x="9743" y="1992"/>
                </a:lnTo>
                <a:close/>
                <a:moveTo>
                  <a:pt x="131" y="2754"/>
                </a:moveTo>
                <a:lnTo>
                  <a:pt x="0" y="5151"/>
                </a:lnTo>
                <a:lnTo>
                  <a:pt x="165" y="5270"/>
                </a:lnTo>
                <a:lnTo>
                  <a:pt x="296" y="2873"/>
                </a:lnTo>
                <a:close/>
                <a:moveTo>
                  <a:pt x="4" y="5323"/>
                </a:moveTo>
                <a:lnTo>
                  <a:pt x="226" y="7356"/>
                </a:lnTo>
                <a:lnTo>
                  <a:pt x="382" y="7130"/>
                </a:lnTo>
                <a:lnTo>
                  <a:pt x="161" y="5098"/>
                </a:lnTo>
                <a:close/>
                <a:moveTo>
                  <a:pt x="7921" y="7265"/>
                </a:moveTo>
                <a:lnTo>
                  <a:pt x="7665" y="9788"/>
                </a:lnTo>
                <a:lnTo>
                  <a:pt x="7823" y="10000"/>
                </a:lnTo>
                <a:lnTo>
                  <a:pt x="8079" y="7477"/>
                </a:lnTo>
                <a:close/>
                <a:close/>
              </a:path>
            </a:pathLst>
          </a:custGeom>
          <a:solidFill>
            <a:srgbClr val="3E7568"/>
          </a:solidFill>
          <a:ln w="12700">
            <a:solidFill>
              <a:srgbClr val="3E7568"/>
            </a:solidFill>
            <a:prstDash val="solid"/>
          </a:ln>
        </p:spPr>
      </p:sp>
      <p:sp>
        <p:nvSpPr>
          <p:cNvPr id="21" name="Text 17"/>
          <p:cNvSpPr/>
          <p:nvPr/>
        </p:nvSpPr>
        <p:spPr>
          <a:xfrm>
            <a:off x="27305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Deepen local supply</a:t>
            </a:r>
            <a:endParaRPr lang="en-US" sz="1500" dirty="0"/>
          </a:p>
        </p:txBody>
      </p:sp>
      <p:sp>
        <p:nvSpPr>
          <p:cNvPr id="22" name="Text 18"/>
          <p:cNvSpPr/>
          <p:nvPr/>
        </p:nvSpPr>
        <p:spPr>
          <a:xfrm>
            <a:off x="27305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Global production can create opportunities; local supplier capability still matters.</a:t>
            </a:r>
            <a:endParaRPr lang="en-US" sz="1050" dirty="0"/>
          </a:p>
        </p:txBody>
      </p:sp>
      <p:sp>
        <p:nvSpPr>
          <p:cNvPr id="23" name="Text 19"/>
          <p:cNvSpPr/>
          <p:nvPr/>
        </p:nvSpPr>
        <p:spPr>
          <a:xfrm>
            <a:off x="5003800" y="3187700"/>
            <a:ext cx="2095500" cy="317500"/>
          </a:xfrm>
          <a:prstGeom prst="rect">
            <a:avLst/>
          </a:prstGeom>
          <a:noFill/>
          <a:ln/>
        </p:spPr>
        <p:txBody>
          <a:bodyPr wrap="square" lIns="0" tIns="0" rIns="0" bIns="0" rtlCol="0" anchor="t"/>
          <a:lstStyle/>
          <a:p>
            <a:pPr indent="0" marL="0">
              <a:lnSpc>
                <a:spcPct val="112000"/>
              </a:lnSpc>
              <a:buNone/>
            </a:pPr>
            <a:r>
              <a:rPr lang="en-US" sz="1500" b="1" dirty="0">
                <a:solidFill>
                  <a:srgbClr val="A63A3A"/>
                </a:solidFill>
                <a:latin typeface="Montserrat" pitchFamily="34" charset="0"/>
                <a:ea typeface="Montserrat" pitchFamily="34" charset="-122"/>
                <a:cs typeface="Montserrat" pitchFamily="34" charset="-120"/>
              </a:rPr>
              <a:t>Philippines</a:t>
            </a:r>
            <a:endParaRPr lang="en-US" sz="15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560005" cy="10692003"/>
          </a:xfrm>
          <a:prstGeom prst="rect">
            <a:avLst/>
          </a:prstGeom>
        </p:spPr>
      </p:pic>
      <p:sp>
        <p:nvSpPr>
          <p:cNvPr id="25" name="Editable road path 25"/>
          <p:cNvSpPr/>
          <p:nvPr/>
        </p:nvSpPr>
        <p:spPr>
          <a:xfrm>
            <a:off x="5476293" y="3854497"/>
            <a:ext cx="1397597" cy="2259413"/>
          </a:xfrm>
          <a:custGeom>
            <a:avLst/>
            <a:gdLst/>
            <a:ahLst/>
            <a:cxnLst/>
            <a:rect l="0" t="0" r="r" b="b"/>
            <a:pathLst>
              <a:path w="10000" h="10000">
                <a:moveTo>
                  <a:pt x="2809" y="14"/>
                </a:moveTo>
                <a:lnTo>
                  <a:pt x="2997" y="636"/>
                </a:lnTo>
                <a:lnTo>
                  <a:pt x="3046" y="631"/>
                </a:lnTo>
                <a:lnTo>
                  <a:pt x="2858" y="9"/>
                </a:lnTo>
                <a:close/>
                <a:moveTo>
                  <a:pt x="2817" y="23"/>
                </a:moveTo>
                <a:lnTo>
                  <a:pt x="3727" y="529"/>
                </a:lnTo>
                <a:lnTo>
                  <a:pt x="3760" y="506"/>
                </a:lnTo>
                <a:lnTo>
                  <a:pt x="2850" y="0"/>
                </a:lnTo>
                <a:close/>
                <a:moveTo>
                  <a:pt x="3028" y="649"/>
                </a:moveTo>
                <a:lnTo>
                  <a:pt x="3750" y="532"/>
                </a:lnTo>
                <a:lnTo>
                  <a:pt x="3737" y="502"/>
                </a:lnTo>
                <a:lnTo>
                  <a:pt x="3016" y="619"/>
                </a:lnTo>
                <a:close/>
                <a:moveTo>
                  <a:pt x="2998" y="628"/>
                </a:moveTo>
                <a:lnTo>
                  <a:pt x="2682" y="1159"/>
                </a:lnTo>
                <a:lnTo>
                  <a:pt x="2729" y="1169"/>
                </a:lnTo>
                <a:lnTo>
                  <a:pt x="3045" y="639"/>
                </a:lnTo>
                <a:close/>
                <a:moveTo>
                  <a:pt x="3747" y="533"/>
                </a:moveTo>
                <a:lnTo>
                  <a:pt x="4519" y="460"/>
                </a:lnTo>
                <a:lnTo>
                  <a:pt x="4512" y="429"/>
                </a:lnTo>
                <a:lnTo>
                  <a:pt x="3740" y="502"/>
                </a:lnTo>
                <a:close/>
                <a:moveTo>
                  <a:pt x="3719" y="518"/>
                </a:moveTo>
                <a:lnTo>
                  <a:pt x="3740" y="1003"/>
                </a:lnTo>
                <a:lnTo>
                  <a:pt x="3790" y="1003"/>
                </a:lnTo>
                <a:lnTo>
                  <a:pt x="3769" y="517"/>
                </a:lnTo>
                <a:close/>
                <a:moveTo>
                  <a:pt x="4492" y="449"/>
                </a:moveTo>
                <a:lnTo>
                  <a:pt x="4831" y="1093"/>
                </a:lnTo>
                <a:lnTo>
                  <a:pt x="4878" y="1083"/>
                </a:lnTo>
                <a:lnTo>
                  <a:pt x="4539" y="440"/>
                </a:lnTo>
                <a:close/>
                <a:moveTo>
                  <a:pt x="4496" y="435"/>
                </a:moveTo>
                <a:lnTo>
                  <a:pt x="3746" y="993"/>
                </a:lnTo>
                <a:lnTo>
                  <a:pt x="3784" y="1013"/>
                </a:lnTo>
                <a:lnTo>
                  <a:pt x="4535" y="454"/>
                </a:lnTo>
                <a:close/>
                <a:moveTo>
                  <a:pt x="2683" y="1171"/>
                </a:moveTo>
                <a:lnTo>
                  <a:pt x="3067" y="1639"/>
                </a:lnTo>
                <a:lnTo>
                  <a:pt x="3111" y="1625"/>
                </a:lnTo>
                <a:lnTo>
                  <a:pt x="2728" y="1157"/>
                </a:lnTo>
                <a:close/>
                <a:moveTo>
                  <a:pt x="2711" y="1179"/>
                </a:moveTo>
                <a:lnTo>
                  <a:pt x="3771" y="1018"/>
                </a:lnTo>
                <a:lnTo>
                  <a:pt x="3759" y="988"/>
                </a:lnTo>
                <a:lnTo>
                  <a:pt x="2700" y="1149"/>
                </a:lnTo>
                <a:close/>
                <a:moveTo>
                  <a:pt x="3740" y="1005"/>
                </a:moveTo>
                <a:lnTo>
                  <a:pt x="3888" y="1576"/>
                </a:lnTo>
                <a:lnTo>
                  <a:pt x="3937" y="1572"/>
                </a:lnTo>
                <a:lnTo>
                  <a:pt x="3790" y="1001"/>
                </a:lnTo>
                <a:close/>
                <a:moveTo>
                  <a:pt x="3762" y="1018"/>
                </a:moveTo>
                <a:lnTo>
                  <a:pt x="4852" y="1103"/>
                </a:lnTo>
                <a:lnTo>
                  <a:pt x="4858" y="1073"/>
                </a:lnTo>
                <a:lnTo>
                  <a:pt x="3768" y="988"/>
                </a:lnTo>
                <a:close/>
                <a:moveTo>
                  <a:pt x="4839" y="1076"/>
                </a:moveTo>
                <a:lnTo>
                  <a:pt x="3896" y="1562"/>
                </a:lnTo>
                <a:lnTo>
                  <a:pt x="3928" y="1586"/>
                </a:lnTo>
                <a:lnTo>
                  <a:pt x="4871" y="1100"/>
                </a:lnTo>
                <a:close/>
                <a:moveTo>
                  <a:pt x="2065" y="1770"/>
                </a:moveTo>
                <a:lnTo>
                  <a:pt x="2695" y="2135"/>
                </a:lnTo>
                <a:lnTo>
                  <a:pt x="2729" y="2112"/>
                </a:lnTo>
                <a:lnTo>
                  <a:pt x="2099" y="1748"/>
                </a:lnTo>
                <a:close/>
                <a:moveTo>
                  <a:pt x="3092" y="1647"/>
                </a:moveTo>
                <a:lnTo>
                  <a:pt x="3915" y="1589"/>
                </a:lnTo>
                <a:lnTo>
                  <a:pt x="3909" y="1559"/>
                </a:lnTo>
                <a:lnTo>
                  <a:pt x="3086" y="1616"/>
                </a:lnTo>
                <a:close/>
                <a:moveTo>
                  <a:pt x="3066" y="1625"/>
                </a:moveTo>
                <a:lnTo>
                  <a:pt x="2689" y="2117"/>
                </a:lnTo>
                <a:lnTo>
                  <a:pt x="2734" y="2130"/>
                </a:lnTo>
                <a:lnTo>
                  <a:pt x="3112" y="1638"/>
                </a:lnTo>
                <a:close/>
                <a:moveTo>
                  <a:pt x="3888" y="1570"/>
                </a:moveTo>
                <a:lnTo>
                  <a:pt x="3601" y="2218"/>
                </a:lnTo>
                <a:lnTo>
                  <a:pt x="3649" y="2226"/>
                </a:lnTo>
                <a:lnTo>
                  <a:pt x="3936" y="1578"/>
                </a:lnTo>
                <a:close/>
                <a:moveTo>
                  <a:pt x="3897" y="1562"/>
                </a:moveTo>
                <a:lnTo>
                  <a:pt x="2697" y="2111"/>
                </a:lnTo>
                <a:lnTo>
                  <a:pt x="2727" y="2136"/>
                </a:lnTo>
                <a:lnTo>
                  <a:pt x="3927" y="1586"/>
                </a:lnTo>
                <a:close/>
                <a:moveTo>
                  <a:pt x="1937" y="2279"/>
                </a:moveTo>
                <a:lnTo>
                  <a:pt x="1887" y="2745"/>
                </a:lnTo>
                <a:lnTo>
                  <a:pt x="1937" y="2747"/>
                </a:lnTo>
                <a:lnTo>
                  <a:pt x="1987" y="2281"/>
                </a:lnTo>
                <a:close/>
                <a:moveTo>
                  <a:pt x="1970" y="2295"/>
                </a:moveTo>
                <a:lnTo>
                  <a:pt x="2720" y="2138"/>
                </a:lnTo>
                <a:lnTo>
                  <a:pt x="2704" y="2109"/>
                </a:lnTo>
                <a:lnTo>
                  <a:pt x="1954" y="2266"/>
                </a:lnTo>
                <a:close/>
                <a:moveTo>
                  <a:pt x="2708" y="2139"/>
                </a:moveTo>
                <a:lnTo>
                  <a:pt x="3620" y="2237"/>
                </a:lnTo>
                <a:lnTo>
                  <a:pt x="3629" y="2207"/>
                </a:lnTo>
                <a:lnTo>
                  <a:pt x="2716" y="2108"/>
                </a:lnTo>
                <a:close/>
                <a:moveTo>
                  <a:pt x="2688" y="2128"/>
                </a:moveTo>
                <a:lnTo>
                  <a:pt x="2987" y="2709"/>
                </a:lnTo>
                <a:lnTo>
                  <a:pt x="3034" y="2700"/>
                </a:lnTo>
                <a:lnTo>
                  <a:pt x="2736" y="2119"/>
                </a:lnTo>
                <a:close/>
                <a:moveTo>
                  <a:pt x="3605" y="2213"/>
                </a:moveTo>
                <a:lnTo>
                  <a:pt x="2991" y="2695"/>
                </a:lnTo>
                <a:lnTo>
                  <a:pt x="3030" y="2714"/>
                </a:lnTo>
                <a:lnTo>
                  <a:pt x="3644" y="2232"/>
                </a:lnTo>
                <a:close/>
                <a:moveTo>
                  <a:pt x="1914" y="2762"/>
                </a:moveTo>
                <a:lnTo>
                  <a:pt x="3012" y="2720"/>
                </a:lnTo>
                <a:lnTo>
                  <a:pt x="3009" y="2689"/>
                </a:lnTo>
                <a:lnTo>
                  <a:pt x="1911" y="2731"/>
                </a:lnTo>
                <a:close/>
                <a:moveTo>
                  <a:pt x="2988" y="2711"/>
                </a:moveTo>
                <a:lnTo>
                  <a:pt x="3589" y="3442"/>
                </a:lnTo>
                <a:lnTo>
                  <a:pt x="3633" y="3428"/>
                </a:lnTo>
                <a:lnTo>
                  <a:pt x="3033" y="2697"/>
                </a:lnTo>
                <a:close/>
                <a:moveTo>
                  <a:pt x="2844" y="3372"/>
                </a:moveTo>
                <a:lnTo>
                  <a:pt x="3607" y="3451"/>
                </a:lnTo>
                <a:lnTo>
                  <a:pt x="3615" y="3420"/>
                </a:lnTo>
                <a:lnTo>
                  <a:pt x="2852" y="3341"/>
                </a:lnTo>
                <a:close/>
                <a:moveTo>
                  <a:pt x="3600" y="3449"/>
                </a:moveTo>
                <a:lnTo>
                  <a:pt x="4892" y="3821"/>
                </a:lnTo>
                <a:lnTo>
                  <a:pt x="4913" y="3793"/>
                </a:lnTo>
                <a:lnTo>
                  <a:pt x="3622" y="3421"/>
                </a:lnTo>
                <a:close/>
                <a:moveTo>
                  <a:pt x="4895" y="3822"/>
                </a:moveTo>
                <a:lnTo>
                  <a:pt x="5681" y="3973"/>
                </a:lnTo>
                <a:lnTo>
                  <a:pt x="5696" y="3943"/>
                </a:lnTo>
                <a:lnTo>
                  <a:pt x="4910" y="3793"/>
                </a:lnTo>
                <a:close/>
                <a:moveTo>
                  <a:pt x="4898" y="3823"/>
                </a:moveTo>
                <a:lnTo>
                  <a:pt x="6403" y="3987"/>
                </a:lnTo>
                <a:lnTo>
                  <a:pt x="6411" y="3957"/>
                </a:lnTo>
                <a:lnTo>
                  <a:pt x="4907" y="3792"/>
                </a:lnTo>
                <a:close/>
                <a:moveTo>
                  <a:pt x="5688" y="3974"/>
                </a:moveTo>
                <a:lnTo>
                  <a:pt x="6406" y="3987"/>
                </a:lnTo>
                <a:lnTo>
                  <a:pt x="6408" y="3956"/>
                </a:lnTo>
                <a:lnTo>
                  <a:pt x="5689" y="3943"/>
                </a:lnTo>
                <a:close/>
                <a:moveTo>
                  <a:pt x="5672" y="3970"/>
                </a:moveTo>
                <a:lnTo>
                  <a:pt x="6544" y="4450"/>
                </a:lnTo>
                <a:lnTo>
                  <a:pt x="6577" y="4427"/>
                </a:lnTo>
                <a:lnTo>
                  <a:pt x="5705" y="3947"/>
                </a:lnTo>
                <a:close/>
                <a:moveTo>
                  <a:pt x="6383" y="3975"/>
                </a:moveTo>
                <a:lnTo>
                  <a:pt x="6536" y="4442"/>
                </a:lnTo>
                <a:lnTo>
                  <a:pt x="6585" y="4436"/>
                </a:lnTo>
                <a:lnTo>
                  <a:pt x="6432" y="3969"/>
                </a:lnTo>
                <a:close/>
                <a:moveTo>
                  <a:pt x="8122" y="5131"/>
                </a:moveTo>
                <a:lnTo>
                  <a:pt x="8512" y="5618"/>
                </a:lnTo>
                <a:lnTo>
                  <a:pt x="8557" y="5605"/>
                </a:lnTo>
                <a:lnTo>
                  <a:pt x="8167" y="5117"/>
                </a:lnTo>
                <a:close/>
                <a:moveTo>
                  <a:pt x="4628" y="5708"/>
                </a:moveTo>
                <a:lnTo>
                  <a:pt x="5424" y="5568"/>
                </a:lnTo>
                <a:lnTo>
                  <a:pt x="5410" y="5539"/>
                </a:lnTo>
                <a:lnTo>
                  <a:pt x="4614" y="5679"/>
                </a:lnTo>
                <a:close/>
                <a:moveTo>
                  <a:pt x="4596" y="5695"/>
                </a:moveTo>
                <a:lnTo>
                  <a:pt x="4682" y="6205"/>
                </a:lnTo>
                <a:lnTo>
                  <a:pt x="4732" y="6202"/>
                </a:lnTo>
                <a:lnTo>
                  <a:pt x="4646" y="5692"/>
                </a:lnTo>
                <a:close/>
                <a:moveTo>
                  <a:pt x="5396" y="5545"/>
                </a:moveTo>
                <a:lnTo>
                  <a:pt x="4686" y="6195"/>
                </a:lnTo>
                <a:lnTo>
                  <a:pt x="4728" y="6212"/>
                </a:lnTo>
                <a:lnTo>
                  <a:pt x="5438" y="5562"/>
                </a:lnTo>
                <a:close/>
                <a:moveTo>
                  <a:pt x="7475" y="5692"/>
                </a:moveTo>
                <a:lnTo>
                  <a:pt x="8173" y="6093"/>
                </a:lnTo>
                <a:lnTo>
                  <a:pt x="8207" y="6070"/>
                </a:lnTo>
                <a:lnTo>
                  <a:pt x="7509" y="5669"/>
                </a:lnTo>
                <a:close/>
                <a:moveTo>
                  <a:pt x="7495" y="5696"/>
                </a:moveTo>
                <a:lnTo>
                  <a:pt x="8537" y="5627"/>
                </a:lnTo>
                <a:lnTo>
                  <a:pt x="8532" y="5596"/>
                </a:lnTo>
                <a:lnTo>
                  <a:pt x="7489" y="5665"/>
                </a:lnTo>
                <a:close/>
                <a:moveTo>
                  <a:pt x="1209" y="6240"/>
                </a:moveTo>
                <a:lnTo>
                  <a:pt x="0" y="6745"/>
                </a:lnTo>
                <a:lnTo>
                  <a:pt x="28" y="6771"/>
                </a:lnTo>
                <a:lnTo>
                  <a:pt x="1237" y="6266"/>
                </a:lnTo>
                <a:close/>
                <a:moveTo>
                  <a:pt x="6682" y="6165"/>
                </a:moveTo>
                <a:lnTo>
                  <a:pt x="6301" y="6804"/>
                </a:lnTo>
                <a:lnTo>
                  <a:pt x="6348" y="6815"/>
                </a:lnTo>
                <a:lnTo>
                  <a:pt x="6729" y="6176"/>
                </a:lnTo>
                <a:close/>
                <a:moveTo>
                  <a:pt x="5502" y="6663"/>
                </a:moveTo>
                <a:lnTo>
                  <a:pt x="6317" y="6824"/>
                </a:lnTo>
                <a:lnTo>
                  <a:pt x="6332" y="6795"/>
                </a:lnTo>
                <a:lnTo>
                  <a:pt x="5517" y="6633"/>
                </a:lnTo>
                <a:close/>
                <a:moveTo>
                  <a:pt x="5485" y="6650"/>
                </a:moveTo>
                <a:lnTo>
                  <a:pt x="5614" y="7306"/>
                </a:lnTo>
                <a:lnTo>
                  <a:pt x="5664" y="7303"/>
                </a:lnTo>
                <a:lnTo>
                  <a:pt x="5534" y="6646"/>
                </a:lnTo>
                <a:close/>
                <a:moveTo>
                  <a:pt x="6305" y="6799"/>
                </a:moveTo>
                <a:lnTo>
                  <a:pt x="5620" y="7294"/>
                </a:lnTo>
                <a:lnTo>
                  <a:pt x="5658" y="7314"/>
                </a:lnTo>
                <a:lnTo>
                  <a:pt x="6343" y="6819"/>
                </a:lnTo>
                <a:close/>
                <a:moveTo>
                  <a:pt x="9061" y="7385"/>
                </a:moveTo>
                <a:lnTo>
                  <a:pt x="9328" y="7900"/>
                </a:lnTo>
                <a:lnTo>
                  <a:pt x="9376" y="7891"/>
                </a:lnTo>
                <a:lnTo>
                  <a:pt x="9108" y="7375"/>
                </a:lnTo>
                <a:close/>
                <a:moveTo>
                  <a:pt x="8232" y="7894"/>
                </a:moveTo>
                <a:lnTo>
                  <a:pt x="7602" y="8370"/>
                </a:lnTo>
                <a:lnTo>
                  <a:pt x="7641" y="8390"/>
                </a:lnTo>
                <a:lnTo>
                  <a:pt x="8271" y="7914"/>
                </a:lnTo>
                <a:close/>
                <a:moveTo>
                  <a:pt x="8228" y="7908"/>
                </a:moveTo>
                <a:lnTo>
                  <a:pt x="8475" y="8508"/>
                </a:lnTo>
                <a:lnTo>
                  <a:pt x="8523" y="8500"/>
                </a:lnTo>
                <a:lnTo>
                  <a:pt x="8276" y="7900"/>
                </a:lnTo>
                <a:close/>
                <a:moveTo>
                  <a:pt x="9327" y="7893"/>
                </a:moveTo>
                <a:lnTo>
                  <a:pt x="9207" y="8358"/>
                </a:lnTo>
                <a:lnTo>
                  <a:pt x="9256" y="8363"/>
                </a:lnTo>
                <a:lnTo>
                  <a:pt x="9377" y="7898"/>
                </a:lnTo>
                <a:close/>
                <a:moveTo>
                  <a:pt x="9333" y="7906"/>
                </a:moveTo>
                <a:lnTo>
                  <a:pt x="9963" y="8340"/>
                </a:lnTo>
                <a:lnTo>
                  <a:pt x="10000" y="8319"/>
                </a:lnTo>
                <a:lnTo>
                  <a:pt x="9371" y="7885"/>
                </a:lnTo>
                <a:close/>
                <a:moveTo>
                  <a:pt x="5456" y="8473"/>
                </a:moveTo>
                <a:lnTo>
                  <a:pt x="4847" y="9056"/>
                </a:lnTo>
                <a:lnTo>
                  <a:pt x="4888" y="9072"/>
                </a:lnTo>
                <a:lnTo>
                  <a:pt x="5498" y="8490"/>
                </a:lnTo>
                <a:close/>
                <a:moveTo>
                  <a:pt x="5483" y="8497"/>
                </a:moveTo>
                <a:lnTo>
                  <a:pt x="6576" y="8332"/>
                </a:lnTo>
                <a:lnTo>
                  <a:pt x="6565" y="8302"/>
                </a:lnTo>
                <a:lnTo>
                  <a:pt x="5471" y="8466"/>
                </a:lnTo>
                <a:close/>
                <a:moveTo>
                  <a:pt x="6568" y="8333"/>
                </a:moveTo>
                <a:lnTo>
                  <a:pt x="7619" y="8396"/>
                </a:lnTo>
                <a:lnTo>
                  <a:pt x="7624" y="8365"/>
                </a:lnTo>
                <a:lnTo>
                  <a:pt x="6573" y="8302"/>
                </a:lnTo>
                <a:close/>
                <a:moveTo>
                  <a:pt x="7616" y="8395"/>
                </a:moveTo>
                <a:lnTo>
                  <a:pt x="8493" y="8519"/>
                </a:lnTo>
                <a:lnTo>
                  <a:pt x="8505" y="8489"/>
                </a:lnTo>
                <a:lnTo>
                  <a:pt x="7627" y="8365"/>
                </a:lnTo>
                <a:close/>
                <a:moveTo>
                  <a:pt x="7598" y="8376"/>
                </a:moveTo>
                <a:lnTo>
                  <a:pt x="7267" y="9031"/>
                </a:lnTo>
                <a:lnTo>
                  <a:pt x="7314" y="9040"/>
                </a:lnTo>
                <a:lnTo>
                  <a:pt x="7645" y="8385"/>
                </a:lnTo>
                <a:close/>
                <a:moveTo>
                  <a:pt x="8506" y="8518"/>
                </a:moveTo>
                <a:lnTo>
                  <a:pt x="9239" y="8376"/>
                </a:lnTo>
                <a:lnTo>
                  <a:pt x="9224" y="8346"/>
                </a:lnTo>
                <a:lnTo>
                  <a:pt x="8491" y="8489"/>
                </a:lnTo>
                <a:close/>
                <a:moveTo>
                  <a:pt x="8476" y="8498"/>
                </a:moveTo>
                <a:lnTo>
                  <a:pt x="8124" y="9005"/>
                </a:lnTo>
                <a:lnTo>
                  <a:pt x="8169" y="9017"/>
                </a:lnTo>
                <a:lnTo>
                  <a:pt x="8522" y="8510"/>
                </a:lnTo>
                <a:close/>
                <a:moveTo>
                  <a:pt x="9233" y="8376"/>
                </a:moveTo>
                <a:lnTo>
                  <a:pt x="9983" y="8345"/>
                </a:lnTo>
                <a:lnTo>
                  <a:pt x="9980" y="8314"/>
                </a:lnTo>
                <a:lnTo>
                  <a:pt x="9230" y="8345"/>
                </a:lnTo>
                <a:close/>
                <a:moveTo>
                  <a:pt x="9207" y="8360"/>
                </a:moveTo>
                <a:lnTo>
                  <a:pt x="9157" y="8864"/>
                </a:lnTo>
                <a:lnTo>
                  <a:pt x="9207" y="8866"/>
                </a:lnTo>
                <a:lnTo>
                  <a:pt x="9257" y="8362"/>
                </a:lnTo>
                <a:close/>
                <a:moveTo>
                  <a:pt x="9963" y="8319"/>
                </a:moveTo>
                <a:lnTo>
                  <a:pt x="9164" y="8855"/>
                </a:lnTo>
                <a:lnTo>
                  <a:pt x="9200" y="8875"/>
                </a:lnTo>
                <a:lnTo>
                  <a:pt x="10000" y="8340"/>
                </a:lnTo>
                <a:close/>
                <a:moveTo>
                  <a:pt x="7292" y="9051"/>
                </a:moveTo>
                <a:lnTo>
                  <a:pt x="8148" y="9026"/>
                </a:lnTo>
                <a:lnTo>
                  <a:pt x="8145" y="8996"/>
                </a:lnTo>
                <a:lnTo>
                  <a:pt x="7289" y="9020"/>
                </a:lnTo>
                <a:close/>
                <a:moveTo>
                  <a:pt x="7266" y="9039"/>
                </a:moveTo>
                <a:lnTo>
                  <a:pt x="7477" y="9630"/>
                </a:lnTo>
                <a:lnTo>
                  <a:pt x="7526" y="9623"/>
                </a:lnTo>
                <a:lnTo>
                  <a:pt x="7315" y="9032"/>
                </a:lnTo>
                <a:close/>
                <a:moveTo>
                  <a:pt x="8124" y="9018"/>
                </a:moveTo>
                <a:lnTo>
                  <a:pt x="8514" y="9483"/>
                </a:lnTo>
                <a:lnTo>
                  <a:pt x="8559" y="9469"/>
                </a:lnTo>
                <a:lnTo>
                  <a:pt x="8169" y="9004"/>
                </a:lnTo>
                <a:close/>
                <a:moveTo>
                  <a:pt x="8152" y="9026"/>
                </a:moveTo>
                <a:lnTo>
                  <a:pt x="9187" y="8880"/>
                </a:lnTo>
                <a:lnTo>
                  <a:pt x="9176" y="8850"/>
                </a:lnTo>
                <a:lnTo>
                  <a:pt x="8141" y="8996"/>
                </a:lnTo>
                <a:close/>
                <a:moveTo>
                  <a:pt x="9161" y="8857"/>
                </a:moveTo>
                <a:lnTo>
                  <a:pt x="8516" y="9468"/>
                </a:lnTo>
                <a:lnTo>
                  <a:pt x="8558" y="9485"/>
                </a:lnTo>
                <a:lnTo>
                  <a:pt x="9203" y="8873"/>
                </a:lnTo>
                <a:close/>
                <a:moveTo>
                  <a:pt x="7485" y="9638"/>
                </a:moveTo>
                <a:lnTo>
                  <a:pt x="8167" y="10000"/>
                </a:lnTo>
                <a:lnTo>
                  <a:pt x="8200" y="9977"/>
                </a:lnTo>
                <a:lnTo>
                  <a:pt x="7518" y="9615"/>
                </a:lnTo>
                <a:close/>
                <a:moveTo>
                  <a:pt x="7507" y="9641"/>
                </a:moveTo>
                <a:lnTo>
                  <a:pt x="8542" y="9491"/>
                </a:lnTo>
                <a:lnTo>
                  <a:pt x="8531" y="9461"/>
                </a:lnTo>
                <a:lnTo>
                  <a:pt x="7496" y="9611"/>
                </a:lnTo>
                <a:close/>
                <a:moveTo>
                  <a:pt x="8514" y="9470"/>
                </a:moveTo>
                <a:lnTo>
                  <a:pt x="8161" y="9982"/>
                </a:lnTo>
                <a:lnTo>
                  <a:pt x="8207" y="9994"/>
                </a:lnTo>
                <a:lnTo>
                  <a:pt x="8560" y="9482"/>
                </a:lnTo>
                <a:close/>
                <a:close/>
              </a:path>
            </a:pathLst>
          </a:custGeom>
          <a:solidFill>
            <a:srgbClr val="514E48"/>
          </a:solidFill>
          <a:ln w="12700">
            <a:solidFill>
              <a:srgbClr val="514E48"/>
            </a:solidFill>
            <a:prstDash val="solid"/>
          </a:ln>
        </p:spPr>
      </p:sp>
      <p:sp>
        <p:nvSpPr>
          <p:cNvPr id="26" name="Editable road path 26"/>
          <p:cNvSpPr/>
          <p:nvPr/>
        </p:nvSpPr>
        <p:spPr>
          <a:xfrm>
            <a:off x="5851234" y="3971034"/>
            <a:ext cx="945266" cy="2071449"/>
          </a:xfrm>
          <a:custGeom>
            <a:avLst/>
            <a:gdLst/>
            <a:ahLst/>
            <a:cxnLst/>
            <a:rect l="0" t="0" r="r" b="b"/>
            <a:pathLst>
              <a:path w="10000" h="10000">
                <a:moveTo>
                  <a:pt x="67" y="769"/>
                </a:moveTo>
                <a:lnTo>
                  <a:pt x="1634" y="594"/>
                </a:lnTo>
                <a:lnTo>
                  <a:pt x="1566" y="469"/>
                </a:lnTo>
                <a:lnTo>
                  <a:pt x="0" y="644"/>
                </a:lnTo>
                <a:close/>
                <a:moveTo>
                  <a:pt x="1582" y="595"/>
                </a:moveTo>
                <a:lnTo>
                  <a:pt x="3194" y="688"/>
                </a:lnTo>
                <a:lnTo>
                  <a:pt x="3229" y="560"/>
                </a:lnTo>
                <a:lnTo>
                  <a:pt x="1618" y="468"/>
                </a:lnTo>
                <a:close/>
                <a:moveTo>
                  <a:pt x="3241" y="3652"/>
                </a:moveTo>
                <a:lnTo>
                  <a:pt x="4402" y="3816"/>
                </a:lnTo>
                <a:lnTo>
                  <a:pt x="4486" y="3693"/>
                </a:lnTo>
                <a:lnTo>
                  <a:pt x="3324" y="3529"/>
                </a:lnTo>
                <a:close/>
                <a:moveTo>
                  <a:pt x="4440" y="3819"/>
                </a:moveTo>
                <a:lnTo>
                  <a:pt x="5502" y="3834"/>
                </a:lnTo>
                <a:lnTo>
                  <a:pt x="5511" y="3705"/>
                </a:lnTo>
                <a:lnTo>
                  <a:pt x="4448" y="3690"/>
                </a:lnTo>
                <a:close/>
                <a:moveTo>
                  <a:pt x="4136" y="6750"/>
                </a:moveTo>
                <a:lnTo>
                  <a:pt x="5341" y="6926"/>
                </a:lnTo>
                <a:lnTo>
                  <a:pt x="5427" y="6803"/>
                </a:lnTo>
                <a:lnTo>
                  <a:pt x="4222" y="6628"/>
                </a:lnTo>
                <a:close/>
                <a:moveTo>
                  <a:pt x="7157" y="10000"/>
                </a:moveTo>
                <a:lnTo>
                  <a:pt x="8687" y="9836"/>
                </a:lnTo>
                <a:lnTo>
                  <a:pt x="8623" y="9711"/>
                </a:lnTo>
                <a:lnTo>
                  <a:pt x="7093" y="9875"/>
                </a:lnTo>
                <a:close/>
                <a:moveTo>
                  <a:pt x="1428" y="3"/>
                </a:moveTo>
                <a:lnTo>
                  <a:pt x="1459" y="533"/>
                </a:lnTo>
                <a:lnTo>
                  <a:pt x="1741" y="530"/>
                </a:lnTo>
                <a:lnTo>
                  <a:pt x="1710" y="0"/>
                </a:lnTo>
                <a:close/>
                <a:moveTo>
                  <a:pt x="1461" y="542"/>
                </a:moveTo>
                <a:lnTo>
                  <a:pt x="1678" y="1164"/>
                </a:lnTo>
                <a:lnTo>
                  <a:pt x="1957" y="1144"/>
                </a:lnTo>
                <a:lnTo>
                  <a:pt x="1739" y="521"/>
                </a:lnTo>
                <a:close/>
                <a:moveTo>
                  <a:pt x="1682" y="1137"/>
                </a:moveTo>
                <a:lnTo>
                  <a:pt x="1257" y="1844"/>
                </a:lnTo>
                <a:lnTo>
                  <a:pt x="1529" y="1878"/>
                </a:lnTo>
                <a:lnTo>
                  <a:pt x="1954" y="1171"/>
                </a:lnTo>
                <a:close/>
                <a:moveTo>
                  <a:pt x="1252" y="1861"/>
                </a:moveTo>
                <a:lnTo>
                  <a:pt x="1231" y="3184"/>
                </a:lnTo>
                <a:lnTo>
                  <a:pt x="1514" y="3185"/>
                </a:lnTo>
                <a:lnTo>
                  <a:pt x="1534" y="1862"/>
                </a:lnTo>
                <a:close/>
                <a:moveTo>
                  <a:pt x="5368" y="3782"/>
                </a:moveTo>
                <a:lnTo>
                  <a:pt x="5595" y="4292"/>
                </a:lnTo>
                <a:lnTo>
                  <a:pt x="5872" y="4266"/>
                </a:lnTo>
                <a:lnTo>
                  <a:pt x="5645" y="3757"/>
                </a:lnTo>
                <a:close/>
                <a:moveTo>
                  <a:pt x="5816" y="6145"/>
                </a:moveTo>
                <a:lnTo>
                  <a:pt x="5252" y="6842"/>
                </a:lnTo>
                <a:lnTo>
                  <a:pt x="5516" y="6887"/>
                </a:lnTo>
                <a:lnTo>
                  <a:pt x="6081" y="6190"/>
                </a:lnTo>
                <a:close/>
                <a:moveTo>
                  <a:pt x="9331" y="7507"/>
                </a:moveTo>
                <a:lnTo>
                  <a:pt x="9726" y="8069"/>
                </a:lnTo>
                <a:lnTo>
                  <a:pt x="9995" y="8030"/>
                </a:lnTo>
                <a:lnTo>
                  <a:pt x="9600" y="7467"/>
                </a:lnTo>
                <a:close/>
                <a:moveTo>
                  <a:pt x="9721" y="8039"/>
                </a:moveTo>
                <a:lnTo>
                  <a:pt x="9543" y="8547"/>
                </a:lnTo>
                <a:lnTo>
                  <a:pt x="9822" y="8567"/>
                </a:lnTo>
                <a:lnTo>
                  <a:pt x="10000" y="8060"/>
                </a:lnTo>
                <a:close/>
                <a:moveTo>
                  <a:pt x="9542" y="8553"/>
                </a:moveTo>
                <a:lnTo>
                  <a:pt x="9468" y="9103"/>
                </a:lnTo>
                <a:lnTo>
                  <a:pt x="9750" y="9111"/>
                </a:lnTo>
                <a:lnTo>
                  <a:pt x="9824" y="8561"/>
                </a:lnTo>
                <a:close/>
                <a:close/>
              </a:path>
            </a:pathLst>
          </a:custGeom>
          <a:solidFill>
            <a:srgbClr val="A63A3A"/>
          </a:solidFill>
          <a:ln w="12700">
            <a:solidFill>
              <a:srgbClr val="A63A3A"/>
            </a:solidFill>
            <a:prstDash val="solid"/>
          </a:ln>
        </p:spPr>
      </p:sp>
      <p:sp>
        <p:nvSpPr>
          <p:cNvPr id="27" name="Text 22"/>
          <p:cNvSpPr/>
          <p:nvPr/>
        </p:nvSpPr>
        <p:spPr>
          <a:xfrm>
            <a:off x="5003800" y="6629400"/>
            <a:ext cx="2095500" cy="546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Connection is not enough</a:t>
            </a:r>
            <a:endParaRPr lang="en-US" sz="1500" dirty="0"/>
          </a:p>
        </p:txBody>
      </p:sp>
      <p:sp>
        <p:nvSpPr>
          <p:cNvPr id="28" name="Text 23"/>
          <p:cNvSpPr/>
          <p:nvPr/>
        </p:nvSpPr>
        <p:spPr>
          <a:xfrm>
            <a:off x="5003800" y="7302500"/>
            <a:ext cx="2095500" cy="11176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Exports and global links can coexist with gaps in domestic production networks.</a:t>
            </a:r>
            <a:endParaRPr lang="en-US" sz="1050" dirty="0"/>
          </a:p>
        </p:txBody>
      </p:sp>
      <p:sp>
        <p:nvSpPr>
          <p:cNvPr id="29" name="Text 24"/>
          <p:cNvSpPr/>
          <p:nvPr/>
        </p:nvSpPr>
        <p:spPr>
          <a:xfrm>
            <a:off x="457200" y="85979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252525"/>
                </a:solidFill>
                <a:latin typeface="Montserrat" pitchFamily="34" charset="0"/>
                <a:ea typeface="Montserrat" pitchFamily="34" charset="-122"/>
                <a:cs typeface="Montserrat" pitchFamily="34" charset="-120"/>
              </a:rPr>
              <a:t>SUPPORTED WITH EXCEPTIONS</a:t>
            </a:r>
            <a:endParaRPr lang="en-US" sz="1700" dirty="0"/>
          </a:p>
        </p:txBody>
      </p:sp>
      <p:sp>
        <p:nvSpPr>
          <p:cNvPr id="30" name="Text 25"/>
          <p:cNvSpPr/>
          <p:nvPr/>
        </p:nvSpPr>
        <p:spPr>
          <a:xfrm>
            <a:off x="457200" y="8966200"/>
            <a:ext cx="6642100" cy="1905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Botswana challenges inherited infrastructure as a prerequisite for income growth.</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2 / RADIUS OF TRUST</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Trust helps. Can we prove the link?</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Our question: does cooperation beyond family help businesses grow? Our answer: plausible—but not established by this comparison.</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Governance indicators are not direct-trust measures. Comparable surveys, timing and tests of alternative explanations are needed.</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OECD (2017, pp. 41–44, 62–79); Svirydzenka and Petri (2014, pp. 5–8, 12). No comparable six-country direct-trust series is available for this comparison. Full references: p. 27.</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21</a:t>
            </a:r>
            <a:endParaRPr lang="en-US" sz="1000" dirty="0"/>
          </a:p>
        </p:txBody>
      </p:sp>
      <p:sp>
        <p:nvSpPr>
          <p:cNvPr id="11" name="Text 9"/>
          <p:cNvSpPr/>
          <p:nvPr/>
        </p:nvSpPr>
        <p:spPr>
          <a:xfrm>
            <a:off x="457200" y="3225800"/>
            <a:ext cx="66421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EXPECT</a:t>
            </a:r>
            <a:endParaRPr lang="en-US" sz="900" dirty="0"/>
          </a:p>
        </p:txBody>
      </p:sp>
      <p:sp>
        <p:nvSpPr>
          <p:cNvPr id="12" name="Text 10"/>
          <p:cNvSpPr/>
          <p:nvPr/>
        </p:nvSpPr>
        <p:spPr>
          <a:xfrm>
            <a:off x="457200" y="3695700"/>
            <a:ext cx="6642100" cy="1193800"/>
          </a:xfrm>
          <a:prstGeom prst="rect">
            <a:avLst/>
          </a:prstGeom>
          <a:noFill/>
          <a:ln/>
        </p:spPr>
        <p:txBody>
          <a:bodyPr wrap="square" lIns="0" tIns="0" rIns="0" bIns="0" rtlCol="0" anchor="t"/>
          <a:lstStyle/>
          <a:p>
            <a:pPr indent="0" marL="0">
              <a:lnSpc>
                <a:spcPct val="112000"/>
              </a:lnSpc>
              <a:buNone/>
            </a:pPr>
            <a:r>
              <a:rPr lang="en-US" sz="2900" b="1" dirty="0">
                <a:solidFill>
                  <a:srgbClr val="F4F0E7"/>
                </a:solidFill>
                <a:latin typeface="Alegreya" pitchFamily="34" charset="0"/>
                <a:ea typeface="Alegreya" pitchFamily="34" charset="-122"/>
                <a:cs typeface="Alegreya" pitchFamily="34" charset="-120"/>
              </a:rPr>
              <a:t>Reliable contracts help strangers work together.</a:t>
            </a:r>
            <a:endParaRPr lang="en-US" sz="2900" dirty="0"/>
          </a:p>
        </p:txBody>
      </p:sp>
      <p:sp>
        <p:nvSpPr>
          <p:cNvPr id="13" name="Shape 11"/>
          <p:cNvSpPr/>
          <p:nvPr/>
        </p:nvSpPr>
        <p:spPr>
          <a:xfrm>
            <a:off x="1562100" y="5232400"/>
            <a:ext cx="330200" cy="330200"/>
          </a:xfrm>
          <a:prstGeom prst="ellipse">
            <a:avLst/>
          </a:prstGeom>
          <a:solidFill>
            <a:srgbClr val="F4F0E7"/>
          </a:solidFill>
          <a:ln w="5080">
            <a:solidFill>
              <a:srgbClr val="F4F0E7"/>
            </a:solidFill>
            <a:prstDash val="solid"/>
          </a:ln>
        </p:spPr>
      </p:sp>
      <p:sp>
        <p:nvSpPr>
          <p:cNvPr id="14" name="Shape 12"/>
          <p:cNvSpPr/>
          <p:nvPr/>
        </p:nvSpPr>
        <p:spPr>
          <a:xfrm>
            <a:off x="1511300" y="5626100"/>
            <a:ext cx="431800" cy="558800"/>
          </a:xfrm>
          <a:prstGeom prst="rect">
            <a:avLst/>
          </a:prstGeom>
          <a:solidFill>
            <a:srgbClr val="F4F0E7"/>
          </a:solidFill>
          <a:ln w="12700">
            <a:solidFill>
              <a:srgbClr val="F4F0E7"/>
            </a:solidFill>
            <a:prstDash val="solid"/>
          </a:ln>
        </p:spPr>
      </p:sp>
      <p:sp>
        <p:nvSpPr>
          <p:cNvPr id="15" name="Shape 13"/>
          <p:cNvSpPr/>
          <p:nvPr/>
        </p:nvSpPr>
        <p:spPr>
          <a:xfrm>
            <a:off x="710184" y="6223000"/>
            <a:ext cx="177800" cy="177800"/>
          </a:xfrm>
          <a:prstGeom prst="ellipse">
            <a:avLst/>
          </a:prstGeom>
          <a:solidFill>
            <a:srgbClr val="F4F0E7"/>
          </a:solidFill>
          <a:ln w="5080">
            <a:solidFill>
              <a:srgbClr val="F4F0E7"/>
            </a:solidFill>
            <a:prstDash val="solid"/>
          </a:ln>
        </p:spPr>
      </p:sp>
      <p:sp>
        <p:nvSpPr>
          <p:cNvPr id="16" name="Shape 14"/>
          <p:cNvSpPr/>
          <p:nvPr/>
        </p:nvSpPr>
        <p:spPr>
          <a:xfrm>
            <a:off x="672084" y="6451600"/>
            <a:ext cx="254000" cy="304800"/>
          </a:xfrm>
          <a:prstGeom prst="rect">
            <a:avLst/>
          </a:prstGeom>
          <a:solidFill>
            <a:srgbClr val="F4F0E7"/>
          </a:solidFill>
          <a:ln w="12700">
            <a:solidFill>
              <a:srgbClr val="F4F0E7"/>
            </a:solidFill>
            <a:prstDash val="solid"/>
          </a:ln>
        </p:spPr>
      </p:sp>
      <p:sp>
        <p:nvSpPr>
          <p:cNvPr id="17" name="Shape 15"/>
          <p:cNvSpPr/>
          <p:nvPr/>
        </p:nvSpPr>
        <p:spPr>
          <a:xfrm flipV="1">
            <a:off x="799084" y="6172200"/>
            <a:ext cx="928116" cy="38100"/>
          </a:xfrm>
          <a:prstGeom prst="line">
            <a:avLst/>
          </a:prstGeom>
          <a:noFill/>
          <a:ln w="12700">
            <a:solidFill>
              <a:srgbClr val="F4F0E7"/>
            </a:solidFill>
            <a:prstDash val="dash"/>
          </a:ln>
        </p:spPr>
      </p:sp>
      <p:sp>
        <p:nvSpPr>
          <p:cNvPr id="18" name="Shape 16"/>
          <p:cNvSpPr/>
          <p:nvPr/>
        </p:nvSpPr>
        <p:spPr>
          <a:xfrm>
            <a:off x="1196340" y="6426200"/>
            <a:ext cx="177800" cy="177800"/>
          </a:xfrm>
          <a:prstGeom prst="ellipse">
            <a:avLst/>
          </a:prstGeom>
          <a:solidFill>
            <a:srgbClr val="F4F0E7"/>
          </a:solidFill>
          <a:ln w="5080">
            <a:solidFill>
              <a:srgbClr val="F4F0E7"/>
            </a:solidFill>
            <a:prstDash val="solid"/>
          </a:ln>
        </p:spPr>
      </p:sp>
      <p:sp>
        <p:nvSpPr>
          <p:cNvPr id="19" name="Shape 17"/>
          <p:cNvSpPr/>
          <p:nvPr/>
        </p:nvSpPr>
        <p:spPr>
          <a:xfrm>
            <a:off x="1158240" y="6654800"/>
            <a:ext cx="254000" cy="304800"/>
          </a:xfrm>
          <a:prstGeom prst="rect">
            <a:avLst/>
          </a:prstGeom>
          <a:solidFill>
            <a:srgbClr val="F4F0E7"/>
          </a:solidFill>
          <a:ln w="12700">
            <a:solidFill>
              <a:srgbClr val="F4F0E7"/>
            </a:solidFill>
            <a:prstDash val="solid"/>
          </a:ln>
        </p:spPr>
      </p:sp>
      <p:sp>
        <p:nvSpPr>
          <p:cNvPr id="20" name="Shape 18"/>
          <p:cNvSpPr/>
          <p:nvPr/>
        </p:nvSpPr>
        <p:spPr>
          <a:xfrm>
            <a:off x="1285240" y="6210300"/>
            <a:ext cx="441960" cy="165100"/>
          </a:xfrm>
          <a:prstGeom prst="line">
            <a:avLst/>
          </a:prstGeom>
          <a:noFill/>
          <a:ln w="12700">
            <a:solidFill>
              <a:srgbClr val="F4F0E7"/>
            </a:solidFill>
            <a:prstDash val="dash"/>
          </a:ln>
        </p:spPr>
      </p:sp>
      <p:sp>
        <p:nvSpPr>
          <p:cNvPr id="21" name="Shape 19"/>
          <p:cNvSpPr/>
          <p:nvPr/>
        </p:nvSpPr>
        <p:spPr>
          <a:xfrm>
            <a:off x="2080260" y="6426200"/>
            <a:ext cx="177800" cy="177800"/>
          </a:xfrm>
          <a:prstGeom prst="ellipse">
            <a:avLst/>
          </a:prstGeom>
          <a:solidFill>
            <a:srgbClr val="F4F0E7"/>
          </a:solidFill>
          <a:ln w="5080">
            <a:solidFill>
              <a:srgbClr val="F4F0E7"/>
            </a:solidFill>
            <a:prstDash val="solid"/>
          </a:ln>
        </p:spPr>
      </p:sp>
      <p:sp>
        <p:nvSpPr>
          <p:cNvPr id="22" name="Shape 20"/>
          <p:cNvSpPr/>
          <p:nvPr/>
        </p:nvSpPr>
        <p:spPr>
          <a:xfrm>
            <a:off x="2042160" y="6654800"/>
            <a:ext cx="254000" cy="304800"/>
          </a:xfrm>
          <a:prstGeom prst="rect">
            <a:avLst/>
          </a:prstGeom>
          <a:solidFill>
            <a:srgbClr val="F4F0E7"/>
          </a:solidFill>
          <a:ln w="12700">
            <a:solidFill>
              <a:srgbClr val="F4F0E7"/>
            </a:solidFill>
            <a:prstDash val="solid"/>
          </a:ln>
        </p:spPr>
      </p:sp>
      <p:sp>
        <p:nvSpPr>
          <p:cNvPr id="23" name="Shape 21"/>
          <p:cNvSpPr/>
          <p:nvPr/>
        </p:nvSpPr>
        <p:spPr>
          <a:xfrm>
            <a:off x="1727200" y="6210300"/>
            <a:ext cx="441960" cy="165100"/>
          </a:xfrm>
          <a:prstGeom prst="line">
            <a:avLst/>
          </a:prstGeom>
          <a:noFill/>
          <a:ln w="12700">
            <a:solidFill>
              <a:srgbClr val="F4F0E7"/>
            </a:solidFill>
            <a:prstDash val="dash"/>
          </a:ln>
        </p:spPr>
      </p:sp>
      <p:sp>
        <p:nvSpPr>
          <p:cNvPr id="24" name="Shape 22"/>
          <p:cNvSpPr/>
          <p:nvPr/>
        </p:nvSpPr>
        <p:spPr>
          <a:xfrm>
            <a:off x="2566416" y="6223000"/>
            <a:ext cx="177800" cy="177800"/>
          </a:xfrm>
          <a:prstGeom prst="ellipse">
            <a:avLst/>
          </a:prstGeom>
          <a:solidFill>
            <a:srgbClr val="F4F0E7"/>
          </a:solidFill>
          <a:ln w="5080">
            <a:solidFill>
              <a:srgbClr val="F4F0E7"/>
            </a:solidFill>
            <a:prstDash val="solid"/>
          </a:ln>
        </p:spPr>
      </p:sp>
      <p:sp>
        <p:nvSpPr>
          <p:cNvPr id="25" name="Shape 23"/>
          <p:cNvSpPr/>
          <p:nvPr/>
        </p:nvSpPr>
        <p:spPr>
          <a:xfrm>
            <a:off x="2528316" y="6451600"/>
            <a:ext cx="254000" cy="304800"/>
          </a:xfrm>
          <a:prstGeom prst="rect">
            <a:avLst/>
          </a:prstGeom>
          <a:solidFill>
            <a:srgbClr val="F4F0E7"/>
          </a:solidFill>
          <a:ln w="12700">
            <a:solidFill>
              <a:srgbClr val="F4F0E7"/>
            </a:solidFill>
            <a:prstDash val="solid"/>
          </a:ln>
        </p:spPr>
      </p:sp>
      <p:sp>
        <p:nvSpPr>
          <p:cNvPr id="26" name="Shape 24"/>
          <p:cNvSpPr/>
          <p:nvPr/>
        </p:nvSpPr>
        <p:spPr>
          <a:xfrm flipV="1">
            <a:off x="1727200" y="6172200"/>
            <a:ext cx="928116" cy="38100"/>
          </a:xfrm>
          <a:prstGeom prst="line">
            <a:avLst/>
          </a:prstGeom>
          <a:noFill/>
          <a:ln w="12700">
            <a:solidFill>
              <a:srgbClr val="F4F0E7"/>
            </a:solidFill>
            <a:prstDash val="dash"/>
          </a:ln>
        </p:spPr>
      </p:sp>
      <p:sp>
        <p:nvSpPr>
          <p:cNvPr id="27" name="Text 25"/>
          <p:cNvSpPr/>
          <p:nvPr/>
        </p:nvSpPr>
        <p:spPr>
          <a:xfrm>
            <a:off x="3517900" y="5181600"/>
            <a:ext cx="3581400" cy="254000"/>
          </a:xfrm>
          <a:prstGeom prst="rect">
            <a:avLst/>
          </a:prstGeom>
          <a:noFill/>
          <a:ln/>
        </p:spPr>
        <p:txBody>
          <a:bodyPr wrap="square" lIns="0" tIns="0" rIns="0" bIns="0" rtlCol="0" anchor="t"/>
          <a:lstStyle/>
          <a:p>
            <a:pPr indent="0" marL="0">
              <a:lnSpc>
                <a:spcPct val="112000"/>
              </a:lnSpc>
              <a:buNone/>
            </a:pPr>
            <a:r>
              <a:rPr lang="en-US" sz="900" b="1" dirty="0">
                <a:solidFill>
                  <a:srgbClr val="F4F0E7"/>
                </a:solidFill>
                <a:latin typeface="Montserrat" pitchFamily="34" charset="0"/>
                <a:ea typeface="Montserrat" pitchFamily="34" charset="-122"/>
                <a:cs typeface="Montserrat" pitchFamily="34" charset="-120"/>
              </a:rPr>
              <a:t>WHAT WE FOUND</a:t>
            </a:r>
            <a:endParaRPr lang="en-US" sz="900" dirty="0"/>
          </a:p>
        </p:txBody>
      </p:sp>
      <p:sp>
        <p:nvSpPr>
          <p:cNvPr id="28" name="Text 26"/>
          <p:cNvSpPr/>
          <p:nvPr/>
        </p:nvSpPr>
        <p:spPr>
          <a:xfrm>
            <a:off x="3517900" y="5651500"/>
            <a:ext cx="3581400" cy="1409700"/>
          </a:xfrm>
          <a:prstGeom prst="rect">
            <a:avLst/>
          </a:prstGeom>
          <a:noFill/>
          <a:ln/>
        </p:spPr>
        <p:txBody>
          <a:bodyPr wrap="square" lIns="0" tIns="0" rIns="0" bIns="0" rtlCol="0" anchor="t"/>
          <a:lstStyle/>
          <a:p>
            <a:pPr indent="0" marL="0">
              <a:lnSpc>
                <a:spcPct val="112000"/>
              </a:lnSpc>
              <a:buNone/>
            </a:pPr>
            <a:r>
              <a:rPr lang="en-US" sz="1200" dirty="0">
                <a:solidFill>
                  <a:srgbClr val="F4F0E7"/>
                </a:solidFill>
                <a:latin typeface="Montserrat" pitchFamily="34" charset="0"/>
                <a:ea typeface="Montserrat" pitchFamily="34" charset="-122"/>
                <a:cs typeface="Montserrat" pitchFamily="34" charset="-120"/>
              </a:rPr>
              <a:t>The six countries do not have a comparable direct-trust evidence base here. Ghana and South Korea remain direct-trust gaps.</a:t>
            </a:r>
            <a:endParaRPr lang="en-US" sz="1200" dirty="0"/>
          </a:p>
        </p:txBody>
      </p:sp>
      <p:sp>
        <p:nvSpPr>
          <p:cNvPr id="29" name="Shape 27"/>
          <p:cNvSpPr/>
          <p:nvPr/>
        </p:nvSpPr>
        <p:spPr>
          <a:xfrm>
            <a:off x="457200" y="7556500"/>
            <a:ext cx="6642100" cy="1104900"/>
          </a:xfrm>
          <a:prstGeom prst="rect">
            <a:avLst/>
          </a:prstGeom>
          <a:solidFill>
            <a:srgbClr val="F4F0E7"/>
          </a:solidFill>
          <a:ln w="12700">
            <a:solidFill>
              <a:srgbClr val="F4F0E7"/>
            </a:solidFill>
            <a:prstDash val="solid"/>
          </a:ln>
        </p:spPr>
      </p:sp>
      <p:sp>
        <p:nvSpPr>
          <p:cNvPr id="30" name="Text 28"/>
          <p:cNvSpPr/>
          <p:nvPr/>
        </p:nvSpPr>
        <p:spPr>
          <a:xfrm>
            <a:off x="635000" y="7683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OUR TAKE / GROUP VIEW</a:t>
            </a:r>
            <a:endParaRPr lang="en-US" sz="800" dirty="0"/>
          </a:p>
        </p:txBody>
      </p:sp>
      <p:sp>
        <p:nvSpPr>
          <p:cNvPr id="31" name="Text 29"/>
          <p:cNvSpPr/>
          <p:nvPr/>
        </p:nvSpPr>
        <p:spPr>
          <a:xfrm>
            <a:off x="635000" y="7950200"/>
            <a:ext cx="6286500" cy="635000"/>
          </a:xfrm>
          <a:prstGeom prst="rect">
            <a:avLst/>
          </a:prstGeom>
          <a:noFill/>
          <a:ln/>
        </p:spPr>
        <p:txBody>
          <a:bodyPr wrap="square" lIns="0" tIns="0" rIns="0" bIns="0" rtlCol="0" anchor="t"/>
          <a:lstStyle/>
          <a:p>
            <a:pPr indent="0" marL="0">
              <a:lnSpc>
                <a:spcPct val="112000"/>
              </a:lnSpc>
              <a:buNone/>
            </a:pPr>
            <a:r>
              <a:rPr lang="en-US" sz="1150" b="1" dirty="0">
                <a:solidFill>
                  <a:srgbClr val="252525"/>
                </a:solidFill>
                <a:latin typeface="Montserrat" pitchFamily="34" charset="0"/>
                <a:ea typeface="Montserrat" pitchFamily="34" charset="-122"/>
                <a:cs typeface="Montserrat" pitchFamily="34" charset="-120"/>
              </a:rPr>
              <a:t>Trust matters to us. But “Asia trusts more” was our initial impression—not a finding this evidence can support.</a:t>
            </a:r>
            <a:endParaRPr lang="en-US" sz="1150" dirty="0"/>
          </a:p>
        </p:txBody>
      </p:sp>
      <p:sp>
        <p:nvSpPr>
          <p:cNvPr id="32" name="Text 30"/>
          <p:cNvSpPr/>
          <p:nvPr/>
        </p:nvSpPr>
        <p:spPr>
          <a:xfrm>
            <a:off x="457200" y="8801100"/>
            <a:ext cx="6642100" cy="317500"/>
          </a:xfrm>
          <a:prstGeom prst="rect">
            <a:avLst/>
          </a:prstGeom>
          <a:noFill/>
          <a:ln/>
        </p:spPr>
        <p:txBody>
          <a:bodyPr wrap="square" lIns="0" tIns="0" rIns="0" bIns="0" rtlCol="0" anchor="t"/>
          <a:lstStyle/>
          <a:p>
            <a:pPr indent="0" marL="0">
              <a:lnSpc>
                <a:spcPct val="112000"/>
              </a:lnSpc>
              <a:buNone/>
            </a:pPr>
            <a:r>
              <a:rPr lang="en-US" sz="1700" b="1" dirty="0">
                <a:solidFill>
                  <a:srgbClr val="F4F0E7"/>
                </a:solidFill>
                <a:latin typeface="Montserrat" pitchFamily="34" charset="0"/>
                <a:ea typeface="Montserrat" pitchFamily="34" charset="-122"/>
                <a:cs typeface="Montserrat" pitchFamily="34" charset="-120"/>
              </a:rPr>
              <a:t>VERDICT: INCONCLUSIVE</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TEST 3 / CONTINUITY + ADAPTATION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Keep direction. Correct mistakes.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Lasting policy helps only if a country learns and adapts.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Supported with exceptions—not a universal recipe. State capacity, resources, FDI, market access, shocks and prior success remain alternative explanations.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127–130, 159–161, 242).</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22</a:t>
            </a:r>
            <a:endParaRPr lang="en-US" sz="1000" dirty="0"/>
          </a:p>
        </p:txBody>
      </p:sp>
      <p:sp>
        <p:nvSpPr>
          <p:cNvPr id="11" name="Text 9"/>
          <p:cNvSpPr/>
          <p:nvPr/>
        </p:nvSpPr>
        <p:spPr>
          <a:xfrm>
            <a:off x="457200" y="32258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South Korea</a:t>
            </a:r>
            <a:endParaRPr lang="en-US" sz="1400" dirty="0"/>
          </a:p>
        </p:txBody>
      </p:sp>
      <p:sp>
        <p:nvSpPr>
          <p:cNvPr id="12" name="Text 10"/>
          <p:cNvSpPr/>
          <p:nvPr/>
        </p:nvSpPr>
        <p:spPr>
          <a:xfrm>
            <a:off x="2667000" y="32258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Coordinated investment and export pressure; later correction and upgrading.</a:t>
            </a:r>
            <a:endParaRPr lang="en-US" sz="1150" dirty="0"/>
          </a:p>
        </p:txBody>
      </p:sp>
      <p:sp>
        <p:nvSpPr>
          <p:cNvPr id="13" name="Shape 11"/>
          <p:cNvSpPr/>
          <p:nvPr/>
        </p:nvSpPr>
        <p:spPr>
          <a:xfrm>
            <a:off x="457200" y="3996690"/>
            <a:ext cx="6642100" cy="7620"/>
          </a:xfrm>
          <a:prstGeom prst="rect">
            <a:avLst/>
          </a:prstGeom>
          <a:solidFill>
            <a:srgbClr val="B7B0A4"/>
          </a:solidFill>
          <a:ln w="12700">
            <a:solidFill>
              <a:srgbClr val="B7B0A4"/>
            </a:solidFill>
            <a:prstDash val="solid"/>
          </a:ln>
        </p:spPr>
      </p:sp>
      <p:sp>
        <p:nvSpPr>
          <p:cNvPr id="14" name="Text 12"/>
          <p:cNvSpPr/>
          <p:nvPr/>
        </p:nvSpPr>
        <p:spPr>
          <a:xfrm>
            <a:off x="457200" y="41910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Mauritius</a:t>
            </a:r>
            <a:endParaRPr lang="en-US" sz="1400" dirty="0"/>
          </a:p>
        </p:txBody>
      </p:sp>
      <p:sp>
        <p:nvSpPr>
          <p:cNvPr id="15" name="Text 13"/>
          <p:cNvSpPr/>
          <p:nvPr/>
        </p:nvSpPr>
        <p:spPr>
          <a:xfrm>
            <a:off x="2667000" y="41910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A sugar base followed by diversification and adaptation.</a:t>
            </a:r>
            <a:endParaRPr lang="en-US" sz="1150" dirty="0"/>
          </a:p>
        </p:txBody>
      </p:sp>
      <p:sp>
        <p:nvSpPr>
          <p:cNvPr id="16" name="Shape 14"/>
          <p:cNvSpPr/>
          <p:nvPr/>
        </p:nvSpPr>
        <p:spPr>
          <a:xfrm>
            <a:off x="457200" y="4961890"/>
            <a:ext cx="6642100" cy="7620"/>
          </a:xfrm>
          <a:prstGeom prst="rect">
            <a:avLst/>
          </a:prstGeom>
          <a:solidFill>
            <a:srgbClr val="B7B0A4"/>
          </a:solidFill>
          <a:ln w="12700">
            <a:solidFill>
              <a:srgbClr val="B7B0A4"/>
            </a:solidFill>
            <a:prstDash val="solid"/>
          </a:ln>
        </p:spPr>
      </p:sp>
      <p:sp>
        <p:nvSpPr>
          <p:cNvPr id="17" name="Text 15"/>
          <p:cNvSpPr/>
          <p:nvPr/>
        </p:nvSpPr>
        <p:spPr>
          <a:xfrm>
            <a:off x="457200" y="51562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Malaysia</a:t>
            </a:r>
            <a:endParaRPr lang="en-US" sz="1400" dirty="0"/>
          </a:p>
        </p:txBody>
      </p:sp>
      <p:sp>
        <p:nvSpPr>
          <p:cNvPr id="18" name="Text 16"/>
          <p:cNvSpPr/>
          <p:nvPr/>
        </p:nvSpPr>
        <p:spPr>
          <a:xfrm>
            <a:off x="2667000" y="51562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Commodity exports followed by export manufacturing and supplier challenges.</a:t>
            </a:r>
            <a:endParaRPr lang="en-US" sz="1150" dirty="0"/>
          </a:p>
        </p:txBody>
      </p:sp>
      <p:sp>
        <p:nvSpPr>
          <p:cNvPr id="19" name="Shape 17"/>
          <p:cNvSpPr/>
          <p:nvPr/>
        </p:nvSpPr>
        <p:spPr>
          <a:xfrm>
            <a:off x="457200" y="5927090"/>
            <a:ext cx="6642100" cy="7620"/>
          </a:xfrm>
          <a:prstGeom prst="rect">
            <a:avLst/>
          </a:prstGeom>
          <a:solidFill>
            <a:srgbClr val="B7B0A4"/>
          </a:solidFill>
          <a:ln w="12700">
            <a:solidFill>
              <a:srgbClr val="B7B0A4"/>
            </a:solidFill>
            <a:prstDash val="solid"/>
          </a:ln>
        </p:spPr>
      </p:sp>
      <p:sp>
        <p:nvSpPr>
          <p:cNvPr id="20" name="Text 18"/>
          <p:cNvSpPr/>
          <p:nvPr/>
        </p:nvSpPr>
        <p:spPr>
          <a:xfrm>
            <a:off x="457200" y="61214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Philippines</a:t>
            </a:r>
            <a:endParaRPr lang="en-US" sz="1400" dirty="0"/>
          </a:p>
        </p:txBody>
      </p:sp>
      <p:sp>
        <p:nvSpPr>
          <p:cNvPr id="21" name="Text 19"/>
          <p:cNvSpPr/>
          <p:nvPr/>
        </p:nvSpPr>
        <p:spPr>
          <a:xfrm>
            <a:off x="2667000" y="61214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Global links and formal institutions did not remove weak domestic linkages.</a:t>
            </a:r>
            <a:endParaRPr lang="en-US" sz="1150" dirty="0"/>
          </a:p>
        </p:txBody>
      </p:sp>
      <p:sp>
        <p:nvSpPr>
          <p:cNvPr id="22" name="Shape 20"/>
          <p:cNvSpPr/>
          <p:nvPr/>
        </p:nvSpPr>
        <p:spPr>
          <a:xfrm>
            <a:off x="457200" y="6892290"/>
            <a:ext cx="6642100" cy="7620"/>
          </a:xfrm>
          <a:prstGeom prst="rect">
            <a:avLst/>
          </a:prstGeom>
          <a:solidFill>
            <a:srgbClr val="B7B0A4"/>
          </a:solidFill>
          <a:ln w="12700">
            <a:solidFill>
              <a:srgbClr val="B7B0A4"/>
            </a:solidFill>
            <a:prstDash val="solid"/>
          </a:ln>
        </p:spPr>
      </p:sp>
      <p:sp>
        <p:nvSpPr>
          <p:cNvPr id="23" name="Text 21"/>
          <p:cNvSpPr/>
          <p:nvPr/>
        </p:nvSpPr>
        <p:spPr>
          <a:xfrm>
            <a:off x="457200" y="7086600"/>
            <a:ext cx="2019300" cy="368300"/>
          </a:xfrm>
          <a:prstGeom prst="rect">
            <a:avLst/>
          </a:prstGeom>
          <a:noFill/>
          <a:ln/>
        </p:spPr>
        <p:txBody>
          <a:bodyPr wrap="square" lIns="0" tIns="0" rIns="0" bIns="0" rtlCol="0" anchor="t"/>
          <a:lstStyle/>
          <a:p>
            <a:pPr indent="0" marL="0">
              <a:lnSpc>
                <a:spcPct val="112000"/>
              </a:lnSpc>
              <a:buNone/>
            </a:pPr>
            <a:r>
              <a:rPr lang="en-US" sz="1400" b="1" dirty="0">
                <a:solidFill>
                  <a:srgbClr val="F4F0E7"/>
                </a:solidFill>
                <a:latin typeface="Montserrat" pitchFamily="34" charset="0"/>
                <a:ea typeface="Montserrat" pitchFamily="34" charset="-122"/>
                <a:cs typeface="Montserrat" pitchFamily="34" charset="-120"/>
              </a:rPr>
              <a:t>Botswana</a:t>
            </a:r>
            <a:endParaRPr lang="en-US" sz="1400" dirty="0"/>
          </a:p>
        </p:txBody>
      </p:sp>
      <p:sp>
        <p:nvSpPr>
          <p:cNvPr id="24" name="Text 22"/>
          <p:cNvSpPr/>
          <p:nvPr/>
        </p:nvSpPr>
        <p:spPr>
          <a:xfrm>
            <a:off x="2667000" y="7086600"/>
            <a:ext cx="4432300" cy="584200"/>
          </a:xfrm>
          <a:prstGeom prst="rect">
            <a:avLst/>
          </a:prstGeom>
          <a:noFill/>
          <a:ln/>
        </p:spPr>
        <p:txBody>
          <a:bodyPr wrap="square" lIns="0" tIns="0" rIns="0" bIns="0" rtlCol="0" anchor="t"/>
          <a:lstStyle/>
          <a:p>
            <a:pPr indent="0" marL="0">
              <a:lnSpc>
                <a:spcPct val="112000"/>
              </a:lnSpc>
              <a:buNone/>
            </a:pPr>
            <a:r>
              <a:rPr lang="en-US" sz="1150" dirty="0">
                <a:solidFill>
                  <a:srgbClr val="F4F0E7"/>
                </a:solidFill>
                <a:latin typeface="Montserrat" pitchFamily="34" charset="0"/>
                <a:ea typeface="Montserrat" pitchFamily="34" charset="-122"/>
                <a:cs typeface="Montserrat" pitchFamily="34" charset="-120"/>
              </a:rPr>
              <a:t>Mineral-led accumulation shows that wealth and diversification differ.</a:t>
            </a:r>
            <a:endParaRPr lang="en-US" sz="1150" dirty="0"/>
          </a:p>
        </p:txBody>
      </p:sp>
      <p:sp>
        <p:nvSpPr>
          <p:cNvPr id="25" name="Shape 23"/>
          <p:cNvSpPr/>
          <p:nvPr/>
        </p:nvSpPr>
        <p:spPr>
          <a:xfrm>
            <a:off x="457200" y="7857490"/>
            <a:ext cx="6642100" cy="7620"/>
          </a:xfrm>
          <a:prstGeom prst="rect">
            <a:avLst/>
          </a:prstGeom>
          <a:solidFill>
            <a:srgbClr val="B7B0A4"/>
          </a:solidFill>
          <a:ln w="12700">
            <a:solidFill>
              <a:srgbClr val="B7B0A4"/>
            </a:solidFill>
            <a:prstDash val="solid"/>
          </a:ln>
        </p:spPr>
      </p:sp>
      <p:sp>
        <p:nvSpPr>
          <p:cNvPr id="26" name="Text 24"/>
          <p:cNvSpPr/>
          <p:nvPr/>
        </p:nvSpPr>
        <p:spPr>
          <a:xfrm>
            <a:off x="457200" y="8407400"/>
            <a:ext cx="6642100" cy="622300"/>
          </a:xfrm>
          <a:prstGeom prst="rect">
            <a:avLst/>
          </a:prstGeom>
          <a:noFill/>
          <a:ln/>
        </p:spPr>
        <p:txBody>
          <a:bodyPr wrap="square" lIns="0" tIns="0" rIns="0" bIns="0" rtlCol="0" anchor="t"/>
          <a:lstStyle/>
          <a:p>
            <a:pPr indent="0" marL="0">
              <a:lnSpc>
                <a:spcPct val="112000"/>
              </a:lnSpc>
              <a:buNone/>
            </a:pPr>
            <a:r>
              <a:rPr lang="en-US" sz="2000" b="1" dirty="0">
                <a:solidFill>
                  <a:srgbClr val="F4F0E7"/>
                </a:solidFill>
                <a:latin typeface="Alegreya" pitchFamily="34" charset="0"/>
                <a:ea typeface="Alegreya" pitchFamily="34" charset="-122"/>
                <a:cs typeface="Alegreya" pitchFamily="34" charset="-120"/>
              </a:rPr>
              <a:t>The lesson: keep what works. Change what fails.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FOUR DIFFERENT STORIES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Why the other cases matter.</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They show that growth needs more than one explanation.</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514E48"/>
                </a:solidFill>
                <a:latin typeface="Montserrat" pitchFamily="34" charset="0"/>
                <a:ea typeface="Montserrat" pitchFamily="34" charset="-122"/>
                <a:cs typeface="Montserrat" pitchFamily="34" charset="-120"/>
              </a:rPr>
              <a:t>These cases support conditional explanations, not one universal formula. Symbols summarise pathways—not complete national resource inventories.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Maipose (2008, pp. 3–5, 8–11); Svirydzenka and Petri (2014, pp. 5–8); World Bank (2020, Box 2, pp. 44–47); Nasution (2000, pp. 19–20). Full references: p. 27. World Bank (1993, pp. 20–26).</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23</a:t>
            </a:r>
            <a:endParaRPr lang="en-US" sz="1000" dirty="0"/>
          </a:p>
        </p:txBody>
      </p:sp>
      <p:sp>
        <p:nvSpPr>
          <p:cNvPr id="11" name="Editable road path 27"/>
          <p:cNvSpPr/>
          <p:nvPr/>
        </p:nvSpPr>
        <p:spPr>
          <a:xfrm>
            <a:off x="482600" y="3289300"/>
            <a:ext cx="520700" cy="482600"/>
          </a:xfrm>
          <a:custGeom>
            <a:avLst/>
            <a:gdLst/>
            <a:ahLst/>
            <a:cxnLst/>
            <a:rect l="0" t="0" r="r" b="b"/>
            <a:pathLst>
              <a:path w="10000" h="10000">
                <a:moveTo>
                  <a:pt x="0" y="3158"/>
                </a:moveTo>
                <a:lnTo>
                  <a:pt x="2439" y="0"/>
                </a:lnTo>
                <a:lnTo>
                  <a:pt x="7317" y="0"/>
                </a:lnTo>
                <a:lnTo>
                  <a:pt x="10000" y="3158"/>
                </a:lnTo>
                <a:lnTo>
                  <a:pt x="5122" y="10000"/>
                </a:lnTo>
                <a:close/>
                <a:close/>
              </a:path>
            </a:pathLst>
          </a:custGeom>
          <a:solidFill>
            <a:srgbClr val="252525"/>
          </a:solidFill>
          <a:ln w="12700">
            <a:solidFill>
              <a:srgbClr val="252525"/>
            </a:solidFill>
            <a:prstDash val="solid"/>
          </a:ln>
        </p:spPr>
      </p:sp>
      <p:sp>
        <p:nvSpPr>
          <p:cNvPr id="12" name="Editable road path 28"/>
          <p:cNvSpPr/>
          <p:nvPr/>
        </p:nvSpPr>
        <p:spPr>
          <a:xfrm>
            <a:off x="533400" y="3340100"/>
            <a:ext cx="419100" cy="355600"/>
          </a:xfrm>
          <a:custGeom>
            <a:avLst/>
            <a:gdLst/>
            <a:ahLst/>
            <a:cxnLst/>
            <a:rect l="0" t="0" r="r" b="b"/>
            <a:pathLst>
              <a:path w="10000" h="10000">
                <a:moveTo>
                  <a:pt x="0" y="2857"/>
                </a:moveTo>
                <a:lnTo>
                  <a:pt x="2424" y="0"/>
                </a:lnTo>
                <a:lnTo>
                  <a:pt x="7273" y="0"/>
                </a:lnTo>
                <a:lnTo>
                  <a:pt x="10000" y="2857"/>
                </a:lnTo>
                <a:lnTo>
                  <a:pt x="5152" y="10000"/>
                </a:lnTo>
                <a:close/>
                <a:close/>
              </a:path>
            </a:pathLst>
          </a:custGeom>
          <a:solidFill>
            <a:srgbClr val="F4F0E7"/>
          </a:solidFill>
          <a:ln w="12700">
            <a:solidFill>
              <a:srgbClr val="F4F0E7"/>
            </a:solidFill>
            <a:prstDash val="solid"/>
          </a:ln>
        </p:spPr>
      </p:sp>
      <p:sp>
        <p:nvSpPr>
          <p:cNvPr id="13" name="Shape 11"/>
          <p:cNvSpPr/>
          <p:nvPr/>
        </p:nvSpPr>
        <p:spPr>
          <a:xfrm>
            <a:off x="533400" y="3435350"/>
            <a:ext cx="419100" cy="12700"/>
          </a:xfrm>
          <a:prstGeom prst="rect">
            <a:avLst/>
          </a:prstGeom>
          <a:solidFill>
            <a:srgbClr val="252525"/>
          </a:solidFill>
          <a:ln w="12700">
            <a:solidFill>
              <a:srgbClr val="252525"/>
            </a:solidFill>
            <a:prstDash val="solid"/>
          </a:ln>
        </p:spPr>
      </p:sp>
      <p:sp>
        <p:nvSpPr>
          <p:cNvPr id="14" name="Shape 12"/>
          <p:cNvSpPr/>
          <p:nvPr/>
        </p:nvSpPr>
        <p:spPr>
          <a:xfrm>
            <a:off x="635000" y="3340100"/>
            <a:ext cx="114300" cy="355600"/>
          </a:xfrm>
          <a:prstGeom prst="line">
            <a:avLst/>
          </a:prstGeom>
          <a:noFill/>
          <a:ln w="12700">
            <a:solidFill>
              <a:srgbClr val="252525"/>
            </a:solidFill>
            <a:prstDash val="solid"/>
          </a:ln>
        </p:spPr>
      </p:sp>
      <p:sp>
        <p:nvSpPr>
          <p:cNvPr id="15" name="Shape 13"/>
          <p:cNvSpPr/>
          <p:nvPr/>
        </p:nvSpPr>
        <p:spPr>
          <a:xfrm>
            <a:off x="749300" y="3340100"/>
            <a:ext cx="88900" cy="355600"/>
          </a:xfrm>
          <a:prstGeom prst="line">
            <a:avLst/>
          </a:prstGeom>
          <a:noFill/>
          <a:ln w="12700">
            <a:solidFill>
              <a:srgbClr val="252525"/>
            </a:solidFill>
            <a:prstDash val="solid"/>
          </a:ln>
        </p:spPr>
      </p:sp>
      <p:sp>
        <p:nvSpPr>
          <p:cNvPr id="16" name="Text 14"/>
          <p:cNvSpPr/>
          <p:nvPr/>
        </p:nvSpPr>
        <p:spPr>
          <a:xfrm>
            <a:off x="1257300" y="31623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3F684E"/>
                </a:solidFill>
                <a:latin typeface="Montserrat" pitchFamily="34" charset="0"/>
                <a:ea typeface="Montserrat" pitchFamily="34" charset="-122"/>
                <a:cs typeface="Montserrat" pitchFamily="34" charset="-120"/>
              </a:rPr>
              <a:t>Botswana</a:t>
            </a:r>
            <a:endParaRPr lang="en-US" sz="1300" dirty="0"/>
          </a:p>
        </p:txBody>
      </p:sp>
      <p:sp>
        <p:nvSpPr>
          <p:cNvPr id="17" name="Text 15"/>
          <p:cNvSpPr/>
          <p:nvPr/>
        </p:nvSpPr>
        <p:spPr>
          <a:xfrm>
            <a:off x="1257300" y="3479800"/>
            <a:ext cx="5842000" cy="3429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Mineral income helped build wealth.</a:t>
            </a:r>
            <a:endParaRPr lang="en-US" sz="1400" dirty="0"/>
          </a:p>
        </p:txBody>
      </p:sp>
      <p:sp>
        <p:nvSpPr>
          <p:cNvPr id="18" name="Text 16"/>
          <p:cNvSpPr/>
          <p:nvPr/>
        </p:nvSpPr>
        <p:spPr>
          <a:xfrm>
            <a:off x="1257300" y="3848100"/>
            <a:ext cx="5842000" cy="406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WHY: resources can raise income without creating many different industries.</a:t>
            </a:r>
            <a:endParaRPr lang="en-US" sz="1050" dirty="0"/>
          </a:p>
        </p:txBody>
      </p:sp>
      <p:sp>
        <p:nvSpPr>
          <p:cNvPr id="19" name="Shape 17"/>
          <p:cNvSpPr/>
          <p:nvPr/>
        </p:nvSpPr>
        <p:spPr>
          <a:xfrm>
            <a:off x="1257300" y="4212590"/>
            <a:ext cx="5842000" cy="7620"/>
          </a:xfrm>
          <a:prstGeom prst="rect">
            <a:avLst/>
          </a:prstGeom>
          <a:solidFill>
            <a:srgbClr val="B7B0A4"/>
          </a:solidFill>
          <a:ln w="12700">
            <a:solidFill>
              <a:srgbClr val="B7B0A4"/>
            </a:solidFill>
            <a:prstDash val="solid"/>
          </a:ln>
        </p:spPr>
      </p:sp>
      <p:sp>
        <p:nvSpPr>
          <p:cNvPr id="20" name="Shape 18"/>
          <p:cNvSpPr/>
          <p:nvPr/>
        </p:nvSpPr>
        <p:spPr>
          <a:xfrm>
            <a:off x="527957" y="4442097"/>
            <a:ext cx="339634" cy="20320"/>
          </a:xfrm>
          <a:prstGeom prst="rect">
            <a:avLst/>
          </a:prstGeom>
          <a:solidFill>
            <a:srgbClr val="252525"/>
          </a:solidFill>
          <a:ln w="12700">
            <a:solidFill>
              <a:srgbClr val="252525"/>
            </a:solidFill>
            <a:prstDash val="solid"/>
          </a:ln>
        </p:spPr>
      </p:sp>
      <p:sp>
        <p:nvSpPr>
          <p:cNvPr id="21" name="Shape 19"/>
          <p:cNvSpPr/>
          <p:nvPr/>
        </p:nvSpPr>
        <p:spPr>
          <a:xfrm>
            <a:off x="857431" y="4452257"/>
            <a:ext cx="20320" cy="297180"/>
          </a:xfrm>
          <a:prstGeom prst="rect">
            <a:avLst/>
          </a:prstGeom>
          <a:solidFill>
            <a:srgbClr val="252525"/>
          </a:solidFill>
          <a:ln w="12700">
            <a:solidFill>
              <a:srgbClr val="252525"/>
            </a:solidFill>
            <a:prstDash val="solid"/>
          </a:ln>
        </p:spPr>
      </p:sp>
      <p:sp>
        <p:nvSpPr>
          <p:cNvPr id="22" name="Shape 20"/>
          <p:cNvSpPr/>
          <p:nvPr/>
        </p:nvSpPr>
        <p:spPr>
          <a:xfrm flipV="1">
            <a:off x="796834" y="4678680"/>
            <a:ext cx="70757" cy="70757"/>
          </a:xfrm>
          <a:prstGeom prst="line">
            <a:avLst/>
          </a:prstGeom>
          <a:noFill/>
          <a:ln w="20320">
            <a:solidFill>
              <a:srgbClr val="252525"/>
            </a:solidFill>
            <a:prstDash val="solid"/>
          </a:ln>
        </p:spPr>
      </p:sp>
      <p:sp>
        <p:nvSpPr>
          <p:cNvPr id="23" name="Shape 21"/>
          <p:cNvSpPr/>
          <p:nvPr/>
        </p:nvSpPr>
        <p:spPr>
          <a:xfrm flipV="1">
            <a:off x="867591" y="4678680"/>
            <a:ext cx="70757" cy="70757"/>
          </a:xfrm>
          <a:prstGeom prst="line">
            <a:avLst/>
          </a:prstGeom>
          <a:noFill/>
          <a:ln w="20320">
            <a:solidFill>
              <a:srgbClr val="252525"/>
            </a:solidFill>
            <a:prstDash val="solid"/>
          </a:ln>
        </p:spPr>
      </p:sp>
      <p:sp>
        <p:nvSpPr>
          <p:cNvPr id="24" name="Shape 22"/>
          <p:cNvSpPr/>
          <p:nvPr/>
        </p:nvSpPr>
        <p:spPr>
          <a:xfrm>
            <a:off x="527957" y="4824186"/>
            <a:ext cx="339634" cy="20320"/>
          </a:xfrm>
          <a:prstGeom prst="rect">
            <a:avLst/>
          </a:prstGeom>
          <a:solidFill>
            <a:srgbClr val="252525"/>
          </a:solidFill>
          <a:ln w="12700">
            <a:solidFill>
              <a:srgbClr val="252525"/>
            </a:solidFill>
            <a:prstDash val="solid"/>
          </a:ln>
        </p:spPr>
      </p:sp>
      <p:sp>
        <p:nvSpPr>
          <p:cNvPr id="25" name="Shape 23"/>
          <p:cNvSpPr/>
          <p:nvPr/>
        </p:nvSpPr>
        <p:spPr>
          <a:xfrm>
            <a:off x="517797" y="4537166"/>
            <a:ext cx="20320" cy="297180"/>
          </a:xfrm>
          <a:prstGeom prst="rect">
            <a:avLst/>
          </a:prstGeom>
          <a:solidFill>
            <a:srgbClr val="252525"/>
          </a:solidFill>
          <a:ln w="12700">
            <a:solidFill>
              <a:srgbClr val="252525"/>
            </a:solidFill>
            <a:prstDash val="solid"/>
          </a:ln>
        </p:spPr>
      </p:sp>
      <p:sp>
        <p:nvSpPr>
          <p:cNvPr id="26" name="Shape 24"/>
          <p:cNvSpPr/>
          <p:nvPr/>
        </p:nvSpPr>
        <p:spPr>
          <a:xfrm>
            <a:off x="457200" y="4537166"/>
            <a:ext cx="70757" cy="70757"/>
          </a:xfrm>
          <a:prstGeom prst="line">
            <a:avLst/>
          </a:prstGeom>
          <a:noFill/>
          <a:ln w="20320">
            <a:solidFill>
              <a:srgbClr val="252525"/>
            </a:solidFill>
            <a:prstDash val="solid"/>
          </a:ln>
        </p:spPr>
      </p:sp>
      <p:sp>
        <p:nvSpPr>
          <p:cNvPr id="27" name="Shape 25"/>
          <p:cNvSpPr/>
          <p:nvPr/>
        </p:nvSpPr>
        <p:spPr>
          <a:xfrm>
            <a:off x="527957" y="4537166"/>
            <a:ext cx="70757" cy="70757"/>
          </a:xfrm>
          <a:prstGeom prst="line">
            <a:avLst/>
          </a:prstGeom>
          <a:noFill/>
          <a:ln w="20320">
            <a:solidFill>
              <a:srgbClr val="252525"/>
            </a:solidFill>
            <a:prstDash val="solid"/>
          </a:ln>
        </p:spPr>
      </p:sp>
      <p:sp>
        <p:nvSpPr>
          <p:cNvPr id="28" name="Text 26"/>
          <p:cNvSpPr/>
          <p:nvPr/>
        </p:nvSpPr>
        <p:spPr>
          <a:xfrm>
            <a:off x="1257300" y="42799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252525"/>
                </a:solidFill>
                <a:latin typeface="Montserrat" pitchFamily="34" charset="0"/>
                <a:ea typeface="Montserrat" pitchFamily="34" charset="-122"/>
                <a:cs typeface="Montserrat" pitchFamily="34" charset="-120"/>
              </a:rPr>
              <a:t>Mauritius</a:t>
            </a:r>
            <a:endParaRPr lang="en-US" sz="1300" dirty="0"/>
          </a:p>
        </p:txBody>
      </p:sp>
      <p:sp>
        <p:nvSpPr>
          <p:cNvPr id="29" name="Text 27"/>
          <p:cNvSpPr/>
          <p:nvPr/>
        </p:nvSpPr>
        <p:spPr>
          <a:xfrm>
            <a:off x="1257300" y="4597400"/>
            <a:ext cx="5842000" cy="3429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It moved beyond sugar.</a:t>
            </a:r>
            <a:endParaRPr lang="en-US" sz="1400" dirty="0"/>
          </a:p>
        </p:txBody>
      </p:sp>
      <p:sp>
        <p:nvSpPr>
          <p:cNvPr id="30" name="Text 28"/>
          <p:cNvSpPr/>
          <p:nvPr/>
        </p:nvSpPr>
        <p:spPr>
          <a:xfrm>
            <a:off x="1257300" y="4965700"/>
            <a:ext cx="5842000" cy="406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WHY: new exports and services widened opportunities. An African country could diversify.</a:t>
            </a:r>
            <a:endParaRPr lang="en-US" sz="1050" dirty="0"/>
          </a:p>
        </p:txBody>
      </p:sp>
      <p:sp>
        <p:nvSpPr>
          <p:cNvPr id="31" name="Shape 29"/>
          <p:cNvSpPr/>
          <p:nvPr/>
        </p:nvSpPr>
        <p:spPr>
          <a:xfrm>
            <a:off x="1257300" y="5330190"/>
            <a:ext cx="5842000" cy="7620"/>
          </a:xfrm>
          <a:prstGeom prst="rect">
            <a:avLst/>
          </a:prstGeom>
          <a:solidFill>
            <a:srgbClr val="B7B0A4"/>
          </a:solidFill>
          <a:ln w="12700">
            <a:solidFill>
              <a:srgbClr val="B7B0A4"/>
            </a:solidFill>
            <a:prstDash val="solid"/>
          </a:ln>
        </p:spPr>
      </p:sp>
      <p:sp>
        <p:nvSpPr>
          <p:cNvPr id="32" name="Shape 30"/>
          <p:cNvSpPr/>
          <p:nvPr/>
        </p:nvSpPr>
        <p:spPr>
          <a:xfrm>
            <a:off x="485503" y="5941786"/>
            <a:ext cx="424543" cy="20320"/>
          </a:xfrm>
          <a:prstGeom prst="rect">
            <a:avLst/>
          </a:prstGeom>
          <a:solidFill>
            <a:srgbClr val="252525"/>
          </a:solidFill>
          <a:ln w="12700">
            <a:solidFill>
              <a:srgbClr val="252525"/>
            </a:solidFill>
            <a:prstDash val="solid"/>
          </a:ln>
        </p:spPr>
      </p:sp>
      <p:sp>
        <p:nvSpPr>
          <p:cNvPr id="33" name="Shape 31"/>
          <p:cNvSpPr/>
          <p:nvPr/>
        </p:nvSpPr>
        <p:spPr>
          <a:xfrm>
            <a:off x="475343" y="5711371"/>
            <a:ext cx="20320" cy="240574"/>
          </a:xfrm>
          <a:prstGeom prst="rect">
            <a:avLst/>
          </a:prstGeom>
          <a:solidFill>
            <a:srgbClr val="252525"/>
          </a:solidFill>
          <a:ln w="12700">
            <a:solidFill>
              <a:srgbClr val="252525"/>
            </a:solidFill>
            <a:prstDash val="solid"/>
          </a:ln>
        </p:spPr>
      </p:sp>
      <p:sp>
        <p:nvSpPr>
          <p:cNvPr id="34" name="Shape 32"/>
          <p:cNvSpPr/>
          <p:nvPr/>
        </p:nvSpPr>
        <p:spPr>
          <a:xfrm flipV="1">
            <a:off x="485503" y="5626463"/>
            <a:ext cx="141514" cy="84909"/>
          </a:xfrm>
          <a:prstGeom prst="line">
            <a:avLst/>
          </a:prstGeom>
          <a:noFill/>
          <a:ln w="20320">
            <a:solidFill>
              <a:srgbClr val="252525"/>
            </a:solidFill>
            <a:prstDash val="solid"/>
          </a:ln>
        </p:spPr>
      </p:sp>
      <p:sp>
        <p:nvSpPr>
          <p:cNvPr id="35" name="Shape 33"/>
          <p:cNvSpPr/>
          <p:nvPr/>
        </p:nvSpPr>
        <p:spPr>
          <a:xfrm>
            <a:off x="616857" y="5626463"/>
            <a:ext cx="20320" cy="84909"/>
          </a:xfrm>
          <a:prstGeom prst="rect">
            <a:avLst/>
          </a:prstGeom>
          <a:solidFill>
            <a:srgbClr val="252525"/>
          </a:solidFill>
          <a:ln w="12700">
            <a:solidFill>
              <a:srgbClr val="252525"/>
            </a:solidFill>
            <a:prstDash val="solid"/>
          </a:ln>
        </p:spPr>
      </p:sp>
      <p:sp>
        <p:nvSpPr>
          <p:cNvPr id="36" name="Shape 34"/>
          <p:cNvSpPr/>
          <p:nvPr/>
        </p:nvSpPr>
        <p:spPr>
          <a:xfrm flipV="1">
            <a:off x="627017" y="5626463"/>
            <a:ext cx="155666" cy="84909"/>
          </a:xfrm>
          <a:prstGeom prst="line">
            <a:avLst/>
          </a:prstGeom>
          <a:noFill/>
          <a:ln w="20320">
            <a:solidFill>
              <a:srgbClr val="252525"/>
            </a:solidFill>
            <a:prstDash val="solid"/>
          </a:ln>
        </p:spPr>
      </p:sp>
      <p:sp>
        <p:nvSpPr>
          <p:cNvPr id="37" name="Shape 35"/>
          <p:cNvSpPr/>
          <p:nvPr/>
        </p:nvSpPr>
        <p:spPr>
          <a:xfrm>
            <a:off x="772523" y="5626463"/>
            <a:ext cx="20320" cy="325483"/>
          </a:xfrm>
          <a:prstGeom prst="rect">
            <a:avLst/>
          </a:prstGeom>
          <a:solidFill>
            <a:srgbClr val="252525"/>
          </a:solidFill>
          <a:ln w="12700">
            <a:solidFill>
              <a:srgbClr val="252525"/>
            </a:solidFill>
            <a:prstDash val="solid"/>
          </a:ln>
        </p:spPr>
      </p:sp>
      <p:sp>
        <p:nvSpPr>
          <p:cNvPr id="38" name="Shape 36"/>
          <p:cNvSpPr/>
          <p:nvPr/>
        </p:nvSpPr>
        <p:spPr>
          <a:xfrm>
            <a:off x="829129" y="5541554"/>
            <a:ext cx="20320" cy="226423"/>
          </a:xfrm>
          <a:prstGeom prst="rect">
            <a:avLst/>
          </a:prstGeom>
          <a:solidFill>
            <a:srgbClr val="252525"/>
          </a:solidFill>
          <a:ln w="12700">
            <a:solidFill>
              <a:srgbClr val="252525"/>
            </a:solidFill>
            <a:prstDash val="solid"/>
          </a:ln>
        </p:spPr>
      </p:sp>
      <p:sp>
        <p:nvSpPr>
          <p:cNvPr id="39" name="Shape 37"/>
          <p:cNvSpPr/>
          <p:nvPr/>
        </p:nvSpPr>
        <p:spPr>
          <a:xfrm>
            <a:off x="899886" y="5541554"/>
            <a:ext cx="20320" cy="410391"/>
          </a:xfrm>
          <a:prstGeom prst="rect">
            <a:avLst/>
          </a:prstGeom>
          <a:solidFill>
            <a:srgbClr val="252525"/>
          </a:solidFill>
          <a:ln w="12700">
            <a:solidFill>
              <a:srgbClr val="252525"/>
            </a:solidFill>
            <a:prstDash val="solid"/>
          </a:ln>
        </p:spPr>
      </p:sp>
      <p:sp>
        <p:nvSpPr>
          <p:cNvPr id="40" name="Shape 38"/>
          <p:cNvSpPr/>
          <p:nvPr/>
        </p:nvSpPr>
        <p:spPr>
          <a:xfrm>
            <a:off x="839289" y="5531394"/>
            <a:ext cx="70757" cy="20320"/>
          </a:xfrm>
          <a:prstGeom prst="rect">
            <a:avLst/>
          </a:prstGeom>
          <a:solidFill>
            <a:srgbClr val="252525"/>
          </a:solidFill>
          <a:ln w="12700">
            <a:solidFill>
              <a:srgbClr val="252525"/>
            </a:solidFill>
            <a:prstDash val="solid"/>
          </a:ln>
        </p:spPr>
      </p:sp>
      <p:sp>
        <p:nvSpPr>
          <p:cNvPr id="41" name="Shape 39"/>
          <p:cNvSpPr/>
          <p:nvPr/>
        </p:nvSpPr>
        <p:spPr>
          <a:xfrm>
            <a:off x="556260" y="5814423"/>
            <a:ext cx="42454" cy="20320"/>
          </a:xfrm>
          <a:prstGeom prst="rect">
            <a:avLst/>
          </a:prstGeom>
          <a:solidFill>
            <a:srgbClr val="252525"/>
          </a:solidFill>
          <a:ln w="12700">
            <a:solidFill>
              <a:srgbClr val="252525"/>
            </a:solidFill>
            <a:prstDash val="solid"/>
          </a:ln>
        </p:spPr>
      </p:sp>
      <p:sp>
        <p:nvSpPr>
          <p:cNvPr id="42" name="Shape 40"/>
          <p:cNvSpPr/>
          <p:nvPr/>
        </p:nvSpPr>
        <p:spPr>
          <a:xfrm>
            <a:off x="683623" y="5814423"/>
            <a:ext cx="42454" cy="20320"/>
          </a:xfrm>
          <a:prstGeom prst="rect">
            <a:avLst/>
          </a:prstGeom>
          <a:solidFill>
            <a:srgbClr val="252525"/>
          </a:solidFill>
          <a:ln w="12700">
            <a:solidFill>
              <a:srgbClr val="252525"/>
            </a:solidFill>
            <a:prstDash val="solid"/>
          </a:ln>
        </p:spPr>
      </p:sp>
      <p:sp>
        <p:nvSpPr>
          <p:cNvPr id="43" name="Text 41"/>
          <p:cNvSpPr/>
          <p:nvPr/>
        </p:nvSpPr>
        <p:spPr>
          <a:xfrm>
            <a:off x="1257300" y="53975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3E7568"/>
                </a:solidFill>
                <a:latin typeface="Montserrat" pitchFamily="34" charset="0"/>
                <a:ea typeface="Montserrat" pitchFamily="34" charset="-122"/>
                <a:cs typeface="Montserrat" pitchFamily="34" charset="-120"/>
              </a:rPr>
              <a:t>Malaysia</a:t>
            </a:r>
            <a:endParaRPr lang="en-US" sz="1300" dirty="0"/>
          </a:p>
        </p:txBody>
      </p:sp>
      <p:sp>
        <p:nvSpPr>
          <p:cNvPr id="44" name="Text 42"/>
          <p:cNvSpPr/>
          <p:nvPr/>
        </p:nvSpPr>
        <p:spPr>
          <a:xfrm>
            <a:off x="1257300" y="5715000"/>
            <a:ext cx="5842000" cy="3429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Foreign investment opened production.</a:t>
            </a:r>
            <a:endParaRPr lang="en-US" sz="1400" dirty="0"/>
          </a:p>
        </p:txBody>
      </p:sp>
      <p:sp>
        <p:nvSpPr>
          <p:cNvPr id="45" name="Text 43"/>
          <p:cNvSpPr/>
          <p:nvPr/>
        </p:nvSpPr>
        <p:spPr>
          <a:xfrm>
            <a:off x="1257300" y="6083300"/>
            <a:ext cx="5842000" cy="406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WHY: export factories created opportunities, but learning by local suppliers remained important.</a:t>
            </a:r>
            <a:endParaRPr lang="en-US" sz="1050" dirty="0"/>
          </a:p>
        </p:txBody>
      </p:sp>
      <p:sp>
        <p:nvSpPr>
          <p:cNvPr id="46" name="Shape 44"/>
          <p:cNvSpPr/>
          <p:nvPr/>
        </p:nvSpPr>
        <p:spPr>
          <a:xfrm>
            <a:off x="1257300" y="6447790"/>
            <a:ext cx="5842000" cy="7620"/>
          </a:xfrm>
          <a:prstGeom prst="rect">
            <a:avLst/>
          </a:prstGeom>
          <a:solidFill>
            <a:srgbClr val="B7B0A4"/>
          </a:solidFill>
          <a:ln w="12700">
            <a:solidFill>
              <a:srgbClr val="B7B0A4"/>
            </a:solidFill>
            <a:prstDash val="solid"/>
          </a:ln>
        </p:spPr>
      </p:sp>
      <p:sp>
        <p:nvSpPr>
          <p:cNvPr id="47" name="Shape 45"/>
          <p:cNvSpPr/>
          <p:nvPr/>
        </p:nvSpPr>
        <p:spPr>
          <a:xfrm>
            <a:off x="485503" y="6932023"/>
            <a:ext cx="438694" cy="20320"/>
          </a:xfrm>
          <a:prstGeom prst="rect">
            <a:avLst/>
          </a:prstGeom>
          <a:solidFill>
            <a:srgbClr val="252525"/>
          </a:solidFill>
          <a:ln w="12700">
            <a:solidFill>
              <a:srgbClr val="252525"/>
            </a:solidFill>
            <a:prstDash val="solid"/>
          </a:ln>
        </p:spPr>
      </p:sp>
      <p:sp>
        <p:nvSpPr>
          <p:cNvPr id="48" name="Shape 46"/>
          <p:cNvSpPr/>
          <p:nvPr/>
        </p:nvSpPr>
        <p:spPr>
          <a:xfrm>
            <a:off x="485503" y="6942183"/>
            <a:ext cx="113211" cy="127363"/>
          </a:xfrm>
          <a:prstGeom prst="line">
            <a:avLst/>
          </a:prstGeom>
          <a:noFill/>
          <a:ln w="20320">
            <a:solidFill>
              <a:srgbClr val="252525"/>
            </a:solidFill>
            <a:prstDash val="solid"/>
          </a:ln>
        </p:spPr>
      </p:sp>
      <p:sp>
        <p:nvSpPr>
          <p:cNvPr id="49" name="Shape 47"/>
          <p:cNvSpPr/>
          <p:nvPr/>
        </p:nvSpPr>
        <p:spPr>
          <a:xfrm>
            <a:off x="598714" y="7059386"/>
            <a:ext cx="240574" cy="20320"/>
          </a:xfrm>
          <a:prstGeom prst="rect">
            <a:avLst/>
          </a:prstGeom>
          <a:solidFill>
            <a:srgbClr val="252525"/>
          </a:solidFill>
          <a:ln w="12700">
            <a:solidFill>
              <a:srgbClr val="252525"/>
            </a:solidFill>
            <a:prstDash val="solid"/>
          </a:ln>
        </p:spPr>
      </p:sp>
      <p:sp>
        <p:nvSpPr>
          <p:cNvPr id="50" name="Shape 48"/>
          <p:cNvSpPr/>
          <p:nvPr/>
        </p:nvSpPr>
        <p:spPr>
          <a:xfrm flipV="1">
            <a:off x="839289" y="6942183"/>
            <a:ext cx="84909" cy="127363"/>
          </a:xfrm>
          <a:prstGeom prst="line">
            <a:avLst/>
          </a:prstGeom>
          <a:noFill/>
          <a:ln w="20320">
            <a:solidFill>
              <a:srgbClr val="252525"/>
            </a:solidFill>
            <a:prstDash val="solid"/>
          </a:ln>
        </p:spPr>
      </p:sp>
      <p:sp>
        <p:nvSpPr>
          <p:cNvPr id="51" name="Shape 49"/>
          <p:cNvSpPr/>
          <p:nvPr/>
        </p:nvSpPr>
        <p:spPr>
          <a:xfrm>
            <a:off x="560251" y="6786517"/>
            <a:ext cx="20320" cy="155666"/>
          </a:xfrm>
          <a:prstGeom prst="rect">
            <a:avLst/>
          </a:prstGeom>
          <a:solidFill>
            <a:srgbClr val="252525"/>
          </a:solidFill>
          <a:ln w="12700">
            <a:solidFill>
              <a:srgbClr val="252525"/>
            </a:solidFill>
            <a:prstDash val="solid"/>
          </a:ln>
        </p:spPr>
      </p:sp>
      <p:sp>
        <p:nvSpPr>
          <p:cNvPr id="52" name="Shape 50"/>
          <p:cNvSpPr/>
          <p:nvPr/>
        </p:nvSpPr>
        <p:spPr>
          <a:xfrm>
            <a:off x="570411" y="6776357"/>
            <a:ext cx="240574" cy="20320"/>
          </a:xfrm>
          <a:prstGeom prst="rect">
            <a:avLst/>
          </a:prstGeom>
          <a:solidFill>
            <a:srgbClr val="252525"/>
          </a:solidFill>
          <a:ln w="12700">
            <a:solidFill>
              <a:srgbClr val="252525"/>
            </a:solidFill>
            <a:prstDash val="solid"/>
          </a:ln>
        </p:spPr>
      </p:sp>
      <p:sp>
        <p:nvSpPr>
          <p:cNvPr id="53" name="Shape 51"/>
          <p:cNvSpPr/>
          <p:nvPr/>
        </p:nvSpPr>
        <p:spPr>
          <a:xfrm>
            <a:off x="800826" y="6786517"/>
            <a:ext cx="20320" cy="155666"/>
          </a:xfrm>
          <a:prstGeom prst="rect">
            <a:avLst/>
          </a:prstGeom>
          <a:solidFill>
            <a:srgbClr val="252525"/>
          </a:solidFill>
          <a:ln w="12700">
            <a:solidFill>
              <a:srgbClr val="252525"/>
            </a:solidFill>
            <a:prstDash val="solid"/>
          </a:ln>
        </p:spPr>
      </p:sp>
      <p:sp>
        <p:nvSpPr>
          <p:cNvPr id="54" name="Shape 52"/>
          <p:cNvSpPr/>
          <p:nvPr/>
        </p:nvSpPr>
        <p:spPr>
          <a:xfrm>
            <a:off x="687614" y="6659154"/>
            <a:ext cx="20320" cy="127363"/>
          </a:xfrm>
          <a:prstGeom prst="rect">
            <a:avLst/>
          </a:prstGeom>
          <a:solidFill>
            <a:srgbClr val="252525"/>
          </a:solidFill>
          <a:ln w="12700">
            <a:solidFill>
              <a:srgbClr val="252525"/>
            </a:solidFill>
            <a:prstDash val="solid"/>
          </a:ln>
        </p:spPr>
      </p:sp>
      <p:sp>
        <p:nvSpPr>
          <p:cNvPr id="55" name="Text 53"/>
          <p:cNvSpPr/>
          <p:nvPr/>
        </p:nvSpPr>
        <p:spPr>
          <a:xfrm>
            <a:off x="1257300" y="6515100"/>
            <a:ext cx="4267200" cy="279400"/>
          </a:xfrm>
          <a:prstGeom prst="rect">
            <a:avLst/>
          </a:prstGeom>
          <a:noFill/>
          <a:ln/>
        </p:spPr>
        <p:txBody>
          <a:bodyPr wrap="square" lIns="0" tIns="0" rIns="0" bIns="0" rtlCol="0" anchor="t"/>
          <a:lstStyle/>
          <a:p>
            <a:pPr indent="0" marL="0">
              <a:lnSpc>
                <a:spcPct val="112000"/>
              </a:lnSpc>
              <a:buNone/>
            </a:pPr>
            <a:r>
              <a:rPr lang="en-US" sz="1300" b="1" dirty="0">
                <a:solidFill>
                  <a:srgbClr val="A63A3A"/>
                </a:solidFill>
                <a:latin typeface="Montserrat" pitchFamily="34" charset="0"/>
                <a:ea typeface="Montserrat" pitchFamily="34" charset="-122"/>
                <a:cs typeface="Montserrat" pitchFamily="34" charset="-120"/>
              </a:rPr>
              <a:t>Philippines</a:t>
            </a:r>
            <a:endParaRPr lang="en-US" sz="1300" dirty="0"/>
          </a:p>
        </p:txBody>
      </p:sp>
      <p:sp>
        <p:nvSpPr>
          <p:cNvPr id="56" name="Text 54"/>
          <p:cNvSpPr/>
          <p:nvPr/>
        </p:nvSpPr>
        <p:spPr>
          <a:xfrm>
            <a:off x="1257300" y="6832600"/>
            <a:ext cx="5842000" cy="342900"/>
          </a:xfrm>
          <a:prstGeom prst="rect">
            <a:avLst/>
          </a:prstGeom>
          <a:noFill/>
          <a:ln/>
        </p:spPr>
        <p:txBody>
          <a:bodyPr wrap="square" lIns="0" tIns="0" rIns="0" bIns="0" rtlCol="0" anchor="t"/>
          <a:lstStyle/>
          <a:p>
            <a:pPr indent="0" marL="0">
              <a:lnSpc>
                <a:spcPct val="112000"/>
              </a:lnSpc>
              <a:buNone/>
            </a:pPr>
            <a:r>
              <a:rPr lang="en-US" sz="1400" b="1" dirty="0">
                <a:solidFill>
                  <a:srgbClr val="252525"/>
                </a:solidFill>
                <a:latin typeface="Montserrat" pitchFamily="34" charset="0"/>
                <a:ea typeface="Montserrat" pitchFamily="34" charset="-122"/>
                <a:cs typeface="Montserrat" pitchFamily="34" charset="-120"/>
              </a:rPr>
              <a:t>Exports did not guarantee deep local links.</a:t>
            </a:r>
            <a:endParaRPr lang="en-US" sz="1400" dirty="0"/>
          </a:p>
        </p:txBody>
      </p:sp>
      <p:sp>
        <p:nvSpPr>
          <p:cNvPr id="57" name="Text 55"/>
          <p:cNvSpPr/>
          <p:nvPr/>
        </p:nvSpPr>
        <p:spPr>
          <a:xfrm>
            <a:off x="1257300" y="7200900"/>
            <a:ext cx="5842000" cy="406400"/>
          </a:xfrm>
          <a:prstGeom prst="rect">
            <a:avLst/>
          </a:prstGeom>
          <a:noFill/>
          <a:ln/>
        </p:spPr>
        <p:txBody>
          <a:bodyPr wrap="square" lIns="0" tIns="0" rIns="0" bIns="0" rtlCol="0" anchor="t"/>
          <a:lstStyle/>
          <a:p>
            <a:pPr indent="0" marL="0">
              <a:lnSpc>
                <a:spcPct val="112000"/>
              </a:lnSpc>
              <a:buNone/>
            </a:pPr>
            <a:r>
              <a:rPr lang="en-US" sz="1050" dirty="0">
                <a:solidFill>
                  <a:srgbClr val="252525"/>
                </a:solidFill>
                <a:latin typeface="Montserrat" pitchFamily="34" charset="0"/>
                <a:ea typeface="Montserrat" pitchFamily="34" charset="-122"/>
                <a:cs typeface="Montserrat" pitchFamily="34" charset="-120"/>
              </a:rPr>
              <a:t>WHY: assembly using imported inputs can grow without equally strong domestic supply networks.</a:t>
            </a:r>
            <a:endParaRPr lang="en-US" sz="1050" dirty="0"/>
          </a:p>
        </p:txBody>
      </p:sp>
      <p:sp>
        <p:nvSpPr>
          <p:cNvPr id="58" name="Shape 56"/>
          <p:cNvSpPr/>
          <p:nvPr/>
        </p:nvSpPr>
        <p:spPr>
          <a:xfrm>
            <a:off x="457200" y="7937500"/>
            <a:ext cx="6642100" cy="927100"/>
          </a:xfrm>
          <a:prstGeom prst="rect">
            <a:avLst/>
          </a:prstGeom>
          <a:solidFill>
            <a:srgbClr val="252525"/>
          </a:solidFill>
          <a:ln w="12700">
            <a:solidFill>
              <a:srgbClr val="252525"/>
            </a:solidFill>
            <a:prstDash val="solid"/>
          </a:ln>
        </p:spPr>
      </p:sp>
      <p:sp>
        <p:nvSpPr>
          <p:cNvPr id="59" name="Text 57"/>
          <p:cNvSpPr/>
          <p:nvPr/>
        </p:nvSpPr>
        <p:spPr>
          <a:xfrm>
            <a:off x="635000" y="8064500"/>
            <a:ext cx="6286500" cy="1778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OUR TAKE / GROUP VIEW</a:t>
            </a:r>
            <a:endParaRPr lang="en-US" sz="800" dirty="0"/>
          </a:p>
        </p:txBody>
      </p:sp>
      <p:sp>
        <p:nvSpPr>
          <p:cNvPr id="60" name="Text 58"/>
          <p:cNvSpPr/>
          <p:nvPr/>
        </p:nvSpPr>
        <p:spPr>
          <a:xfrm>
            <a:off x="635000" y="8331200"/>
            <a:ext cx="6286500" cy="457200"/>
          </a:xfrm>
          <a:prstGeom prst="rect">
            <a:avLst/>
          </a:prstGeom>
          <a:noFill/>
          <a:ln/>
        </p:spPr>
        <p:txBody>
          <a:bodyPr wrap="square" lIns="0" tIns="0" rIns="0" bIns="0" rtlCol="0" anchor="t"/>
          <a:lstStyle/>
          <a:p>
            <a:pPr indent="0" marL="0">
              <a:lnSpc>
                <a:spcPct val="112000"/>
              </a:lnSpc>
              <a:buNone/>
            </a:pPr>
            <a:r>
              <a:rPr lang="en-US" sz="1150" b="1" dirty="0">
                <a:solidFill>
                  <a:srgbClr val="F4F0E7"/>
                </a:solidFill>
                <a:latin typeface="Montserrat" pitchFamily="34" charset="0"/>
                <a:ea typeface="Montserrat" pitchFamily="34" charset="-122"/>
                <a:cs typeface="Montserrat" pitchFamily="34" charset="-120"/>
              </a:rPr>
              <a:t>Mauritius surprised us. Its size matters less to our answer than how it adapted. Botswana also reminds us: rising income and a more varied economy are not the same thing.</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PUTTING IT TOGETHER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Different ingredients. Different outcomes.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Development depends on how the ingredients work together—not one fixed regional culture.</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Conceptual recipe illustration, not measured contributions or a universal recipe. Six countries do not represent two whole continents.</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Group synthesis: World Bank (1993, pp. 4–7, 20–26, 79–80); World Bank (2020); Maipose (2008); Svirydzenka and Petri (2014); Hofstede (2011).</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24</a:t>
            </a:r>
            <a:endParaRPr lang="en-US" sz="1000" dirty="0"/>
          </a:p>
        </p:txBody>
      </p:sp>
      <p:sp>
        <p:nvSpPr>
          <p:cNvPr id="11" name="Shape 9"/>
          <p:cNvSpPr/>
          <p:nvPr/>
        </p:nvSpPr>
        <p:spPr>
          <a:xfrm>
            <a:off x="927100" y="3365500"/>
            <a:ext cx="101600" cy="215900"/>
          </a:xfrm>
          <a:prstGeom prst="ellipse">
            <a:avLst/>
          </a:prstGeom>
          <a:solidFill>
            <a:srgbClr val="F4F0E7"/>
          </a:solidFill>
          <a:ln w="6350">
            <a:solidFill>
              <a:srgbClr val="F4F0E7"/>
            </a:solidFill>
            <a:prstDash val="solid"/>
          </a:ln>
        </p:spPr>
      </p:sp>
      <p:sp>
        <p:nvSpPr>
          <p:cNvPr id="12" name="Shape 10"/>
          <p:cNvSpPr/>
          <p:nvPr/>
        </p:nvSpPr>
        <p:spPr>
          <a:xfrm>
            <a:off x="1054100" y="3467100"/>
            <a:ext cx="101600" cy="215900"/>
          </a:xfrm>
          <a:prstGeom prst="ellipse">
            <a:avLst/>
          </a:prstGeom>
          <a:solidFill>
            <a:srgbClr val="F4F0E7"/>
          </a:solidFill>
          <a:ln w="6350">
            <a:solidFill>
              <a:srgbClr val="F4F0E7"/>
            </a:solidFill>
            <a:prstDash val="solid"/>
          </a:ln>
        </p:spPr>
      </p:sp>
      <p:sp>
        <p:nvSpPr>
          <p:cNvPr id="13" name="Shape 11"/>
          <p:cNvSpPr/>
          <p:nvPr/>
        </p:nvSpPr>
        <p:spPr>
          <a:xfrm>
            <a:off x="1181100" y="3365500"/>
            <a:ext cx="101600" cy="215900"/>
          </a:xfrm>
          <a:prstGeom prst="ellipse">
            <a:avLst/>
          </a:prstGeom>
          <a:solidFill>
            <a:srgbClr val="F4F0E7"/>
          </a:solidFill>
          <a:ln w="6350">
            <a:solidFill>
              <a:srgbClr val="F4F0E7"/>
            </a:solidFill>
            <a:prstDash val="solid"/>
          </a:ln>
        </p:spPr>
      </p:sp>
      <p:sp>
        <p:nvSpPr>
          <p:cNvPr id="14" name="Text 12"/>
          <p:cNvSpPr/>
          <p:nvPr/>
        </p:nvSpPr>
        <p:spPr>
          <a:xfrm>
            <a:off x="6223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History</a:t>
            </a:r>
            <a:endParaRPr lang="en-US" sz="1200" dirty="0"/>
          </a:p>
        </p:txBody>
      </p:sp>
      <p:sp>
        <p:nvSpPr>
          <p:cNvPr id="15" name="Shape 13"/>
          <p:cNvSpPr/>
          <p:nvPr/>
        </p:nvSpPr>
        <p:spPr>
          <a:xfrm rot="10800000">
            <a:off x="3365500" y="3378200"/>
            <a:ext cx="203200" cy="342900"/>
          </a:xfrm>
          <a:prstGeom prst="triangle">
            <a:avLst/>
          </a:prstGeom>
          <a:solidFill>
            <a:srgbClr val="F4F0E7"/>
          </a:solidFill>
          <a:ln w="12700">
            <a:solidFill>
              <a:srgbClr val="F4F0E7"/>
            </a:solidFill>
            <a:prstDash val="solid"/>
          </a:ln>
        </p:spPr>
      </p:sp>
      <p:sp>
        <p:nvSpPr>
          <p:cNvPr id="16" name="Shape 14"/>
          <p:cNvSpPr/>
          <p:nvPr/>
        </p:nvSpPr>
        <p:spPr>
          <a:xfrm flipV="1">
            <a:off x="3378200" y="3263900"/>
            <a:ext cx="88900" cy="114300"/>
          </a:xfrm>
          <a:prstGeom prst="line">
            <a:avLst/>
          </a:prstGeom>
          <a:noFill/>
          <a:ln w="25400">
            <a:solidFill>
              <a:srgbClr val="F4F0E7"/>
            </a:solidFill>
            <a:prstDash val="solid"/>
          </a:ln>
        </p:spPr>
      </p:sp>
      <p:sp>
        <p:nvSpPr>
          <p:cNvPr id="17" name="Shape 15"/>
          <p:cNvSpPr/>
          <p:nvPr/>
        </p:nvSpPr>
        <p:spPr>
          <a:xfrm flipV="1">
            <a:off x="3467100" y="3263900"/>
            <a:ext cx="88900" cy="114300"/>
          </a:xfrm>
          <a:prstGeom prst="line">
            <a:avLst/>
          </a:prstGeom>
          <a:noFill/>
          <a:ln w="25400">
            <a:solidFill>
              <a:srgbClr val="F4F0E7"/>
            </a:solidFill>
            <a:prstDash val="solid"/>
          </a:ln>
        </p:spPr>
      </p:sp>
      <p:sp>
        <p:nvSpPr>
          <p:cNvPr id="18" name="Text 16"/>
          <p:cNvSpPr/>
          <p:nvPr/>
        </p:nvSpPr>
        <p:spPr>
          <a:xfrm>
            <a:off x="30099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Institutions</a:t>
            </a:r>
            <a:endParaRPr lang="en-US" sz="1200" dirty="0"/>
          </a:p>
        </p:txBody>
      </p:sp>
      <p:sp>
        <p:nvSpPr>
          <p:cNvPr id="19" name="Shape 17"/>
          <p:cNvSpPr/>
          <p:nvPr/>
        </p:nvSpPr>
        <p:spPr>
          <a:xfrm>
            <a:off x="5638800" y="3378200"/>
            <a:ext cx="406400" cy="215900"/>
          </a:xfrm>
          <a:prstGeom prst="ellipse">
            <a:avLst/>
          </a:prstGeom>
          <a:solidFill>
            <a:srgbClr val="F4F0E7"/>
          </a:solidFill>
          <a:ln w="6350">
            <a:solidFill>
              <a:srgbClr val="F4F0E7"/>
            </a:solidFill>
            <a:prstDash val="solid"/>
          </a:ln>
        </p:spPr>
      </p:sp>
      <p:sp>
        <p:nvSpPr>
          <p:cNvPr id="20" name="Shape 18"/>
          <p:cNvSpPr/>
          <p:nvPr/>
        </p:nvSpPr>
        <p:spPr>
          <a:xfrm>
            <a:off x="5778500" y="3530600"/>
            <a:ext cx="127000" cy="203200"/>
          </a:xfrm>
          <a:prstGeom prst="rect">
            <a:avLst/>
          </a:prstGeom>
          <a:solidFill>
            <a:srgbClr val="F4F0E7"/>
          </a:solidFill>
          <a:ln w="12700">
            <a:solidFill>
              <a:srgbClr val="F4F0E7"/>
            </a:solidFill>
            <a:prstDash val="solid"/>
          </a:ln>
        </p:spPr>
      </p:sp>
      <p:sp>
        <p:nvSpPr>
          <p:cNvPr id="21" name="Text 19"/>
          <p:cNvSpPr/>
          <p:nvPr/>
        </p:nvSpPr>
        <p:spPr>
          <a:xfrm>
            <a:off x="5384800" y="39243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Resources</a:t>
            </a:r>
            <a:endParaRPr lang="en-US" sz="1200" dirty="0"/>
          </a:p>
        </p:txBody>
      </p:sp>
      <p:sp>
        <p:nvSpPr>
          <p:cNvPr id="22" name="Shape 20"/>
          <p:cNvSpPr/>
          <p:nvPr/>
        </p:nvSpPr>
        <p:spPr>
          <a:xfrm rot="-2100000">
            <a:off x="901700" y="4394200"/>
            <a:ext cx="177800" cy="304800"/>
          </a:xfrm>
          <a:prstGeom prst="ellipse">
            <a:avLst/>
          </a:prstGeom>
          <a:solidFill>
            <a:srgbClr val="F4F0E7"/>
          </a:solidFill>
          <a:ln w="6350">
            <a:solidFill>
              <a:srgbClr val="F4F0E7"/>
            </a:solidFill>
            <a:prstDash val="solid"/>
          </a:ln>
        </p:spPr>
      </p:sp>
      <p:sp>
        <p:nvSpPr>
          <p:cNvPr id="23" name="Shape 21"/>
          <p:cNvSpPr/>
          <p:nvPr/>
        </p:nvSpPr>
        <p:spPr>
          <a:xfrm rot="2100000">
            <a:off x="1092200" y="4419600"/>
            <a:ext cx="177800" cy="304800"/>
          </a:xfrm>
          <a:prstGeom prst="ellipse">
            <a:avLst/>
          </a:prstGeom>
          <a:solidFill>
            <a:srgbClr val="F4F0E7"/>
          </a:solidFill>
          <a:ln w="6350">
            <a:solidFill>
              <a:srgbClr val="F4F0E7"/>
            </a:solidFill>
            <a:prstDash val="solid"/>
          </a:ln>
        </p:spPr>
      </p:sp>
      <p:sp>
        <p:nvSpPr>
          <p:cNvPr id="24" name="Shape 22"/>
          <p:cNvSpPr/>
          <p:nvPr/>
        </p:nvSpPr>
        <p:spPr>
          <a:xfrm>
            <a:off x="1069975" y="4546600"/>
            <a:ext cx="19050" cy="241300"/>
          </a:xfrm>
          <a:prstGeom prst="rect">
            <a:avLst/>
          </a:prstGeom>
          <a:solidFill>
            <a:srgbClr val="F4F0E7"/>
          </a:solidFill>
          <a:ln w="12700">
            <a:solidFill>
              <a:srgbClr val="F4F0E7"/>
            </a:solidFill>
            <a:prstDash val="solid"/>
          </a:ln>
        </p:spPr>
      </p:sp>
      <p:sp>
        <p:nvSpPr>
          <p:cNvPr id="25" name="Text 23"/>
          <p:cNvSpPr/>
          <p:nvPr/>
        </p:nvSpPr>
        <p:spPr>
          <a:xfrm>
            <a:off x="6223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Skills</a:t>
            </a:r>
            <a:endParaRPr lang="en-US" sz="1200" dirty="0"/>
          </a:p>
        </p:txBody>
      </p:sp>
      <p:sp>
        <p:nvSpPr>
          <p:cNvPr id="26" name="Shape 24"/>
          <p:cNvSpPr/>
          <p:nvPr/>
        </p:nvSpPr>
        <p:spPr>
          <a:xfrm>
            <a:off x="3302000" y="4394200"/>
            <a:ext cx="330200" cy="330200"/>
          </a:xfrm>
          <a:prstGeom prst="ellipse">
            <a:avLst/>
          </a:prstGeom>
          <a:solidFill>
            <a:srgbClr val="F4F0E7"/>
          </a:solidFill>
          <a:ln w="6350">
            <a:solidFill>
              <a:srgbClr val="F4F0E7"/>
            </a:solidFill>
            <a:prstDash val="solid"/>
          </a:ln>
        </p:spPr>
      </p:sp>
      <p:sp>
        <p:nvSpPr>
          <p:cNvPr id="27" name="Shape 25"/>
          <p:cNvSpPr/>
          <p:nvPr/>
        </p:nvSpPr>
        <p:spPr>
          <a:xfrm flipV="1">
            <a:off x="3403600" y="4267200"/>
            <a:ext cx="63500" cy="127000"/>
          </a:xfrm>
          <a:prstGeom prst="line">
            <a:avLst/>
          </a:prstGeom>
          <a:noFill/>
          <a:ln w="25400">
            <a:solidFill>
              <a:srgbClr val="F4F0E7"/>
            </a:solidFill>
            <a:prstDash val="solid"/>
          </a:ln>
        </p:spPr>
      </p:sp>
      <p:sp>
        <p:nvSpPr>
          <p:cNvPr id="28" name="Shape 26"/>
          <p:cNvSpPr/>
          <p:nvPr/>
        </p:nvSpPr>
        <p:spPr>
          <a:xfrm flipV="1">
            <a:off x="3467100" y="4267200"/>
            <a:ext cx="63500" cy="127000"/>
          </a:xfrm>
          <a:prstGeom prst="line">
            <a:avLst/>
          </a:prstGeom>
          <a:noFill/>
          <a:ln w="25400">
            <a:solidFill>
              <a:srgbClr val="F4F0E7"/>
            </a:solidFill>
            <a:prstDash val="solid"/>
          </a:ln>
        </p:spPr>
      </p:sp>
      <p:sp>
        <p:nvSpPr>
          <p:cNvPr id="29" name="Shape 27"/>
          <p:cNvSpPr/>
          <p:nvPr/>
        </p:nvSpPr>
        <p:spPr>
          <a:xfrm>
            <a:off x="3454400" y="4470400"/>
            <a:ext cx="25400" cy="215900"/>
          </a:xfrm>
          <a:prstGeom prst="rect">
            <a:avLst/>
          </a:prstGeom>
          <a:solidFill>
            <a:srgbClr val="252525"/>
          </a:solidFill>
          <a:ln w="12700">
            <a:solidFill>
              <a:srgbClr val="252525"/>
            </a:solidFill>
            <a:prstDash val="solid"/>
          </a:ln>
        </p:spPr>
      </p:sp>
      <p:sp>
        <p:nvSpPr>
          <p:cNvPr id="30" name="Text 28"/>
          <p:cNvSpPr/>
          <p:nvPr/>
        </p:nvSpPr>
        <p:spPr>
          <a:xfrm>
            <a:off x="30099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Markets</a:t>
            </a:r>
            <a:endParaRPr lang="en-US" sz="1200" dirty="0"/>
          </a:p>
        </p:txBody>
      </p:sp>
      <p:sp>
        <p:nvSpPr>
          <p:cNvPr id="31" name="Shape 29"/>
          <p:cNvSpPr/>
          <p:nvPr/>
        </p:nvSpPr>
        <p:spPr>
          <a:xfrm>
            <a:off x="5683250" y="4349750"/>
            <a:ext cx="88900" cy="88900"/>
          </a:xfrm>
          <a:prstGeom prst="ellipse">
            <a:avLst/>
          </a:prstGeom>
          <a:solidFill>
            <a:srgbClr val="F4F0E7"/>
          </a:solidFill>
          <a:ln w="5080">
            <a:solidFill>
              <a:srgbClr val="F4F0E7"/>
            </a:solidFill>
            <a:prstDash val="solid"/>
          </a:ln>
        </p:spPr>
      </p:sp>
      <p:sp>
        <p:nvSpPr>
          <p:cNvPr id="32" name="Shape 30"/>
          <p:cNvSpPr/>
          <p:nvPr/>
        </p:nvSpPr>
        <p:spPr>
          <a:xfrm>
            <a:off x="5848350" y="4349750"/>
            <a:ext cx="88900" cy="88900"/>
          </a:xfrm>
          <a:prstGeom prst="ellipse">
            <a:avLst/>
          </a:prstGeom>
          <a:solidFill>
            <a:srgbClr val="F4F0E7"/>
          </a:solidFill>
          <a:ln w="5080">
            <a:solidFill>
              <a:srgbClr val="F4F0E7"/>
            </a:solidFill>
            <a:prstDash val="solid"/>
          </a:ln>
        </p:spPr>
      </p:sp>
      <p:sp>
        <p:nvSpPr>
          <p:cNvPr id="33" name="Shape 31"/>
          <p:cNvSpPr/>
          <p:nvPr/>
        </p:nvSpPr>
        <p:spPr>
          <a:xfrm>
            <a:off x="5759450" y="4476750"/>
            <a:ext cx="88900" cy="88900"/>
          </a:xfrm>
          <a:prstGeom prst="ellipse">
            <a:avLst/>
          </a:prstGeom>
          <a:solidFill>
            <a:srgbClr val="F4F0E7"/>
          </a:solidFill>
          <a:ln w="5080">
            <a:solidFill>
              <a:srgbClr val="F4F0E7"/>
            </a:solidFill>
            <a:prstDash val="solid"/>
          </a:ln>
        </p:spPr>
      </p:sp>
      <p:sp>
        <p:nvSpPr>
          <p:cNvPr id="34" name="Shape 32"/>
          <p:cNvSpPr/>
          <p:nvPr/>
        </p:nvSpPr>
        <p:spPr>
          <a:xfrm>
            <a:off x="5911850" y="4514850"/>
            <a:ext cx="88900" cy="88900"/>
          </a:xfrm>
          <a:prstGeom prst="ellipse">
            <a:avLst/>
          </a:prstGeom>
          <a:solidFill>
            <a:srgbClr val="F4F0E7"/>
          </a:solidFill>
          <a:ln w="5080">
            <a:solidFill>
              <a:srgbClr val="F4F0E7"/>
            </a:solidFill>
            <a:prstDash val="solid"/>
          </a:ln>
        </p:spPr>
      </p:sp>
      <p:sp>
        <p:nvSpPr>
          <p:cNvPr id="35" name="Shape 33"/>
          <p:cNvSpPr/>
          <p:nvPr/>
        </p:nvSpPr>
        <p:spPr>
          <a:xfrm>
            <a:off x="5632450" y="4552950"/>
            <a:ext cx="88900" cy="88900"/>
          </a:xfrm>
          <a:prstGeom prst="ellipse">
            <a:avLst/>
          </a:prstGeom>
          <a:solidFill>
            <a:srgbClr val="F4F0E7"/>
          </a:solidFill>
          <a:ln w="5080">
            <a:solidFill>
              <a:srgbClr val="F4F0E7"/>
            </a:solidFill>
            <a:prstDash val="solid"/>
          </a:ln>
        </p:spPr>
      </p:sp>
      <p:sp>
        <p:nvSpPr>
          <p:cNvPr id="36" name="Shape 34"/>
          <p:cNvSpPr/>
          <p:nvPr/>
        </p:nvSpPr>
        <p:spPr>
          <a:xfrm>
            <a:off x="5797550" y="4629150"/>
            <a:ext cx="88900" cy="88900"/>
          </a:xfrm>
          <a:prstGeom prst="ellipse">
            <a:avLst/>
          </a:prstGeom>
          <a:solidFill>
            <a:srgbClr val="F4F0E7"/>
          </a:solidFill>
          <a:ln w="5080">
            <a:solidFill>
              <a:srgbClr val="F4F0E7"/>
            </a:solidFill>
            <a:prstDash val="solid"/>
          </a:ln>
        </p:spPr>
      </p:sp>
      <p:sp>
        <p:nvSpPr>
          <p:cNvPr id="37" name="Text 35"/>
          <p:cNvSpPr/>
          <p:nvPr/>
        </p:nvSpPr>
        <p:spPr>
          <a:xfrm>
            <a:off x="5384800" y="4864100"/>
            <a:ext cx="1689100" cy="317500"/>
          </a:xfrm>
          <a:prstGeom prst="rect">
            <a:avLst/>
          </a:prstGeom>
          <a:noFill/>
          <a:ln/>
        </p:spPr>
        <p:txBody>
          <a:bodyPr wrap="square" lIns="0" tIns="0" rIns="0" bIns="0" rtlCol="0" anchor="t"/>
          <a:lstStyle/>
          <a:p>
            <a:pPr algn="ctr" indent="0" marL="0">
              <a:lnSpc>
                <a:spcPct val="112000"/>
              </a:lnSpc>
              <a:buNone/>
            </a:pPr>
            <a:r>
              <a:rPr lang="en-US" sz="1200" b="1" dirty="0">
                <a:solidFill>
                  <a:srgbClr val="F4F0E7"/>
                </a:solidFill>
                <a:latin typeface="Montserrat" pitchFamily="34" charset="0"/>
                <a:ea typeface="Montserrat" pitchFamily="34" charset="-122"/>
                <a:cs typeface="Montserrat" pitchFamily="34" charset="-120"/>
              </a:rPr>
              <a:t>Culture</a:t>
            </a:r>
            <a:endParaRPr lang="en-US" sz="1200" dirty="0"/>
          </a:p>
        </p:txBody>
      </p:sp>
      <p:sp>
        <p:nvSpPr>
          <p:cNvPr id="38" name="Shape 36"/>
          <p:cNvSpPr/>
          <p:nvPr/>
        </p:nvSpPr>
        <p:spPr>
          <a:xfrm>
            <a:off x="1841500" y="5118100"/>
            <a:ext cx="3873500" cy="1168400"/>
          </a:xfrm>
          <a:prstGeom prst="ellipse">
            <a:avLst/>
          </a:prstGeom>
          <a:solidFill>
            <a:srgbClr val="F4F0E7"/>
          </a:solidFill>
          <a:ln w="12700">
            <a:solidFill>
              <a:srgbClr val="F4F0E7"/>
            </a:solidFill>
            <a:prstDash val="solid"/>
          </a:ln>
        </p:spPr>
      </p:sp>
      <p:sp>
        <p:nvSpPr>
          <p:cNvPr id="39" name="Shape 37"/>
          <p:cNvSpPr/>
          <p:nvPr/>
        </p:nvSpPr>
        <p:spPr>
          <a:xfrm>
            <a:off x="1816100" y="5092700"/>
            <a:ext cx="3924300" cy="571500"/>
          </a:xfrm>
          <a:prstGeom prst="rect">
            <a:avLst/>
          </a:prstGeom>
          <a:solidFill>
            <a:srgbClr val="252525"/>
          </a:solidFill>
          <a:ln w="12700">
            <a:solidFill>
              <a:srgbClr val="252525"/>
            </a:solidFill>
            <a:prstDash val="solid"/>
          </a:ln>
        </p:spPr>
      </p:sp>
      <p:sp>
        <p:nvSpPr>
          <p:cNvPr id="40" name="Shape 38"/>
          <p:cNvSpPr/>
          <p:nvPr/>
        </p:nvSpPr>
        <p:spPr>
          <a:xfrm>
            <a:off x="1841500" y="5410200"/>
            <a:ext cx="3873500" cy="495300"/>
          </a:xfrm>
          <a:prstGeom prst="ellipse">
            <a:avLst/>
          </a:prstGeom>
          <a:solidFill>
            <a:srgbClr val="F4F0E7"/>
          </a:solidFill>
          <a:ln w="12700">
            <a:solidFill>
              <a:srgbClr val="F4F0E7"/>
            </a:solidFill>
            <a:prstDash val="solid"/>
          </a:ln>
        </p:spPr>
      </p:sp>
      <p:sp>
        <p:nvSpPr>
          <p:cNvPr id="41" name="Shape 39"/>
          <p:cNvSpPr/>
          <p:nvPr/>
        </p:nvSpPr>
        <p:spPr>
          <a:xfrm>
            <a:off x="1993900" y="5473700"/>
            <a:ext cx="3568700" cy="317500"/>
          </a:xfrm>
          <a:prstGeom prst="ellipse">
            <a:avLst/>
          </a:prstGeom>
          <a:solidFill>
            <a:srgbClr val="252525"/>
          </a:solidFill>
          <a:ln w="12700">
            <a:solidFill>
              <a:srgbClr val="252525"/>
            </a:solidFill>
            <a:prstDash val="solid"/>
          </a:ln>
        </p:spPr>
      </p:sp>
      <p:sp>
        <p:nvSpPr>
          <p:cNvPr id="42" name="Shape 40"/>
          <p:cNvSpPr/>
          <p:nvPr/>
        </p:nvSpPr>
        <p:spPr>
          <a:xfrm>
            <a:off x="3200400" y="6223000"/>
            <a:ext cx="1155700" cy="88900"/>
          </a:xfrm>
          <a:prstGeom prst="rect">
            <a:avLst/>
          </a:prstGeom>
          <a:solidFill>
            <a:srgbClr val="F4F0E7"/>
          </a:solidFill>
          <a:ln w="12700">
            <a:solidFill>
              <a:srgbClr val="F4F0E7"/>
            </a:solidFill>
            <a:prstDash val="solid"/>
          </a:ln>
        </p:spPr>
      </p:sp>
      <p:sp>
        <p:nvSpPr>
          <p:cNvPr id="43" name="Shape 41"/>
          <p:cNvSpPr/>
          <p:nvPr/>
        </p:nvSpPr>
        <p:spPr>
          <a:xfrm>
            <a:off x="2184400" y="6026150"/>
            <a:ext cx="3175000" cy="12700"/>
          </a:xfrm>
          <a:prstGeom prst="rect">
            <a:avLst/>
          </a:prstGeom>
          <a:solidFill>
            <a:srgbClr val="F4F0E7"/>
          </a:solidFill>
          <a:ln w="12700">
            <a:solidFill>
              <a:srgbClr val="F4F0E7"/>
            </a:solidFill>
            <a:prstDash val="solid"/>
          </a:ln>
        </p:spPr>
      </p:sp>
      <p:sp>
        <p:nvSpPr>
          <p:cNvPr id="44" name="Text 42"/>
          <p:cNvSpPr/>
          <p:nvPr/>
        </p:nvSpPr>
        <p:spPr>
          <a:xfrm>
            <a:off x="1600200" y="6565900"/>
            <a:ext cx="4470400" cy="342900"/>
          </a:xfrm>
          <a:prstGeom prst="rect">
            <a:avLst/>
          </a:prstGeom>
          <a:noFill/>
          <a:ln/>
        </p:spPr>
        <p:txBody>
          <a:bodyPr wrap="square" lIns="0" tIns="0" rIns="0" bIns="0" rtlCol="0" anchor="t"/>
          <a:lstStyle/>
          <a:p>
            <a:pPr algn="ctr" indent="0" marL="0">
              <a:lnSpc>
                <a:spcPct val="112000"/>
              </a:lnSpc>
              <a:buNone/>
            </a:pPr>
            <a:r>
              <a:rPr lang="en-US" sz="1800" b="1" dirty="0">
                <a:solidFill>
                  <a:srgbClr val="F4F0E7"/>
                </a:solidFill>
                <a:latin typeface="Montserrat" pitchFamily="34" charset="0"/>
                <a:ea typeface="Montserrat" pitchFamily="34" charset="-122"/>
                <a:cs typeface="Montserrat" pitchFamily="34" charset="-120"/>
              </a:rPr>
              <a:t>PRODUCTIVE CAPABILITY</a:t>
            </a:r>
            <a:endParaRPr lang="en-US" sz="1800" dirty="0"/>
          </a:p>
        </p:txBody>
      </p:sp>
      <p:sp>
        <p:nvSpPr>
          <p:cNvPr id="45" name="Text 43"/>
          <p:cNvSpPr/>
          <p:nvPr/>
        </p:nvSpPr>
        <p:spPr>
          <a:xfrm>
            <a:off x="457200" y="7188200"/>
            <a:ext cx="6642100" cy="1803400"/>
          </a:xfrm>
          <a:prstGeom prst="rect">
            <a:avLst/>
          </a:prstGeom>
          <a:noFill/>
          <a:ln/>
        </p:spPr>
        <p:txBody>
          <a:bodyPr wrap="square" lIns="0" tIns="0" rIns="0" bIns="0" rtlCol="0" anchor="t"/>
          <a:lstStyle/>
          <a:p>
            <a:pPr indent="0" marL="0">
              <a:lnSpc>
                <a:spcPct val="112000"/>
              </a:lnSpc>
              <a:buNone/>
            </a:pPr>
            <a:r>
              <a:rPr lang="en-US" sz="1050" dirty="0">
                <a:solidFill>
                  <a:srgbClr val="F4F0E7"/>
                </a:solidFill>
                <a:latin typeface="Montserrat" pitchFamily="34" charset="0"/>
                <a:ea typeface="Montserrat" pitchFamily="34" charset="-122"/>
                <a:cs typeface="Montserrat" pitchFamily="34" charset="-120"/>
              </a:rPr>
              <a:t>Divergence depended less on fixed regional culture than on whether states, firms, workers and external partners built and disciplined productive capabilities over time. Education, agricultural change, infrastructure, investment coordination, technology access and exports mattered in different sequences. Their effects depended on institutions, resources, distribution, history and international conditions. Culture may influence coordination, legitimacy and organisational practice, but it is not a stand-alone explanation.</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OUR TAKE</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Development should feel like a better life.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Our priorities: health, buying power, freedom and living standards. Not just a bigger GDP.</a:t>
            </a:r>
            <a:endParaRPr lang="en-US" sz="1100" dirty="0"/>
          </a:p>
        </p:txBody>
      </p:sp>
      <p:sp>
        <p:nvSpPr>
          <p:cNvPr id="6" name="Shape 4"/>
          <p:cNvSpPr/>
          <p:nvPr/>
        </p:nvSpPr>
        <p:spPr>
          <a:xfrm>
            <a:off x="457200" y="2641600"/>
            <a:ext cx="1107059" cy="304800"/>
          </a:xfrm>
          <a:prstGeom prst="rect">
            <a:avLst/>
          </a:prstGeom>
          <a:solidFill>
            <a:srgbClr val="B95332"/>
          </a:solidFill>
          <a:ln w="12700">
            <a:solidFill>
              <a:srgbClr val="B95332"/>
            </a:solidFill>
            <a:prstDash val="solid"/>
          </a:ln>
        </p:spPr>
      </p:sp>
      <p:sp>
        <p:nvSpPr>
          <p:cNvPr id="7" name="Text 5"/>
          <p:cNvSpPr/>
          <p:nvPr/>
        </p:nvSpPr>
        <p:spPr>
          <a:xfrm>
            <a:off x="520700"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a:t>
            </a:r>
            <a:endParaRPr lang="en-US" sz="800" dirty="0"/>
          </a:p>
        </p:txBody>
      </p:sp>
      <p:sp>
        <p:nvSpPr>
          <p:cNvPr id="8" name="Shape 6"/>
          <p:cNvSpPr/>
          <p:nvPr/>
        </p:nvSpPr>
        <p:spPr>
          <a:xfrm>
            <a:off x="1564259" y="2641600"/>
            <a:ext cx="1107059" cy="304800"/>
          </a:xfrm>
          <a:prstGeom prst="rect">
            <a:avLst/>
          </a:prstGeom>
          <a:solidFill>
            <a:srgbClr val="3F684E"/>
          </a:solidFill>
          <a:ln w="12700">
            <a:solidFill>
              <a:srgbClr val="3F684E"/>
            </a:solidFill>
            <a:prstDash val="solid"/>
          </a:ln>
        </p:spPr>
      </p:sp>
      <p:sp>
        <p:nvSpPr>
          <p:cNvPr id="9" name="Text 7"/>
          <p:cNvSpPr/>
          <p:nvPr/>
        </p:nvSpPr>
        <p:spPr>
          <a:xfrm>
            <a:off x="1627759"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Botswana</a:t>
            </a:r>
            <a:endParaRPr lang="en-US" sz="800" dirty="0"/>
          </a:p>
        </p:txBody>
      </p:sp>
      <p:sp>
        <p:nvSpPr>
          <p:cNvPr id="10" name="Shape 8"/>
          <p:cNvSpPr/>
          <p:nvPr/>
        </p:nvSpPr>
        <p:spPr>
          <a:xfrm>
            <a:off x="2671318" y="2641600"/>
            <a:ext cx="1107059" cy="304800"/>
          </a:xfrm>
          <a:prstGeom prst="rect">
            <a:avLst/>
          </a:prstGeom>
          <a:solidFill>
            <a:srgbClr val="D6A23A"/>
          </a:solidFill>
          <a:ln w="12700">
            <a:solidFill>
              <a:srgbClr val="D6A23A"/>
            </a:solidFill>
            <a:prstDash val="solid"/>
          </a:ln>
        </p:spPr>
      </p:sp>
      <p:sp>
        <p:nvSpPr>
          <p:cNvPr id="11" name="Text 9"/>
          <p:cNvSpPr/>
          <p:nvPr/>
        </p:nvSpPr>
        <p:spPr>
          <a:xfrm>
            <a:off x="2734818"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Mauritius</a:t>
            </a:r>
            <a:endParaRPr lang="en-US" sz="800" dirty="0"/>
          </a:p>
        </p:txBody>
      </p:sp>
      <p:sp>
        <p:nvSpPr>
          <p:cNvPr id="12" name="Shape 10"/>
          <p:cNvSpPr/>
          <p:nvPr/>
        </p:nvSpPr>
        <p:spPr>
          <a:xfrm>
            <a:off x="3778377" y="2641600"/>
            <a:ext cx="1107059" cy="304800"/>
          </a:xfrm>
          <a:prstGeom prst="rect">
            <a:avLst/>
          </a:prstGeom>
          <a:solidFill>
            <a:srgbClr val="315A78"/>
          </a:solidFill>
          <a:ln w="12700">
            <a:solidFill>
              <a:srgbClr val="315A78"/>
            </a:solidFill>
            <a:prstDash val="solid"/>
          </a:ln>
        </p:spPr>
      </p:sp>
      <p:sp>
        <p:nvSpPr>
          <p:cNvPr id="13" name="Text 11"/>
          <p:cNvSpPr/>
          <p:nvPr/>
        </p:nvSpPr>
        <p:spPr>
          <a:xfrm>
            <a:off x="3841877"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a:t>
            </a:r>
            <a:endParaRPr lang="en-US" sz="800" dirty="0"/>
          </a:p>
        </p:txBody>
      </p:sp>
      <p:sp>
        <p:nvSpPr>
          <p:cNvPr id="14" name="Shape 12"/>
          <p:cNvSpPr/>
          <p:nvPr/>
        </p:nvSpPr>
        <p:spPr>
          <a:xfrm>
            <a:off x="4885436" y="2641600"/>
            <a:ext cx="1107059" cy="304800"/>
          </a:xfrm>
          <a:prstGeom prst="rect">
            <a:avLst/>
          </a:prstGeom>
          <a:solidFill>
            <a:srgbClr val="3E7568"/>
          </a:solidFill>
          <a:ln w="12700">
            <a:solidFill>
              <a:srgbClr val="3E7568"/>
            </a:solidFill>
            <a:prstDash val="solid"/>
          </a:ln>
        </p:spPr>
      </p:sp>
      <p:sp>
        <p:nvSpPr>
          <p:cNvPr id="15" name="Text 13"/>
          <p:cNvSpPr/>
          <p:nvPr/>
        </p:nvSpPr>
        <p:spPr>
          <a:xfrm>
            <a:off x="4948936"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Malaysia</a:t>
            </a:r>
            <a:endParaRPr lang="en-US" sz="800" dirty="0"/>
          </a:p>
        </p:txBody>
      </p:sp>
      <p:sp>
        <p:nvSpPr>
          <p:cNvPr id="16" name="Shape 14"/>
          <p:cNvSpPr/>
          <p:nvPr/>
        </p:nvSpPr>
        <p:spPr>
          <a:xfrm>
            <a:off x="5992495" y="2641600"/>
            <a:ext cx="1107059" cy="304800"/>
          </a:xfrm>
          <a:prstGeom prst="rect">
            <a:avLst/>
          </a:prstGeom>
          <a:solidFill>
            <a:srgbClr val="A63A3A"/>
          </a:solidFill>
          <a:ln w="12700">
            <a:solidFill>
              <a:srgbClr val="A63A3A"/>
            </a:solidFill>
            <a:prstDash val="solid"/>
          </a:ln>
        </p:spPr>
      </p:sp>
      <p:sp>
        <p:nvSpPr>
          <p:cNvPr id="17" name="Text 15"/>
          <p:cNvSpPr/>
          <p:nvPr/>
        </p:nvSpPr>
        <p:spPr>
          <a:xfrm>
            <a:off x="6055995" y="2717800"/>
            <a:ext cx="9906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Philippines</a:t>
            </a:r>
            <a:endParaRPr lang="en-US" sz="800" dirty="0"/>
          </a:p>
        </p:txBody>
      </p:sp>
      <p:sp>
        <p:nvSpPr>
          <p:cNvPr id="18" name="Shape 16"/>
          <p:cNvSpPr/>
          <p:nvPr/>
        </p:nvSpPr>
        <p:spPr>
          <a:xfrm>
            <a:off x="457200" y="9698990"/>
            <a:ext cx="6642100" cy="7620"/>
          </a:xfrm>
          <a:prstGeom prst="rect">
            <a:avLst/>
          </a:prstGeom>
          <a:solidFill>
            <a:srgbClr val="B7B0A4"/>
          </a:solidFill>
          <a:ln w="12700">
            <a:solidFill>
              <a:srgbClr val="B7B0A4"/>
            </a:solidFill>
            <a:prstDash val="solid"/>
          </a:ln>
        </p:spPr>
      </p:sp>
      <p:sp>
        <p:nvSpPr>
          <p:cNvPr id="19" name="Text 17"/>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Group values, not a six-country wellbeing ranking. GDP: World Bank (2026), NY.GDP.PCAP.KD. Photographs: Amuzujoe (2020), Accra; Gaël Chardon (2008), Seoul. Full credits and licences: p. 28.</a:t>
            </a:r>
            <a:endParaRPr lang="en-US" sz="800" dirty="0"/>
          </a:p>
        </p:txBody>
      </p:sp>
      <p:sp>
        <p:nvSpPr>
          <p:cNvPr id="20" name="Text 18"/>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21" name="Text 19"/>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25</a:t>
            </a:r>
            <a:endParaRPr lang="en-US" sz="1000" dirty="0"/>
          </a:p>
        </p:txBody>
      </p:sp>
      <p:sp>
        <p:nvSpPr>
          <p:cNvPr id="22" name="Shape 20"/>
          <p:cNvSpPr/>
          <p:nvPr/>
        </p:nvSpPr>
        <p:spPr>
          <a:xfrm>
            <a:off x="457200" y="3187700"/>
            <a:ext cx="3162300" cy="3251200"/>
          </a:xfrm>
          <a:prstGeom prst="rect">
            <a:avLst/>
          </a:prstGeom>
          <a:solidFill>
            <a:srgbClr val="B95332"/>
          </a:solidFill>
          <a:ln w="12700">
            <a:solidFill>
              <a:srgbClr val="B95332"/>
            </a:solidFill>
            <a:prstDash val="solid"/>
          </a:ln>
        </p:spPr>
      </p:sp>
      <p:sp>
        <p:nvSpPr>
          <p:cNvPr id="23" name="Shape 21"/>
          <p:cNvSpPr/>
          <p:nvPr/>
        </p:nvSpPr>
        <p:spPr>
          <a:xfrm>
            <a:off x="3937000" y="3187700"/>
            <a:ext cx="3162300" cy="3251200"/>
          </a:xfrm>
          <a:prstGeom prst="rect">
            <a:avLst/>
          </a:prstGeom>
          <a:solidFill>
            <a:srgbClr val="315A78"/>
          </a:solidFill>
          <a:ln w="12700">
            <a:solidFill>
              <a:srgbClr val="315A78"/>
            </a:solidFill>
            <a:prstDash val="solid"/>
          </a:ln>
        </p:spPr>
      </p:sp>
      <p:pic>
        <p:nvPicPr>
          <p:cNvPr id="24" name="Image 0" descr="/Users/marcusgrude-grodem/Documents/GitHub/USIL/africa-asia-development-magazine/design/canva_editorial_draft/assets/print/ghana_accra.jpg">    </p:cNvPr>
          <p:cNvPicPr>
            <a:picLocks noChangeAspect="1"/>
          </p:cNvPicPr>
          <p:nvPr/>
        </p:nvPicPr>
        <p:blipFill>
          <a:blip r:embed="rId1"/>
          <a:stretch>
            <a:fillRect/>
          </a:stretch>
        </p:blipFill>
        <p:spPr>
          <a:xfrm>
            <a:off x="1062037" y="3276600"/>
            <a:ext cx="1952625" cy="2603500"/>
          </a:xfrm>
          <a:prstGeom prst="rect">
            <a:avLst/>
          </a:prstGeom>
        </p:spPr>
      </p:pic>
      <p:pic>
        <p:nvPicPr>
          <p:cNvPr id="25" name="Image 1" descr="/Users/marcusgrude-grodem/Documents/GitHub/USIL/africa-asia-development-magazine/design/canva_editorial_draft/assets/print/korea_market.jpg">    </p:cNvPr>
          <p:cNvPicPr>
            <a:picLocks noChangeAspect="1"/>
          </p:cNvPicPr>
          <p:nvPr/>
        </p:nvPicPr>
        <p:blipFill>
          <a:blip r:embed="rId2"/>
          <a:stretch>
            <a:fillRect/>
          </a:stretch>
        </p:blipFill>
        <p:spPr>
          <a:xfrm>
            <a:off x="4025900" y="3459163"/>
            <a:ext cx="2984500" cy="2238375"/>
          </a:xfrm>
          <a:prstGeom prst="rect">
            <a:avLst/>
          </a:prstGeom>
        </p:spPr>
      </p:pic>
      <p:sp>
        <p:nvSpPr>
          <p:cNvPr id="26" name="Text 22"/>
          <p:cNvSpPr/>
          <p:nvPr/>
        </p:nvSpPr>
        <p:spPr>
          <a:xfrm>
            <a:off x="5715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GHANA / ACCRA MARKET · 2020</a:t>
            </a:r>
            <a:endParaRPr lang="en-US" sz="800" dirty="0"/>
          </a:p>
        </p:txBody>
      </p:sp>
      <p:sp>
        <p:nvSpPr>
          <p:cNvPr id="27" name="Text 23"/>
          <p:cNvSpPr/>
          <p:nvPr/>
        </p:nvSpPr>
        <p:spPr>
          <a:xfrm>
            <a:off x="4051300" y="6057900"/>
            <a:ext cx="2933700" cy="2286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SOUTH KOREA / SEOUL MARKET · 2008</a:t>
            </a:r>
            <a:endParaRPr lang="en-US" sz="800" dirty="0"/>
          </a:p>
        </p:txBody>
      </p:sp>
      <p:sp>
        <p:nvSpPr>
          <p:cNvPr id="28" name="Text 24"/>
          <p:cNvSpPr/>
          <p:nvPr/>
        </p:nvSpPr>
        <p:spPr>
          <a:xfrm>
            <a:off x="457200" y="6756400"/>
            <a:ext cx="6642100" cy="444500"/>
          </a:xfrm>
          <a:prstGeom prst="rect">
            <a:avLst/>
          </a:prstGeom>
          <a:noFill/>
          <a:ln/>
        </p:spPr>
        <p:txBody>
          <a:bodyPr wrap="square" lIns="0" tIns="0" rIns="0" bIns="0" rtlCol="0" anchor="t"/>
          <a:lstStyle/>
          <a:p>
            <a:pPr indent="0" marL="0">
              <a:lnSpc>
                <a:spcPct val="112000"/>
              </a:lnSpc>
              <a:buNone/>
            </a:pPr>
            <a:r>
              <a:rPr lang="en-US" sz="2300" b="1" dirty="0">
                <a:solidFill>
                  <a:srgbClr val="252525"/>
                </a:solidFill>
                <a:latin typeface="Alegreya" pitchFamily="34" charset="0"/>
                <a:ea typeface="Alegreya" pitchFamily="34" charset="-122"/>
                <a:cs typeface="Alegreya" pitchFamily="34" charset="-120"/>
              </a:rPr>
              <a:t>Everyday places. Actual people.</a:t>
            </a:r>
            <a:endParaRPr lang="en-US" sz="2300" dirty="0"/>
          </a:p>
        </p:txBody>
      </p:sp>
      <p:sp>
        <p:nvSpPr>
          <p:cNvPr id="29" name="Text 25"/>
          <p:cNvSpPr/>
          <p:nvPr/>
        </p:nvSpPr>
        <p:spPr>
          <a:xfrm>
            <a:off x="457200" y="7442200"/>
            <a:ext cx="6642100" cy="1054100"/>
          </a:xfrm>
          <a:prstGeom prst="rect">
            <a:avLst/>
          </a:prstGeom>
          <a:noFill/>
          <a:ln/>
        </p:spPr>
        <p:txBody>
          <a:bodyPr wrap="square" lIns="0" tIns="0" rIns="0" bIns="0" rtlCol="0" anchor="t"/>
          <a:lstStyle/>
          <a:p>
            <a:pPr indent="0" marL="0">
              <a:lnSpc>
                <a:spcPct val="112000"/>
              </a:lnSpc>
              <a:buNone/>
            </a:pPr>
            <a:r>
              <a:rPr lang="en-US" sz="1500" b="1" dirty="0">
                <a:solidFill>
                  <a:srgbClr val="252525"/>
                </a:solidFill>
                <a:latin typeface="Montserrat" pitchFamily="34" charset="0"/>
                <a:ea typeface="Montserrat" pitchFamily="34" charset="-122"/>
                <a:cs typeface="Montserrat" pitchFamily="34" charset="-120"/>
              </a:rPr>
              <a:t>For us, higher income matters because of the life it can support: what people can buy, whether they are healthy, and whether they have more freedom.</a:t>
            </a:r>
            <a:endParaRPr lang="en-US" sz="1500" dirty="0"/>
          </a:p>
        </p:txBody>
      </p:sp>
      <p:sp>
        <p:nvSpPr>
          <p:cNvPr id="30" name="Text 26"/>
          <p:cNvSpPr/>
          <p:nvPr/>
        </p:nvSpPr>
        <p:spPr>
          <a:xfrm>
            <a:off x="457200" y="8775700"/>
            <a:ext cx="6642100" cy="355600"/>
          </a:xfrm>
          <a:prstGeom prst="rect">
            <a:avLst/>
          </a:prstGeom>
          <a:noFill/>
          <a:ln/>
        </p:spPr>
        <p:txBody>
          <a:bodyPr wrap="square" lIns="0" tIns="0" rIns="0" bIns="0" rtlCol="0" anchor="t"/>
          <a:lstStyle/>
          <a:p>
            <a:pPr indent="0" marL="0">
              <a:lnSpc>
                <a:spcPct val="112000"/>
              </a:lnSpc>
              <a:buNone/>
            </a:pPr>
            <a:r>
              <a:rPr lang="en-US" sz="900" dirty="0">
                <a:solidFill>
                  <a:srgbClr val="252525"/>
                </a:solidFill>
                <a:latin typeface="Montserrat" pitchFamily="34" charset="0"/>
                <a:ea typeface="Montserrat" pitchFamily="34" charset="-122"/>
                <a:cs typeface="Montserrat" pitchFamily="34" charset="-120"/>
              </a:rPr>
              <a:t>These market photographs show human-scale context, not measured health, freedom, purchasing power or family life.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52525"/>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252525"/>
          </a:solidFill>
          <a:ln w="12700">
            <a:solidFill>
              <a:srgbClr val="252525"/>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 / OUR ANSWER</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F4F0E7"/>
                </a:solidFill>
                <a:latin typeface="Montserrat Black" pitchFamily="34" charset="0"/>
                <a:ea typeface="Montserrat Black" pitchFamily="34" charset="-122"/>
                <a:cs typeface="Montserrat Black" pitchFamily="34" charset="-120"/>
              </a:rPr>
              <a:t>So—why did they diverge?</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Because countries built productive capabilities at different speeds, from different starting points.</a:t>
            </a:r>
            <a:endParaRPr lang="en-US" sz="1100" dirty="0"/>
          </a:p>
        </p:txBody>
      </p:sp>
      <p:sp>
        <p:nvSpPr>
          <p:cNvPr id="6" name="Text 4"/>
          <p:cNvSpPr/>
          <p:nvPr/>
        </p:nvSpPr>
        <p:spPr>
          <a:xfrm>
            <a:off x="457200" y="9131300"/>
            <a:ext cx="6642100" cy="457200"/>
          </a:xfrm>
          <a:prstGeom prst="rect">
            <a:avLst/>
          </a:prstGeom>
          <a:noFill/>
          <a:ln/>
        </p:spPr>
        <p:txBody>
          <a:bodyPr wrap="square" lIns="0" tIns="0" rIns="0" bIns="0" rtlCol="0" anchor="t"/>
          <a:lstStyle/>
          <a:p>
            <a:pPr indent="0" marL="0">
              <a:lnSpc>
                <a:spcPct val="112000"/>
              </a:lnSpc>
              <a:buNone/>
            </a:pPr>
            <a:r>
              <a:rPr lang="en-US" sz="850" dirty="0">
                <a:solidFill>
                  <a:srgbClr val="F4F0E7"/>
                </a:solidFill>
                <a:latin typeface="Montserrat" pitchFamily="34" charset="0"/>
                <a:ea typeface="Montserrat" pitchFamily="34" charset="-122"/>
                <a:cs typeface="Montserrat" pitchFamily="34" charset="-120"/>
              </a:rPr>
              <a:t>This is a bounded explanation, not a ranking of causes. Trust remains inconclusive; neither cultural scores nor two-country correlations establish causation.</a:t>
            </a:r>
            <a:endParaRPr lang="en-US" sz="850" dirty="0"/>
          </a:p>
        </p:txBody>
      </p:sp>
      <p:sp>
        <p:nvSpPr>
          <p:cNvPr id="7" name="Shape 5"/>
          <p:cNvSpPr/>
          <p:nvPr/>
        </p:nvSpPr>
        <p:spPr>
          <a:xfrm>
            <a:off x="457200" y="9698990"/>
            <a:ext cx="6642100" cy="7620"/>
          </a:xfrm>
          <a:prstGeom prst="rect">
            <a:avLst/>
          </a:prstGeom>
          <a:solidFill>
            <a:srgbClr val="B7B0A4"/>
          </a:solidFill>
          <a:ln w="12700">
            <a:solidFill>
              <a:srgbClr val="B7B0A4"/>
            </a:solidFill>
            <a:prstDash val="solid"/>
          </a:ln>
        </p:spPr>
      </p:sp>
      <p:sp>
        <p:nvSpPr>
          <p:cNvPr id="8" name="Text 6"/>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F4F0E7"/>
                </a:solidFill>
                <a:latin typeface="Montserrat" pitchFamily="34" charset="0"/>
                <a:ea typeface="Montserrat" pitchFamily="34" charset="-122"/>
                <a:cs typeface="Montserrat" pitchFamily="34" charset="-120"/>
              </a:rPr>
              <a:t>Synthesis: World Bank (1993, pp. 4–7, 20–26, 79–80, 127–130, 159–161); World Bank (2020, pp. 1, 5–7, 32–33, Box 2 pp. 44–47); Maipose (2008, pp. 3–5, 8–11); Svirydzenka and Petri (2014, pp. 5–8); Hofstede (2011, pp. 6–8, 9–16).</a:t>
            </a:r>
            <a:endParaRPr lang="en-US" sz="800" dirty="0"/>
          </a:p>
        </p:txBody>
      </p:sp>
      <p:sp>
        <p:nvSpPr>
          <p:cNvPr id="9" name="Text 7"/>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F4F0E7"/>
                </a:solidFill>
                <a:latin typeface="Montserrat" pitchFamily="34" charset="0"/>
                <a:ea typeface="Montserrat" pitchFamily="34" charset="-122"/>
                <a:cs typeface="Montserrat" pitchFamily="34" charset="-120"/>
              </a:rPr>
              <a:t>AFRICA &amp; ASIA</a:t>
            </a:r>
            <a:endParaRPr lang="en-US" sz="800" dirty="0"/>
          </a:p>
        </p:txBody>
      </p:sp>
      <p:sp>
        <p:nvSpPr>
          <p:cNvPr id="10" name="Text 8"/>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F4F0E7"/>
                </a:solidFill>
                <a:latin typeface="Montserrat" pitchFamily="34" charset="0"/>
                <a:ea typeface="Montserrat" pitchFamily="34" charset="-122"/>
                <a:cs typeface="Montserrat" pitchFamily="34" charset="-120"/>
              </a:rPr>
              <a:t>26</a:t>
            </a:r>
            <a:endParaRPr lang="en-US" sz="1000" dirty="0"/>
          </a:p>
        </p:txBody>
      </p:sp>
      <p:sp>
        <p:nvSpPr>
          <p:cNvPr id="11" name="Text 9"/>
          <p:cNvSpPr/>
          <p:nvPr/>
        </p:nvSpPr>
        <p:spPr>
          <a:xfrm>
            <a:off x="457200" y="3111500"/>
            <a:ext cx="6642100" cy="1104900"/>
          </a:xfrm>
          <a:prstGeom prst="rect">
            <a:avLst/>
          </a:prstGeom>
          <a:noFill/>
          <a:ln/>
        </p:spPr>
        <p:txBody>
          <a:bodyPr wrap="square" lIns="0" tIns="0" rIns="0" bIns="0" rtlCol="0" anchor="t"/>
          <a:lstStyle/>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The key was not just having more.</a:t>
            </a:r>
            <a:endParaRPr lang="en-US" sz="2800" dirty="0"/>
          </a:p>
          <a:p>
            <a:pPr indent="0" marL="0">
              <a:lnSpc>
                <a:spcPct val="112000"/>
              </a:lnSpc>
              <a:buNone/>
            </a:pPr>
            <a:r>
              <a:rPr lang="en-US" sz="2800" b="1" dirty="0">
                <a:solidFill>
                  <a:srgbClr val="F4F0E7"/>
                </a:solidFill>
                <a:latin typeface="Alegreya" pitchFamily="34" charset="0"/>
                <a:ea typeface="Alegreya" pitchFamily="34" charset="-122"/>
                <a:cs typeface="Alegreya" pitchFamily="34" charset="-120"/>
              </a:rPr>
              <a:t>It was learning to do more.</a:t>
            </a:r>
            <a:endParaRPr lang="en-US" sz="2800" dirty="0"/>
          </a:p>
        </p:txBody>
      </p:sp>
      <p:sp>
        <p:nvSpPr>
          <p:cNvPr id="12" name="Text 10"/>
          <p:cNvSpPr/>
          <p:nvPr/>
        </p:nvSpPr>
        <p:spPr>
          <a:xfrm>
            <a:off x="457200" y="4445000"/>
            <a:ext cx="6642100" cy="3175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Skills → better production</a:t>
            </a:r>
            <a:endParaRPr lang="en-US" sz="1600" dirty="0"/>
          </a:p>
        </p:txBody>
      </p:sp>
      <p:sp>
        <p:nvSpPr>
          <p:cNvPr id="13" name="Text 11"/>
          <p:cNvSpPr/>
          <p:nvPr/>
        </p:nvSpPr>
        <p:spPr>
          <a:xfrm>
            <a:off x="457200" y="4826000"/>
            <a:ext cx="6642100" cy="4064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Education helps when workers and firms can apply it.</a:t>
            </a:r>
            <a:endParaRPr lang="en-US" sz="1100" dirty="0"/>
          </a:p>
        </p:txBody>
      </p:sp>
      <p:sp>
        <p:nvSpPr>
          <p:cNvPr id="14" name="Text 12"/>
          <p:cNvSpPr/>
          <p:nvPr/>
        </p:nvSpPr>
        <p:spPr>
          <a:xfrm>
            <a:off x="457200" y="5321300"/>
            <a:ext cx="6642100" cy="3175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Connections → wider opportunities</a:t>
            </a:r>
            <a:endParaRPr lang="en-US" sz="1600" dirty="0"/>
          </a:p>
        </p:txBody>
      </p:sp>
      <p:sp>
        <p:nvSpPr>
          <p:cNvPr id="15" name="Text 13"/>
          <p:cNvSpPr/>
          <p:nvPr/>
        </p:nvSpPr>
        <p:spPr>
          <a:xfrm>
            <a:off x="457200" y="5702300"/>
            <a:ext cx="6642100" cy="4064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Transport and power matter when they link workers, suppliers and markets.</a:t>
            </a:r>
            <a:endParaRPr lang="en-US" sz="1100" dirty="0"/>
          </a:p>
        </p:txBody>
      </p:sp>
      <p:sp>
        <p:nvSpPr>
          <p:cNvPr id="16" name="Text 14"/>
          <p:cNvSpPr/>
          <p:nvPr/>
        </p:nvSpPr>
        <p:spPr>
          <a:xfrm>
            <a:off x="457200" y="6197600"/>
            <a:ext cx="6642100" cy="3175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Policy → learning and correction</a:t>
            </a:r>
            <a:endParaRPr lang="en-US" sz="1600" dirty="0"/>
          </a:p>
        </p:txBody>
      </p:sp>
      <p:sp>
        <p:nvSpPr>
          <p:cNvPr id="17" name="Text 15"/>
          <p:cNvSpPr/>
          <p:nvPr/>
        </p:nvSpPr>
        <p:spPr>
          <a:xfrm>
            <a:off x="457200" y="6578600"/>
            <a:ext cx="6642100" cy="4064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Investment needs time; poor results must trigger change, not permanent protection.</a:t>
            </a:r>
            <a:endParaRPr lang="en-US" sz="1100" dirty="0"/>
          </a:p>
        </p:txBody>
      </p:sp>
      <p:sp>
        <p:nvSpPr>
          <p:cNvPr id="18" name="Text 16"/>
          <p:cNvSpPr/>
          <p:nvPr/>
        </p:nvSpPr>
        <p:spPr>
          <a:xfrm>
            <a:off x="457200" y="7073900"/>
            <a:ext cx="6642100" cy="317500"/>
          </a:xfrm>
          <a:prstGeom prst="rect">
            <a:avLst/>
          </a:prstGeom>
          <a:noFill/>
          <a:ln/>
        </p:spPr>
        <p:txBody>
          <a:bodyPr wrap="square" lIns="0" tIns="0" rIns="0" bIns="0" rtlCol="0" anchor="t"/>
          <a:lstStyle/>
          <a:p>
            <a:pPr indent="0" marL="0">
              <a:lnSpc>
                <a:spcPct val="112000"/>
              </a:lnSpc>
              <a:buNone/>
            </a:pPr>
            <a:r>
              <a:rPr lang="en-US" sz="1600" b="1" dirty="0">
                <a:solidFill>
                  <a:srgbClr val="F4F0E7"/>
                </a:solidFill>
                <a:latin typeface="Montserrat" pitchFamily="34" charset="0"/>
                <a:ea typeface="Montserrat" pitchFamily="34" charset="-122"/>
                <a:cs typeface="Montserrat" pitchFamily="34" charset="-120"/>
              </a:rPr>
              <a:t>Exports → a test, not a guarantee</a:t>
            </a:r>
            <a:endParaRPr lang="en-US" sz="1600" dirty="0"/>
          </a:p>
        </p:txBody>
      </p:sp>
      <p:sp>
        <p:nvSpPr>
          <p:cNvPr id="19" name="Text 17"/>
          <p:cNvSpPr/>
          <p:nvPr/>
        </p:nvSpPr>
        <p:spPr>
          <a:xfrm>
            <a:off x="457200" y="7454900"/>
            <a:ext cx="6642100" cy="4064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World markets offer scale and feedback. Local skills and suppliers do not grow automatically.</a:t>
            </a:r>
            <a:endParaRPr lang="en-US" sz="1100" dirty="0"/>
          </a:p>
        </p:txBody>
      </p:sp>
      <p:sp>
        <p:nvSpPr>
          <p:cNvPr id="20" name="Text 18"/>
          <p:cNvSpPr/>
          <p:nvPr/>
        </p:nvSpPr>
        <p:spPr>
          <a:xfrm>
            <a:off x="457200" y="8001000"/>
            <a:ext cx="6642100" cy="1066800"/>
          </a:xfrm>
          <a:prstGeom prst="rect">
            <a:avLst/>
          </a:prstGeom>
          <a:noFill/>
          <a:ln/>
        </p:spPr>
        <p:txBody>
          <a:bodyPr wrap="square" lIns="0" tIns="0" rIns="0" bIns="0" rtlCol="0" anchor="t"/>
          <a:lstStyle/>
          <a:p>
            <a:pPr indent="0" marL="0">
              <a:lnSpc>
                <a:spcPct val="112000"/>
              </a:lnSpc>
              <a:buNone/>
            </a:pPr>
            <a:r>
              <a:rPr lang="en-US" sz="1100" dirty="0">
                <a:solidFill>
                  <a:srgbClr val="F4F0E7"/>
                </a:solidFill>
                <a:latin typeface="Montserrat" pitchFamily="34" charset="0"/>
                <a:ea typeface="Montserrat" pitchFamily="34" charset="-122"/>
                <a:cs typeface="Montserrat" pitchFamily="34" charset="-120"/>
              </a:rPr>
              <a:t>History, resources, institutions and international conditions shaped which links could work. Korea and Ghana differed in industrial deepening; Botswana and Mauritius show other African paths; Malaysia and the Philippines show different Asian paths. Culture may shape cooperation and authority, but it is not enough on its own.</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SOURCES + COLOPHON</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Sources. Credits. What remains open.</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Complete editorial draft — final evidence, rights and physical-print checks pending.</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Data: World Bank WDI / ILO modelled employment. Map: Natural Earth 1:110m Admin 0 Countries v5.1.1, public domain. Full image credits: p. 28.</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27</a:t>
            </a:r>
            <a:endParaRPr lang="en-US" sz="1000" dirty="0"/>
          </a:p>
        </p:txBody>
      </p:sp>
      <p:sp>
        <p:nvSpPr>
          <p:cNvPr id="10" name="Text 8">
            <a:hlinkClick r:id="rId1" tooltip=""/>
          </p:cNvPr>
          <p:cNvSpPr/>
          <p:nvPr/>
        </p:nvSpPr>
        <p:spPr>
          <a:xfrm>
            <a:off x="457200" y="317500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World Bank. (2026). World Development Indicators [Data set]. Retrieved October 6, 2026, from</a:t>
            </a:r>
            <a:endParaRPr lang="en-US" sz="850" dirty="0"/>
          </a:p>
        </p:txBody>
      </p:sp>
      <p:sp>
        <p:nvSpPr>
          <p:cNvPr id="11" name="Text 9">
            <a:hlinkClick r:id="rId2" tooltip=""/>
          </p:cNvPr>
          <p:cNvSpPr/>
          <p:nvPr/>
        </p:nvSpPr>
        <p:spPr>
          <a:xfrm>
            <a:off x="457200" y="345821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 Bank. (1993). The East Asian miracle: Economic growth and public policy. Oxford University Press.</a:t>
            </a:r>
            <a:endParaRPr lang="en-US" sz="850" dirty="0"/>
          </a:p>
        </p:txBody>
      </p:sp>
      <p:sp>
        <p:nvSpPr>
          <p:cNvPr id="12" name="Text 10">
            <a:hlinkClick r:id="rId3" tooltip=""/>
          </p:cNvPr>
          <p:cNvSpPr/>
          <p:nvPr/>
        </p:nvSpPr>
        <p:spPr>
          <a:xfrm>
            <a:off x="457200" y="374142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World Bank. (2020). Structural transformation and labor market performance in Ghana.</a:t>
            </a:r>
            <a:endParaRPr lang="en-US" sz="850" dirty="0"/>
          </a:p>
        </p:txBody>
      </p:sp>
      <p:sp>
        <p:nvSpPr>
          <p:cNvPr id="13" name="Text 11">
            <a:hlinkClick r:id="rId4" tooltip=""/>
          </p:cNvPr>
          <p:cNvSpPr/>
          <p:nvPr/>
        </p:nvSpPr>
        <p:spPr>
          <a:xfrm>
            <a:off x="457200" y="402463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World Bank. (1985). Ghana: Industrial policy, performance and recovery (Report No. 5716-GH).</a:t>
            </a:r>
            <a:endParaRPr lang="en-US" sz="850" dirty="0"/>
          </a:p>
        </p:txBody>
      </p:sp>
      <p:sp>
        <p:nvSpPr>
          <p:cNvPr id="14" name="Text 12">
            <a:hlinkClick r:id="rId5" tooltip=""/>
          </p:cNvPr>
          <p:cNvSpPr/>
          <p:nvPr/>
        </p:nvSpPr>
        <p:spPr>
          <a:xfrm>
            <a:off x="457200" y="430784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Maipose, G. S. (2008). Policy and institutional dynamics of sustained development in Botswana (Commission on Growth and Development Working Paper No. 35). World Bank.</a:t>
            </a:r>
            <a:endParaRPr lang="en-US" sz="850" dirty="0"/>
          </a:p>
        </p:txBody>
      </p:sp>
      <p:sp>
        <p:nvSpPr>
          <p:cNvPr id="15" name="Text 13">
            <a:hlinkClick r:id="rId6" tooltip=""/>
          </p:cNvPr>
          <p:cNvSpPr/>
          <p:nvPr/>
        </p:nvSpPr>
        <p:spPr>
          <a:xfrm>
            <a:off x="457200" y="472186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Svirydzenka, K., &amp; Petri, M. (2014). Mauritius: The drivers of growth-Can the past be extended? (IMF Working Paper No. 14/134). International Monetary Fund.</a:t>
            </a:r>
            <a:endParaRPr lang="en-US" sz="850" dirty="0"/>
          </a:p>
        </p:txBody>
      </p:sp>
      <p:sp>
        <p:nvSpPr>
          <p:cNvPr id="16" name="Text 14">
            <a:hlinkClick r:id="rId7" tooltip=""/>
          </p:cNvPr>
          <p:cNvSpPr/>
          <p:nvPr/>
        </p:nvSpPr>
        <p:spPr>
          <a:xfrm>
            <a:off x="457200" y="513588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Jedwab, R., &amp; Moradi, A. (2012). Colonial investments and long-term development in Africa: Evidence from Ghanaian railways [Working paper]. Northeast Universities Development Consortium.</a:t>
            </a:r>
            <a:endParaRPr lang="en-US" sz="850" dirty="0"/>
          </a:p>
        </p:txBody>
      </p:sp>
      <p:sp>
        <p:nvSpPr>
          <p:cNvPr id="17" name="Text 15">
            <a:hlinkClick r:id="rId8" tooltip=""/>
          </p:cNvPr>
          <p:cNvSpPr/>
          <p:nvPr/>
        </p:nvSpPr>
        <p:spPr>
          <a:xfrm>
            <a:off x="457200" y="554990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Hofstede, G. (2011). Dimensionalizing cultures: The Hofstede model in context. Online Readings in Psychology and Culture, 2(1), Article 8.</a:t>
            </a:r>
            <a:endParaRPr lang="en-US" sz="850" dirty="0"/>
          </a:p>
        </p:txBody>
      </p:sp>
      <p:sp>
        <p:nvSpPr>
          <p:cNvPr id="18" name="Text 16">
            <a:hlinkClick r:id="rId9" tooltip=""/>
          </p:cNvPr>
          <p:cNvSpPr/>
          <p:nvPr/>
        </p:nvSpPr>
        <p:spPr>
          <a:xfrm>
            <a:off x="457200" y="5963920"/>
            <a:ext cx="6642100" cy="36322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McSweeney, B. (2002). Hofstede's model of national cultural differences and their consequences: A triumph of faith—a failure of analysis. Human Relations, 55(1), 89–118.</a:t>
            </a:r>
            <a:endParaRPr lang="en-US" sz="850" dirty="0"/>
          </a:p>
        </p:txBody>
      </p:sp>
      <p:sp>
        <p:nvSpPr>
          <p:cNvPr id="19" name="Text 17">
            <a:hlinkClick r:id="rId10" tooltip=""/>
          </p:cNvPr>
          <p:cNvSpPr/>
          <p:nvPr/>
        </p:nvSpPr>
        <p:spPr>
          <a:xfrm>
            <a:off x="457200" y="6377940"/>
            <a:ext cx="6642100" cy="232410"/>
          </a:xfrm>
          <a:prstGeom prst="rect">
            <a:avLst/>
          </a:prstGeom>
          <a:noFill/>
          <a:ln/>
        </p:spPr>
        <p:txBody>
          <a:bodyPr wrap="square" lIns="0" tIns="0" rIns="0" bIns="0" rtlCol="0" anchor="t"/>
          <a:lstStyle/>
          <a:p>
            <a:pPr indent="0" marL="0">
              <a:lnSpc>
                <a:spcPct val="112000"/>
              </a:lnSpc>
              <a:buNone/>
            </a:pPr>
            <a:r>
              <a:rPr lang="en-US" sz="850" u="sng" dirty="0">
                <a:solidFill>
                  <a:srgbClr val="252525"/>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Organisation for Economic Co-operation and Development. (2017). OECD guidelines on measuring trust. OECD Publishing.</a:t>
            </a:r>
            <a:endParaRPr lang="en-US" sz="850" dirty="0"/>
          </a:p>
        </p:txBody>
      </p:sp>
      <p:sp>
        <p:nvSpPr>
          <p:cNvPr id="20" name="Text 18"/>
          <p:cNvSpPr/>
          <p:nvPr/>
        </p:nvSpPr>
        <p:spPr>
          <a:xfrm>
            <a:off x="457200" y="8255000"/>
            <a:ext cx="6642100" cy="596900"/>
          </a:xfrm>
          <a:prstGeom prst="rect">
            <a:avLst/>
          </a:prstGeom>
          <a:noFill/>
          <a:ln/>
        </p:spPr>
        <p:txBody>
          <a:bodyPr wrap="square" lIns="0" tIns="0" rIns="0" bIns="0" rtlCol="0" anchor="t"/>
          <a:lstStyle/>
          <a:p>
            <a:pPr indent="0" marL="0">
              <a:lnSpc>
                <a:spcPct val="112000"/>
              </a:lnSpc>
              <a:buNone/>
            </a:pPr>
            <a:r>
              <a:rPr lang="en-US" sz="950" dirty="0">
                <a:solidFill>
                  <a:srgbClr val="252525"/>
                </a:solidFill>
                <a:latin typeface="Montserrat" pitchFamily="34" charset="0"/>
                <a:ea typeface="Montserrat" pitchFamily="34" charset="-122"/>
                <a:cs typeface="Montserrat" pitchFamily="34" charset="-120"/>
              </a:rPr>
              <a:t>Still to check: final citations and rights; A4 print, colour and classroom readability. Historical 1914 map remains withheld pending verified artwork and original legend.</a:t>
            </a:r>
            <a:endParaRPr lang="en-US" sz="950" dirty="0"/>
          </a:p>
        </p:txBody>
      </p:sp>
      <p:sp>
        <p:nvSpPr>
          <p:cNvPr id="21" name="Text 19"/>
          <p:cNvSpPr/>
          <p:nvPr/>
        </p:nvSpPr>
        <p:spPr>
          <a:xfrm>
            <a:off x="457200" y="8991600"/>
            <a:ext cx="6642100" cy="482600"/>
          </a:xfrm>
          <a:prstGeom prst="rect">
            <a:avLst/>
          </a:prstGeom>
          <a:noFill/>
          <a:ln/>
        </p:spPr>
        <p:txBody>
          <a:bodyPr wrap="square" lIns="0" tIns="0" rIns="0" bIns="0" rtlCol="0" anchor="t"/>
          <a:lstStyle/>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TEAM NAME: [TO BE CONFIRMED]</a:t>
            </a:r>
            <a:endParaRPr lang="en-US" sz="950" dirty="0"/>
          </a:p>
          <a:p>
            <a:pPr indent="0" marL="0">
              <a:lnSpc>
                <a:spcPct val="112000"/>
              </a:lnSpc>
              <a:buNone/>
            </a:pPr>
            <a:r>
              <a:rPr lang="en-US" sz="950" b="1" dirty="0">
                <a:solidFill>
                  <a:srgbClr val="252525"/>
                </a:solidFill>
                <a:latin typeface="Montserrat" pitchFamily="34" charset="0"/>
                <a:ea typeface="Montserrat" pitchFamily="34" charset="-122"/>
                <a:cs typeface="Montserrat" pitchFamily="34" charset="-120"/>
              </a:rPr>
              <a:t>Complete source appendix: [LINK / QR PLACEHOLDER]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0E7"/>
        </a:solidFill>
      </p:bgPr>
    </p:bg>
    <p:spTree>
      <p:nvGrpSpPr>
        <p:cNvPr id="1" name=""/>
        <p:cNvGrpSpPr/>
        <p:nvPr/>
      </p:nvGrpSpPr>
      <p:grpSpPr>
        <a:xfrm>
          <a:off x="0" y="0"/>
          <a:ext cx="0" cy="0"/>
          <a:chOff x="0" y="0"/>
          <a:chExt cx="0" cy="0"/>
        </a:xfrm>
      </p:grpSpPr>
      <p:sp>
        <p:nvSpPr>
          <p:cNvPr id="2" name="Shape 0"/>
          <p:cNvSpPr/>
          <p:nvPr/>
        </p:nvSpPr>
        <p:spPr>
          <a:xfrm>
            <a:off x="0" y="0"/>
            <a:ext cx="7560005" cy="2895600"/>
          </a:xfrm>
          <a:prstGeom prst="rect">
            <a:avLst/>
          </a:prstGeom>
          <a:solidFill>
            <a:srgbClr val="F4F0E7"/>
          </a:solidFill>
          <a:ln w="12700">
            <a:solidFill>
              <a:srgbClr val="F4F0E7"/>
            </a:solidFill>
            <a:prstDash val="solid"/>
          </a:ln>
        </p:spPr>
      </p:sp>
      <p:sp>
        <p:nvSpPr>
          <p:cNvPr id="3" name="Text 1"/>
          <p:cNvSpPr/>
          <p:nvPr/>
        </p:nvSpPr>
        <p:spPr>
          <a:xfrm>
            <a:off x="457200" y="279400"/>
            <a:ext cx="6642100" cy="190500"/>
          </a:xfrm>
          <a:prstGeom prst="rect">
            <a:avLst/>
          </a:prstGeom>
          <a:noFill/>
          <a:ln/>
        </p:spPr>
        <p:txBody>
          <a:bodyPr wrap="square" lIns="0" tIns="0" rIns="0" bIns="0" rtlCol="0" anchor="t"/>
          <a:lstStyle/>
          <a:p>
            <a:pPr indent="0" marL="0">
              <a:lnSpc>
                <a:spcPct val="112000"/>
              </a:lnSpc>
              <a:buNone/>
            </a:pPr>
            <a:r>
              <a:rPr lang="en-US" sz="800" b="1" dirty="0">
                <a:solidFill>
                  <a:srgbClr val="252525"/>
                </a:solidFill>
                <a:latin typeface="Montserrat" pitchFamily="34" charset="0"/>
                <a:ea typeface="Montserrat" pitchFamily="34" charset="-122"/>
                <a:cs typeface="Montserrat" pitchFamily="34" charset="-120"/>
              </a:rPr>
              <a:t>AFRICA &amp; ASIA / CREDITS</a:t>
            </a:r>
            <a:endParaRPr lang="en-US" sz="800" dirty="0"/>
          </a:p>
        </p:txBody>
      </p:sp>
      <p:sp>
        <p:nvSpPr>
          <p:cNvPr id="4" name="Text 2"/>
          <p:cNvSpPr/>
          <p:nvPr/>
        </p:nvSpPr>
        <p:spPr>
          <a:xfrm>
            <a:off x="457200" y="723900"/>
            <a:ext cx="6642100" cy="1244600"/>
          </a:xfrm>
          <a:prstGeom prst="rect">
            <a:avLst/>
          </a:prstGeom>
          <a:noFill/>
          <a:ln/>
        </p:spPr>
        <p:txBody>
          <a:bodyPr wrap="square" lIns="0" tIns="0" rIns="0" bIns="0" rtlCol="0" anchor="t"/>
          <a:lstStyle/>
          <a:p>
            <a:pPr indent="0" marL="0">
              <a:lnSpc>
                <a:spcPct val="112000"/>
              </a:lnSpc>
              <a:buNone/>
            </a:pPr>
            <a:r>
              <a:rPr lang="en-US" sz="3900" b="1" dirty="0">
                <a:solidFill>
                  <a:srgbClr val="252525"/>
                </a:solidFill>
                <a:latin typeface="Montserrat Black" pitchFamily="34" charset="0"/>
                <a:ea typeface="Montserrat Black" pitchFamily="34" charset="-122"/>
                <a:cs typeface="Montserrat Black" pitchFamily="34" charset="-120"/>
              </a:rPr>
              <a:t>The people behind the pictures.</a:t>
            </a:r>
            <a:endParaRPr lang="en-US" sz="3900" dirty="0"/>
          </a:p>
        </p:txBody>
      </p:sp>
      <p:sp>
        <p:nvSpPr>
          <p:cNvPr id="5" name="Text 3"/>
          <p:cNvSpPr/>
          <p:nvPr/>
        </p:nvSpPr>
        <p:spPr>
          <a:xfrm>
            <a:off x="457200" y="2006600"/>
            <a:ext cx="6642100" cy="609600"/>
          </a:xfrm>
          <a:prstGeom prst="rect">
            <a:avLst/>
          </a:prstGeom>
          <a:noFill/>
          <a:ln/>
        </p:spPr>
        <p:txBody>
          <a:bodyPr wrap="square" lIns="0" tIns="0" rIns="0" bIns="0" rtlCol="0" anchor="t"/>
          <a:lstStyle/>
          <a:p>
            <a:pPr indent="0" marL="0">
              <a:lnSpc>
                <a:spcPct val="112000"/>
              </a:lnSpc>
              <a:buNone/>
            </a:pPr>
            <a:r>
              <a:rPr lang="en-US" sz="1100" dirty="0">
                <a:solidFill>
                  <a:srgbClr val="252525"/>
                </a:solidFill>
                <a:latin typeface="Montserrat" pitchFamily="34" charset="0"/>
                <a:ea typeface="Montserrat" pitchFamily="34" charset="-122"/>
                <a:cs typeface="Montserrat" pitchFamily="34" charset="-120"/>
              </a:rPr>
              <a:t>Twelve country-specific photographs. Images give context—not proof of culture, trust or growth.</a:t>
            </a:r>
            <a:endParaRPr lang="en-US" sz="1100" dirty="0"/>
          </a:p>
        </p:txBody>
      </p:sp>
      <p:sp>
        <p:nvSpPr>
          <p:cNvPr id="6" name="Shape 4"/>
          <p:cNvSpPr/>
          <p:nvPr/>
        </p:nvSpPr>
        <p:spPr>
          <a:xfrm>
            <a:off x="457200" y="9698990"/>
            <a:ext cx="6642100" cy="7620"/>
          </a:xfrm>
          <a:prstGeom prst="rect">
            <a:avLst/>
          </a:prstGeom>
          <a:solidFill>
            <a:srgbClr val="B7B0A4"/>
          </a:solidFill>
          <a:ln w="12700">
            <a:solidFill>
              <a:srgbClr val="B7B0A4"/>
            </a:solidFill>
            <a:prstDash val="solid"/>
          </a:ln>
        </p:spPr>
      </p:sp>
      <p:sp>
        <p:nvSpPr>
          <p:cNvPr id="7" name="Text 5"/>
          <p:cNvSpPr/>
          <p:nvPr/>
        </p:nvSpPr>
        <p:spPr>
          <a:xfrm>
            <a:off x="457200" y="9855200"/>
            <a:ext cx="6642100" cy="508000"/>
          </a:xfrm>
          <a:prstGeom prst="rect">
            <a:avLst/>
          </a:prstGeom>
          <a:noFill/>
          <a:ln/>
        </p:spPr>
        <p:txBody>
          <a:bodyPr wrap="square" lIns="0" tIns="0" rIns="0" bIns="0" rtlCol="0" anchor="t"/>
          <a:lstStyle/>
          <a:p>
            <a:pPr indent="0" marL="0">
              <a:lnSpc>
                <a:spcPct val="112000"/>
              </a:lnSpc>
              <a:buNone/>
            </a:pPr>
            <a:r>
              <a:rPr lang="en-US" sz="800" dirty="0">
                <a:solidFill>
                  <a:srgbClr val="514E48"/>
                </a:solidFill>
                <a:latin typeface="Montserrat" pitchFamily="34" charset="0"/>
                <a:ea typeface="Montserrat" pitchFamily="34" charset="-122"/>
                <a:cs typeface="Montserrat" pitchFamily="34" charset="-120"/>
              </a:rPr>
              <a:t>All photographs resized only, without cropping or content changes. Source-page and licence links are attached below. Check the licence terms before reusing or changing an image.</a:t>
            </a:r>
            <a:endParaRPr lang="en-US" sz="800" dirty="0"/>
          </a:p>
        </p:txBody>
      </p:sp>
      <p:sp>
        <p:nvSpPr>
          <p:cNvPr id="8" name="Text 6"/>
          <p:cNvSpPr/>
          <p:nvPr/>
        </p:nvSpPr>
        <p:spPr>
          <a:xfrm>
            <a:off x="457200" y="10464800"/>
            <a:ext cx="5461000" cy="152400"/>
          </a:xfrm>
          <a:prstGeom prst="rect">
            <a:avLst/>
          </a:prstGeom>
          <a:noFill/>
          <a:ln/>
        </p:spPr>
        <p:txBody>
          <a:bodyPr wrap="square" lIns="0" tIns="0" rIns="0" bIns="0" rtlCol="0" anchor="t"/>
          <a:lstStyle/>
          <a:p>
            <a:pPr indent="0" marL="0">
              <a:lnSpc>
                <a:spcPct val="112000"/>
              </a:lnSpc>
              <a:buNone/>
            </a:pPr>
            <a:r>
              <a:rPr lang="en-US" sz="800" b="1" dirty="0">
                <a:solidFill>
                  <a:srgbClr val="514E48"/>
                </a:solidFill>
                <a:latin typeface="Montserrat" pitchFamily="34" charset="0"/>
                <a:ea typeface="Montserrat" pitchFamily="34" charset="-122"/>
                <a:cs typeface="Montserrat" pitchFamily="34" charset="-120"/>
              </a:rPr>
              <a:t>AFRICA &amp; ASIA</a:t>
            </a:r>
            <a:endParaRPr lang="en-US" sz="800" dirty="0"/>
          </a:p>
        </p:txBody>
      </p:sp>
      <p:sp>
        <p:nvSpPr>
          <p:cNvPr id="9" name="Text 7"/>
          <p:cNvSpPr/>
          <p:nvPr/>
        </p:nvSpPr>
        <p:spPr>
          <a:xfrm>
            <a:off x="6642100" y="10414000"/>
            <a:ext cx="457200" cy="228600"/>
          </a:xfrm>
          <a:prstGeom prst="rect">
            <a:avLst/>
          </a:prstGeom>
          <a:noFill/>
          <a:ln/>
        </p:spPr>
        <p:txBody>
          <a:bodyPr wrap="square" lIns="0" tIns="0" rIns="0" bIns="0" rtlCol="0" anchor="t"/>
          <a:lstStyle/>
          <a:p>
            <a:pPr algn="r" indent="0" marL="0">
              <a:lnSpc>
                <a:spcPct val="112000"/>
              </a:lnSpc>
              <a:buNone/>
            </a:pPr>
            <a:r>
              <a:rPr lang="en-US" sz="1000" b="1" dirty="0">
                <a:solidFill>
                  <a:srgbClr val="252525"/>
                </a:solidFill>
                <a:latin typeface="Montserrat" pitchFamily="34" charset="0"/>
                <a:ea typeface="Montserrat" pitchFamily="34" charset="-122"/>
                <a:cs typeface="Montserrat" pitchFamily="34" charset="-120"/>
              </a:rPr>
              <a:t>28</a:t>
            </a:r>
            <a:endParaRPr lang="en-US" sz="1000" dirty="0"/>
          </a:p>
        </p:txBody>
      </p:sp>
      <p:sp>
        <p:nvSpPr>
          <p:cNvPr id="10" name="Shape 8"/>
          <p:cNvSpPr/>
          <p:nvPr/>
        </p:nvSpPr>
        <p:spPr>
          <a:xfrm>
            <a:off x="457200" y="3073400"/>
            <a:ext cx="127000" cy="127000"/>
          </a:xfrm>
          <a:prstGeom prst="ellipse">
            <a:avLst/>
          </a:prstGeom>
          <a:solidFill>
            <a:srgbClr val="B95332"/>
          </a:solidFill>
          <a:ln w="7620">
            <a:solidFill>
              <a:srgbClr val="252525"/>
            </a:solidFill>
            <a:prstDash val="solid"/>
          </a:ln>
        </p:spPr>
      </p:sp>
      <p:sp>
        <p:nvSpPr>
          <p:cNvPr id="11" name="Text 9"/>
          <p:cNvSpPr/>
          <p:nvPr/>
        </p:nvSpPr>
        <p:spPr>
          <a:xfrm>
            <a:off x="711200" y="3022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Ghana</a:t>
            </a:r>
            <a:endParaRPr lang="en-US" sz="1200" dirty="0"/>
          </a:p>
        </p:txBody>
      </p:sp>
      <p:sp>
        <p:nvSpPr>
          <p:cNvPr id="12" name="Text 10"/>
          <p:cNvSpPr/>
          <p:nvPr/>
        </p:nvSpPr>
        <p:spPr>
          <a:xfrm>
            <a:off x="2768600" y="3035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JulianGrayscales (2020-02-08). Tema port · CC BY-SA 4.0.</a:t>
            </a:r>
            <a:endParaRPr lang="en-US" sz="850" dirty="0"/>
          </a:p>
        </p:txBody>
      </p:sp>
      <p:sp>
        <p:nvSpPr>
          <p:cNvPr id="13" name="Text 11"/>
          <p:cNvSpPr/>
          <p:nvPr/>
        </p:nvSpPr>
        <p:spPr>
          <a:xfrm>
            <a:off x="2768600" y="3327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Amuzujoe (2020-11-27). Market Accra · CC BY-SA 4.0.</a:t>
            </a:r>
            <a:endParaRPr lang="en-US" sz="850" dirty="0"/>
          </a:p>
        </p:txBody>
      </p:sp>
      <p:sp>
        <p:nvSpPr>
          <p:cNvPr id="14" name="Text 12">
            <a:hlinkClick r:id="rId1" tooltip=""/>
          </p:cNvPr>
          <p:cNvSpPr/>
          <p:nvPr/>
        </p:nvSpPr>
        <p:spPr>
          <a:xfrm>
            <a:off x="2768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15" name="Text 13">
            <a:hlinkClick r:id="rId2" tooltip=""/>
          </p:cNvPr>
          <p:cNvSpPr/>
          <p:nvPr/>
        </p:nvSpPr>
        <p:spPr>
          <a:xfrm>
            <a:off x="36322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6" name="Text 14">
            <a:hlinkClick r:id="rId3" tooltip=""/>
          </p:cNvPr>
          <p:cNvSpPr/>
          <p:nvPr/>
        </p:nvSpPr>
        <p:spPr>
          <a:xfrm>
            <a:off x="4546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17" name="Text 15">
            <a:hlinkClick r:id="rId4" tooltip=""/>
          </p:cNvPr>
          <p:cNvSpPr/>
          <p:nvPr/>
        </p:nvSpPr>
        <p:spPr>
          <a:xfrm>
            <a:off x="5435600" y="3619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18" name="Shape 16"/>
          <p:cNvSpPr/>
          <p:nvPr/>
        </p:nvSpPr>
        <p:spPr>
          <a:xfrm>
            <a:off x="457200" y="3831590"/>
            <a:ext cx="6642100" cy="7620"/>
          </a:xfrm>
          <a:prstGeom prst="rect">
            <a:avLst/>
          </a:prstGeom>
          <a:solidFill>
            <a:srgbClr val="B7B0A4"/>
          </a:solidFill>
          <a:ln w="12700">
            <a:solidFill>
              <a:srgbClr val="B7B0A4"/>
            </a:solidFill>
            <a:prstDash val="solid"/>
          </a:ln>
        </p:spPr>
      </p:sp>
      <p:sp>
        <p:nvSpPr>
          <p:cNvPr id="19" name="Shape 17"/>
          <p:cNvSpPr/>
          <p:nvPr/>
        </p:nvSpPr>
        <p:spPr>
          <a:xfrm>
            <a:off x="457200" y="3937000"/>
            <a:ext cx="127000" cy="127000"/>
          </a:xfrm>
          <a:prstGeom prst="rect">
            <a:avLst/>
          </a:prstGeom>
          <a:solidFill>
            <a:srgbClr val="3F684E"/>
          </a:solidFill>
          <a:ln w="7620">
            <a:solidFill>
              <a:srgbClr val="252525"/>
            </a:solidFill>
            <a:prstDash val="solid"/>
          </a:ln>
        </p:spPr>
      </p:sp>
      <p:sp>
        <p:nvSpPr>
          <p:cNvPr id="20" name="Text 18"/>
          <p:cNvSpPr/>
          <p:nvPr/>
        </p:nvSpPr>
        <p:spPr>
          <a:xfrm>
            <a:off x="711200" y="38862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Botswana</a:t>
            </a:r>
            <a:endParaRPr lang="en-US" sz="1200" dirty="0"/>
          </a:p>
        </p:txBody>
      </p:sp>
      <p:sp>
        <p:nvSpPr>
          <p:cNvPr id="21" name="Text 19"/>
          <p:cNvSpPr/>
          <p:nvPr/>
        </p:nvSpPr>
        <p:spPr>
          <a:xfrm>
            <a:off x="2768600" y="38989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Sarvesh Lutchmun (2015-08-06). Bus Terminal in Gaborone, Botswana · CC BY-SA 4.0.</a:t>
            </a:r>
            <a:endParaRPr lang="en-US" sz="850" dirty="0"/>
          </a:p>
        </p:txBody>
      </p:sp>
      <p:sp>
        <p:nvSpPr>
          <p:cNvPr id="22" name="Text 20"/>
          <p:cNvSpPr/>
          <p:nvPr/>
        </p:nvSpPr>
        <p:spPr>
          <a:xfrm>
            <a:off x="2768600" y="41910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Paul tk (2018-09-14). MochudiBotswanaSolarPanel · CC BY-SA 4.0.</a:t>
            </a:r>
            <a:endParaRPr lang="en-US" sz="850" dirty="0"/>
          </a:p>
        </p:txBody>
      </p:sp>
      <p:sp>
        <p:nvSpPr>
          <p:cNvPr id="23" name="Text 21">
            <a:hlinkClick r:id="rId5" tooltip=""/>
          </p:cNvPr>
          <p:cNvSpPr/>
          <p:nvPr/>
        </p:nvSpPr>
        <p:spPr>
          <a:xfrm>
            <a:off x="2768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5"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24" name="Text 22">
            <a:hlinkClick r:id="rId6" tooltip=""/>
          </p:cNvPr>
          <p:cNvSpPr/>
          <p:nvPr/>
        </p:nvSpPr>
        <p:spPr>
          <a:xfrm>
            <a:off x="36322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5" name="Text 23">
            <a:hlinkClick r:id="rId7" tooltip=""/>
          </p:cNvPr>
          <p:cNvSpPr/>
          <p:nvPr/>
        </p:nvSpPr>
        <p:spPr>
          <a:xfrm>
            <a:off x="4546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7"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26" name="Text 24">
            <a:hlinkClick r:id="rId8" tooltip=""/>
          </p:cNvPr>
          <p:cNvSpPr/>
          <p:nvPr/>
        </p:nvSpPr>
        <p:spPr>
          <a:xfrm>
            <a:off x="5435600" y="44831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27" name="Shape 25"/>
          <p:cNvSpPr/>
          <p:nvPr/>
        </p:nvSpPr>
        <p:spPr>
          <a:xfrm>
            <a:off x="457200" y="4695190"/>
            <a:ext cx="6642100" cy="7620"/>
          </a:xfrm>
          <a:prstGeom prst="rect">
            <a:avLst/>
          </a:prstGeom>
          <a:solidFill>
            <a:srgbClr val="B7B0A4"/>
          </a:solidFill>
          <a:ln w="12700">
            <a:solidFill>
              <a:srgbClr val="B7B0A4"/>
            </a:solidFill>
            <a:prstDash val="solid"/>
          </a:ln>
        </p:spPr>
      </p:sp>
      <p:sp>
        <p:nvSpPr>
          <p:cNvPr id="28" name="Shape 26"/>
          <p:cNvSpPr/>
          <p:nvPr/>
        </p:nvSpPr>
        <p:spPr>
          <a:xfrm>
            <a:off x="457200" y="4800600"/>
            <a:ext cx="127000" cy="127000"/>
          </a:xfrm>
          <a:prstGeom prst="triangle">
            <a:avLst/>
          </a:prstGeom>
          <a:solidFill>
            <a:srgbClr val="D6A23A"/>
          </a:solidFill>
          <a:ln w="7620">
            <a:solidFill>
              <a:srgbClr val="252525"/>
            </a:solidFill>
            <a:prstDash val="solid"/>
          </a:ln>
        </p:spPr>
      </p:sp>
      <p:sp>
        <p:nvSpPr>
          <p:cNvPr id="29" name="Text 27"/>
          <p:cNvSpPr/>
          <p:nvPr/>
        </p:nvSpPr>
        <p:spPr>
          <a:xfrm>
            <a:off x="711200" y="47498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Mauritius</a:t>
            </a:r>
            <a:endParaRPr lang="en-US" sz="1200" dirty="0"/>
          </a:p>
        </p:txBody>
      </p:sp>
      <p:sp>
        <p:nvSpPr>
          <p:cNvPr id="30" name="Text 28"/>
          <p:cNvSpPr/>
          <p:nvPr/>
        </p:nvSpPr>
        <p:spPr>
          <a:xfrm>
            <a:off x="2768600" y="47625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Didier Baertschiger (2015-03-09). Mauritius - Port Louis (Central Market) · CC BY-SA 2.0.</a:t>
            </a:r>
            <a:endParaRPr lang="en-US" sz="850" dirty="0"/>
          </a:p>
        </p:txBody>
      </p:sp>
      <p:sp>
        <p:nvSpPr>
          <p:cNvPr id="31" name="Text 29"/>
          <p:cNvSpPr/>
          <p:nvPr/>
        </p:nvSpPr>
        <p:spPr>
          <a:xfrm>
            <a:off x="2768600" y="50546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Richard N Horne (2025-04-03). Port Louis, Mauritius, Bulk Sugar Terminal Quay · CC BY 4.0.</a:t>
            </a:r>
            <a:endParaRPr lang="en-US" sz="850" dirty="0"/>
          </a:p>
        </p:txBody>
      </p:sp>
      <p:sp>
        <p:nvSpPr>
          <p:cNvPr id="32" name="Text 30">
            <a:hlinkClick r:id="rId9" tooltip=""/>
          </p:cNvPr>
          <p:cNvSpPr/>
          <p:nvPr/>
        </p:nvSpPr>
        <p:spPr>
          <a:xfrm>
            <a:off x="2768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9"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33" name="Text 31">
            <a:hlinkClick r:id="rId10" tooltip=""/>
          </p:cNvPr>
          <p:cNvSpPr/>
          <p:nvPr/>
        </p:nvSpPr>
        <p:spPr>
          <a:xfrm>
            <a:off x="36322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4" name="Text 32">
            <a:hlinkClick r:id="rId11" tooltip=""/>
          </p:cNvPr>
          <p:cNvSpPr/>
          <p:nvPr/>
        </p:nvSpPr>
        <p:spPr>
          <a:xfrm>
            <a:off x="4546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35" name="Text 33">
            <a:hlinkClick r:id="rId12" tooltip=""/>
          </p:cNvPr>
          <p:cNvSpPr/>
          <p:nvPr/>
        </p:nvSpPr>
        <p:spPr>
          <a:xfrm>
            <a:off x="5435600" y="53467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36" name="Shape 34"/>
          <p:cNvSpPr/>
          <p:nvPr/>
        </p:nvSpPr>
        <p:spPr>
          <a:xfrm>
            <a:off x="457200" y="5558790"/>
            <a:ext cx="6642100" cy="7620"/>
          </a:xfrm>
          <a:prstGeom prst="rect">
            <a:avLst/>
          </a:prstGeom>
          <a:solidFill>
            <a:srgbClr val="B7B0A4"/>
          </a:solidFill>
          <a:ln w="12700">
            <a:solidFill>
              <a:srgbClr val="B7B0A4"/>
            </a:solidFill>
            <a:prstDash val="solid"/>
          </a:ln>
        </p:spPr>
      </p:sp>
      <p:sp>
        <p:nvSpPr>
          <p:cNvPr id="37" name="Shape 35"/>
          <p:cNvSpPr/>
          <p:nvPr/>
        </p:nvSpPr>
        <p:spPr>
          <a:xfrm>
            <a:off x="457200" y="5664200"/>
            <a:ext cx="127000" cy="127000"/>
          </a:xfrm>
          <a:prstGeom prst="diamond">
            <a:avLst/>
          </a:prstGeom>
          <a:solidFill>
            <a:srgbClr val="315A78"/>
          </a:solidFill>
          <a:ln w="7620">
            <a:solidFill>
              <a:srgbClr val="252525"/>
            </a:solidFill>
            <a:prstDash val="solid"/>
          </a:ln>
        </p:spPr>
      </p:sp>
      <p:sp>
        <p:nvSpPr>
          <p:cNvPr id="38" name="Text 36"/>
          <p:cNvSpPr/>
          <p:nvPr/>
        </p:nvSpPr>
        <p:spPr>
          <a:xfrm>
            <a:off x="711200" y="56134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South Korea</a:t>
            </a:r>
            <a:endParaRPr lang="en-US" sz="1200" dirty="0"/>
          </a:p>
        </p:txBody>
      </p:sp>
      <p:sp>
        <p:nvSpPr>
          <p:cNvPr id="39" name="Text 37"/>
          <p:cNvSpPr/>
          <p:nvPr/>
        </p:nvSpPr>
        <p:spPr>
          <a:xfrm>
            <a:off x="2768600" y="56261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Svwmal (2012-04-08). South Korea Busan harbour · CC BY-SA 3.0.</a:t>
            </a:r>
            <a:endParaRPr lang="en-US" sz="850" dirty="0"/>
          </a:p>
        </p:txBody>
      </p:sp>
      <p:sp>
        <p:nvSpPr>
          <p:cNvPr id="40" name="Text 38"/>
          <p:cNvSpPr/>
          <p:nvPr/>
        </p:nvSpPr>
        <p:spPr>
          <a:xfrm>
            <a:off x="2768600" y="59182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Gaël Chardon (2008-04-21). Korea-Seoul-Gyeongdong Market-01 · CC BY-SA 2.0.</a:t>
            </a:r>
            <a:endParaRPr lang="en-US" sz="850" dirty="0"/>
          </a:p>
        </p:txBody>
      </p:sp>
      <p:sp>
        <p:nvSpPr>
          <p:cNvPr id="41" name="Text 39">
            <a:hlinkClick r:id="rId13" tooltip=""/>
          </p:cNvPr>
          <p:cNvSpPr/>
          <p:nvPr/>
        </p:nvSpPr>
        <p:spPr>
          <a:xfrm>
            <a:off x="2768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42" name="Text 40">
            <a:hlinkClick r:id="rId14" tooltip=""/>
          </p:cNvPr>
          <p:cNvSpPr/>
          <p:nvPr/>
        </p:nvSpPr>
        <p:spPr>
          <a:xfrm>
            <a:off x="36322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3" name="Text 41">
            <a:hlinkClick r:id="rId15" tooltip=""/>
          </p:cNvPr>
          <p:cNvSpPr/>
          <p:nvPr/>
        </p:nvSpPr>
        <p:spPr>
          <a:xfrm>
            <a:off x="4546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44" name="Text 42">
            <a:hlinkClick r:id="rId16" tooltip=""/>
          </p:cNvPr>
          <p:cNvSpPr/>
          <p:nvPr/>
        </p:nvSpPr>
        <p:spPr>
          <a:xfrm>
            <a:off x="5435600" y="62103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45" name="Shape 43"/>
          <p:cNvSpPr/>
          <p:nvPr/>
        </p:nvSpPr>
        <p:spPr>
          <a:xfrm>
            <a:off x="457200" y="6422390"/>
            <a:ext cx="6642100" cy="7620"/>
          </a:xfrm>
          <a:prstGeom prst="rect">
            <a:avLst/>
          </a:prstGeom>
          <a:solidFill>
            <a:srgbClr val="B7B0A4"/>
          </a:solidFill>
          <a:ln w="12700">
            <a:solidFill>
              <a:srgbClr val="B7B0A4"/>
            </a:solidFill>
            <a:prstDash val="solid"/>
          </a:ln>
        </p:spPr>
      </p:sp>
      <p:sp>
        <p:nvSpPr>
          <p:cNvPr id="46" name="Shape 44"/>
          <p:cNvSpPr/>
          <p:nvPr/>
        </p:nvSpPr>
        <p:spPr>
          <a:xfrm>
            <a:off x="457200" y="6527800"/>
            <a:ext cx="127000" cy="127000"/>
          </a:xfrm>
          <a:prstGeom prst="hexagon">
            <a:avLst/>
          </a:prstGeom>
          <a:solidFill>
            <a:srgbClr val="3E7568"/>
          </a:solidFill>
          <a:ln w="7620">
            <a:solidFill>
              <a:srgbClr val="252525"/>
            </a:solidFill>
            <a:prstDash val="solid"/>
          </a:ln>
        </p:spPr>
      </p:sp>
      <p:sp>
        <p:nvSpPr>
          <p:cNvPr id="47" name="Text 45"/>
          <p:cNvSpPr/>
          <p:nvPr/>
        </p:nvSpPr>
        <p:spPr>
          <a:xfrm>
            <a:off x="711200" y="64770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Malaysia</a:t>
            </a:r>
            <a:endParaRPr lang="en-US" sz="1200" dirty="0"/>
          </a:p>
        </p:txBody>
      </p:sp>
      <p:sp>
        <p:nvSpPr>
          <p:cNvPr id="48" name="Text 46"/>
          <p:cNvSpPr/>
          <p:nvPr/>
        </p:nvSpPr>
        <p:spPr>
          <a:xfrm>
            <a:off x="2768600" y="64897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HundenvonPenang (2024-01-27). Perai Industrial Zone, Seberang Perai, Penang · CC BY-SA 4.0.</a:t>
            </a:r>
            <a:endParaRPr lang="en-US" sz="850" dirty="0"/>
          </a:p>
        </p:txBody>
      </p:sp>
      <p:sp>
        <p:nvSpPr>
          <p:cNvPr id="49" name="Text 47"/>
          <p:cNvSpPr/>
          <p:nvPr/>
        </p:nvSpPr>
        <p:spPr>
          <a:xfrm>
            <a:off x="2768600" y="67818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jgmorard (2009-03-01). 090301.020.PortKlang · CC BY 2.0.</a:t>
            </a:r>
            <a:endParaRPr lang="en-US" sz="850" dirty="0"/>
          </a:p>
        </p:txBody>
      </p:sp>
      <p:sp>
        <p:nvSpPr>
          <p:cNvPr id="50" name="Text 48">
            <a:hlinkClick r:id="rId17" tooltip=""/>
          </p:cNvPr>
          <p:cNvSpPr/>
          <p:nvPr/>
        </p:nvSpPr>
        <p:spPr>
          <a:xfrm>
            <a:off x="2768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51" name="Text 49">
            <a:hlinkClick r:id="rId18" tooltip=""/>
          </p:cNvPr>
          <p:cNvSpPr/>
          <p:nvPr/>
        </p:nvSpPr>
        <p:spPr>
          <a:xfrm>
            <a:off x="36322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2" name="Text 50">
            <a:hlinkClick r:id="rId19" tooltip=""/>
          </p:cNvPr>
          <p:cNvSpPr/>
          <p:nvPr/>
        </p:nvSpPr>
        <p:spPr>
          <a:xfrm>
            <a:off x="4546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53" name="Text 51">
            <a:hlinkClick r:id="rId20" tooltip=""/>
          </p:cNvPr>
          <p:cNvSpPr/>
          <p:nvPr/>
        </p:nvSpPr>
        <p:spPr>
          <a:xfrm>
            <a:off x="5435600" y="70739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54" name="Shape 52"/>
          <p:cNvSpPr/>
          <p:nvPr/>
        </p:nvSpPr>
        <p:spPr>
          <a:xfrm>
            <a:off x="457200" y="7285990"/>
            <a:ext cx="6642100" cy="7620"/>
          </a:xfrm>
          <a:prstGeom prst="rect">
            <a:avLst/>
          </a:prstGeom>
          <a:solidFill>
            <a:srgbClr val="B7B0A4"/>
          </a:solidFill>
          <a:ln w="12700">
            <a:solidFill>
              <a:srgbClr val="B7B0A4"/>
            </a:solidFill>
            <a:prstDash val="solid"/>
          </a:ln>
        </p:spPr>
      </p:sp>
      <p:sp>
        <p:nvSpPr>
          <p:cNvPr id="55" name="Shape 53"/>
          <p:cNvSpPr/>
          <p:nvPr/>
        </p:nvSpPr>
        <p:spPr>
          <a:xfrm>
            <a:off x="457200" y="7434580"/>
            <a:ext cx="127000" cy="40640"/>
          </a:xfrm>
          <a:prstGeom prst="rect">
            <a:avLst/>
          </a:prstGeom>
          <a:solidFill>
            <a:srgbClr val="252525"/>
          </a:solidFill>
          <a:ln w="12700">
            <a:solidFill>
              <a:srgbClr val="252525"/>
            </a:solidFill>
            <a:prstDash val="solid"/>
          </a:ln>
        </p:spPr>
      </p:sp>
      <p:sp>
        <p:nvSpPr>
          <p:cNvPr id="56" name="Shape 54"/>
          <p:cNvSpPr/>
          <p:nvPr/>
        </p:nvSpPr>
        <p:spPr>
          <a:xfrm>
            <a:off x="500380" y="7391400"/>
            <a:ext cx="40640" cy="127000"/>
          </a:xfrm>
          <a:prstGeom prst="rect">
            <a:avLst/>
          </a:prstGeom>
          <a:solidFill>
            <a:srgbClr val="252525"/>
          </a:solidFill>
          <a:ln w="12700">
            <a:solidFill>
              <a:srgbClr val="252525"/>
            </a:solidFill>
            <a:prstDash val="solid"/>
          </a:ln>
        </p:spPr>
      </p:sp>
      <p:sp>
        <p:nvSpPr>
          <p:cNvPr id="57" name="Shape 55"/>
          <p:cNvSpPr/>
          <p:nvPr/>
        </p:nvSpPr>
        <p:spPr>
          <a:xfrm>
            <a:off x="457200" y="7443470"/>
            <a:ext cx="127000" cy="22860"/>
          </a:xfrm>
          <a:prstGeom prst="rect">
            <a:avLst/>
          </a:prstGeom>
          <a:solidFill>
            <a:srgbClr val="A63A3A"/>
          </a:solidFill>
          <a:ln w="12700">
            <a:solidFill>
              <a:srgbClr val="A63A3A"/>
            </a:solidFill>
            <a:prstDash val="solid"/>
          </a:ln>
        </p:spPr>
      </p:sp>
      <p:sp>
        <p:nvSpPr>
          <p:cNvPr id="58" name="Shape 56"/>
          <p:cNvSpPr/>
          <p:nvPr/>
        </p:nvSpPr>
        <p:spPr>
          <a:xfrm>
            <a:off x="509270" y="7391400"/>
            <a:ext cx="22860" cy="127000"/>
          </a:xfrm>
          <a:prstGeom prst="rect">
            <a:avLst/>
          </a:prstGeom>
          <a:solidFill>
            <a:srgbClr val="A63A3A"/>
          </a:solidFill>
          <a:ln w="12700">
            <a:solidFill>
              <a:srgbClr val="A63A3A"/>
            </a:solidFill>
            <a:prstDash val="solid"/>
          </a:ln>
        </p:spPr>
      </p:sp>
      <p:sp>
        <p:nvSpPr>
          <p:cNvPr id="59" name="Text 57"/>
          <p:cNvSpPr/>
          <p:nvPr/>
        </p:nvSpPr>
        <p:spPr>
          <a:xfrm>
            <a:off x="711200" y="7340600"/>
            <a:ext cx="1968500" cy="304800"/>
          </a:xfrm>
          <a:prstGeom prst="rect">
            <a:avLst/>
          </a:prstGeom>
          <a:noFill/>
          <a:ln/>
        </p:spPr>
        <p:txBody>
          <a:bodyPr wrap="square" lIns="0" tIns="0" rIns="0" bIns="0" rtlCol="0" anchor="t"/>
          <a:lstStyle/>
          <a:p>
            <a:pPr indent="0" marL="0">
              <a:lnSpc>
                <a:spcPct val="112000"/>
              </a:lnSpc>
              <a:buNone/>
            </a:pPr>
            <a:r>
              <a:rPr lang="en-US" sz="1200" b="1" dirty="0">
                <a:solidFill>
                  <a:srgbClr val="252525"/>
                </a:solidFill>
                <a:latin typeface="Montserrat" pitchFamily="34" charset="0"/>
                <a:ea typeface="Montserrat" pitchFamily="34" charset="-122"/>
                <a:cs typeface="Montserrat" pitchFamily="34" charset="-120"/>
              </a:rPr>
              <a:t>Philippines</a:t>
            </a:r>
            <a:endParaRPr lang="en-US" sz="1200" dirty="0"/>
          </a:p>
        </p:txBody>
      </p:sp>
      <p:sp>
        <p:nvSpPr>
          <p:cNvPr id="60" name="Text 58"/>
          <p:cNvSpPr/>
          <p:nvPr/>
        </p:nvSpPr>
        <p:spPr>
          <a:xfrm>
            <a:off x="2768600" y="73533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Theurbanhistorian (2009-07-18). Port of Manila · CC BY-SA 3.0.</a:t>
            </a:r>
            <a:endParaRPr lang="en-US" sz="850" dirty="0"/>
          </a:p>
        </p:txBody>
      </p:sp>
      <p:sp>
        <p:nvSpPr>
          <p:cNvPr id="61" name="Text 59"/>
          <p:cNvSpPr/>
          <p:nvPr/>
        </p:nvSpPr>
        <p:spPr>
          <a:xfrm>
            <a:off x="2768600" y="7645400"/>
            <a:ext cx="4330700" cy="2667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george ruiz (2013-01-04). The Philippines — seaside market in Manila · CC BY 2.0.</a:t>
            </a:r>
            <a:endParaRPr lang="en-US" sz="850" dirty="0"/>
          </a:p>
        </p:txBody>
      </p:sp>
      <p:sp>
        <p:nvSpPr>
          <p:cNvPr id="62" name="Text 60">
            <a:hlinkClick r:id="rId21" tooltip=""/>
          </p:cNvPr>
          <p:cNvSpPr/>
          <p:nvPr/>
        </p:nvSpPr>
        <p:spPr>
          <a:xfrm>
            <a:off x="2768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Image A ↗</a:t>
            </a:r>
            <a:endParaRPr lang="en-US" sz="800" dirty="0"/>
          </a:p>
        </p:txBody>
      </p:sp>
      <p:sp>
        <p:nvSpPr>
          <p:cNvPr id="63" name="Text 61">
            <a:hlinkClick r:id="rId22" tooltip=""/>
          </p:cNvPr>
          <p:cNvSpPr/>
          <p:nvPr/>
        </p:nvSpPr>
        <p:spPr>
          <a:xfrm>
            <a:off x="36322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4" name="Text 62">
            <a:hlinkClick r:id="rId23" tooltip=""/>
          </p:cNvPr>
          <p:cNvSpPr/>
          <p:nvPr/>
        </p:nvSpPr>
        <p:spPr>
          <a:xfrm>
            <a:off x="4546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Image B ↗</a:t>
            </a:r>
            <a:endParaRPr lang="en-US" sz="800" dirty="0"/>
          </a:p>
        </p:txBody>
      </p:sp>
      <p:sp>
        <p:nvSpPr>
          <p:cNvPr id="65" name="Text 63">
            <a:hlinkClick r:id="rId24" tooltip=""/>
          </p:cNvPr>
          <p:cNvSpPr/>
          <p:nvPr/>
        </p:nvSpPr>
        <p:spPr>
          <a:xfrm>
            <a:off x="5435600" y="7937500"/>
            <a:ext cx="838200" cy="1651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Licence ↗</a:t>
            </a:r>
            <a:endParaRPr lang="en-US" sz="800" dirty="0"/>
          </a:p>
        </p:txBody>
      </p:sp>
      <p:sp>
        <p:nvSpPr>
          <p:cNvPr id="66" name="Shape 64"/>
          <p:cNvSpPr/>
          <p:nvPr/>
        </p:nvSpPr>
        <p:spPr>
          <a:xfrm>
            <a:off x="457200" y="8149590"/>
            <a:ext cx="6642100" cy="7620"/>
          </a:xfrm>
          <a:prstGeom prst="rect">
            <a:avLst/>
          </a:prstGeom>
          <a:solidFill>
            <a:srgbClr val="B7B0A4"/>
          </a:solidFill>
          <a:ln w="12700">
            <a:solidFill>
              <a:srgbClr val="B7B0A4"/>
            </a:solidFill>
            <a:prstDash val="solid"/>
          </a:ln>
        </p:spPr>
      </p:sp>
      <p:sp>
        <p:nvSpPr>
          <p:cNvPr id="67" name="Text 65"/>
          <p:cNvSpPr/>
          <p:nvPr/>
        </p:nvSpPr>
        <p:spPr>
          <a:xfrm>
            <a:off x="457200" y="8382000"/>
            <a:ext cx="6642100" cy="546100"/>
          </a:xfrm>
          <a:prstGeom prst="rect">
            <a:avLst/>
          </a:prstGeom>
          <a:noFill/>
          <a:ln/>
        </p:spPr>
        <p:txBody>
          <a:bodyPr wrap="square" lIns="0" tIns="0" rIns="0" bIns="0" rtlCol="0" anchor="t"/>
          <a:lstStyle/>
          <a:p>
            <a:pPr indent="0" marL="0">
              <a:lnSpc>
                <a:spcPct val="112000"/>
              </a:lnSpc>
              <a:buNone/>
            </a:pPr>
            <a:r>
              <a:rPr lang="en-US" sz="850" dirty="0">
                <a:solidFill>
                  <a:srgbClr val="252525"/>
                </a:solidFill>
                <a:latin typeface="Montserrat" pitchFamily="34" charset="0"/>
                <a:ea typeface="Montserrat" pitchFamily="34" charset="-122"/>
                <a:cs typeface="Montserrat" pitchFamily="34" charset="-120"/>
              </a:rPr>
              <a:t>Map: Natural Earth. (n.d.). Admin 0 – Countries, 1:110m Cultural Vectors (v5.1.1). Public-domain data; generalized present-day boundaries, not historical geometry. Mauritius is located by point at this scale.</a:t>
            </a:r>
            <a:endParaRPr lang="en-US" sz="850" dirty="0"/>
          </a:p>
        </p:txBody>
      </p:sp>
      <p:sp>
        <p:nvSpPr>
          <p:cNvPr id="68" name="Text 66">
            <a:hlinkClick r:id="rId25" tooltip=""/>
          </p:cNvPr>
          <p:cNvSpPr/>
          <p:nvPr/>
        </p:nvSpPr>
        <p:spPr>
          <a:xfrm>
            <a:off x="457200" y="9067800"/>
            <a:ext cx="2032000" cy="215900"/>
          </a:xfrm>
          <a:prstGeom prst="rect">
            <a:avLst/>
          </a:prstGeom>
          <a:noFill/>
          <a:ln/>
        </p:spPr>
        <p:txBody>
          <a:bodyPr wrap="square" lIns="0" tIns="0" rIns="0" bIns="0" rtlCol="0" anchor="t"/>
          <a:lstStyle/>
          <a:p>
            <a:pPr indent="0" marL="0">
              <a:lnSpc>
                <a:spcPct val="112000"/>
              </a:lnSpc>
              <a:buNone/>
            </a:pPr>
            <a:r>
              <a:rPr lang="en-US" sz="800" b="1" u="sng" dirty="0">
                <a:solidFill>
                  <a:srgbClr val="514E48"/>
                </a:solidFill>
                <a:latin typeface="Montserrat" pitchFamily="34" charset="0"/>
                <a:ea typeface="Montserrat" pitchFamily="34" charset="-122"/>
                <a:cs typeface="Montserrat" pitchFamily="34" charset="-120"/>
                <a:hlinkClick r:id="rId25" invalidUrl="" action="" tgtFrame="" tooltip="" history="1" highlightClick="0" endSnd="0">
                  <a:extLst>
                    <a:ext uri="{A12FA001-AC4F-418D-AE19-62706E023703}">
                      <ahyp:hlinkClr xmlns:ahyp="http://schemas.microsoft.com/office/drawing/2018/hyperlinkcolor" val="tx"/>
                    </a:ext>
                  </a:extLst>
                </a:hlinkClick>
              </a:rPr>
              <a:t>MAP SOURCE ↗</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grey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Editorial research magazine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Africa &amp; Asia: Why Did Their Economic Paths Diverge?</dc:title>
  <dc:subject>Six-country evidence-led comparison</dc:subject>
  <dc:creator>University project team — editorial draft</dc:creator>
  <cp:lastModifiedBy>University project team — editorial draft</cp:lastModifiedBy>
  <cp:revision>1</cp:revision>
  <dcterms:created xsi:type="dcterms:W3CDTF">2026-10-13T01:18:26Z</dcterms:created>
  <dcterms:modified xsi:type="dcterms:W3CDTF">2026-10-13T01:18:26Z</dcterms:modified>
</cp:coreProperties>
</file>