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Market_Accra.jp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ochudiBotswanaSolarPanel.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Mauritius_-_Port_Louis_(Central_Market)_(17118303459).jpg" TargetMode="External"/><Relationship Id="rId10" Type="http://schemas.openxmlformats.org/officeDocument/2006/relationships/hyperlink" Target="https://creativecommons.org/licenses/by-sa/2.0/" TargetMode="External"/><Relationship Id="rId11" Type="http://schemas.openxmlformats.org/officeDocument/2006/relationships/hyperlink" Target="https://commons.wikimedia.org/wiki/File:Port_Louis,_Mauritius,_Bulk_Sugar_Terminal_Quay.jpg" TargetMode="External"/><Relationship Id="rId12" Type="http://schemas.openxmlformats.org/officeDocument/2006/relationships/hyperlink" Target="https://creativecommons.org/licenses/by/4.0/" TargetMode="External"/><Relationship Id="rId13" Type="http://schemas.openxmlformats.org/officeDocument/2006/relationships/hyperlink" Target="https://commons.wikimedia.org/wiki/File:South_Korea_Busan_harbour.jpg" TargetMode="External"/><Relationship Id="rId14" Type="http://schemas.openxmlformats.org/officeDocument/2006/relationships/hyperlink" Target="https://creativecommons.org/licenses/by-sa/3.0/" TargetMode="External"/><Relationship Id="rId15" Type="http://schemas.openxmlformats.org/officeDocument/2006/relationships/hyperlink" Target="https://commons.wikimedia.org/wiki/File:Korea-Seoul-Gyeongdong_Market-01.jpg" TargetMode="External"/><Relationship Id="rId16" Type="http://schemas.openxmlformats.org/officeDocument/2006/relationships/hyperlink" Target="https://creativecommons.org/licenses/by-sa/2.0/" TargetMode="External"/><Relationship Id="rId17" Type="http://schemas.openxmlformats.org/officeDocument/2006/relationships/hyperlink" Target="https://commons.wikimedia.org/wiki/File:Perai_Industrial_Zone,_Seberang_Perai,_Penang.jpg" TargetMode="External"/><Relationship Id="rId18" Type="http://schemas.openxmlformats.org/officeDocument/2006/relationships/hyperlink" Target="https://creativecommons.org/licenses/by-sa/4.0/" TargetMode="External"/><Relationship Id="rId19" Type="http://schemas.openxmlformats.org/officeDocument/2006/relationships/hyperlink" Target="https://commons.wikimedia.org/wiki/File:090301.020.PortKlang.jpg" TargetMode="External"/><Relationship Id="rId20" Type="http://schemas.openxmlformats.org/officeDocument/2006/relationships/hyperlink" Target="https://creativecommons.org/licenses/by/2.0/" TargetMode="External"/><Relationship Id="rId21" Type="http://schemas.openxmlformats.org/officeDocument/2006/relationships/hyperlink" Target="https://commons.wikimedia.org/wiki/File:Port_of_Manila.jpg" TargetMode="External"/><Relationship Id="rId22" Type="http://schemas.openxmlformats.org/officeDocument/2006/relationships/hyperlink" Target="https://creativecommons.org/licenses/by-sa/3.0/" TargetMode="External"/><Relationship Id="rId23" Type="http://schemas.openxmlformats.org/officeDocument/2006/relationships/hyperlink" Target="https://commons.wikimedia.org/wiki/File:2013-01-04_The_Philippines-_seaside_market_in_Manila.jpg" TargetMode="External"/><Relationship Id="rId24" Type="http://schemas.openxmlformats.org/officeDocument/2006/relationships/hyperlink" Target="https://creativecommons.org/licenses/by/2.0/" TargetMode="External"/><Relationship Id="rId25" Type="http://schemas.openxmlformats.org/officeDocument/2006/relationships/hyperlink" Target="https://www.naturalearthdata.com/downloads/110m-cultural-vectors/" TargetMode="External"/><Relationship Id="rId26" Type="http://schemas.openxmlformats.org/officeDocument/2006/relationships/slideLayout" Target="../slideLayouts/slideLayout1.xml"/><Relationship Id="rId2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SIX COUNTRIES. ONE BIG QUESTION.</a:t>
            </a:r>
            <a:endParaRPr lang="en-US" sz="800" dirty="0"/>
          </a:p>
        </p:txBody>
      </p:sp>
      <p:sp>
        <p:nvSpPr>
          <p:cNvPr id="4" name="Shape 2"/>
          <p:cNvSpPr/>
          <p:nvPr/>
        </p:nvSpPr>
        <p:spPr>
          <a:xfrm>
            <a:off x="457200" y="2641600"/>
            <a:ext cx="1107059" cy="304800"/>
          </a:xfrm>
          <a:prstGeom prst="rect">
            <a:avLst/>
          </a:prstGeom>
          <a:solidFill>
            <a:srgbClr val="B95332"/>
          </a:solidFill>
          <a:ln w="12700">
            <a:solidFill>
              <a:srgbClr val="B95332"/>
            </a:solidFill>
            <a:prstDash val="solid"/>
          </a:ln>
        </p:spPr>
      </p:sp>
      <p:sp>
        <p:nvSpPr>
          <p:cNvPr id="5" name="Text 3"/>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6" name="Shape 4"/>
          <p:cNvSpPr/>
          <p:nvPr/>
        </p:nvSpPr>
        <p:spPr>
          <a:xfrm>
            <a:off x="1564259" y="2641600"/>
            <a:ext cx="1107059" cy="304800"/>
          </a:xfrm>
          <a:prstGeom prst="rect">
            <a:avLst/>
          </a:prstGeom>
          <a:solidFill>
            <a:srgbClr val="3F684E"/>
          </a:solidFill>
          <a:ln w="12700">
            <a:solidFill>
              <a:srgbClr val="3F684E"/>
            </a:solidFill>
            <a:prstDash val="solid"/>
          </a:ln>
        </p:spPr>
      </p:sp>
      <p:sp>
        <p:nvSpPr>
          <p:cNvPr id="7" name="Text 5"/>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8" name="Shape 6"/>
          <p:cNvSpPr/>
          <p:nvPr/>
        </p:nvSpPr>
        <p:spPr>
          <a:xfrm>
            <a:off x="2671318" y="2641600"/>
            <a:ext cx="1107059" cy="304800"/>
          </a:xfrm>
          <a:prstGeom prst="rect">
            <a:avLst/>
          </a:prstGeom>
          <a:solidFill>
            <a:srgbClr val="D6A23A"/>
          </a:solidFill>
          <a:ln w="12700">
            <a:solidFill>
              <a:srgbClr val="D6A23A"/>
            </a:solidFill>
            <a:prstDash val="solid"/>
          </a:ln>
        </p:spPr>
      </p:sp>
      <p:sp>
        <p:nvSpPr>
          <p:cNvPr id="9" name="Text 7"/>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0" name="Shape 8"/>
          <p:cNvSpPr/>
          <p:nvPr/>
        </p:nvSpPr>
        <p:spPr>
          <a:xfrm>
            <a:off x="3778377" y="2641600"/>
            <a:ext cx="1107059" cy="304800"/>
          </a:xfrm>
          <a:prstGeom prst="rect">
            <a:avLst/>
          </a:prstGeom>
          <a:solidFill>
            <a:srgbClr val="315A78"/>
          </a:solidFill>
          <a:ln w="12700">
            <a:solidFill>
              <a:srgbClr val="315A78"/>
            </a:solidFill>
            <a:prstDash val="solid"/>
          </a:ln>
        </p:spPr>
      </p:sp>
      <p:sp>
        <p:nvSpPr>
          <p:cNvPr id="11" name="Text 9"/>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2" name="Shape 10"/>
          <p:cNvSpPr/>
          <p:nvPr/>
        </p:nvSpPr>
        <p:spPr>
          <a:xfrm>
            <a:off x="4885436" y="2641600"/>
            <a:ext cx="1107059" cy="304800"/>
          </a:xfrm>
          <a:prstGeom prst="rect">
            <a:avLst/>
          </a:prstGeom>
          <a:solidFill>
            <a:srgbClr val="3E7568"/>
          </a:solidFill>
          <a:ln w="12700">
            <a:solidFill>
              <a:srgbClr val="3E7568"/>
            </a:solidFill>
            <a:prstDash val="solid"/>
          </a:ln>
        </p:spPr>
      </p:sp>
      <p:sp>
        <p:nvSpPr>
          <p:cNvPr id="13" name="Text 11"/>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4" name="Shape 12"/>
          <p:cNvSpPr/>
          <p:nvPr/>
        </p:nvSpPr>
        <p:spPr>
          <a:xfrm>
            <a:off x="5992495" y="2641600"/>
            <a:ext cx="1107059" cy="304800"/>
          </a:xfrm>
          <a:prstGeom prst="rect">
            <a:avLst/>
          </a:prstGeom>
          <a:solidFill>
            <a:srgbClr val="A63A3A"/>
          </a:solidFill>
          <a:ln w="12700">
            <a:solidFill>
              <a:srgbClr val="A63A3A"/>
            </a:solidFill>
            <a:prstDash val="solid"/>
          </a:ln>
        </p:spPr>
      </p:sp>
      <p:sp>
        <p:nvSpPr>
          <p:cNvPr id="15" name="Text 13"/>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6" name="Shape 14"/>
          <p:cNvSpPr/>
          <p:nvPr/>
        </p:nvSpPr>
        <p:spPr>
          <a:xfrm>
            <a:off x="457200" y="9698990"/>
            <a:ext cx="6642100" cy="7620"/>
          </a:xfrm>
          <a:prstGeom prst="rect">
            <a:avLst/>
          </a:prstGeom>
          <a:solidFill>
            <a:srgbClr val="B7B0A4"/>
          </a:solidFill>
          <a:ln w="12700">
            <a:solidFill>
              <a:srgbClr val="B7B0A4"/>
            </a:solidFill>
            <a:prstDash val="solid"/>
          </a:ln>
        </p:spPr>
      </p:sp>
      <p:sp>
        <p:nvSpPr>
          <p:cNvPr id="17" name="Text 1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Photographs: JulianGrayscales (2020), Tema port; Svwmal (2012), Busan harbour. Full credits and licences: p. 28.</a:t>
            </a:r>
            <a:endParaRPr lang="en-US" sz="800" dirty="0"/>
          </a:p>
        </p:txBody>
      </p:sp>
      <p:sp>
        <p:nvSpPr>
          <p:cNvPr id="18" name="Text 1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9" name="Text 1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01</a:t>
            </a:r>
            <a:endParaRPr lang="en-US" sz="1000" dirty="0"/>
          </a:p>
        </p:txBody>
      </p:sp>
      <p:sp>
        <p:nvSpPr>
          <p:cNvPr id="20" name="Shape 18"/>
          <p:cNvSpPr/>
          <p:nvPr/>
        </p:nvSpPr>
        <p:spPr>
          <a:xfrm>
            <a:off x="0" y="571500"/>
            <a:ext cx="7560005" cy="4635500"/>
          </a:xfrm>
          <a:prstGeom prst="rect">
            <a:avLst/>
          </a:prstGeom>
          <a:solidFill>
            <a:srgbClr val="252525"/>
          </a:solidFill>
          <a:ln w="12700">
            <a:solidFill>
              <a:srgbClr val="252525"/>
            </a:solidFill>
            <a:prstDash val="solid"/>
          </a:ln>
        </p:spPr>
      </p:sp>
      <p:sp>
        <p:nvSpPr>
          <p:cNvPr id="21" name="Text 19"/>
          <p:cNvSpPr/>
          <p:nvPr/>
        </p:nvSpPr>
        <p:spPr>
          <a:xfrm>
            <a:off x="457200" y="736600"/>
            <a:ext cx="6642100" cy="825500"/>
          </a:xfrm>
          <a:prstGeom prst="rect">
            <a:avLst/>
          </a:prstGeom>
          <a:noFill/>
          <a:ln/>
        </p:spPr>
        <p:txBody>
          <a:bodyPr wrap="square" lIns="0" tIns="0" rIns="0" bIns="0" rtlCol="0" anchor="t"/>
          <a:lstStyle/>
          <a:p>
            <a:pPr indent="0" marL="0">
              <a:lnSpc>
                <a:spcPct val="112000"/>
              </a:lnSpc>
              <a:buNone/>
            </a:pPr>
            <a:r>
              <a:rPr lang="en-US" sz="4800" b="1" dirty="0">
                <a:solidFill>
                  <a:srgbClr val="F4F0E7"/>
                </a:solidFill>
                <a:latin typeface="Alegreya" pitchFamily="34" charset="0"/>
                <a:ea typeface="Alegreya" pitchFamily="34" charset="-122"/>
                <a:cs typeface="Alegreya" pitchFamily="34" charset="-120"/>
              </a:rPr>
              <a:t>Africa &amp; Asia:</a:t>
            </a:r>
            <a:endParaRPr lang="en-US" sz="4800" dirty="0"/>
          </a:p>
        </p:txBody>
      </p:sp>
      <p:sp>
        <p:nvSpPr>
          <p:cNvPr id="22" name="Text 20"/>
          <p:cNvSpPr/>
          <p:nvPr/>
        </p:nvSpPr>
        <p:spPr>
          <a:xfrm>
            <a:off x="457200" y="1803400"/>
            <a:ext cx="6642100" cy="2413000"/>
          </a:xfrm>
          <a:prstGeom prst="rect">
            <a:avLst/>
          </a:prstGeom>
          <a:noFill/>
          <a:ln/>
        </p:spPr>
        <p:txBody>
          <a:bodyPr wrap="square" lIns="0" tIns="0" rIns="0" bIns="0" rtlCol="0" anchor="t"/>
          <a:lstStyle/>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Why Did Their</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Economic Paths</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Diverge?</a:t>
            </a:r>
            <a:endParaRPr lang="en-US" sz="4700" dirty="0"/>
          </a:p>
        </p:txBody>
      </p:sp>
      <p:sp>
        <p:nvSpPr>
          <p:cNvPr id="23" name="Text 21"/>
          <p:cNvSpPr/>
          <p:nvPr/>
        </p:nvSpPr>
        <p:spPr>
          <a:xfrm>
            <a:off x="457200" y="4483100"/>
            <a:ext cx="6642100" cy="660400"/>
          </a:xfrm>
          <a:prstGeom prst="rect">
            <a:avLst/>
          </a:prstGeom>
          <a:noFill/>
          <a:ln/>
        </p:spPr>
        <p:txBody>
          <a:bodyPr wrap="square" lIns="0" tIns="0" rIns="0" bIns="0" rtlCol="0" anchor="t"/>
          <a:lstStyle/>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Testing culture against history, institutions,</a:t>
            </a:r>
            <a:endParaRPr lang="en-US" sz="1400" dirty="0"/>
          </a:p>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policy and economic evidence.</a:t>
            </a:r>
            <a:endParaRPr lang="en-US" sz="1400" dirty="0"/>
          </a:p>
        </p:txBody>
      </p:sp>
      <p:sp>
        <p:nvSpPr>
          <p:cNvPr id="24" name="Shape 22"/>
          <p:cNvSpPr/>
          <p:nvPr/>
        </p:nvSpPr>
        <p:spPr>
          <a:xfrm>
            <a:off x="457200" y="5461000"/>
            <a:ext cx="3162300" cy="3073400"/>
          </a:xfrm>
          <a:prstGeom prst="rect">
            <a:avLst/>
          </a:prstGeom>
          <a:solidFill>
            <a:srgbClr val="B95332"/>
          </a:solidFill>
          <a:ln w="12700">
            <a:solidFill>
              <a:srgbClr val="B95332"/>
            </a:solidFill>
            <a:prstDash val="solid"/>
          </a:ln>
        </p:spPr>
      </p:sp>
      <p:sp>
        <p:nvSpPr>
          <p:cNvPr id="25" name="Shape 23"/>
          <p:cNvSpPr/>
          <p:nvPr/>
        </p:nvSpPr>
        <p:spPr>
          <a:xfrm>
            <a:off x="3937000" y="5461000"/>
            <a:ext cx="3162300" cy="3073400"/>
          </a:xfrm>
          <a:prstGeom prst="rect">
            <a:avLst/>
          </a:prstGeom>
          <a:solidFill>
            <a:srgbClr val="315A78"/>
          </a:solidFill>
          <a:ln w="12700">
            <a:solidFill>
              <a:srgbClr val="315A78"/>
            </a:solidFill>
            <a:prstDash val="solid"/>
          </a:ln>
        </p:spPr>
      </p:sp>
      <p:pic>
        <p:nvPicPr>
          <p:cNvPr id="26"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58800" y="5564271"/>
            <a:ext cx="2959100" cy="1965157"/>
          </a:xfrm>
          <a:prstGeom prst="rect">
            <a:avLst/>
          </a:prstGeom>
        </p:spPr>
      </p:pic>
      <p:pic>
        <p:nvPicPr>
          <p:cNvPr id="27"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4205817" y="5562600"/>
            <a:ext cx="2624667" cy="1968500"/>
          </a:xfrm>
          <a:prstGeom prst="rect">
            <a:avLst/>
          </a:prstGeom>
        </p:spPr>
      </p:pic>
      <p:sp>
        <p:nvSpPr>
          <p:cNvPr id="28" name="Text 24"/>
          <p:cNvSpPr/>
          <p:nvPr/>
        </p:nvSpPr>
        <p:spPr>
          <a:xfrm>
            <a:off x="6350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GHANA</a:t>
            </a:r>
            <a:endParaRPr lang="en-US" sz="1600" dirty="0"/>
          </a:p>
        </p:txBody>
      </p:sp>
      <p:sp>
        <p:nvSpPr>
          <p:cNvPr id="29" name="Text 25"/>
          <p:cNvSpPr/>
          <p:nvPr/>
        </p:nvSpPr>
        <p:spPr>
          <a:xfrm>
            <a:off x="41148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SOUTH KOREA</a:t>
            </a:r>
            <a:endParaRPr lang="en-US" sz="1600" dirty="0"/>
          </a:p>
        </p:txBody>
      </p:sp>
      <p:sp>
        <p:nvSpPr>
          <p:cNvPr id="30" name="Text 26"/>
          <p:cNvSpPr/>
          <p:nvPr/>
        </p:nvSpPr>
        <p:spPr>
          <a:xfrm>
            <a:off x="6350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Tema port · 2020</a:t>
            </a:r>
            <a:endParaRPr lang="en-US" sz="900" dirty="0"/>
          </a:p>
        </p:txBody>
      </p:sp>
      <p:sp>
        <p:nvSpPr>
          <p:cNvPr id="31" name="Text 27"/>
          <p:cNvSpPr/>
          <p:nvPr/>
        </p:nvSpPr>
        <p:spPr>
          <a:xfrm>
            <a:off x="41148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Busan harbour · 2012</a:t>
            </a:r>
            <a:endParaRPr lang="en-US" sz="900" dirty="0"/>
          </a:p>
        </p:txBody>
      </p:sp>
      <p:sp>
        <p:nvSpPr>
          <p:cNvPr id="32" name="Text 28"/>
          <p:cNvSpPr/>
          <p:nvPr/>
        </p:nvSpPr>
        <p:spPr>
          <a:xfrm>
            <a:off x="457200" y="8826500"/>
            <a:ext cx="6642100" cy="774700"/>
          </a:xfrm>
          <a:prstGeom prst="rect">
            <a:avLst/>
          </a:prstGeom>
          <a:noFill/>
          <a:ln/>
        </p:spPr>
        <p:txBody>
          <a:bodyPr wrap="square" lIns="0" tIns="0" rIns="0" bIns="0" rtlCol="0" anchor="t"/>
          <a:lstStyle/>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SIX COUNTRIES.</a:t>
            </a:r>
            <a:endParaRPr lang="en-US" sz="2300" dirty="0"/>
          </a:p>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MORE THAN ONE EXPLANATION.</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START HERE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Culture—or a much bigger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We started with a question. Six countries made the answer more complicated.</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02</a:t>
            </a:r>
            <a:endParaRPr lang="en-US" sz="1000" dirty="0"/>
          </a:p>
        </p:txBody>
      </p:sp>
      <p:sp>
        <p:nvSpPr>
          <p:cNvPr id="22" name="Text 20"/>
          <p:cNvSpPr/>
          <p:nvPr/>
        </p:nvSpPr>
        <p:spPr>
          <a:xfrm>
            <a:off x="457200" y="3098800"/>
            <a:ext cx="6642100" cy="1346200"/>
          </a:xfrm>
          <a:prstGeom prst="rect">
            <a:avLst/>
          </a:prstGeom>
          <a:noFill/>
          <a:ln/>
        </p:spPr>
        <p:txBody>
          <a:bodyPr wrap="square" lIns="0" tIns="0" rIns="0" bIns="0" rtlCol="0" anchor="t"/>
          <a:lstStyle/>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countries.</a:t>
            </a:r>
            <a:endParaRPr lang="en-US" sz="4300" dirty="0"/>
          </a:p>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different paths.</a:t>
            </a:r>
            <a:endParaRPr lang="en-US" sz="4300" dirty="0"/>
          </a:p>
        </p:txBody>
      </p:sp>
      <p:sp>
        <p:nvSpPr>
          <p:cNvPr id="23" name="Text 21"/>
          <p:cNvSpPr/>
          <p:nvPr/>
        </p:nvSpPr>
        <p:spPr>
          <a:xfrm>
            <a:off x="457200" y="4673600"/>
            <a:ext cx="6350000" cy="9017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Ghana and South Korea give us a striking comparison. Botswana, Mauritius, Malaysia and the Philippines challenge the easy explanations.</a:t>
            </a:r>
            <a:endParaRPr lang="en-US" sz="1300" dirty="0"/>
          </a:p>
        </p:txBody>
      </p:sp>
      <p:sp>
        <p:nvSpPr>
          <p:cNvPr id="24" name="Text 22"/>
          <p:cNvSpPr/>
          <p:nvPr/>
        </p:nvSpPr>
        <p:spPr>
          <a:xfrm>
            <a:off x="457200" y="57912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01</a:t>
            </a:r>
            <a:endParaRPr lang="en-US" sz="900" dirty="0"/>
          </a:p>
        </p:txBody>
      </p:sp>
      <p:sp>
        <p:nvSpPr>
          <p:cNvPr id="25" name="Text 23"/>
          <p:cNvSpPr/>
          <p:nvPr/>
        </p:nvSpPr>
        <p:spPr>
          <a:xfrm>
            <a:off x="1041400" y="57912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gap</a:t>
            </a:r>
            <a:endParaRPr lang="en-US" sz="1100" dirty="0"/>
          </a:p>
        </p:txBody>
      </p:sp>
      <p:sp>
        <p:nvSpPr>
          <p:cNvPr id="26" name="Text 24"/>
          <p:cNvSpPr/>
          <p:nvPr/>
        </p:nvSpPr>
        <p:spPr>
          <a:xfrm>
            <a:off x="6223000" y="57912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03–04</a:t>
            </a:r>
            <a:endParaRPr lang="en-US" sz="900" dirty="0"/>
          </a:p>
        </p:txBody>
      </p:sp>
      <p:sp>
        <p:nvSpPr>
          <p:cNvPr id="27" name="Text 25"/>
          <p:cNvSpPr/>
          <p:nvPr/>
        </p:nvSpPr>
        <p:spPr>
          <a:xfrm>
            <a:off x="457200" y="61341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02</a:t>
            </a:r>
            <a:endParaRPr lang="en-US" sz="900" dirty="0"/>
          </a:p>
        </p:txBody>
      </p:sp>
      <p:sp>
        <p:nvSpPr>
          <p:cNvPr id="28" name="Text 26"/>
          <p:cNvSpPr/>
          <p:nvPr/>
        </p:nvSpPr>
        <p:spPr>
          <a:xfrm>
            <a:off x="1041400" y="61341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starting line</a:t>
            </a:r>
            <a:endParaRPr lang="en-US" sz="1100" dirty="0"/>
          </a:p>
        </p:txBody>
      </p:sp>
      <p:sp>
        <p:nvSpPr>
          <p:cNvPr id="29" name="Text 27"/>
          <p:cNvSpPr/>
          <p:nvPr/>
        </p:nvSpPr>
        <p:spPr>
          <a:xfrm>
            <a:off x="6223000" y="61341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05–08</a:t>
            </a:r>
            <a:endParaRPr lang="en-US" sz="900" dirty="0"/>
          </a:p>
        </p:txBody>
      </p:sp>
      <p:sp>
        <p:nvSpPr>
          <p:cNvPr id="30" name="Text 28"/>
          <p:cNvSpPr/>
          <p:nvPr/>
        </p:nvSpPr>
        <p:spPr>
          <a:xfrm>
            <a:off x="457200" y="64770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a:t>
            </a:r>
            <a:endParaRPr lang="en-US" sz="900" dirty="0"/>
          </a:p>
        </p:txBody>
      </p:sp>
      <p:sp>
        <p:nvSpPr>
          <p:cNvPr id="31" name="Text 29"/>
          <p:cNvSpPr/>
          <p:nvPr/>
        </p:nvSpPr>
        <p:spPr>
          <a:xfrm>
            <a:off x="1041400" y="64770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Work, income and learning</a:t>
            </a:r>
            <a:endParaRPr lang="en-US" sz="1100" dirty="0"/>
          </a:p>
        </p:txBody>
      </p:sp>
      <p:sp>
        <p:nvSpPr>
          <p:cNvPr id="32" name="Text 30"/>
          <p:cNvSpPr/>
          <p:nvPr/>
        </p:nvSpPr>
        <p:spPr>
          <a:xfrm>
            <a:off x="6223000" y="64770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09–14</a:t>
            </a:r>
            <a:endParaRPr lang="en-US" sz="900" dirty="0"/>
          </a:p>
        </p:txBody>
      </p:sp>
      <p:sp>
        <p:nvSpPr>
          <p:cNvPr id="33" name="Text 31"/>
          <p:cNvSpPr/>
          <p:nvPr/>
        </p:nvSpPr>
        <p:spPr>
          <a:xfrm>
            <a:off x="457200" y="68199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04</a:t>
            </a:r>
            <a:endParaRPr lang="en-US" sz="900" dirty="0"/>
          </a:p>
        </p:txBody>
      </p:sp>
      <p:sp>
        <p:nvSpPr>
          <p:cNvPr id="34" name="Text 32"/>
          <p:cNvSpPr/>
          <p:nvPr/>
        </p:nvSpPr>
        <p:spPr>
          <a:xfrm>
            <a:off x="1041400" y="68199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Culture and trust</a:t>
            </a:r>
            <a:endParaRPr lang="en-US" sz="1100" dirty="0"/>
          </a:p>
        </p:txBody>
      </p:sp>
      <p:sp>
        <p:nvSpPr>
          <p:cNvPr id="35" name="Text 33"/>
          <p:cNvSpPr/>
          <p:nvPr/>
        </p:nvSpPr>
        <p:spPr>
          <a:xfrm>
            <a:off x="6223000" y="68199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15–18</a:t>
            </a:r>
            <a:endParaRPr lang="en-US" sz="900" dirty="0"/>
          </a:p>
        </p:txBody>
      </p:sp>
      <p:sp>
        <p:nvSpPr>
          <p:cNvPr id="36" name="Text 34"/>
          <p:cNvSpPr/>
          <p:nvPr/>
        </p:nvSpPr>
        <p:spPr>
          <a:xfrm>
            <a:off x="457200" y="71628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a:t>
            </a:r>
            <a:endParaRPr lang="en-US" sz="900" dirty="0"/>
          </a:p>
        </p:txBody>
      </p:sp>
      <p:sp>
        <p:nvSpPr>
          <p:cNvPr id="37" name="Text 35"/>
          <p:cNvSpPr/>
          <p:nvPr/>
        </p:nvSpPr>
        <p:spPr>
          <a:xfrm>
            <a:off x="1041400" y="71628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Our ideas on trial</a:t>
            </a:r>
            <a:endParaRPr lang="en-US" sz="1100" dirty="0"/>
          </a:p>
        </p:txBody>
      </p:sp>
      <p:sp>
        <p:nvSpPr>
          <p:cNvPr id="38" name="Text 36"/>
          <p:cNvSpPr/>
          <p:nvPr/>
        </p:nvSpPr>
        <p:spPr>
          <a:xfrm>
            <a:off x="6223000" y="71628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19–23</a:t>
            </a:r>
            <a:endParaRPr lang="en-US" sz="900" dirty="0"/>
          </a:p>
        </p:txBody>
      </p:sp>
      <p:sp>
        <p:nvSpPr>
          <p:cNvPr id="39" name="Text 37"/>
          <p:cNvSpPr/>
          <p:nvPr/>
        </p:nvSpPr>
        <p:spPr>
          <a:xfrm>
            <a:off x="457200" y="75057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06</a:t>
            </a:r>
            <a:endParaRPr lang="en-US" sz="900" dirty="0"/>
          </a:p>
        </p:txBody>
      </p:sp>
      <p:sp>
        <p:nvSpPr>
          <p:cNvPr id="40" name="Text 38"/>
          <p:cNvSpPr/>
          <p:nvPr/>
        </p:nvSpPr>
        <p:spPr>
          <a:xfrm>
            <a:off x="1041400" y="75057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What we think</a:t>
            </a:r>
            <a:endParaRPr lang="en-US" sz="1100" dirty="0"/>
          </a:p>
        </p:txBody>
      </p:sp>
      <p:sp>
        <p:nvSpPr>
          <p:cNvPr id="41" name="Text 39"/>
          <p:cNvSpPr/>
          <p:nvPr/>
        </p:nvSpPr>
        <p:spPr>
          <a:xfrm>
            <a:off x="6223000" y="75057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24–26</a:t>
            </a:r>
            <a:endParaRPr lang="en-US" sz="900" dirty="0"/>
          </a:p>
        </p:txBody>
      </p:sp>
      <p:sp>
        <p:nvSpPr>
          <p:cNvPr id="42" name="Shape 40"/>
          <p:cNvSpPr/>
          <p:nvPr/>
        </p:nvSpPr>
        <p:spPr>
          <a:xfrm>
            <a:off x="457200" y="8039100"/>
            <a:ext cx="6642100" cy="1333500"/>
          </a:xfrm>
          <a:prstGeom prst="rect">
            <a:avLst/>
          </a:prstGeom>
          <a:solidFill>
            <a:srgbClr val="F4F0E7"/>
          </a:solidFill>
          <a:ln w="12700">
            <a:solidFill>
              <a:srgbClr val="F4F0E7"/>
            </a:solidFill>
            <a:prstDash val="solid"/>
          </a:ln>
        </p:spPr>
      </p:sp>
      <p:sp>
        <p:nvSpPr>
          <p:cNvPr id="43" name="Text 41"/>
          <p:cNvSpPr/>
          <p:nvPr/>
        </p:nvSpPr>
        <p:spPr>
          <a:xfrm>
            <a:off x="635000" y="8166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4" name="Text 42"/>
          <p:cNvSpPr/>
          <p:nvPr/>
        </p:nvSpPr>
        <p:spPr>
          <a:xfrm>
            <a:off x="635000" y="8432800"/>
            <a:ext cx="6286500" cy="863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culture matters. But different histories, resources and starting points make “Africa versus Asia” the wrong shortcut.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1960: Ghana and Korea start close.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and South Korea were close in income per person—not in every starting condition.</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Income per person is an average, not a typical wage or a measure of inequality. Similar income does not mean the same history.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23" name="Text 21"/>
          <p:cNvSpPr/>
          <p:nvPr/>
        </p:nvSpPr>
        <p:spPr>
          <a:xfrm>
            <a:off x="4572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B95332"/>
                </a:solidFill>
                <a:latin typeface="Montserrat" pitchFamily="34" charset="0"/>
                <a:ea typeface="Montserrat" pitchFamily="34" charset="-122"/>
                <a:cs typeface="Montserrat" pitchFamily="34" charset="-120"/>
              </a:rPr>
              <a:t>US$1,101</a:t>
            </a:r>
            <a:endParaRPr lang="en-US" sz="3400" dirty="0"/>
          </a:p>
        </p:txBody>
      </p:sp>
      <p:sp>
        <p:nvSpPr>
          <p:cNvPr id="24" name="Text 22"/>
          <p:cNvSpPr/>
          <p:nvPr/>
        </p:nvSpPr>
        <p:spPr>
          <a:xfrm>
            <a:off x="39370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315A78"/>
                </a:solidFill>
                <a:latin typeface="Montserrat" pitchFamily="34" charset="0"/>
                <a:ea typeface="Montserrat" pitchFamily="34" charset="-122"/>
                <a:cs typeface="Montserrat" pitchFamily="34" charset="-120"/>
              </a:rPr>
              <a:t>US$1,038</a:t>
            </a:r>
            <a:endParaRPr lang="en-US" sz="3400" dirty="0"/>
          </a:p>
        </p:txBody>
      </p:sp>
      <p:sp>
        <p:nvSpPr>
          <p:cNvPr id="25" name="Shape 23"/>
          <p:cNvSpPr/>
          <p:nvPr/>
        </p:nvSpPr>
        <p:spPr>
          <a:xfrm>
            <a:off x="457200" y="3886200"/>
            <a:ext cx="127000" cy="127000"/>
          </a:xfrm>
          <a:prstGeom prst="ellipse">
            <a:avLst/>
          </a:prstGeom>
          <a:solidFill>
            <a:srgbClr val="B95332"/>
          </a:solidFill>
          <a:ln w="7620">
            <a:solidFill>
              <a:srgbClr val="252525"/>
            </a:solidFill>
            <a:prstDash val="solid"/>
          </a:ln>
        </p:spPr>
      </p:sp>
      <p:sp>
        <p:nvSpPr>
          <p:cNvPr id="26" name="Text 24"/>
          <p:cNvSpPr/>
          <p:nvPr/>
        </p:nvSpPr>
        <p:spPr>
          <a:xfrm>
            <a:off x="7112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7" name="Shape 25"/>
          <p:cNvSpPr/>
          <p:nvPr/>
        </p:nvSpPr>
        <p:spPr>
          <a:xfrm>
            <a:off x="3937000" y="3886200"/>
            <a:ext cx="127000" cy="127000"/>
          </a:xfrm>
          <a:prstGeom prst="diamond">
            <a:avLst/>
          </a:prstGeom>
          <a:solidFill>
            <a:srgbClr val="315A78"/>
          </a:solidFill>
          <a:ln w="7620">
            <a:solidFill>
              <a:srgbClr val="252525"/>
            </a:solidFill>
            <a:prstDash val="solid"/>
          </a:ln>
        </p:spPr>
      </p:sp>
      <p:sp>
        <p:nvSpPr>
          <p:cNvPr id="28" name="Text 26"/>
          <p:cNvSpPr/>
          <p:nvPr/>
        </p:nvSpPr>
        <p:spPr>
          <a:xfrm>
            <a:off x="41910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Text 27"/>
          <p:cNvSpPr/>
          <p:nvPr/>
        </p:nvSpPr>
        <p:spPr>
          <a:xfrm>
            <a:off x="457200" y="4406900"/>
            <a:ext cx="6642100" cy="4445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Just US$63 apart.</a:t>
            </a:r>
            <a:endParaRPr lang="en-US" sz="2100" dirty="0"/>
          </a:p>
        </p:txBody>
      </p:sp>
      <p:sp>
        <p:nvSpPr>
          <p:cNvPr id="30" name="Shape 28"/>
          <p:cNvSpPr/>
          <p:nvPr/>
        </p:nvSpPr>
        <p:spPr>
          <a:xfrm>
            <a:off x="457200" y="5232400"/>
            <a:ext cx="127000" cy="127000"/>
          </a:xfrm>
          <a:prstGeom prst="ellipse">
            <a:avLst/>
          </a:prstGeom>
          <a:solidFill>
            <a:srgbClr val="B95332"/>
          </a:solidFill>
          <a:ln w="7620">
            <a:solidFill>
              <a:srgbClr val="252525"/>
            </a:solidFill>
            <a:prstDash val="solid"/>
          </a:ln>
        </p:spPr>
      </p:sp>
      <p:sp>
        <p:nvSpPr>
          <p:cNvPr id="31" name="Text 29"/>
          <p:cNvSpPr/>
          <p:nvPr/>
        </p:nvSpPr>
        <p:spPr>
          <a:xfrm>
            <a:off x="711200" y="51816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32" name="Shape 30"/>
          <p:cNvSpPr/>
          <p:nvPr/>
        </p:nvSpPr>
        <p:spPr>
          <a:xfrm>
            <a:off x="2705100" y="5295900"/>
            <a:ext cx="2283349" cy="76200"/>
          </a:xfrm>
          <a:prstGeom prst="rect">
            <a:avLst/>
          </a:prstGeom>
          <a:solidFill>
            <a:srgbClr val="B95332"/>
          </a:solidFill>
          <a:ln w="12700">
            <a:solidFill>
              <a:srgbClr val="B95332"/>
            </a:solidFill>
            <a:prstDash val="solid"/>
          </a:ln>
        </p:spPr>
      </p:sp>
      <p:sp>
        <p:nvSpPr>
          <p:cNvPr id="33" name="Shape 31"/>
          <p:cNvSpPr/>
          <p:nvPr/>
        </p:nvSpPr>
        <p:spPr>
          <a:xfrm>
            <a:off x="4950349" y="5295900"/>
            <a:ext cx="76200" cy="76200"/>
          </a:xfrm>
          <a:prstGeom prst="ellipse">
            <a:avLst/>
          </a:prstGeom>
          <a:solidFill>
            <a:srgbClr val="B95332"/>
          </a:solidFill>
          <a:ln w="7620">
            <a:solidFill>
              <a:srgbClr val="252525"/>
            </a:solidFill>
            <a:prstDash val="solid"/>
          </a:ln>
        </p:spPr>
      </p:sp>
      <p:sp>
        <p:nvSpPr>
          <p:cNvPr id="34" name="Text 32"/>
          <p:cNvSpPr/>
          <p:nvPr/>
        </p:nvSpPr>
        <p:spPr>
          <a:xfrm>
            <a:off x="5956300" y="51943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US$1,101</a:t>
            </a:r>
            <a:endParaRPr lang="en-US" sz="950" dirty="0"/>
          </a:p>
        </p:txBody>
      </p:sp>
      <p:sp>
        <p:nvSpPr>
          <p:cNvPr id="35" name="Shape 33"/>
          <p:cNvSpPr/>
          <p:nvPr/>
        </p:nvSpPr>
        <p:spPr>
          <a:xfrm>
            <a:off x="457200" y="5727700"/>
            <a:ext cx="127000" cy="127000"/>
          </a:xfrm>
          <a:prstGeom prst="rect">
            <a:avLst/>
          </a:prstGeom>
          <a:solidFill>
            <a:srgbClr val="3F684E"/>
          </a:solidFill>
          <a:ln w="7620">
            <a:solidFill>
              <a:srgbClr val="252525"/>
            </a:solidFill>
            <a:prstDash val="solid"/>
          </a:ln>
        </p:spPr>
      </p:sp>
      <p:sp>
        <p:nvSpPr>
          <p:cNvPr id="36" name="Text 34"/>
          <p:cNvSpPr/>
          <p:nvPr/>
        </p:nvSpPr>
        <p:spPr>
          <a:xfrm>
            <a:off x="711200" y="56769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7" name="Shape 35"/>
          <p:cNvSpPr/>
          <p:nvPr/>
        </p:nvSpPr>
        <p:spPr>
          <a:xfrm>
            <a:off x="2705100" y="5791200"/>
            <a:ext cx="817001" cy="76200"/>
          </a:xfrm>
          <a:prstGeom prst="rect">
            <a:avLst/>
          </a:prstGeom>
          <a:solidFill>
            <a:srgbClr val="3F684E"/>
          </a:solidFill>
          <a:ln w="12700">
            <a:solidFill>
              <a:srgbClr val="3F684E"/>
            </a:solidFill>
            <a:prstDash val="solid"/>
          </a:ln>
        </p:spPr>
      </p:sp>
      <p:sp>
        <p:nvSpPr>
          <p:cNvPr id="38" name="Shape 36"/>
          <p:cNvSpPr/>
          <p:nvPr/>
        </p:nvSpPr>
        <p:spPr>
          <a:xfrm>
            <a:off x="3484001" y="5791200"/>
            <a:ext cx="76200" cy="76200"/>
          </a:xfrm>
          <a:prstGeom prst="rect">
            <a:avLst/>
          </a:prstGeom>
          <a:solidFill>
            <a:srgbClr val="3F684E"/>
          </a:solidFill>
          <a:ln w="7620">
            <a:solidFill>
              <a:srgbClr val="252525"/>
            </a:solidFill>
            <a:prstDash val="solid"/>
          </a:ln>
        </p:spPr>
      </p:sp>
      <p:sp>
        <p:nvSpPr>
          <p:cNvPr id="39" name="Text 37"/>
          <p:cNvSpPr/>
          <p:nvPr/>
        </p:nvSpPr>
        <p:spPr>
          <a:xfrm>
            <a:off x="5956300" y="56896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US$394</a:t>
            </a:r>
            <a:endParaRPr lang="en-US" sz="950" dirty="0"/>
          </a:p>
        </p:txBody>
      </p:sp>
      <p:sp>
        <p:nvSpPr>
          <p:cNvPr id="40" name="Shape 38"/>
          <p:cNvSpPr/>
          <p:nvPr/>
        </p:nvSpPr>
        <p:spPr>
          <a:xfrm>
            <a:off x="457200" y="6223000"/>
            <a:ext cx="127000" cy="127000"/>
          </a:xfrm>
          <a:prstGeom prst="triangle">
            <a:avLst/>
          </a:prstGeom>
          <a:solidFill>
            <a:srgbClr val="D6A23A"/>
          </a:solidFill>
          <a:ln w="7620">
            <a:solidFill>
              <a:srgbClr val="252525"/>
            </a:solidFill>
            <a:prstDash val="solid"/>
          </a:ln>
        </p:spPr>
      </p:sp>
      <p:sp>
        <p:nvSpPr>
          <p:cNvPr id="41" name="Text 39"/>
          <p:cNvSpPr/>
          <p:nvPr/>
        </p:nvSpPr>
        <p:spPr>
          <a:xfrm>
            <a:off x="711200" y="61722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42" name="Shape 40"/>
          <p:cNvSpPr/>
          <p:nvPr/>
        </p:nvSpPr>
        <p:spPr>
          <a:xfrm>
            <a:off x="2705100" y="6267450"/>
            <a:ext cx="2944319" cy="114300"/>
          </a:xfrm>
          <a:prstGeom prst="rect">
            <a:avLst/>
          </a:prstGeom>
          <a:solidFill>
            <a:srgbClr val="D6A23A"/>
          </a:solidFill>
          <a:ln w="7620">
            <a:solidFill>
              <a:srgbClr val="252525"/>
            </a:solidFill>
            <a:prstDash val="solid"/>
          </a:ln>
        </p:spPr>
      </p:sp>
      <p:sp>
        <p:nvSpPr>
          <p:cNvPr id="43" name="Shape 41"/>
          <p:cNvSpPr/>
          <p:nvPr/>
        </p:nvSpPr>
        <p:spPr>
          <a:xfrm>
            <a:off x="2705100" y="6286500"/>
            <a:ext cx="2944319" cy="76200"/>
          </a:xfrm>
          <a:prstGeom prst="rect">
            <a:avLst/>
          </a:prstGeom>
          <a:solidFill>
            <a:srgbClr val="D6A23A"/>
          </a:solidFill>
          <a:ln w="12700">
            <a:solidFill>
              <a:srgbClr val="D6A23A"/>
            </a:solidFill>
            <a:prstDash val="solid"/>
          </a:ln>
        </p:spPr>
      </p:sp>
      <p:sp>
        <p:nvSpPr>
          <p:cNvPr id="44" name="Shape 42"/>
          <p:cNvSpPr/>
          <p:nvPr/>
        </p:nvSpPr>
        <p:spPr>
          <a:xfrm>
            <a:off x="5611319" y="6286500"/>
            <a:ext cx="76200" cy="76200"/>
          </a:xfrm>
          <a:prstGeom prst="triangle">
            <a:avLst/>
          </a:prstGeom>
          <a:solidFill>
            <a:srgbClr val="D6A23A"/>
          </a:solidFill>
          <a:ln w="7620">
            <a:solidFill>
              <a:srgbClr val="252525"/>
            </a:solidFill>
            <a:prstDash val="solid"/>
          </a:ln>
        </p:spPr>
      </p:sp>
      <p:sp>
        <p:nvSpPr>
          <p:cNvPr id="45" name="Text 43"/>
          <p:cNvSpPr/>
          <p:nvPr/>
        </p:nvSpPr>
        <p:spPr>
          <a:xfrm>
            <a:off x="5956300" y="61849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US$1,419</a:t>
            </a:r>
            <a:endParaRPr lang="en-US" sz="950" dirty="0"/>
          </a:p>
        </p:txBody>
      </p:sp>
      <p:sp>
        <p:nvSpPr>
          <p:cNvPr id="46" name="Shape 44"/>
          <p:cNvSpPr/>
          <p:nvPr/>
        </p:nvSpPr>
        <p:spPr>
          <a:xfrm>
            <a:off x="457200" y="6718300"/>
            <a:ext cx="127000" cy="127000"/>
          </a:xfrm>
          <a:prstGeom prst="diamond">
            <a:avLst/>
          </a:prstGeom>
          <a:solidFill>
            <a:srgbClr val="315A78"/>
          </a:solidFill>
          <a:ln w="7620">
            <a:solidFill>
              <a:srgbClr val="252525"/>
            </a:solidFill>
            <a:prstDash val="solid"/>
          </a:ln>
        </p:spPr>
      </p:sp>
      <p:sp>
        <p:nvSpPr>
          <p:cNvPr id="47" name="Text 45"/>
          <p:cNvSpPr/>
          <p:nvPr/>
        </p:nvSpPr>
        <p:spPr>
          <a:xfrm>
            <a:off x="711200" y="66675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8" name="Shape 46"/>
          <p:cNvSpPr/>
          <p:nvPr/>
        </p:nvSpPr>
        <p:spPr>
          <a:xfrm>
            <a:off x="2705100" y="6781800"/>
            <a:ext cx="2152596" cy="76200"/>
          </a:xfrm>
          <a:prstGeom prst="rect">
            <a:avLst/>
          </a:prstGeom>
          <a:solidFill>
            <a:srgbClr val="315A78"/>
          </a:solidFill>
          <a:ln w="12700">
            <a:solidFill>
              <a:srgbClr val="315A78"/>
            </a:solidFill>
            <a:prstDash val="solid"/>
          </a:ln>
        </p:spPr>
      </p:sp>
      <p:sp>
        <p:nvSpPr>
          <p:cNvPr id="49" name="Shape 47"/>
          <p:cNvSpPr/>
          <p:nvPr/>
        </p:nvSpPr>
        <p:spPr>
          <a:xfrm>
            <a:off x="4819596" y="6781800"/>
            <a:ext cx="76200" cy="76200"/>
          </a:xfrm>
          <a:prstGeom prst="diamond">
            <a:avLst/>
          </a:prstGeom>
          <a:solidFill>
            <a:srgbClr val="315A78"/>
          </a:solidFill>
          <a:ln w="7620">
            <a:solidFill>
              <a:srgbClr val="252525"/>
            </a:solidFill>
            <a:prstDash val="solid"/>
          </a:ln>
        </p:spPr>
      </p:sp>
      <p:sp>
        <p:nvSpPr>
          <p:cNvPr id="50" name="Text 48"/>
          <p:cNvSpPr/>
          <p:nvPr/>
        </p:nvSpPr>
        <p:spPr>
          <a:xfrm>
            <a:off x="5956300" y="66802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US$1,038</a:t>
            </a:r>
            <a:endParaRPr lang="en-US" sz="950" dirty="0"/>
          </a:p>
        </p:txBody>
      </p:sp>
      <p:sp>
        <p:nvSpPr>
          <p:cNvPr id="51" name="Shape 49"/>
          <p:cNvSpPr/>
          <p:nvPr/>
        </p:nvSpPr>
        <p:spPr>
          <a:xfrm>
            <a:off x="457200" y="7213600"/>
            <a:ext cx="127000" cy="127000"/>
          </a:xfrm>
          <a:prstGeom prst="hexagon">
            <a:avLst/>
          </a:prstGeom>
          <a:solidFill>
            <a:srgbClr val="3E7568"/>
          </a:solidFill>
          <a:ln w="7620">
            <a:solidFill>
              <a:srgbClr val="252525"/>
            </a:solidFill>
            <a:prstDash val="solid"/>
          </a:ln>
        </p:spPr>
      </p:sp>
      <p:sp>
        <p:nvSpPr>
          <p:cNvPr id="52" name="Text 50"/>
          <p:cNvSpPr/>
          <p:nvPr/>
        </p:nvSpPr>
        <p:spPr>
          <a:xfrm>
            <a:off x="711200" y="71628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53" name="Shape 51"/>
          <p:cNvSpPr/>
          <p:nvPr/>
        </p:nvSpPr>
        <p:spPr>
          <a:xfrm>
            <a:off x="2705100" y="7277100"/>
            <a:ext cx="2626760" cy="76200"/>
          </a:xfrm>
          <a:prstGeom prst="rect">
            <a:avLst/>
          </a:prstGeom>
          <a:solidFill>
            <a:srgbClr val="3E7568"/>
          </a:solidFill>
          <a:ln w="12700">
            <a:solidFill>
              <a:srgbClr val="3E7568"/>
            </a:solidFill>
            <a:prstDash val="solid"/>
          </a:ln>
        </p:spPr>
      </p:sp>
      <p:sp>
        <p:nvSpPr>
          <p:cNvPr id="54" name="Shape 52"/>
          <p:cNvSpPr/>
          <p:nvPr/>
        </p:nvSpPr>
        <p:spPr>
          <a:xfrm>
            <a:off x="5293760" y="7277100"/>
            <a:ext cx="76200" cy="76200"/>
          </a:xfrm>
          <a:prstGeom prst="hexagon">
            <a:avLst/>
          </a:prstGeom>
          <a:solidFill>
            <a:srgbClr val="3E7568"/>
          </a:solidFill>
          <a:ln w="7620">
            <a:solidFill>
              <a:srgbClr val="252525"/>
            </a:solidFill>
            <a:prstDash val="solid"/>
          </a:ln>
        </p:spPr>
      </p:sp>
      <p:sp>
        <p:nvSpPr>
          <p:cNvPr id="55" name="Text 53"/>
          <p:cNvSpPr/>
          <p:nvPr/>
        </p:nvSpPr>
        <p:spPr>
          <a:xfrm>
            <a:off x="5956300" y="71755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US$1,266 †</a:t>
            </a:r>
            <a:endParaRPr lang="en-US" sz="950" dirty="0"/>
          </a:p>
        </p:txBody>
      </p:sp>
      <p:sp>
        <p:nvSpPr>
          <p:cNvPr id="56" name="Shape 54"/>
          <p:cNvSpPr/>
          <p:nvPr/>
        </p:nvSpPr>
        <p:spPr>
          <a:xfrm>
            <a:off x="457200" y="7752080"/>
            <a:ext cx="127000" cy="40640"/>
          </a:xfrm>
          <a:prstGeom prst="rect">
            <a:avLst/>
          </a:prstGeom>
          <a:solidFill>
            <a:srgbClr val="252525"/>
          </a:solidFill>
          <a:ln w="12700">
            <a:solidFill>
              <a:srgbClr val="252525"/>
            </a:solidFill>
            <a:prstDash val="solid"/>
          </a:ln>
        </p:spPr>
      </p:sp>
      <p:sp>
        <p:nvSpPr>
          <p:cNvPr id="57" name="Shape 55"/>
          <p:cNvSpPr/>
          <p:nvPr/>
        </p:nvSpPr>
        <p:spPr>
          <a:xfrm>
            <a:off x="500380" y="7708900"/>
            <a:ext cx="40640" cy="127000"/>
          </a:xfrm>
          <a:prstGeom prst="rect">
            <a:avLst/>
          </a:prstGeom>
          <a:solidFill>
            <a:srgbClr val="252525"/>
          </a:solidFill>
          <a:ln w="12700">
            <a:solidFill>
              <a:srgbClr val="252525"/>
            </a:solidFill>
            <a:prstDash val="solid"/>
          </a:ln>
        </p:spPr>
      </p:sp>
      <p:sp>
        <p:nvSpPr>
          <p:cNvPr id="58" name="Shape 56"/>
          <p:cNvSpPr/>
          <p:nvPr/>
        </p:nvSpPr>
        <p:spPr>
          <a:xfrm>
            <a:off x="457200" y="7760970"/>
            <a:ext cx="127000" cy="22860"/>
          </a:xfrm>
          <a:prstGeom prst="rect">
            <a:avLst/>
          </a:prstGeom>
          <a:solidFill>
            <a:srgbClr val="A63A3A"/>
          </a:solidFill>
          <a:ln w="12700">
            <a:solidFill>
              <a:srgbClr val="A63A3A"/>
            </a:solidFill>
            <a:prstDash val="solid"/>
          </a:ln>
        </p:spPr>
      </p:sp>
      <p:sp>
        <p:nvSpPr>
          <p:cNvPr id="59" name="Shape 57"/>
          <p:cNvSpPr/>
          <p:nvPr/>
        </p:nvSpPr>
        <p:spPr>
          <a:xfrm>
            <a:off x="509270" y="7708900"/>
            <a:ext cx="22860" cy="127000"/>
          </a:xfrm>
          <a:prstGeom prst="rect">
            <a:avLst/>
          </a:prstGeom>
          <a:solidFill>
            <a:srgbClr val="A63A3A"/>
          </a:solidFill>
          <a:ln w="12700">
            <a:solidFill>
              <a:srgbClr val="A63A3A"/>
            </a:solidFill>
            <a:prstDash val="solid"/>
          </a:ln>
        </p:spPr>
      </p:sp>
      <p:sp>
        <p:nvSpPr>
          <p:cNvPr id="60" name="Text 58"/>
          <p:cNvSpPr/>
          <p:nvPr/>
        </p:nvSpPr>
        <p:spPr>
          <a:xfrm>
            <a:off x="711200" y="76581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1" name="Shape 59"/>
          <p:cNvSpPr/>
          <p:nvPr/>
        </p:nvSpPr>
        <p:spPr>
          <a:xfrm>
            <a:off x="2705100" y="7772400"/>
            <a:ext cx="2331099" cy="76200"/>
          </a:xfrm>
          <a:prstGeom prst="rect">
            <a:avLst/>
          </a:prstGeom>
          <a:solidFill>
            <a:srgbClr val="A63A3A"/>
          </a:solidFill>
          <a:ln w="12700">
            <a:solidFill>
              <a:srgbClr val="A63A3A"/>
            </a:solidFill>
            <a:prstDash val="solid"/>
          </a:ln>
        </p:spPr>
      </p:sp>
      <p:sp>
        <p:nvSpPr>
          <p:cNvPr id="62" name="Shape 60"/>
          <p:cNvSpPr/>
          <p:nvPr/>
        </p:nvSpPr>
        <p:spPr>
          <a:xfrm>
            <a:off x="4998099" y="7790180"/>
            <a:ext cx="76200" cy="40640"/>
          </a:xfrm>
          <a:prstGeom prst="rect">
            <a:avLst/>
          </a:prstGeom>
          <a:solidFill>
            <a:srgbClr val="252525"/>
          </a:solidFill>
          <a:ln w="12700">
            <a:solidFill>
              <a:srgbClr val="252525"/>
            </a:solidFill>
            <a:prstDash val="solid"/>
          </a:ln>
        </p:spPr>
      </p:sp>
      <p:sp>
        <p:nvSpPr>
          <p:cNvPr id="63" name="Shape 61"/>
          <p:cNvSpPr/>
          <p:nvPr/>
        </p:nvSpPr>
        <p:spPr>
          <a:xfrm>
            <a:off x="5015879" y="7772400"/>
            <a:ext cx="40640" cy="76200"/>
          </a:xfrm>
          <a:prstGeom prst="rect">
            <a:avLst/>
          </a:prstGeom>
          <a:solidFill>
            <a:srgbClr val="252525"/>
          </a:solidFill>
          <a:ln w="12700">
            <a:solidFill>
              <a:srgbClr val="252525"/>
            </a:solidFill>
            <a:prstDash val="solid"/>
          </a:ln>
        </p:spPr>
      </p:sp>
      <p:sp>
        <p:nvSpPr>
          <p:cNvPr id="64" name="Shape 62"/>
          <p:cNvSpPr/>
          <p:nvPr/>
        </p:nvSpPr>
        <p:spPr>
          <a:xfrm>
            <a:off x="4998099" y="7799070"/>
            <a:ext cx="76200" cy="22860"/>
          </a:xfrm>
          <a:prstGeom prst="rect">
            <a:avLst/>
          </a:prstGeom>
          <a:solidFill>
            <a:srgbClr val="A63A3A"/>
          </a:solidFill>
          <a:ln w="12700">
            <a:solidFill>
              <a:srgbClr val="A63A3A"/>
            </a:solidFill>
            <a:prstDash val="solid"/>
          </a:ln>
        </p:spPr>
      </p:sp>
      <p:sp>
        <p:nvSpPr>
          <p:cNvPr id="65" name="Shape 63"/>
          <p:cNvSpPr/>
          <p:nvPr/>
        </p:nvSpPr>
        <p:spPr>
          <a:xfrm>
            <a:off x="5024769" y="7772400"/>
            <a:ext cx="22860" cy="76200"/>
          </a:xfrm>
          <a:prstGeom prst="rect">
            <a:avLst/>
          </a:prstGeom>
          <a:solidFill>
            <a:srgbClr val="A63A3A"/>
          </a:solidFill>
          <a:ln w="12700">
            <a:solidFill>
              <a:srgbClr val="A63A3A"/>
            </a:solidFill>
            <a:prstDash val="solid"/>
          </a:ln>
        </p:spPr>
      </p:sp>
      <p:sp>
        <p:nvSpPr>
          <p:cNvPr id="66" name="Text 64"/>
          <p:cNvSpPr/>
          <p:nvPr/>
        </p:nvSpPr>
        <p:spPr>
          <a:xfrm>
            <a:off x="5956300" y="76708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US$1,124</a:t>
            </a:r>
            <a:endParaRPr lang="en-US" sz="950" dirty="0"/>
          </a:p>
        </p:txBody>
      </p:sp>
      <p:sp>
        <p:nvSpPr>
          <p:cNvPr id="67" name="Text 65"/>
          <p:cNvSpPr/>
          <p:nvPr/>
        </p:nvSpPr>
        <p:spPr>
          <a:xfrm>
            <a:off x="457200" y="8394700"/>
            <a:ext cx="6642100" cy="419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Bar scale: US$0–1,500. † Malaysia: retrospective territorial series; 1960 predates the 1963 federation and Singapore’s 1965 exit.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2020: the paths have split.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 same income measure. Six very different outcomes.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the COVID-19 year. The comparison does not measure purchasing power, freedom, health or the causes of growth.</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23" name="Shape 21"/>
          <p:cNvSpPr/>
          <p:nvPr/>
        </p:nvSpPr>
        <p:spPr>
          <a:xfrm>
            <a:off x="457200" y="3289300"/>
            <a:ext cx="127000" cy="127000"/>
          </a:xfrm>
          <a:prstGeom prst="ellipse">
            <a:avLst/>
          </a:prstGeom>
          <a:solidFill>
            <a:srgbClr val="B95332"/>
          </a:solidFill>
          <a:ln w="7620">
            <a:solidFill>
              <a:srgbClr val="252525"/>
            </a:solidFill>
            <a:prstDash val="solid"/>
          </a:ln>
        </p:spPr>
      </p:sp>
      <p:sp>
        <p:nvSpPr>
          <p:cNvPr id="24" name="Text 22"/>
          <p:cNvSpPr/>
          <p:nvPr/>
        </p:nvSpPr>
        <p:spPr>
          <a:xfrm>
            <a:off x="711200" y="32385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5" name="Shape 23"/>
          <p:cNvSpPr/>
          <p:nvPr/>
        </p:nvSpPr>
        <p:spPr>
          <a:xfrm>
            <a:off x="2590800" y="3359150"/>
            <a:ext cx="171576" cy="114300"/>
          </a:xfrm>
          <a:prstGeom prst="rect">
            <a:avLst/>
          </a:prstGeom>
          <a:solidFill>
            <a:srgbClr val="B95332"/>
          </a:solidFill>
          <a:ln w="12700">
            <a:solidFill>
              <a:srgbClr val="B95332"/>
            </a:solidFill>
            <a:prstDash val="solid"/>
          </a:ln>
        </p:spPr>
      </p:sp>
      <p:sp>
        <p:nvSpPr>
          <p:cNvPr id="26" name="Shape 24"/>
          <p:cNvSpPr/>
          <p:nvPr/>
        </p:nvSpPr>
        <p:spPr>
          <a:xfrm>
            <a:off x="2724276" y="3378200"/>
            <a:ext cx="76200" cy="76200"/>
          </a:xfrm>
          <a:prstGeom prst="ellipse">
            <a:avLst/>
          </a:prstGeom>
          <a:solidFill>
            <a:srgbClr val="B95332"/>
          </a:solidFill>
          <a:ln w="7620">
            <a:solidFill>
              <a:srgbClr val="252525"/>
            </a:solidFill>
            <a:prstDash val="solid"/>
          </a:ln>
        </p:spPr>
      </p:sp>
      <p:sp>
        <p:nvSpPr>
          <p:cNvPr id="27" name="Text 25"/>
          <p:cNvSpPr/>
          <p:nvPr/>
        </p:nvSpPr>
        <p:spPr>
          <a:xfrm>
            <a:off x="5803900" y="32639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US$1,970</a:t>
            </a:r>
            <a:endParaRPr lang="en-US" sz="1200" dirty="0"/>
          </a:p>
        </p:txBody>
      </p:sp>
      <p:sp>
        <p:nvSpPr>
          <p:cNvPr id="28" name="Shape 26"/>
          <p:cNvSpPr/>
          <p:nvPr/>
        </p:nvSpPr>
        <p:spPr>
          <a:xfrm>
            <a:off x="457200" y="4038600"/>
            <a:ext cx="127000" cy="127000"/>
          </a:xfrm>
          <a:prstGeom prst="rect">
            <a:avLst/>
          </a:prstGeom>
          <a:solidFill>
            <a:srgbClr val="3F684E"/>
          </a:solidFill>
          <a:ln w="7620">
            <a:solidFill>
              <a:srgbClr val="252525"/>
            </a:solidFill>
            <a:prstDash val="solid"/>
          </a:ln>
        </p:spPr>
      </p:sp>
      <p:sp>
        <p:nvSpPr>
          <p:cNvPr id="29" name="Text 27"/>
          <p:cNvSpPr/>
          <p:nvPr/>
        </p:nvSpPr>
        <p:spPr>
          <a:xfrm>
            <a:off x="711200" y="39878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0" name="Shape 28"/>
          <p:cNvSpPr/>
          <p:nvPr/>
        </p:nvSpPr>
        <p:spPr>
          <a:xfrm>
            <a:off x="2590800" y="4108450"/>
            <a:ext cx="544656" cy="114300"/>
          </a:xfrm>
          <a:prstGeom prst="rect">
            <a:avLst/>
          </a:prstGeom>
          <a:solidFill>
            <a:srgbClr val="3F684E"/>
          </a:solidFill>
          <a:ln w="12700">
            <a:solidFill>
              <a:srgbClr val="3F684E"/>
            </a:solidFill>
            <a:prstDash val="solid"/>
          </a:ln>
        </p:spPr>
      </p:sp>
      <p:sp>
        <p:nvSpPr>
          <p:cNvPr id="31" name="Shape 29"/>
          <p:cNvSpPr/>
          <p:nvPr/>
        </p:nvSpPr>
        <p:spPr>
          <a:xfrm>
            <a:off x="3097356" y="4127500"/>
            <a:ext cx="76200" cy="76200"/>
          </a:xfrm>
          <a:prstGeom prst="rect">
            <a:avLst/>
          </a:prstGeom>
          <a:solidFill>
            <a:srgbClr val="3F684E"/>
          </a:solidFill>
          <a:ln w="7620">
            <a:solidFill>
              <a:srgbClr val="252525"/>
            </a:solidFill>
            <a:prstDash val="solid"/>
          </a:ln>
        </p:spPr>
      </p:sp>
      <p:sp>
        <p:nvSpPr>
          <p:cNvPr id="32" name="Text 30"/>
          <p:cNvSpPr/>
          <p:nvPr/>
        </p:nvSpPr>
        <p:spPr>
          <a:xfrm>
            <a:off x="5803900" y="40132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US$6,254</a:t>
            </a:r>
            <a:endParaRPr lang="en-US" sz="1200" dirty="0"/>
          </a:p>
        </p:txBody>
      </p:sp>
      <p:sp>
        <p:nvSpPr>
          <p:cNvPr id="33" name="Shape 31"/>
          <p:cNvSpPr/>
          <p:nvPr/>
        </p:nvSpPr>
        <p:spPr>
          <a:xfrm>
            <a:off x="457200" y="4787900"/>
            <a:ext cx="127000" cy="127000"/>
          </a:xfrm>
          <a:prstGeom prst="triangle">
            <a:avLst/>
          </a:prstGeom>
          <a:solidFill>
            <a:srgbClr val="D6A23A"/>
          </a:solidFill>
          <a:ln w="7620">
            <a:solidFill>
              <a:srgbClr val="252525"/>
            </a:solidFill>
            <a:prstDash val="solid"/>
          </a:ln>
        </p:spPr>
      </p:sp>
      <p:sp>
        <p:nvSpPr>
          <p:cNvPr id="34" name="Text 32"/>
          <p:cNvSpPr/>
          <p:nvPr/>
        </p:nvSpPr>
        <p:spPr>
          <a:xfrm>
            <a:off x="711200" y="47371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5" name="Shape 33"/>
          <p:cNvSpPr/>
          <p:nvPr/>
        </p:nvSpPr>
        <p:spPr>
          <a:xfrm>
            <a:off x="2590800" y="4838700"/>
            <a:ext cx="830240" cy="152400"/>
          </a:xfrm>
          <a:prstGeom prst="rect">
            <a:avLst/>
          </a:prstGeom>
          <a:solidFill>
            <a:srgbClr val="D6A23A"/>
          </a:solidFill>
          <a:ln w="7620">
            <a:solidFill>
              <a:srgbClr val="252525"/>
            </a:solidFill>
            <a:prstDash val="solid"/>
          </a:ln>
        </p:spPr>
      </p:sp>
      <p:sp>
        <p:nvSpPr>
          <p:cNvPr id="36" name="Shape 34"/>
          <p:cNvSpPr/>
          <p:nvPr/>
        </p:nvSpPr>
        <p:spPr>
          <a:xfrm>
            <a:off x="2590800" y="4857750"/>
            <a:ext cx="830240" cy="114300"/>
          </a:xfrm>
          <a:prstGeom prst="rect">
            <a:avLst/>
          </a:prstGeom>
          <a:solidFill>
            <a:srgbClr val="D6A23A"/>
          </a:solidFill>
          <a:ln w="12700">
            <a:solidFill>
              <a:srgbClr val="D6A23A"/>
            </a:solidFill>
            <a:prstDash val="solid"/>
          </a:ln>
        </p:spPr>
      </p:sp>
      <p:sp>
        <p:nvSpPr>
          <p:cNvPr id="37" name="Shape 35"/>
          <p:cNvSpPr/>
          <p:nvPr/>
        </p:nvSpPr>
        <p:spPr>
          <a:xfrm>
            <a:off x="3382940" y="4876800"/>
            <a:ext cx="76200" cy="76200"/>
          </a:xfrm>
          <a:prstGeom prst="triangle">
            <a:avLst/>
          </a:prstGeom>
          <a:solidFill>
            <a:srgbClr val="D6A23A"/>
          </a:solidFill>
          <a:ln w="7620">
            <a:solidFill>
              <a:srgbClr val="252525"/>
            </a:solidFill>
            <a:prstDash val="solid"/>
          </a:ln>
        </p:spPr>
      </p:sp>
      <p:sp>
        <p:nvSpPr>
          <p:cNvPr id="38" name="Text 36"/>
          <p:cNvSpPr/>
          <p:nvPr/>
        </p:nvSpPr>
        <p:spPr>
          <a:xfrm>
            <a:off x="5803900" y="47625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US$9,534</a:t>
            </a:r>
            <a:endParaRPr lang="en-US" sz="1200" dirty="0"/>
          </a:p>
        </p:txBody>
      </p:sp>
      <p:sp>
        <p:nvSpPr>
          <p:cNvPr id="39" name="Shape 37"/>
          <p:cNvSpPr/>
          <p:nvPr/>
        </p:nvSpPr>
        <p:spPr>
          <a:xfrm>
            <a:off x="457200" y="5537200"/>
            <a:ext cx="127000" cy="127000"/>
          </a:xfrm>
          <a:prstGeom prst="diamond">
            <a:avLst/>
          </a:prstGeom>
          <a:solidFill>
            <a:srgbClr val="315A78"/>
          </a:solidFill>
          <a:ln w="7620">
            <a:solidFill>
              <a:srgbClr val="252525"/>
            </a:solidFill>
            <a:prstDash val="solid"/>
          </a:ln>
        </p:spPr>
      </p:sp>
      <p:sp>
        <p:nvSpPr>
          <p:cNvPr id="40" name="Text 38"/>
          <p:cNvSpPr/>
          <p:nvPr/>
        </p:nvSpPr>
        <p:spPr>
          <a:xfrm>
            <a:off x="711200" y="54864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1" name="Shape 39"/>
          <p:cNvSpPr/>
          <p:nvPr/>
        </p:nvSpPr>
        <p:spPr>
          <a:xfrm>
            <a:off x="2590800" y="5607050"/>
            <a:ext cx="2892633" cy="114300"/>
          </a:xfrm>
          <a:prstGeom prst="rect">
            <a:avLst/>
          </a:prstGeom>
          <a:solidFill>
            <a:srgbClr val="315A78"/>
          </a:solidFill>
          <a:ln w="12700">
            <a:solidFill>
              <a:srgbClr val="315A78"/>
            </a:solidFill>
            <a:prstDash val="solid"/>
          </a:ln>
        </p:spPr>
      </p:sp>
      <p:sp>
        <p:nvSpPr>
          <p:cNvPr id="42" name="Shape 40"/>
          <p:cNvSpPr/>
          <p:nvPr/>
        </p:nvSpPr>
        <p:spPr>
          <a:xfrm>
            <a:off x="5445333" y="5626100"/>
            <a:ext cx="76200" cy="76200"/>
          </a:xfrm>
          <a:prstGeom prst="diamond">
            <a:avLst/>
          </a:prstGeom>
          <a:solidFill>
            <a:srgbClr val="315A78"/>
          </a:solidFill>
          <a:ln w="7620">
            <a:solidFill>
              <a:srgbClr val="252525"/>
            </a:solidFill>
            <a:prstDash val="solid"/>
          </a:ln>
        </p:spPr>
      </p:sp>
      <p:sp>
        <p:nvSpPr>
          <p:cNvPr id="43" name="Text 41"/>
          <p:cNvSpPr/>
          <p:nvPr/>
        </p:nvSpPr>
        <p:spPr>
          <a:xfrm>
            <a:off x="5803900" y="55118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44" name="Shape 42"/>
          <p:cNvSpPr/>
          <p:nvPr/>
        </p:nvSpPr>
        <p:spPr>
          <a:xfrm>
            <a:off x="457200" y="6286500"/>
            <a:ext cx="127000" cy="127000"/>
          </a:xfrm>
          <a:prstGeom prst="hexagon">
            <a:avLst/>
          </a:prstGeom>
          <a:solidFill>
            <a:srgbClr val="3E7568"/>
          </a:solidFill>
          <a:ln w="7620">
            <a:solidFill>
              <a:srgbClr val="252525"/>
            </a:solidFill>
            <a:prstDash val="solid"/>
          </a:ln>
        </p:spPr>
      </p:sp>
      <p:sp>
        <p:nvSpPr>
          <p:cNvPr id="45" name="Text 43"/>
          <p:cNvSpPr/>
          <p:nvPr/>
        </p:nvSpPr>
        <p:spPr>
          <a:xfrm>
            <a:off x="711200" y="62357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6" name="Shape 44"/>
          <p:cNvSpPr/>
          <p:nvPr/>
        </p:nvSpPr>
        <p:spPr>
          <a:xfrm>
            <a:off x="2590800" y="6356350"/>
            <a:ext cx="885789" cy="114300"/>
          </a:xfrm>
          <a:prstGeom prst="rect">
            <a:avLst/>
          </a:prstGeom>
          <a:solidFill>
            <a:srgbClr val="3E7568"/>
          </a:solidFill>
          <a:ln w="12700">
            <a:solidFill>
              <a:srgbClr val="3E7568"/>
            </a:solidFill>
            <a:prstDash val="solid"/>
          </a:ln>
        </p:spPr>
      </p:sp>
      <p:sp>
        <p:nvSpPr>
          <p:cNvPr id="47" name="Shape 45"/>
          <p:cNvSpPr/>
          <p:nvPr/>
        </p:nvSpPr>
        <p:spPr>
          <a:xfrm>
            <a:off x="3438489" y="6375400"/>
            <a:ext cx="76200" cy="76200"/>
          </a:xfrm>
          <a:prstGeom prst="hexagon">
            <a:avLst/>
          </a:prstGeom>
          <a:solidFill>
            <a:srgbClr val="3E7568"/>
          </a:solidFill>
          <a:ln w="7620">
            <a:solidFill>
              <a:srgbClr val="252525"/>
            </a:solidFill>
            <a:prstDash val="solid"/>
          </a:ln>
        </p:spPr>
      </p:sp>
      <p:sp>
        <p:nvSpPr>
          <p:cNvPr id="48" name="Text 46"/>
          <p:cNvSpPr/>
          <p:nvPr/>
        </p:nvSpPr>
        <p:spPr>
          <a:xfrm>
            <a:off x="5803900" y="62611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US$10,171</a:t>
            </a:r>
            <a:endParaRPr lang="en-US" sz="1200" dirty="0"/>
          </a:p>
        </p:txBody>
      </p:sp>
      <p:sp>
        <p:nvSpPr>
          <p:cNvPr id="49" name="Shape 47"/>
          <p:cNvSpPr/>
          <p:nvPr/>
        </p:nvSpPr>
        <p:spPr>
          <a:xfrm>
            <a:off x="457200" y="7078980"/>
            <a:ext cx="127000" cy="40640"/>
          </a:xfrm>
          <a:prstGeom prst="rect">
            <a:avLst/>
          </a:prstGeom>
          <a:solidFill>
            <a:srgbClr val="252525"/>
          </a:solidFill>
          <a:ln w="12700">
            <a:solidFill>
              <a:srgbClr val="252525"/>
            </a:solidFill>
            <a:prstDash val="solid"/>
          </a:ln>
        </p:spPr>
      </p:sp>
      <p:sp>
        <p:nvSpPr>
          <p:cNvPr id="50" name="Shape 48"/>
          <p:cNvSpPr/>
          <p:nvPr/>
        </p:nvSpPr>
        <p:spPr>
          <a:xfrm>
            <a:off x="500380" y="7035800"/>
            <a:ext cx="40640" cy="127000"/>
          </a:xfrm>
          <a:prstGeom prst="rect">
            <a:avLst/>
          </a:prstGeom>
          <a:solidFill>
            <a:srgbClr val="252525"/>
          </a:solidFill>
          <a:ln w="12700">
            <a:solidFill>
              <a:srgbClr val="252525"/>
            </a:solidFill>
            <a:prstDash val="solid"/>
          </a:ln>
        </p:spPr>
      </p:sp>
      <p:sp>
        <p:nvSpPr>
          <p:cNvPr id="51" name="Shape 49"/>
          <p:cNvSpPr/>
          <p:nvPr/>
        </p:nvSpPr>
        <p:spPr>
          <a:xfrm>
            <a:off x="457200" y="7087870"/>
            <a:ext cx="127000" cy="22860"/>
          </a:xfrm>
          <a:prstGeom prst="rect">
            <a:avLst/>
          </a:prstGeom>
          <a:solidFill>
            <a:srgbClr val="A63A3A"/>
          </a:solidFill>
          <a:ln w="12700">
            <a:solidFill>
              <a:srgbClr val="A63A3A"/>
            </a:solidFill>
            <a:prstDash val="solid"/>
          </a:ln>
        </p:spPr>
      </p:sp>
      <p:sp>
        <p:nvSpPr>
          <p:cNvPr id="52" name="Shape 50"/>
          <p:cNvSpPr/>
          <p:nvPr/>
        </p:nvSpPr>
        <p:spPr>
          <a:xfrm>
            <a:off x="509270" y="7035800"/>
            <a:ext cx="22860" cy="127000"/>
          </a:xfrm>
          <a:prstGeom prst="rect">
            <a:avLst/>
          </a:prstGeom>
          <a:solidFill>
            <a:srgbClr val="A63A3A"/>
          </a:solidFill>
          <a:ln w="12700">
            <a:solidFill>
              <a:srgbClr val="A63A3A"/>
            </a:solidFill>
            <a:prstDash val="solid"/>
          </a:ln>
        </p:spPr>
      </p:sp>
      <p:sp>
        <p:nvSpPr>
          <p:cNvPr id="53" name="Text 51"/>
          <p:cNvSpPr/>
          <p:nvPr/>
        </p:nvSpPr>
        <p:spPr>
          <a:xfrm>
            <a:off x="711200" y="69850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4" name="Shape 52"/>
          <p:cNvSpPr/>
          <p:nvPr/>
        </p:nvSpPr>
        <p:spPr>
          <a:xfrm>
            <a:off x="2590800" y="7105650"/>
            <a:ext cx="278558" cy="114300"/>
          </a:xfrm>
          <a:prstGeom prst="rect">
            <a:avLst/>
          </a:prstGeom>
          <a:solidFill>
            <a:srgbClr val="A63A3A"/>
          </a:solidFill>
          <a:ln w="12700">
            <a:solidFill>
              <a:srgbClr val="A63A3A"/>
            </a:solidFill>
            <a:prstDash val="solid"/>
          </a:ln>
        </p:spPr>
      </p:sp>
      <p:sp>
        <p:nvSpPr>
          <p:cNvPr id="55" name="Shape 53"/>
          <p:cNvSpPr/>
          <p:nvPr/>
        </p:nvSpPr>
        <p:spPr>
          <a:xfrm>
            <a:off x="2831258" y="7142480"/>
            <a:ext cx="76200" cy="40640"/>
          </a:xfrm>
          <a:prstGeom prst="rect">
            <a:avLst/>
          </a:prstGeom>
          <a:solidFill>
            <a:srgbClr val="252525"/>
          </a:solidFill>
          <a:ln w="12700">
            <a:solidFill>
              <a:srgbClr val="252525"/>
            </a:solidFill>
            <a:prstDash val="solid"/>
          </a:ln>
        </p:spPr>
      </p:sp>
      <p:sp>
        <p:nvSpPr>
          <p:cNvPr id="56" name="Shape 54"/>
          <p:cNvSpPr/>
          <p:nvPr/>
        </p:nvSpPr>
        <p:spPr>
          <a:xfrm>
            <a:off x="2849038" y="7124700"/>
            <a:ext cx="40640" cy="76200"/>
          </a:xfrm>
          <a:prstGeom prst="rect">
            <a:avLst/>
          </a:prstGeom>
          <a:solidFill>
            <a:srgbClr val="252525"/>
          </a:solidFill>
          <a:ln w="12700">
            <a:solidFill>
              <a:srgbClr val="252525"/>
            </a:solidFill>
            <a:prstDash val="solid"/>
          </a:ln>
        </p:spPr>
      </p:sp>
      <p:sp>
        <p:nvSpPr>
          <p:cNvPr id="57" name="Shape 55"/>
          <p:cNvSpPr/>
          <p:nvPr/>
        </p:nvSpPr>
        <p:spPr>
          <a:xfrm>
            <a:off x="2831258" y="7151370"/>
            <a:ext cx="76200" cy="22860"/>
          </a:xfrm>
          <a:prstGeom prst="rect">
            <a:avLst/>
          </a:prstGeom>
          <a:solidFill>
            <a:srgbClr val="A63A3A"/>
          </a:solidFill>
          <a:ln w="12700">
            <a:solidFill>
              <a:srgbClr val="A63A3A"/>
            </a:solidFill>
            <a:prstDash val="solid"/>
          </a:ln>
        </p:spPr>
      </p:sp>
      <p:sp>
        <p:nvSpPr>
          <p:cNvPr id="58" name="Shape 56"/>
          <p:cNvSpPr/>
          <p:nvPr/>
        </p:nvSpPr>
        <p:spPr>
          <a:xfrm>
            <a:off x="2857928" y="7124700"/>
            <a:ext cx="22860" cy="76200"/>
          </a:xfrm>
          <a:prstGeom prst="rect">
            <a:avLst/>
          </a:prstGeom>
          <a:solidFill>
            <a:srgbClr val="A63A3A"/>
          </a:solidFill>
          <a:ln w="12700">
            <a:solidFill>
              <a:srgbClr val="A63A3A"/>
            </a:solidFill>
            <a:prstDash val="solid"/>
          </a:ln>
        </p:spPr>
      </p:sp>
      <p:sp>
        <p:nvSpPr>
          <p:cNvPr id="59" name="Text 57"/>
          <p:cNvSpPr/>
          <p:nvPr/>
        </p:nvSpPr>
        <p:spPr>
          <a:xfrm>
            <a:off x="5803900" y="70104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US$3,199</a:t>
            </a:r>
            <a:endParaRPr lang="en-US" sz="1200" dirty="0"/>
          </a:p>
        </p:txBody>
      </p:sp>
      <p:sp>
        <p:nvSpPr>
          <p:cNvPr id="60" name="Text 58"/>
          <p:cNvSpPr/>
          <p:nvPr/>
        </p:nvSpPr>
        <p:spPr>
          <a:xfrm>
            <a:off x="2590800" y="7937500"/>
            <a:ext cx="571500" cy="215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61" name="Text 59"/>
          <p:cNvSpPr/>
          <p:nvPr/>
        </p:nvSpPr>
        <p:spPr>
          <a:xfrm>
            <a:off x="4813300" y="7937500"/>
            <a:ext cx="1079500" cy="2159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US$35,000</a:t>
            </a:r>
            <a:endParaRPr lang="en-US" sz="800" dirty="0"/>
          </a:p>
        </p:txBody>
      </p:sp>
      <p:sp>
        <p:nvSpPr>
          <p:cNvPr id="62" name="Text 60"/>
          <p:cNvSpPr/>
          <p:nvPr/>
        </p:nvSpPr>
        <p:spPr>
          <a:xfrm>
            <a:off x="457200" y="8166100"/>
            <a:ext cx="6642100" cy="6985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Different outcomes inside</a:t>
            </a:r>
            <a:endParaRPr lang="en-US" sz="2200" dirty="0"/>
          </a:p>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both continents.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Find the countries. Then rewind.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These are present-day locations. Their political starting points came at different times.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map is generalized and present-day—not a 1914 colonial map. Mauritius is located by a point. Independence dates do not measure state capacity.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Haggard et al. (1997, pp. 867–870); Asadullah et al. (2024, pp. 13–15); Dolan (1993), archival recheck pending. Map: Natural Earth (n.d.), v5.1.1; full credit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pic>
        <p:nvPicPr>
          <p:cNvPr id="11" name="Image 0" descr="/Users/marcusgrude-grodem/Documents/GitHub/USIL/africa-asia-development-magazine/design/canva_editorial_draft/assets/maps/world_locator.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3073400"/>
            <a:ext cx="6413500" cy="2565400"/>
          </a:xfrm>
          <a:prstGeom prst="rect">
            <a:avLst/>
          </a:prstGeom>
        </p:spPr>
      </p:pic>
      <p:sp>
        <p:nvSpPr>
          <p:cNvPr id="12" name="Shape 9"/>
          <p:cNvSpPr/>
          <p:nvPr/>
        </p:nvSpPr>
        <p:spPr>
          <a:xfrm>
            <a:off x="3677227" y="4358162"/>
            <a:ext cx="165100" cy="165100"/>
          </a:xfrm>
          <a:prstGeom prst="ellipse">
            <a:avLst/>
          </a:prstGeom>
          <a:solidFill>
            <a:srgbClr val="B95332"/>
          </a:solidFill>
          <a:ln w="7620">
            <a:solidFill>
              <a:srgbClr val="252525"/>
            </a:solidFill>
            <a:prstDash val="solid"/>
          </a:ln>
        </p:spPr>
      </p:sp>
      <p:sp>
        <p:nvSpPr>
          <p:cNvPr id="13" name="Shape 10"/>
          <p:cNvSpPr/>
          <p:nvPr/>
        </p:nvSpPr>
        <p:spPr>
          <a:xfrm>
            <a:off x="4126459" y="4885754"/>
            <a:ext cx="165100" cy="165100"/>
          </a:xfrm>
          <a:prstGeom prst="rect">
            <a:avLst/>
          </a:prstGeom>
          <a:solidFill>
            <a:srgbClr val="3F684E"/>
          </a:solidFill>
          <a:ln w="7620">
            <a:solidFill>
              <a:srgbClr val="252525"/>
            </a:solidFill>
            <a:prstDash val="solid"/>
          </a:ln>
        </p:spPr>
      </p:sp>
      <p:sp>
        <p:nvSpPr>
          <p:cNvPr id="14" name="Shape 11"/>
          <p:cNvSpPr/>
          <p:nvPr/>
        </p:nvSpPr>
        <p:spPr>
          <a:xfrm>
            <a:off x="4720078" y="4852092"/>
            <a:ext cx="165100" cy="165100"/>
          </a:xfrm>
          <a:prstGeom prst="triangle">
            <a:avLst/>
          </a:prstGeom>
          <a:solidFill>
            <a:srgbClr val="D6A23A"/>
          </a:solidFill>
          <a:ln w="7620">
            <a:solidFill>
              <a:srgbClr val="252525"/>
            </a:solidFill>
            <a:prstDash val="solid"/>
          </a:ln>
        </p:spPr>
      </p:sp>
      <p:sp>
        <p:nvSpPr>
          <p:cNvPr id="15" name="Shape 12"/>
          <p:cNvSpPr/>
          <p:nvPr/>
        </p:nvSpPr>
        <p:spPr>
          <a:xfrm>
            <a:off x="5978363" y="3850968"/>
            <a:ext cx="165100" cy="165100"/>
          </a:xfrm>
          <a:prstGeom prst="diamond">
            <a:avLst/>
          </a:prstGeom>
          <a:solidFill>
            <a:srgbClr val="315A78"/>
          </a:solidFill>
          <a:ln w="7620">
            <a:solidFill>
              <a:srgbClr val="252525"/>
            </a:solidFill>
            <a:prstDash val="solid"/>
          </a:ln>
        </p:spPr>
      </p:sp>
      <p:sp>
        <p:nvSpPr>
          <p:cNvPr id="16" name="Shape 13"/>
          <p:cNvSpPr/>
          <p:nvPr/>
        </p:nvSpPr>
        <p:spPr>
          <a:xfrm>
            <a:off x="5723739" y="4449967"/>
            <a:ext cx="165100" cy="165100"/>
          </a:xfrm>
          <a:prstGeom prst="hexagon">
            <a:avLst/>
          </a:prstGeom>
          <a:solidFill>
            <a:srgbClr val="3E7568"/>
          </a:solidFill>
          <a:ln w="7620">
            <a:solidFill>
              <a:srgbClr val="252525"/>
            </a:solidFill>
            <a:prstDash val="solid"/>
          </a:ln>
        </p:spPr>
      </p:sp>
      <p:sp>
        <p:nvSpPr>
          <p:cNvPr id="17" name="Shape 14"/>
          <p:cNvSpPr/>
          <p:nvPr/>
        </p:nvSpPr>
        <p:spPr>
          <a:xfrm>
            <a:off x="5877448" y="4358816"/>
            <a:ext cx="165100" cy="40640"/>
          </a:xfrm>
          <a:prstGeom prst="rect">
            <a:avLst/>
          </a:prstGeom>
          <a:solidFill>
            <a:srgbClr val="252525"/>
          </a:solidFill>
          <a:ln w="12700">
            <a:solidFill>
              <a:srgbClr val="252525"/>
            </a:solidFill>
            <a:prstDash val="solid"/>
          </a:ln>
        </p:spPr>
      </p:sp>
      <p:sp>
        <p:nvSpPr>
          <p:cNvPr id="18" name="Shape 15"/>
          <p:cNvSpPr/>
          <p:nvPr/>
        </p:nvSpPr>
        <p:spPr>
          <a:xfrm>
            <a:off x="5939678" y="4296586"/>
            <a:ext cx="40640" cy="165100"/>
          </a:xfrm>
          <a:prstGeom prst="rect">
            <a:avLst/>
          </a:prstGeom>
          <a:solidFill>
            <a:srgbClr val="252525"/>
          </a:solidFill>
          <a:ln w="12700">
            <a:solidFill>
              <a:srgbClr val="252525"/>
            </a:solidFill>
            <a:prstDash val="solid"/>
          </a:ln>
        </p:spPr>
      </p:sp>
      <p:sp>
        <p:nvSpPr>
          <p:cNvPr id="19" name="Shape 16"/>
          <p:cNvSpPr/>
          <p:nvPr/>
        </p:nvSpPr>
        <p:spPr>
          <a:xfrm>
            <a:off x="5877448" y="4367706"/>
            <a:ext cx="165100" cy="22860"/>
          </a:xfrm>
          <a:prstGeom prst="rect">
            <a:avLst/>
          </a:prstGeom>
          <a:solidFill>
            <a:srgbClr val="A63A3A"/>
          </a:solidFill>
          <a:ln w="12700">
            <a:solidFill>
              <a:srgbClr val="A63A3A"/>
            </a:solidFill>
            <a:prstDash val="solid"/>
          </a:ln>
        </p:spPr>
      </p:sp>
      <p:sp>
        <p:nvSpPr>
          <p:cNvPr id="20" name="Shape 17"/>
          <p:cNvSpPr/>
          <p:nvPr/>
        </p:nvSpPr>
        <p:spPr>
          <a:xfrm>
            <a:off x="5948568" y="4296586"/>
            <a:ext cx="22860" cy="165100"/>
          </a:xfrm>
          <a:prstGeom prst="rect">
            <a:avLst/>
          </a:prstGeom>
          <a:solidFill>
            <a:srgbClr val="A63A3A"/>
          </a:solidFill>
          <a:ln w="12700">
            <a:solidFill>
              <a:srgbClr val="A63A3A"/>
            </a:solidFill>
            <a:prstDash val="solid"/>
          </a:ln>
        </p:spPr>
      </p:sp>
      <p:sp>
        <p:nvSpPr>
          <p:cNvPr id="21" name="Shape 18"/>
          <p:cNvSpPr/>
          <p:nvPr/>
        </p:nvSpPr>
        <p:spPr>
          <a:xfrm>
            <a:off x="457200" y="5765800"/>
            <a:ext cx="127000" cy="127000"/>
          </a:xfrm>
          <a:prstGeom prst="ellipse">
            <a:avLst/>
          </a:prstGeom>
          <a:solidFill>
            <a:srgbClr val="B95332"/>
          </a:solidFill>
          <a:ln w="7620">
            <a:solidFill>
              <a:srgbClr val="252525"/>
            </a:solidFill>
            <a:prstDash val="solid"/>
          </a:ln>
        </p:spPr>
      </p:sp>
      <p:sp>
        <p:nvSpPr>
          <p:cNvPr id="22" name="Text 19"/>
          <p:cNvSpPr/>
          <p:nvPr/>
        </p:nvSpPr>
        <p:spPr>
          <a:xfrm>
            <a:off x="7112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3" name="Shape 20"/>
          <p:cNvSpPr/>
          <p:nvPr/>
        </p:nvSpPr>
        <p:spPr>
          <a:xfrm>
            <a:off x="2705100" y="5765800"/>
            <a:ext cx="127000" cy="127000"/>
          </a:xfrm>
          <a:prstGeom prst="rect">
            <a:avLst/>
          </a:prstGeom>
          <a:solidFill>
            <a:srgbClr val="3F684E"/>
          </a:solidFill>
          <a:ln w="7620">
            <a:solidFill>
              <a:srgbClr val="252525"/>
            </a:solidFill>
            <a:prstDash val="solid"/>
          </a:ln>
        </p:spPr>
      </p:sp>
      <p:sp>
        <p:nvSpPr>
          <p:cNvPr id="24" name="Text 21"/>
          <p:cNvSpPr/>
          <p:nvPr/>
        </p:nvSpPr>
        <p:spPr>
          <a:xfrm>
            <a:off x="29591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5" name="Shape 22"/>
          <p:cNvSpPr/>
          <p:nvPr/>
        </p:nvSpPr>
        <p:spPr>
          <a:xfrm>
            <a:off x="4953000" y="5765800"/>
            <a:ext cx="127000" cy="127000"/>
          </a:xfrm>
          <a:prstGeom prst="triangle">
            <a:avLst/>
          </a:prstGeom>
          <a:solidFill>
            <a:srgbClr val="D6A23A"/>
          </a:solidFill>
          <a:ln w="7620">
            <a:solidFill>
              <a:srgbClr val="252525"/>
            </a:solidFill>
            <a:prstDash val="solid"/>
          </a:ln>
        </p:spPr>
      </p:sp>
      <p:sp>
        <p:nvSpPr>
          <p:cNvPr id="26" name="Text 23"/>
          <p:cNvSpPr/>
          <p:nvPr/>
        </p:nvSpPr>
        <p:spPr>
          <a:xfrm>
            <a:off x="52070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7" name="Shape 24"/>
          <p:cNvSpPr/>
          <p:nvPr/>
        </p:nvSpPr>
        <p:spPr>
          <a:xfrm>
            <a:off x="457200" y="6108700"/>
            <a:ext cx="127000" cy="127000"/>
          </a:xfrm>
          <a:prstGeom prst="diamond">
            <a:avLst/>
          </a:prstGeom>
          <a:solidFill>
            <a:srgbClr val="315A78"/>
          </a:solidFill>
          <a:ln w="7620">
            <a:solidFill>
              <a:srgbClr val="252525"/>
            </a:solidFill>
            <a:prstDash val="solid"/>
          </a:ln>
        </p:spPr>
      </p:sp>
      <p:sp>
        <p:nvSpPr>
          <p:cNvPr id="28" name="Text 25"/>
          <p:cNvSpPr/>
          <p:nvPr/>
        </p:nvSpPr>
        <p:spPr>
          <a:xfrm>
            <a:off x="7112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Shape 26"/>
          <p:cNvSpPr/>
          <p:nvPr/>
        </p:nvSpPr>
        <p:spPr>
          <a:xfrm>
            <a:off x="2705100" y="6108700"/>
            <a:ext cx="127000" cy="127000"/>
          </a:xfrm>
          <a:prstGeom prst="hexagon">
            <a:avLst/>
          </a:prstGeom>
          <a:solidFill>
            <a:srgbClr val="3E7568"/>
          </a:solidFill>
          <a:ln w="7620">
            <a:solidFill>
              <a:srgbClr val="252525"/>
            </a:solidFill>
            <a:prstDash val="solid"/>
          </a:ln>
        </p:spPr>
      </p:sp>
      <p:sp>
        <p:nvSpPr>
          <p:cNvPr id="30" name="Text 27"/>
          <p:cNvSpPr/>
          <p:nvPr/>
        </p:nvSpPr>
        <p:spPr>
          <a:xfrm>
            <a:off x="29591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1" name="Shape 28"/>
          <p:cNvSpPr/>
          <p:nvPr/>
        </p:nvSpPr>
        <p:spPr>
          <a:xfrm>
            <a:off x="4953000" y="6151880"/>
            <a:ext cx="127000" cy="40640"/>
          </a:xfrm>
          <a:prstGeom prst="rect">
            <a:avLst/>
          </a:prstGeom>
          <a:solidFill>
            <a:srgbClr val="252525"/>
          </a:solidFill>
          <a:ln w="12700">
            <a:solidFill>
              <a:srgbClr val="252525"/>
            </a:solidFill>
            <a:prstDash val="solid"/>
          </a:ln>
        </p:spPr>
      </p:sp>
      <p:sp>
        <p:nvSpPr>
          <p:cNvPr id="32" name="Shape 29"/>
          <p:cNvSpPr/>
          <p:nvPr/>
        </p:nvSpPr>
        <p:spPr>
          <a:xfrm>
            <a:off x="4996180" y="6108700"/>
            <a:ext cx="40640" cy="127000"/>
          </a:xfrm>
          <a:prstGeom prst="rect">
            <a:avLst/>
          </a:prstGeom>
          <a:solidFill>
            <a:srgbClr val="252525"/>
          </a:solidFill>
          <a:ln w="12700">
            <a:solidFill>
              <a:srgbClr val="252525"/>
            </a:solidFill>
            <a:prstDash val="solid"/>
          </a:ln>
        </p:spPr>
      </p:sp>
      <p:sp>
        <p:nvSpPr>
          <p:cNvPr id="33" name="Shape 30"/>
          <p:cNvSpPr/>
          <p:nvPr/>
        </p:nvSpPr>
        <p:spPr>
          <a:xfrm>
            <a:off x="4953000" y="6160770"/>
            <a:ext cx="127000" cy="22860"/>
          </a:xfrm>
          <a:prstGeom prst="rect">
            <a:avLst/>
          </a:prstGeom>
          <a:solidFill>
            <a:srgbClr val="A63A3A"/>
          </a:solidFill>
          <a:ln w="12700">
            <a:solidFill>
              <a:srgbClr val="A63A3A"/>
            </a:solidFill>
            <a:prstDash val="solid"/>
          </a:ln>
        </p:spPr>
      </p:sp>
      <p:sp>
        <p:nvSpPr>
          <p:cNvPr id="34" name="Shape 31"/>
          <p:cNvSpPr/>
          <p:nvPr/>
        </p:nvSpPr>
        <p:spPr>
          <a:xfrm>
            <a:off x="5005070" y="6108700"/>
            <a:ext cx="22860" cy="127000"/>
          </a:xfrm>
          <a:prstGeom prst="rect">
            <a:avLst/>
          </a:prstGeom>
          <a:solidFill>
            <a:srgbClr val="A63A3A"/>
          </a:solidFill>
          <a:ln w="12700">
            <a:solidFill>
              <a:srgbClr val="A63A3A"/>
            </a:solidFill>
            <a:prstDash val="solid"/>
          </a:ln>
        </p:spPr>
      </p:sp>
      <p:sp>
        <p:nvSpPr>
          <p:cNvPr id="35" name="Text 32"/>
          <p:cNvSpPr/>
          <p:nvPr/>
        </p:nvSpPr>
        <p:spPr>
          <a:xfrm>
            <a:off x="52070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36" name="Shape 33"/>
          <p:cNvSpPr/>
          <p:nvPr/>
        </p:nvSpPr>
        <p:spPr>
          <a:xfrm>
            <a:off x="457200" y="6562090"/>
            <a:ext cx="6642100" cy="7620"/>
          </a:xfrm>
          <a:prstGeom prst="rect">
            <a:avLst/>
          </a:prstGeom>
          <a:solidFill>
            <a:srgbClr val="B7B0A4"/>
          </a:solidFill>
          <a:ln w="12700">
            <a:solidFill>
              <a:srgbClr val="B7B0A4"/>
            </a:solidFill>
            <a:prstDash val="solid"/>
          </a:ln>
        </p:spPr>
      </p:sp>
      <p:sp>
        <p:nvSpPr>
          <p:cNvPr id="37" name="Text 34"/>
          <p:cNvSpPr/>
          <p:nvPr/>
        </p:nvSpPr>
        <p:spPr>
          <a:xfrm>
            <a:off x="457200" y="66167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1945 / 1948</a:t>
            </a:r>
            <a:endParaRPr lang="en-US" sz="1000" dirty="0"/>
          </a:p>
        </p:txBody>
      </p:sp>
      <p:sp>
        <p:nvSpPr>
          <p:cNvPr id="38" name="Text 35"/>
          <p:cNvSpPr/>
          <p:nvPr/>
        </p:nvSpPr>
        <p:spPr>
          <a:xfrm>
            <a:off x="1778000" y="66167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South Korea</a:t>
            </a:r>
            <a:endParaRPr lang="en-US" sz="950" dirty="0"/>
          </a:p>
        </p:txBody>
      </p:sp>
      <p:sp>
        <p:nvSpPr>
          <p:cNvPr id="39" name="Text 36"/>
          <p:cNvSpPr/>
          <p:nvPr/>
        </p:nvSpPr>
        <p:spPr>
          <a:xfrm>
            <a:off x="3429000" y="66167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Japan → end of rule / Republic established</a:t>
            </a:r>
            <a:endParaRPr lang="en-US" sz="830" dirty="0"/>
          </a:p>
        </p:txBody>
      </p:sp>
      <p:sp>
        <p:nvSpPr>
          <p:cNvPr id="40" name="Shape 37"/>
          <p:cNvSpPr/>
          <p:nvPr/>
        </p:nvSpPr>
        <p:spPr>
          <a:xfrm>
            <a:off x="457200" y="6904990"/>
            <a:ext cx="6642100" cy="7620"/>
          </a:xfrm>
          <a:prstGeom prst="rect">
            <a:avLst/>
          </a:prstGeom>
          <a:solidFill>
            <a:srgbClr val="B7B0A4"/>
          </a:solidFill>
          <a:ln w="12700">
            <a:solidFill>
              <a:srgbClr val="B7B0A4"/>
            </a:solidFill>
            <a:prstDash val="solid"/>
          </a:ln>
        </p:spPr>
      </p:sp>
      <p:sp>
        <p:nvSpPr>
          <p:cNvPr id="41" name="Text 38"/>
          <p:cNvSpPr/>
          <p:nvPr/>
        </p:nvSpPr>
        <p:spPr>
          <a:xfrm>
            <a:off x="457200" y="69596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1946</a:t>
            </a:r>
            <a:endParaRPr lang="en-US" sz="1000" dirty="0"/>
          </a:p>
        </p:txBody>
      </p:sp>
      <p:sp>
        <p:nvSpPr>
          <p:cNvPr id="42" name="Text 39"/>
          <p:cNvSpPr/>
          <p:nvPr/>
        </p:nvSpPr>
        <p:spPr>
          <a:xfrm>
            <a:off x="1778000" y="69596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Philippines</a:t>
            </a:r>
            <a:endParaRPr lang="en-US" sz="950" dirty="0"/>
          </a:p>
        </p:txBody>
      </p:sp>
      <p:sp>
        <p:nvSpPr>
          <p:cNvPr id="43" name="Text 40"/>
          <p:cNvSpPr/>
          <p:nvPr/>
        </p:nvSpPr>
        <p:spPr>
          <a:xfrm>
            <a:off x="3429000" y="69596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Spain, then United States → independence</a:t>
            </a:r>
            <a:endParaRPr lang="en-US" sz="830" dirty="0"/>
          </a:p>
        </p:txBody>
      </p:sp>
      <p:sp>
        <p:nvSpPr>
          <p:cNvPr id="44" name="Shape 41"/>
          <p:cNvSpPr/>
          <p:nvPr/>
        </p:nvSpPr>
        <p:spPr>
          <a:xfrm>
            <a:off x="457200" y="7247890"/>
            <a:ext cx="6642100" cy="7620"/>
          </a:xfrm>
          <a:prstGeom prst="rect">
            <a:avLst/>
          </a:prstGeom>
          <a:solidFill>
            <a:srgbClr val="B7B0A4"/>
          </a:solidFill>
          <a:ln w="12700">
            <a:solidFill>
              <a:srgbClr val="B7B0A4"/>
            </a:solidFill>
            <a:prstDash val="solid"/>
          </a:ln>
        </p:spPr>
      </p:sp>
      <p:sp>
        <p:nvSpPr>
          <p:cNvPr id="45" name="Text 42"/>
          <p:cNvSpPr/>
          <p:nvPr/>
        </p:nvSpPr>
        <p:spPr>
          <a:xfrm>
            <a:off x="457200" y="73025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a:t>
            </a:r>
            <a:endParaRPr lang="en-US" sz="1000" dirty="0"/>
          </a:p>
        </p:txBody>
      </p:sp>
      <p:sp>
        <p:nvSpPr>
          <p:cNvPr id="46" name="Text 43"/>
          <p:cNvSpPr/>
          <p:nvPr/>
        </p:nvSpPr>
        <p:spPr>
          <a:xfrm>
            <a:off x="1778000" y="73025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a:t>
            </a:r>
            <a:endParaRPr lang="en-US" sz="950" dirty="0"/>
          </a:p>
        </p:txBody>
      </p:sp>
      <p:sp>
        <p:nvSpPr>
          <p:cNvPr id="47" name="Text 44"/>
          <p:cNvSpPr/>
          <p:nvPr/>
        </p:nvSpPr>
        <p:spPr>
          <a:xfrm>
            <a:off x="3429000" y="73025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independence</a:t>
            </a:r>
            <a:endParaRPr lang="en-US" sz="830" dirty="0"/>
          </a:p>
        </p:txBody>
      </p:sp>
      <p:sp>
        <p:nvSpPr>
          <p:cNvPr id="48" name="Shape 45"/>
          <p:cNvSpPr/>
          <p:nvPr/>
        </p:nvSpPr>
        <p:spPr>
          <a:xfrm>
            <a:off x="457200" y="7590790"/>
            <a:ext cx="6642100" cy="7620"/>
          </a:xfrm>
          <a:prstGeom prst="rect">
            <a:avLst/>
          </a:prstGeom>
          <a:solidFill>
            <a:srgbClr val="B7B0A4"/>
          </a:solidFill>
          <a:ln w="12700">
            <a:solidFill>
              <a:srgbClr val="B7B0A4"/>
            </a:solidFill>
            <a:prstDash val="solid"/>
          </a:ln>
        </p:spPr>
      </p:sp>
      <p:sp>
        <p:nvSpPr>
          <p:cNvPr id="49" name="Text 46"/>
          <p:cNvSpPr/>
          <p:nvPr/>
        </p:nvSpPr>
        <p:spPr>
          <a:xfrm>
            <a:off x="457200" y="76454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 / 1963</a:t>
            </a:r>
            <a:endParaRPr lang="en-US" sz="1000" dirty="0"/>
          </a:p>
        </p:txBody>
      </p:sp>
      <p:sp>
        <p:nvSpPr>
          <p:cNvPr id="50" name="Text 47"/>
          <p:cNvSpPr/>
          <p:nvPr/>
        </p:nvSpPr>
        <p:spPr>
          <a:xfrm>
            <a:off x="1778000" y="76454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Malaysia</a:t>
            </a:r>
            <a:endParaRPr lang="en-US" sz="950" dirty="0"/>
          </a:p>
        </p:txBody>
      </p:sp>
      <p:sp>
        <p:nvSpPr>
          <p:cNvPr id="51" name="Text 48"/>
          <p:cNvSpPr/>
          <p:nvPr/>
        </p:nvSpPr>
        <p:spPr>
          <a:xfrm>
            <a:off x="3429000" y="76454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Malaya independence / federation</a:t>
            </a:r>
            <a:endParaRPr lang="en-US" sz="830" dirty="0"/>
          </a:p>
        </p:txBody>
      </p:sp>
      <p:sp>
        <p:nvSpPr>
          <p:cNvPr id="52" name="Shape 49"/>
          <p:cNvSpPr/>
          <p:nvPr/>
        </p:nvSpPr>
        <p:spPr>
          <a:xfrm>
            <a:off x="457200" y="7933690"/>
            <a:ext cx="6642100" cy="7620"/>
          </a:xfrm>
          <a:prstGeom prst="rect">
            <a:avLst/>
          </a:prstGeom>
          <a:solidFill>
            <a:srgbClr val="B7B0A4"/>
          </a:solidFill>
          <a:ln w="12700">
            <a:solidFill>
              <a:srgbClr val="B7B0A4"/>
            </a:solidFill>
            <a:prstDash val="solid"/>
          </a:ln>
        </p:spPr>
      </p:sp>
      <p:sp>
        <p:nvSpPr>
          <p:cNvPr id="53" name="Text 50"/>
          <p:cNvSpPr/>
          <p:nvPr/>
        </p:nvSpPr>
        <p:spPr>
          <a:xfrm>
            <a:off x="457200" y="79883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1966</a:t>
            </a:r>
            <a:endParaRPr lang="en-US" sz="1000" dirty="0"/>
          </a:p>
        </p:txBody>
      </p:sp>
      <p:sp>
        <p:nvSpPr>
          <p:cNvPr id="54" name="Text 51"/>
          <p:cNvSpPr/>
          <p:nvPr/>
        </p:nvSpPr>
        <p:spPr>
          <a:xfrm>
            <a:off x="1778000" y="79883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Botswana</a:t>
            </a:r>
            <a:endParaRPr lang="en-US" sz="950" dirty="0"/>
          </a:p>
        </p:txBody>
      </p:sp>
      <p:sp>
        <p:nvSpPr>
          <p:cNvPr id="55" name="Text 52"/>
          <p:cNvSpPr/>
          <p:nvPr/>
        </p:nvSpPr>
        <p:spPr>
          <a:xfrm>
            <a:off x="3429000" y="79883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British protectorate → independence</a:t>
            </a:r>
            <a:endParaRPr lang="en-US" sz="830" dirty="0"/>
          </a:p>
        </p:txBody>
      </p:sp>
      <p:sp>
        <p:nvSpPr>
          <p:cNvPr id="56" name="Shape 53"/>
          <p:cNvSpPr/>
          <p:nvPr/>
        </p:nvSpPr>
        <p:spPr>
          <a:xfrm>
            <a:off x="457200" y="8276590"/>
            <a:ext cx="6642100" cy="7620"/>
          </a:xfrm>
          <a:prstGeom prst="rect">
            <a:avLst/>
          </a:prstGeom>
          <a:solidFill>
            <a:srgbClr val="B7B0A4"/>
          </a:solidFill>
          <a:ln w="12700">
            <a:solidFill>
              <a:srgbClr val="B7B0A4"/>
            </a:solidFill>
            <a:prstDash val="solid"/>
          </a:ln>
        </p:spPr>
      </p:sp>
      <p:sp>
        <p:nvSpPr>
          <p:cNvPr id="57" name="Text 54"/>
          <p:cNvSpPr/>
          <p:nvPr/>
        </p:nvSpPr>
        <p:spPr>
          <a:xfrm>
            <a:off x="457200" y="83312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1968</a:t>
            </a:r>
            <a:endParaRPr lang="en-US" sz="1000" dirty="0"/>
          </a:p>
        </p:txBody>
      </p:sp>
      <p:sp>
        <p:nvSpPr>
          <p:cNvPr id="58" name="Text 55"/>
          <p:cNvSpPr/>
          <p:nvPr/>
        </p:nvSpPr>
        <p:spPr>
          <a:xfrm>
            <a:off x="1778000" y="83312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Mauritius</a:t>
            </a:r>
            <a:endParaRPr lang="en-US" sz="950" dirty="0"/>
          </a:p>
        </p:txBody>
      </p:sp>
      <p:sp>
        <p:nvSpPr>
          <p:cNvPr id="59" name="Text 56"/>
          <p:cNvSpPr/>
          <p:nvPr/>
        </p:nvSpPr>
        <p:spPr>
          <a:xfrm>
            <a:off x="3429000" y="83312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France, then Britain → independence</a:t>
            </a:r>
            <a:endParaRPr lang="en-US" sz="830" dirty="0"/>
          </a:p>
        </p:txBody>
      </p:sp>
      <p:sp>
        <p:nvSpPr>
          <p:cNvPr id="60" name="Text 57"/>
          <p:cNvSpPr/>
          <p:nvPr/>
        </p:nvSpPr>
        <p:spPr>
          <a:xfrm>
            <a:off x="457200" y="8686800"/>
            <a:ext cx="6642100" cy="165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Historical 1914 map withheld: verified artwork and original legend still required.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Same empire. Different inheritance.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Ask what colonial rule built, extracted and left behind—not just which flag it flew.</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studies do not show that colonial rule was beneficial overall, or that one empire explains the six countries’ later paths.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Huillery (2009, pp. 176–180, 203–208); Kohli (1994, pp. 1277–1284); Haggard et al. (1997, pp. 867–881); Dolan (1993), archival passage recheck pending.</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11" name="Shape 9"/>
          <p:cNvSpPr/>
          <p:nvPr/>
        </p:nvSpPr>
        <p:spPr>
          <a:xfrm>
            <a:off x="512354" y="3139077"/>
            <a:ext cx="55154" cy="427446"/>
          </a:xfrm>
          <a:prstGeom prst="line">
            <a:avLst/>
          </a:prstGeom>
          <a:noFill/>
          <a:ln w="20320">
            <a:solidFill>
              <a:srgbClr val="252525"/>
            </a:solidFill>
            <a:prstDash val="solid"/>
          </a:ln>
        </p:spPr>
      </p:sp>
      <p:sp>
        <p:nvSpPr>
          <p:cNvPr id="12" name="Shape 10"/>
          <p:cNvSpPr/>
          <p:nvPr/>
        </p:nvSpPr>
        <p:spPr>
          <a:xfrm>
            <a:off x="815703" y="3139077"/>
            <a:ext cx="55154" cy="427446"/>
          </a:xfrm>
          <a:prstGeom prst="line">
            <a:avLst/>
          </a:prstGeom>
          <a:noFill/>
          <a:ln w="20320">
            <a:solidFill>
              <a:srgbClr val="252525"/>
            </a:solidFill>
            <a:prstDash val="solid"/>
          </a:ln>
        </p:spPr>
      </p:sp>
      <p:sp>
        <p:nvSpPr>
          <p:cNvPr id="13" name="Shape 11"/>
          <p:cNvSpPr/>
          <p:nvPr/>
        </p:nvSpPr>
        <p:spPr>
          <a:xfrm>
            <a:off x="681446" y="3152866"/>
            <a:ext cx="20320" cy="82731"/>
          </a:xfrm>
          <a:prstGeom prst="rect">
            <a:avLst/>
          </a:prstGeom>
          <a:solidFill>
            <a:srgbClr val="252525"/>
          </a:solidFill>
          <a:ln w="12700">
            <a:solidFill>
              <a:srgbClr val="252525"/>
            </a:solidFill>
            <a:prstDash val="solid"/>
          </a:ln>
        </p:spPr>
      </p:sp>
      <p:sp>
        <p:nvSpPr>
          <p:cNvPr id="14" name="Shape 12"/>
          <p:cNvSpPr/>
          <p:nvPr/>
        </p:nvSpPr>
        <p:spPr>
          <a:xfrm>
            <a:off x="681446" y="3304540"/>
            <a:ext cx="20320" cy="96520"/>
          </a:xfrm>
          <a:prstGeom prst="rect">
            <a:avLst/>
          </a:prstGeom>
          <a:solidFill>
            <a:srgbClr val="252525"/>
          </a:solidFill>
          <a:ln w="12700">
            <a:solidFill>
              <a:srgbClr val="252525"/>
            </a:solidFill>
            <a:prstDash val="solid"/>
          </a:ln>
        </p:spPr>
      </p:sp>
      <p:sp>
        <p:nvSpPr>
          <p:cNvPr id="15" name="Shape 13"/>
          <p:cNvSpPr/>
          <p:nvPr/>
        </p:nvSpPr>
        <p:spPr>
          <a:xfrm>
            <a:off x="681446" y="3470003"/>
            <a:ext cx="20320" cy="82731"/>
          </a:xfrm>
          <a:prstGeom prst="rect">
            <a:avLst/>
          </a:prstGeom>
          <a:solidFill>
            <a:srgbClr val="252525"/>
          </a:solidFill>
          <a:ln w="12700">
            <a:solidFill>
              <a:srgbClr val="252525"/>
            </a:solidFill>
            <a:prstDash val="solid"/>
          </a:ln>
        </p:spPr>
      </p:sp>
      <p:sp>
        <p:nvSpPr>
          <p:cNvPr id="16" name="Text 14"/>
          <p:cNvSpPr/>
          <p:nvPr/>
        </p:nvSpPr>
        <p:spPr>
          <a:xfrm>
            <a:off x="1244600" y="30480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Built for whom?</a:t>
            </a:r>
            <a:endParaRPr lang="en-US" sz="2300" dirty="0"/>
          </a:p>
        </p:txBody>
      </p:sp>
      <p:sp>
        <p:nvSpPr>
          <p:cNvPr id="17" name="Text 15"/>
          <p:cNvSpPr/>
          <p:nvPr/>
        </p:nvSpPr>
        <p:spPr>
          <a:xfrm>
            <a:off x="1244600" y="35560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British African councils varied. Investment also varied within French West Africa. An empire label hides important differences (Bolt et al., 2025; Huillery, 2009).</a:t>
            </a:r>
            <a:endParaRPr lang="en-US" sz="1050" dirty="0"/>
          </a:p>
        </p:txBody>
      </p:sp>
      <p:sp>
        <p:nvSpPr>
          <p:cNvPr id="18" name="Shape 16"/>
          <p:cNvSpPr/>
          <p:nvPr/>
        </p:nvSpPr>
        <p:spPr>
          <a:xfrm>
            <a:off x="484777" y="4977674"/>
            <a:ext cx="413657" cy="20320"/>
          </a:xfrm>
          <a:prstGeom prst="rect">
            <a:avLst/>
          </a:prstGeom>
          <a:solidFill>
            <a:srgbClr val="252525"/>
          </a:solidFill>
          <a:ln w="12700">
            <a:solidFill>
              <a:srgbClr val="252525"/>
            </a:solidFill>
            <a:prstDash val="solid"/>
          </a:ln>
        </p:spPr>
      </p:sp>
      <p:sp>
        <p:nvSpPr>
          <p:cNvPr id="19" name="Shape 17"/>
          <p:cNvSpPr/>
          <p:nvPr/>
        </p:nvSpPr>
        <p:spPr>
          <a:xfrm>
            <a:off x="474617" y="4753429"/>
            <a:ext cx="20320" cy="234406"/>
          </a:xfrm>
          <a:prstGeom prst="rect">
            <a:avLst/>
          </a:prstGeom>
          <a:solidFill>
            <a:srgbClr val="252525"/>
          </a:solidFill>
          <a:ln w="12700">
            <a:solidFill>
              <a:srgbClr val="252525"/>
            </a:solidFill>
            <a:prstDash val="solid"/>
          </a:ln>
        </p:spPr>
      </p:sp>
      <p:sp>
        <p:nvSpPr>
          <p:cNvPr id="20" name="Shape 18"/>
          <p:cNvSpPr/>
          <p:nvPr/>
        </p:nvSpPr>
        <p:spPr>
          <a:xfrm flipV="1">
            <a:off x="484777" y="4670697"/>
            <a:ext cx="137886" cy="82731"/>
          </a:xfrm>
          <a:prstGeom prst="line">
            <a:avLst/>
          </a:prstGeom>
          <a:noFill/>
          <a:ln w="20320">
            <a:solidFill>
              <a:srgbClr val="252525"/>
            </a:solidFill>
            <a:prstDash val="solid"/>
          </a:ln>
        </p:spPr>
      </p:sp>
      <p:sp>
        <p:nvSpPr>
          <p:cNvPr id="21" name="Shape 19"/>
          <p:cNvSpPr/>
          <p:nvPr/>
        </p:nvSpPr>
        <p:spPr>
          <a:xfrm>
            <a:off x="612503" y="4670697"/>
            <a:ext cx="20320" cy="82731"/>
          </a:xfrm>
          <a:prstGeom prst="rect">
            <a:avLst/>
          </a:prstGeom>
          <a:solidFill>
            <a:srgbClr val="252525"/>
          </a:solidFill>
          <a:ln w="12700">
            <a:solidFill>
              <a:srgbClr val="252525"/>
            </a:solidFill>
            <a:prstDash val="solid"/>
          </a:ln>
        </p:spPr>
      </p:sp>
      <p:sp>
        <p:nvSpPr>
          <p:cNvPr id="22" name="Shape 20"/>
          <p:cNvSpPr/>
          <p:nvPr/>
        </p:nvSpPr>
        <p:spPr>
          <a:xfrm flipV="1">
            <a:off x="622663" y="4670697"/>
            <a:ext cx="151674" cy="82731"/>
          </a:xfrm>
          <a:prstGeom prst="line">
            <a:avLst/>
          </a:prstGeom>
          <a:noFill/>
          <a:ln w="20320">
            <a:solidFill>
              <a:srgbClr val="252525"/>
            </a:solidFill>
            <a:prstDash val="solid"/>
          </a:ln>
        </p:spPr>
      </p:sp>
      <p:sp>
        <p:nvSpPr>
          <p:cNvPr id="23" name="Shape 21"/>
          <p:cNvSpPr/>
          <p:nvPr/>
        </p:nvSpPr>
        <p:spPr>
          <a:xfrm>
            <a:off x="764177" y="4670697"/>
            <a:ext cx="20320" cy="317137"/>
          </a:xfrm>
          <a:prstGeom prst="rect">
            <a:avLst/>
          </a:prstGeom>
          <a:solidFill>
            <a:srgbClr val="252525"/>
          </a:solidFill>
          <a:ln w="12700">
            <a:solidFill>
              <a:srgbClr val="252525"/>
            </a:solidFill>
            <a:prstDash val="solid"/>
          </a:ln>
        </p:spPr>
      </p:sp>
      <p:sp>
        <p:nvSpPr>
          <p:cNvPr id="24" name="Shape 22"/>
          <p:cNvSpPr/>
          <p:nvPr/>
        </p:nvSpPr>
        <p:spPr>
          <a:xfrm>
            <a:off x="819331" y="4587966"/>
            <a:ext cx="20320" cy="220617"/>
          </a:xfrm>
          <a:prstGeom prst="rect">
            <a:avLst/>
          </a:prstGeom>
          <a:solidFill>
            <a:srgbClr val="252525"/>
          </a:solidFill>
          <a:ln w="12700">
            <a:solidFill>
              <a:srgbClr val="252525"/>
            </a:solidFill>
            <a:prstDash val="solid"/>
          </a:ln>
        </p:spPr>
      </p:sp>
      <p:sp>
        <p:nvSpPr>
          <p:cNvPr id="25" name="Shape 23"/>
          <p:cNvSpPr/>
          <p:nvPr/>
        </p:nvSpPr>
        <p:spPr>
          <a:xfrm>
            <a:off x="888274" y="4587966"/>
            <a:ext cx="20320" cy="399869"/>
          </a:xfrm>
          <a:prstGeom prst="rect">
            <a:avLst/>
          </a:prstGeom>
          <a:solidFill>
            <a:srgbClr val="252525"/>
          </a:solidFill>
          <a:ln w="12700">
            <a:solidFill>
              <a:srgbClr val="252525"/>
            </a:solidFill>
            <a:prstDash val="solid"/>
          </a:ln>
        </p:spPr>
      </p:sp>
      <p:sp>
        <p:nvSpPr>
          <p:cNvPr id="26" name="Shape 24"/>
          <p:cNvSpPr/>
          <p:nvPr/>
        </p:nvSpPr>
        <p:spPr>
          <a:xfrm>
            <a:off x="829491" y="4577806"/>
            <a:ext cx="68943" cy="20320"/>
          </a:xfrm>
          <a:prstGeom prst="rect">
            <a:avLst/>
          </a:prstGeom>
          <a:solidFill>
            <a:srgbClr val="252525"/>
          </a:solidFill>
          <a:ln w="12700">
            <a:solidFill>
              <a:srgbClr val="252525"/>
            </a:solidFill>
            <a:prstDash val="solid"/>
          </a:ln>
        </p:spPr>
      </p:sp>
      <p:sp>
        <p:nvSpPr>
          <p:cNvPr id="27" name="Shape 25"/>
          <p:cNvSpPr/>
          <p:nvPr/>
        </p:nvSpPr>
        <p:spPr>
          <a:xfrm>
            <a:off x="553720" y="4853577"/>
            <a:ext cx="41366" cy="20320"/>
          </a:xfrm>
          <a:prstGeom prst="rect">
            <a:avLst/>
          </a:prstGeom>
          <a:solidFill>
            <a:srgbClr val="252525"/>
          </a:solidFill>
          <a:ln w="12700">
            <a:solidFill>
              <a:srgbClr val="252525"/>
            </a:solidFill>
            <a:prstDash val="solid"/>
          </a:ln>
        </p:spPr>
      </p:sp>
      <p:sp>
        <p:nvSpPr>
          <p:cNvPr id="28" name="Shape 26"/>
          <p:cNvSpPr/>
          <p:nvPr/>
        </p:nvSpPr>
        <p:spPr>
          <a:xfrm>
            <a:off x="677817" y="4853577"/>
            <a:ext cx="41366" cy="20320"/>
          </a:xfrm>
          <a:prstGeom prst="rect">
            <a:avLst/>
          </a:prstGeom>
          <a:solidFill>
            <a:srgbClr val="252525"/>
          </a:solidFill>
          <a:ln w="12700">
            <a:solidFill>
              <a:srgbClr val="252525"/>
            </a:solidFill>
            <a:prstDash val="solid"/>
          </a:ln>
        </p:spPr>
      </p:sp>
      <p:sp>
        <p:nvSpPr>
          <p:cNvPr id="29" name="Text 27"/>
          <p:cNvSpPr/>
          <p:nvPr/>
        </p:nvSpPr>
        <p:spPr>
          <a:xfrm>
            <a:off x="1244600" y="44831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What survived?</a:t>
            </a:r>
            <a:endParaRPr lang="en-US" sz="2300" dirty="0"/>
          </a:p>
        </p:txBody>
      </p:sp>
      <p:sp>
        <p:nvSpPr>
          <p:cNvPr id="30" name="Text 28"/>
          <p:cNvSpPr/>
          <p:nvPr/>
        </p:nvSpPr>
        <p:spPr>
          <a:xfrm>
            <a:off x="1244600" y="49911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Researchers disagree about Korea’s colonial inheritance. Organisation mattered, but so did coercion, unequal ownership, division, war and later policy change (Kohli, 1994; Haggard et al., 1997).</a:t>
            </a:r>
            <a:endParaRPr lang="en-US" sz="1050" dirty="0"/>
          </a:p>
        </p:txBody>
      </p:sp>
      <p:sp>
        <p:nvSpPr>
          <p:cNvPr id="31" name="Shape 29"/>
          <p:cNvSpPr/>
          <p:nvPr/>
        </p:nvSpPr>
        <p:spPr>
          <a:xfrm>
            <a:off x="484777" y="6050643"/>
            <a:ext cx="193040" cy="41366"/>
          </a:xfrm>
          <a:prstGeom prst="line">
            <a:avLst/>
          </a:prstGeom>
          <a:noFill/>
          <a:ln w="20320">
            <a:solidFill>
              <a:srgbClr val="252525"/>
            </a:solidFill>
            <a:prstDash val="solid"/>
          </a:ln>
        </p:spPr>
      </p:sp>
      <p:sp>
        <p:nvSpPr>
          <p:cNvPr id="32" name="Shape 30"/>
          <p:cNvSpPr/>
          <p:nvPr/>
        </p:nvSpPr>
        <p:spPr>
          <a:xfrm flipV="1">
            <a:off x="677817" y="6050643"/>
            <a:ext cx="220617" cy="41366"/>
          </a:xfrm>
          <a:prstGeom prst="line">
            <a:avLst/>
          </a:prstGeom>
          <a:noFill/>
          <a:ln w="20320">
            <a:solidFill>
              <a:srgbClr val="252525"/>
            </a:solidFill>
            <a:prstDash val="solid"/>
          </a:ln>
        </p:spPr>
      </p:sp>
      <p:sp>
        <p:nvSpPr>
          <p:cNvPr id="33" name="Shape 31"/>
          <p:cNvSpPr/>
          <p:nvPr/>
        </p:nvSpPr>
        <p:spPr>
          <a:xfrm>
            <a:off x="474617" y="6050643"/>
            <a:ext cx="20320" cy="330926"/>
          </a:xfrm>
          <a:prstGeom prst="rect">
            <a:avLst/>
          </a:prstGeom>
          <a:solidFill>
            <a:srgbClr val="252525"/>
          </a:solidFill>
          <a:ln w="12700">
            <a:solidFill>
              <a:srgbClr val="252525"/>
            </a:solidFill>
            <a:prstDash val="solid"/>
          </a:ln>
        </p:spPr>
      </p:sp>
      <p:sp>
        <p:nvSpPr>
          <p:cNvPr id="34" name="Shape 32"/>
          <p:cNvSpPr/>
          <p:nvPr/>
        </p:nvSpPr>
        <p:spPr>
          <a:xfrm>
            <a:off x="888274" y="6050643"/>
            <a:ext cx="20320" cy="330926"/>
          </a:xfrm>
          <a:prstGeom prst="rect">
            <a:avLst/>
          </a:prstGeom>
          <a:solidFill>
            <a:srgbClr val="252525"/>
          </a:solidFill>
          <a:ln w="12700">
            <a:solidFill>
              <a:srgbClr val="252525"/>
            </a:solidFill>
            <a:prstDash val="solid"/>
          </a:ln>
        </p:spPr>
      </p:sp>
      <p:sp>
        <p:nvSpPr>
          <p:cNvPr id="35" name="Shape 33"/>
          <p:cNvSpPr/>
          <p:nvPr/>
        </p:nvSpPr>
        <p:spPr>
          <a:xfrm>
            <a:off x="484777" y="6381569"/>
            <a:ext cx="193040" cy="41366"/>
          </a:xfrm>
          <a:prstGeom prst="line">
            <a:avLst/>
          </a:prstGeom>
          <a:noFill/>
          <a:ln w="20320">
            <a:solidFill>
              <a:srgbClr val="252525"/>
            </a:solidFill>
            <a:prstDash val="solid"/>
          </a:ln>
        </p:spPr>
      </p:sp>
      <p:sp>
        <p:nvSpPr>
          <p:cNvPr id="36" name="Shape 34"/>
          <p:cNvSpPr/>
          <p:nvPr/>
        </p:nvSpPr>
        <p:spPr>
          <a:xfrm flipV="1">
            <a:off x="677817" y="6381569"/>
            <a:ext cx="220617" cy="41366"/>
          </a:xfrm>
          <a:prstGeom prst="line">
            <a:avLst/>
          </a:prstGeom>
          <a:noFill/>
          <a:ln w="20320">
            <a:solidFill>
              <a:srgbClr val="252525"/>
            </a:solidFill>
            <a:prstDash val="solid"/>
          </a:ln>
        </p:spPr>
      </p:sp>
      <p:sp>
        <p:nvSpPr>
          <p:cNvPr id="37" name="Shape 35"/>
          <p:cNvSpPr/>
          <p:nvPr/>
        </p:nvSpPr>
        <p:spPr>
          <a:xfrm>
            <a:off x="667657" y="6092009"/>
            <a:ext cx="20320" cy="330926"/>
          </a:xfrm>
          <a:prstGeom prst="rect">
            <a:avLst/>
          </a:prstGeom>
          <a:solidFill>
            <a:srgbClr val="252525"/>
          </a:solidFill>
          <a:ln w="12700">
            <a:solidFill>
              <a:srgbClr val="252525"/>
            </a:solidFill>
            <a:prstDash val="solid"/>
          </a:ln>
        </p:spPr>
      </p:sp>
      <p:sp>
        <p:nvSpPr>
          <p:cNvPr id="38" name="Text 36"/>
          <p:cNvSpPr/>
          <p:nvPr/>
        </p:nvSpPr>
        <p:spPr>
          <a:xfrm>
            <a:off x="1244600" y="59182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had access?</a:t>
            </a:r>
            <a:endParaRPr lang="en-US" sz="2300" dirty="0"/>
          </a:p>
        </p:txBody>
      </p:sp>
      <p:sp>
        <p:nvSpPr>
          <p:cNvPr id="39" name="Text 37"/>
          <p:cNvSpPr/>
          <p:nvPr/>
        </p:nvSpPr>
        <p:spPr>
          <a:xfrm>
            <a:off x="1244600" y="64262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combined formal institutions and education with concentrated power. Spanish and US rule cannot be explained by a British–French contrast (Dolan, 1993; recheck pending).</a:t>
            </a:r>
            <a:endParaRPr lang="en-US" sz="1050" dirty="0"/>
          </a:p>
        </p:txBody>
      </p:sp>
      <p:sp>
        <p:nvSpPr>
          <p:cNvPr id="40" name="Shape 38"/>
          <p:cNvSpPr/>
          <p:nvPr/>
        </p:nvSpPr>
        <p:spPr>
          <a:xfrm>
            <a:off x="457200" y="7480300"/>
            <a:ext cx="6642100" cy="1346200"/>
          </a:xfrm>
          <a:prstGeom prst="rect">
            <a:avLst/>
          </a:prstGeom>
          <a:solidFill>
            <a:srgbClr val="252525"/>
          </a:solidFill>
          <a:ln w="12700">
            <a:solidFill>
              <a:srgbClr val="252525"/>
            </a:solidFill>
            <a:prstDash val="solid"/>
          </a:ln>
        </p:spPr>
      </p:sp>
      <p:sp>
        <p:nvSpPr>
          <p:cNvPr id="41" name="Text 39"/>
          <p:cNvSpPr/>
          <p:nvPr/>
        </p:nvSpPr>
        <p:spPr>
          <a:xfrm>
            <a:off x="635000" y="76073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2" name="Text 40"/>
          <p:cNvSpPr/>
          <p:nvPr/>
        </p:nvSpPr>
        <p:spPr>
          <a:xfrm>
            <a:off x="635000" y="7874000"/>
            <a:ext cx="6286500" cy="8763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Independence did not reset the economy. We think what countries inherited—and what they could build on afterwards—mattered more than the colonial flag alone.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Ghana’s railway reached new users.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the useful question is who the railway connected.</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One railway case cannot explain all of Africa or show that infrastructure alone caused growth. It does not establish the net benefit of colonial rule.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Original schematic based on cited facts, not traced map geometry.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07</a:t>
            </a:r>
            <a:endParaRPr lang="en-US" sz="1000" dirty="0"/>
          </a:p>
        </p:txBody>
      </p:sp>
      <p:sp>
        <p:nvSpPr>
          <p:cNvPr id="11" name="Text 9"/>
          <p:cNvSpPr/>
          <p:nvPr/>
        </p:nvSpPr>
        <p:spPr>
          <a:xfrm>
            <a:off x="457200" y="30353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GHANA</a:t>
            </a:r>
            <a:endParaRPr lang="en-US" sz="1000" dirty="0"/>
          </a:p>
        </p:txBody>
      </p:sp>
      <p:sp>
        <p:nvSpPr>
          <p:cNvPr id="12" name="Shape 10"/>
          <p:cNvSpPr/>
          <p:nvPr/>
        </p:nvSpPr>
        <p:spPr>
          <a:xfrm>
            <a:off x="822234" y="4098834"/>
            <a:ext cx="539931" cy="20320"/>
          </a:xfrm>
          <a:prstGeom prst="rect">
            <a:avLst/>
          </a:prstGeom>
          <a:solidFill>
            <a:srgbClr val="252525"/>
          </a:solidFill>
          <a:ln w="12700">
            <a:solidFill>
              <a:srgbClr val="252525"/>
            </a:solidFill>
            <a:prstDash val="solid"/>
          </a:ln>
        </p:spPr>
      </p:sp>
      <p:sp>
        <p:nvSpPr>
          <p:cNvPr id="13" name="Shape 11"/>
          <p:cNvSpPr/>
          <p:nvPr/>
        </p:nvSpPr>
        <p:spPr>
          <a:xfrm>
            <a:off x="822234" y="4108994"/>
            <a:ext cx="139337" cy="156754"/>
          </a:xfrm>
          <a:prstGeom prst="line">
            <a:avLst/>
          </a:prstGeom>
          <a:noFill/>
          <a:ln w="20320">
            <a:solidFill>
              <a:srgbClr val="252525"/>
            </a:solidFill>
            <a:prstDash val="solid"/>
          </a:ln>
        </p:spPr>
      </p:sp>
      <p:sp>
        <p:nvSpPr>
          <p:cNvPr id="14" name="Shape 12"/>
          <p:cNvSpPr/>
          <p:nvPr/>
        </p:nvSpPr>
        <p:spPr>
          <a:xfrm>
            <a:off x="961571" y="4255589"/>
            <a:ext cx="296091" cy="20320"/>
          </a:xfrm>
          <a:prstGeom prst="rect">
            <a:avLst/>
          </a:prstGeom>
          <a:solidFill>
            <a:srgbClr val="252525"/>
          </a:solidFill>
          <a:ln w="12700">
            <a:solidFill>
              <a:srgbClr val="252525"/>
            </a:solidFill>
            <a:prstDash val="solid"/>
          </a:ln>
        </p:spPr>
      </p:sp>
      <p:sp>
        <p:nvSpPr>
          <p:cNvPr id="15" name="Shape 13"/>
          <p:cNvSpPr/>
          <p:nvPr/>
        </p:nvSpPr>
        <p:spPr>
          <a:xfrm flipV="1">
            <a:off x="1257663" y="4108994"/>
            <a:ext cx="104503" cy="156754"/>
          </a:xfrm>
          <a:prstGeom prst="line">
            <a:avLst/>
          </a:prstGeom>
          <a:noFill/>
          <a:ln w="20320">
            <a:solidFill>
              <a:srgbClr val="252525"/>
            </a:solidFill>
            <a:prstDash val="solid"/>
          </a:ln>
        </p:spPr>
      </p:sp>
      <p:sp>
        <p:nvSpPr>
          <p:cNvPr id="16" name="Shape 14"/>
          <p:cNvSpPr/>
          <p:nvPr/>
        </p:nvSpPr>
        <p:spPr>
          <a:xfrm>
            <a:off x="916577" y="3917406"/>
            <a:ext cx="20320" cy="191589"/>
          </a:xfrm>
          <a:prstGeom prst="rect">
            <a:avLst/>
          </a:prstGeom>
          <a:solidFill>
            <a:srgbClr val="252525"/>
          </a:solidFill>
          <a:ln w="12700">
            <a:solidFill>
              <a:srgbClr val="252525"/>
            </a:solidFill>
            <a:prstDash val="solid"/>
          </a:ln>
        </p:spPr>
      </p:sp>
      <p:sp>
        <p:nvSpPr>
          <p:cNvPr id="17" name="Shape 15"/>
          <p:cNvSpPr/>
          <p:nvPr/>
        </p:nvSpPr>
        <p:spPr>
          <a:xfrm>
            <a:off x="926737" y="3907246"/>
            <a:ext cx="296091" cy="20320"/>
          </a:xfrm>
          <a:prstGeom prst="rect">
            <a:avLst/>
          </a:prstGeom>
          <a:solidFill>
            <a:srgbClr val="252525"/>
          </a:solidFill>
          <a:ln w="12700">
            <a:solidFill>
              <a:srgbClr val="252525"/>
            </a:solidFill>
            <a:prstDash val="solid"/>
          </a:ln>
        </p:spPr>
      </p:sp>
      <p:sp>
        <p:nvSpPr>
          <p:cNvPr id="18" name="Shape 16"/>
          <p:cNvSpPr/>
          <p:nvPr/>
        </p:nvSpPr>
        <p:spPr>
          <a:xfrm>
            <a:off x="1212669" y="3917406"/>
            <a:ext cx="20320" cy="191589"/>
          </a:xfrm>
          <a:prstGeom prst="rect">
            <a:avLst/>
          </a:prstGeom>
          <a:solidFill>
            <a:srgbClr val="252525"/>
          </a:solidFill>
          <a:ln w="12700">
            <a:solidFill>
              <a:srgbClr val="252525"/>
            </a:solidFill>
            <a:prstDash val="solid"/>
          </a:ln>
        </p:spPr>
      </p:sp>
      <p:sp>
        <p:nvSpPr>
          <p:cNvPr id="19" name="Shape 17"/>
          <p:cNvSpPr/>
          <p:nvPr/>
        </p:nvSpPr>
        <p:spPr>
          <a:xfrm>
            <a:off x="1073331" y="3760651"/>
            <a:ext cx="20320" cy="156754"/>
          </a:xfrm>
          <a:prstGeom prst="rect">
            <a:avLst/>
          </a:prstGeom>
          <a:solidFill>
            <a:srgbClr val="252525"/>
          </a:solidFill>
          <a:ln w="12700">
            <a:solidFill>
              <a:srgbClr val="252525"/>
            </a:solidFill>
            <a:prstDash val="solid"/>
          </a:ln>
        </p:spPr>
      </p:sp>
      <p:sp>
        <p:nvSpPr>
          <p:cNvPr id="20" name="Text 18"/>
          <p:cNvSpPr/>
          <p:nvPr/>
        </p:nvSpPr>
        <p:spPr>
          <a:xfrm>
            <a:off x="457200" y="45212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Coast and ports</a:t>
            </a:r>
            <a:endParaRPr lang="en-US" sz="1700" dirty="0"/>
          </a:p>
        </p:txBody>
      </p:sp>
      <p:sp>
        <p:nvSpPr>
          <p:cNvPr id="21" name="Shape 19"/>
          <p:cNvSpPr/>
          <p:nvPr/>
        </p:nvSpPr>
        <p:spPr>
          <a:xfrm>
            <a:off x="5318034" y="4255589"/>
            <a:ext cx="522514" cy="20320"/>
          </a:xfrm>
          <a:prstGeom prst="rect">
            <a:avLst/>
          </a:prstGeom>
          <a:solidFill>
            <a:srgbClr val="252525"/>
          </a:solidFill>
          <a:ln w="12700">
            <a:solidFill>
              <a:srgbClr val="252525"/>
            </a:solidFill>
            <a:prstDash val="solid"/>
          </a:ln>
        </p:spPr>
      </p:sp>
      <p:sp>
        <p:nvSpPr>
          <p:cNvPr id="22" name="Shape 20"/>
          <p:cNvSpPr/>
          <p:nvPr/>
        </p:nvSpPr>
        <p:spPr>
          <a:xfrm>
            <a:off x="5307874" y="3969657"/>
            <a:ext cx="20320" cy="296091"/>
          </a:xfrm>
          <a:prstGeom prst="rect">
            <a:avLst/>
          </a:prstGeom>
          <a:solidFill>
            <a:srgbClr val="252525"/>
          </a:solidFill>
          <a:ln w="12700">
            <a:solidFill>
              <a:srgbClr val="252525"/>
            </a:solidFill>
            <a:prstDash val="solid"/>
          </a:ln>
        </p:spPr>
      </p:sp>
      <p:sp>
        <p:nvSpPr>
          <p:cNvPr id="23" name="Shape 21"/>
          <p:cNvSpPr/>
          <p:nvPr/>
        </p:nvSpPr>
        <p:spPr>
          <a:xfrm flipV="1">
            <a:off x="5318034" y="3865154"/>
            <a:ext cx="174171" cy="104503"/>
          </a:xfrm>
          <a:prstGeom prst="line">
            <a:avLst/>
          </a:prstGeom>
          <a:noFill/>
          <a:ln w="20320">
            <a:solidFill>
              <a:srgbClr val="252525"/>
            </a:solidFill>
            <a:prstDash val="solid"/>
          </a:ln>
        </p:spPr>
      </p:sp>
      <p:sp>
        <p:nvSpPr>
          <p:cNvPr id="24" name="Shape 22"/>
          <p:cNvSpPr/>
          <p:nvPr/>
        </p:nvSpPr>
        <p:spPr>
          <a:xfrm>
            <a:off x="5482046" y="3865154"/>
            <a:ext cx="20320" cy="104503"/>
          </a:xfrm>
          <a:prstGeom prst="rect">
            <a:avLst/>
          </a:prstGeom>
          <a:solidFill>
            <a:srgbClr val="252525"/>
          </a:solidFill>
          <a:ln w="12700">
            <a:solidFill>
              <a:srgbClr val="252525"/>
            </a:solidFill>
            <a:prstDash val="solid"/>
          </a:ln>
        </p:spPr>
      </p:sp>
      <p:sp>
        <p:nvSpPr>
          <p:cNvPr id="25" name="Shape 23"/>
          <p:cNvSpPr/>
          <p:nvPr/>
        </p:nvSpPr>
        <p:spPr>
          <a:xfrm flipV="1">
            <a:off x="5492206" y="3865154"/>
            <a:ext cx="191589" cy="104503"/>
          </a:xfrm>
          <a:prstGeom prst="line">
            <a:avLst/>
          </a:prstGeom>
          <a:noFill/>
          <a:ln w="20320">
            <a:solidFill>
              <a:srgbClr val="252525"/>
            </a:solidFill>
            <a:prstDash val="solid"/>
          </a:ln>
        </p:spPr>
      </p:sp>
      <p:sp>
        <p:nvSpPr>
          <p:cNvPr id="26" name="Shape 24"/>
          <p:cNvSpPr/>
          <p:nvPr/>
        </p:nvSpPr>
        <p:spPr>
          <a:xfrm>
            <a:off x="5673634" y="3865154"/>
            <a:ext cx="20320" cy="400594"/>
          </a:xfrm>
          <a:prstGeom prst="rect">
            <a:avLst/>
          </a:prstGeom>
          <a:solidFill>
            <a:srgbClr val="252525"/>
          </a:solidFill>
          <a:ln w="12700">
            <a:solidFill>
              <a:srgbClr val="252525"/>
            </a:solidFill>
            <a:prstDash val="solid"/>
          </a:ln>
        </p:spPr>
      </p:sp>
      <p:sp>
        <p:nvSpPr>
          <p:cNvPr id="27" name="Shape 25"/>
          <p:cNvSpPr/>
          <p:nvPr/>
        </p:nvSpPr>
        <p:spPr>
          <a:xfrm>
            <a:off x="5743303" y="3760651"/>
            <a:ext cx="20320" cy="278674"/>
          </a:xfrm>
          <a:prstGeom prst="rect">
            <a:avLst/>
          </a:prstGeom>
          <a:solidFill>
            <a:srgbClr val="252525"/>
          </a:solidFill>
          <a:ln w="12700">
            <a:solidFill>
              <a:srgbClr val="252525"/>
            </a:solidFill>
            <a:prstDash val="solid"/>
          </a:ln>
        </p:spPr>
      </p:sp>
      <p:sp>
        <p:nvSpPr>
          <p:cNvPr id="28" name="Shape 26"/>
          <p:cNvSpPr/>
          <p:nvPr/>
        </p:nvSpPr>
        <p:spPr>
          <a:xfrm>
            <a:off x="5830389" y="3760651"/>
            <a:ext cx="20320" cy="505097"/>
          </a:xfrm>
          <a:prstGeom prst="rect">
            <a:avLst/>
          </a:prstGeom>
          <a:solidFill>
            <a:srgbClr val="252525"/>
          </a:solidFill>
          <a:ln w="12700">
            <a:solidFill>
              <a:srgbClr val="252525"/>
            </a:solidFill>
            <a:prstDash val="solid"/>
          </a:ln>
        </p:spPr>
      </p:sp>
      <p:sp>
        <p:nvSpPr>
          <p:cNvPr id="29" name="Shape 27"/>
          <p:cNvSpPr/>
          <p:nvPr/>
        </p:nvSpPr>
        <p:spPr>
          <a:xfrm>
            <a:off x="5753463" y="3750491"/>
            <a:ext cx="87086" cy="20320"/>
          </a:xfrm>
          <a:prstGeom prst="rect">
            <a:avLst/>
          </a:prstGeom>
          <a:solidFill>
            <a:srgbClr val="252525"/>
          </a:solidFill>
          <a:ln w="12700">
            <a:solidFill>
              <a:srgbClr val="252525"/>
            </a:solidFill>
            <a:prstDash val="solid"/>
          </a:ln>
        </p:spPr>
      </p:sp>
      <p:sp>
        <p:nvSpPr>
          <p:cNvPr id="30" name="Shape 28"/>
          <p:cNvSpPr/>
          <p:nvPr/>
        </p:nvSpPr>
        <p:spPr>
          <a:xfrm>
            <a:off x="5405120" y="4098834"/>
            <a:ext cx="52251" cy="20320"/>
          </a:xfrm>
          <a:prstGeom prst="rect">
            <a:avLst/>
          </a:prstGeom>
          <a:solidFill>
            <a:srgbClr val="252525"/>
          </a:solidFill>
          <a:ln w="12700">
            <a:solidFill>
              <a:srgbClr val="252525"/>
            </a:solidFill>
            <a:prstDash val="solid"/>
          </a:ln>
        </p:spPr>
      </p:sp>
      <p:sp>
        <p:nvSpPr>
          <p:cNvPr id="31" name="Shape 29"/>
          <p:cNvSpPr/>
          <p:nvPr/>
        </p:nvSpPr>
        <p:spPr>
          <a:xfrm>
            <a:off x="5561874" y="4098834"/>
            <a:ext cx="52251" cy="20320"/>
          </a:xfrm>
          <a:prstGeom prst="rect">
            <a:avLst/>
          </a:prstGeom>
          <a:solidFill>
            <a:srgbClr val="252525"/>
          </a:solidFill>
          <a:ln w="12700">
            <a:solidFill>
              <a:srgbClr val="252525"/>
            </a:solidFill>
            <a:prstDash val="solid"/>
          </a:ln>
        </p:spPr>
      </p:sp>
      <p:sp>
        <p:nvSpPr>
          <p:cNvPr id="32" name="Text 30"/>
          <p:cNvSpPr/>
          <p:nvPr/>
        </p:nvSpPr>
        <p:spPr>
          <a:xfrm>
            <a:off x="4495800" y="4521200"/>
            <a:ext cx="26035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Mining areas</a:t>
            </a:r>
            <a:endParaRPr lang="en-US" sz="1700" dirty="0"/>
          </a:p>
        </p:txBody>
      </p:sp>
      <p:sp>
        <p:nvSpPr>
          <p:cNvPr id="33" name="Shape 31"/>
          <p:cNvSpPr/>
          <p:nvPr/>
        </p:nvSpPr>
        <p:spPr>
          <a:xfrm>
            <a:off x="1562100" y="3975100"/>
            <a:ext cx="3492500" cy="25400"/>
          </a:xfrm>
          <a:prstGeom prst="rect">
            <a:avLst/>
          </a:prstGeom>
          <a:solidFill>
            <a:srgbClr val="252525"/>
          </a:solidFill>
          <a:ln w="12700">
            <a:solidFill>
              <a:srgbClr val="252525"/>
            </a:solidFill>
            <a:prstDash val="solid"/>
          </a:ln>
        </p:spPr>
      </p:sp>
      <p:sp>
        <p:nvSpPr>
          <p:cNvPr id="34" name="Text 32"/>
          <p:cNvSpPr/>
          <p:nvPr/>
        </p:nvSpPr>
        <p:spPr>
          <a:xfrm>
            <a:off x="3302000" y="36322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5" name="Shape 33"/>
          <p:cNvSpPr/>
          <p:nvPr/>
        </p:nvSpPr>
        <p:spPr>
          <a:xfrm>
            <a:off x="857069" y="5544820"/>
            <a:ext cx="470263" cy="435429"/>
          </a:xfrm>
          <a:prstGeom prst="rect">
            <a:avLst/>
          </a:prstGeom>
          <a:solidFill>
            <a:srgbClr val="F4F0E7"/>
          </a:solidFill>
          <a:ln w="7620">
            <a:solidFill>
              <a:srgbClr val="252525"/>
            </a:solidFill>
            <a:prstDash val="solid"/>
          </a:ln>
        </p:spPr>
      </p:sp>
      <p:sp>
        <p:nvSpPr>
          <p:cNvPr id="36" name="Shape 34"/>
          <p:cNvSpPr/>
          <p:nvPr/>
        </p:nvSpPr>
        <p:spPr>
          <a:xfrm>
            <a:off x="857069" y="5673997"/>
            <a:ext cx="470263" cy="20320"/>
          </a:xfrm>
          <a:prstGeom prst="rect">
            <a:avLst/>
          </a:prstGeom>
          <a:solidFill>
            <a:srgbClr val="252525"/>
          </a:solidFill>
          <a:ln w="12700">
            <a:solidFill>
              <a:srgbClr val="252525"/>
            </a:solidFill>
            <a:prstDash val="solid"/>
          </a:ln>
        </p:spPr>
      </p:sp>
      <p:sp>
        <p:nvSpPr>
          <p:cNvPr id="37" name="Shape 35"/>
          <p:cNvSpPr/>
          <p:nvPr/>
        </p:nvSpPr>
        <p:spPr>
          <a:xfrm>
            <a:off x="1073331" y="5544820"/>
            <a:ext cx="20320" cy="139337"/>
          </a:xfrm>
          <a:prstGeom prst="rect">
            <a:avLst/>
          </a:prstGeom>
          <a:solidFill>
            <a:srgbClr val="252525"/>
          </a:solidFill>
          <a:ln w="12700">
            <a:solidFill>
              <a:srgbClr val="252525"/>
            </a:solidFill>
            <a:prstDash val="solid"/>
          </a:ln>
        </p:spPr>
      </p:sp>
      <p:sp>
        <p:nvSpPr>
          <p:cNvPr id="38" name="Text 36"/>
          <p:cNvSpPr/>
          <p:nvPr/>
        </p:nvSpPr>
        <p:spPr>
          <a:xfrm>
            <a:off x="457200" y="62357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Cocoa producers</a:t>
            </a:r>
            <a:endParaRPr lang="en-US" sz="1700" dirty="0"/>
          </a:p>
        </p:txBody>
      </p:sp>
      <p:sp>
        <p:nvSpPr>
          <p:cNvPr id="39" name="Shape 37"/>
          <p:cNvSpPr/>
          <p:nvPr/>
        </p:nvSpPr>
        <p:spPr>
          <a:xfrm flipV="1">
            <a:off x="5335451" y="5475151"/>
            <a:ext cx="243840" cy="243840"/>
          </a:xfrm>
          <a:prstGeom prst="line">
            <a:avLst/>
          </a:prstGeom>
          <a:noFill/>
          <a:ln w="20320">
            <a:solidFill>
              <a:srgbClr val="252525"/>
            </a:solidFill>
            <a:prstDash val="solid"/>
          </a:ln>
        </p:spPr>
      </p:sp>
      <p:sp>
        <p:nvSpPr>
          <p:cNvPr id="40" name="Shape 38"/>
          <p:cNvSpPr/>
          <p:nvPr/>
        </p:nvSpPr>
        <p:spPr>
          <a:xfrm>
            <a:off x="5579291" y="5475151"/>
            <a:ext cx="243840" cy="243840"/>
          </a:xfrm>
          <a:prstGeom prst="line">
            <a:avLst/>
          </a:prstGeom>
          <a:noFill/>
          <a:ln w="20320">
            <a:solidFill>
              <a:srgbClr val="252525"/>
            </a:solidFill>
            <a:prstDash val="solid"/>
          </a:ln>
        </p:spPr>
      </p:sp>
      <p:sp>
        <p:nvSpPr>
          <p:cNvPr id="41" name="Shape 39"/>
          <p:cNvSpPr/>
          <p:nvPr/>
        </p:nvSpPr>
        <p:spPr>
          <a:xfrm>
            <a:off x="5579291" y="5718991"/>
            <a:ext cx="243840" cy="243840"/>
          </a:xfrm>
          <a:prstGeom prst="line">
            <a:avLst/>
          </a:prstGeom>
          <a:noFill/>
          <a:ln w="20320">
            <a:solidFill>
              <a:srgbClr val="252525"/>
            </a:solidFill>
            <a:prstDash val="solid"/>
          </a:ln>
        </p:spPr>
      </p:sp>
      <p:sp>
        <p:nvSpPr>
          <p:cNvPr id="42" name="Shape 40"/>
          <p:cNvSpPr/>
          <p:nvPr/>
        </p:nvSpPr>
        <p:spPr>
          <a:xfrm flipV="1">
            <a:off x="5335451" y="5718991"/>
            <a:ext cx="243840" cy="243840"/>
          </a:xfrm>
          <a:prstGeom prst="line">
            <a:avLst/>
          </a:prstGeom>
          <a:noFill/>
          <a:ln w="20320">
            <a:solidFill>
              <a:srgbClr val="252525"/>
            </a:solidFill>
            <a:prstDash val="solid"/>
          </a:ln>
        </p:spPr>
      </p:sp>
      <p:sp>
        <p:nvSpPr>
          <p:cNvPr id="43" name="Shape 41"/>
          <p:cNvSpPr/>
          <p:nvPr/>
        </p:nvSpPr>
        <p:spPr>
          <a:xfrm>
            <a:off x="5335451" y="5708831"/>
            <a:ext cx="487680" cy="20320"/>
          </a:xfrm>
          <a:prstGeom prst="rect">
            <a:avLst/>
          </a:prstGeom>
          <a:solidFill>
            <a:srgbClr val="252525"/>
          </a:solidFill>
          <a:ln w="12700">
            <a:solidFill>
              <a:srgbClr val="252525"/>
            </a:solidFill>
            <a:prstDash val="solid"/>
          </a:ln>
        </p:spPr>
      </p:sp>
      <p:sp>
        <p:nvSpPr>
          <p:cNvPr id="44" name="Shape 42"/>
          <p:cNvSpPr/>
          <p:nvPr/>
        </p:nvSpPr>
        <p:spPr>
          <a:xfrm>
            <a:off x="5300617" y="5684157"/>
            <a:ext cx="69669" cy="69669"/>
          </a:xfrm>
          <a:prstGeom prst="ellipse">
            <a:avLst/>
          </a:prstGeom>
          <a:solidFill>
            <a:srgbClr val="252525"/>
          </a:solidFill>
          <a:ln w="12700">
            <a:solidFill>
              <a:srgbClr val="252525"/>
            </a:solidFill>
            <a:prstDash val="solid"/>
          </a:ln>
        </p:spPr>
      </p:sp>
      <p:sp>
        <p:nvSpPr>
          <p:cNvPr id="45" name="Shape 43"/>
          <p:cNvSpPr/>
          <p:nvPr/>
        </p:nvSpPr>
        <p:spPr>
          <a:xfrm>
            <a:off x="5544457" y="5440317"/>
            <a:ext cx="69669" cy="69669"/>
          </a:xfrm>
          <a:prstGeom prst="ellipse">
            <a:avLst/>
          </a:prstGeom>
          <a:solidFill>
            <a:srgbClr val="252525"/>
          </a:solidFill>
          <a:ln w="12700">
            <a:solidFill>
              <a:srgbClr val="252525"/>
            </a:solidFill>
            <a:prstDash val="solid"/>
          </a:ln>
        </p:spPr>
      </p:sp>
      <p:sp>
        <p:nvSpPr>
          <p:cNvPr id="46" name="Shape 44"/>
          <p:cNvSpPr/>
          <p:nvPr/>
        </p:nvSpPr>
        <p:spPr>
          <a:xfrm>
            <a:off x="5788297" y="5684157"/>
            <a:ext cx="69669" cy="69669"/>
          </a:xfrm>
          <a:prstGeom prst="ellipse">
            <a:avLst/>
          </a:prstGeom>
          <a:solidFill>
            <a:srgbClr val="252525"/>
          </a:solidFill>
          <a:ln w="12700">
            <a:solidFill>
              <a:srgbClr val="252525"/>
            </a:solidFill>
            <a:prstDash val="solid"/>
          </a:ln>
        </p:spPr>
      </p:sp>
      <p:sp>
        <p:nvSpPr>
          <p:cNvPr id="47" name="Shape 45"/>
          <p:cNvSpPr/>
          <p:nvPr/>
        </p:nvSpPr>
        <p:spPr>
          <a:xfrm>
            <a:off x="5544457" y="5927997"/>
            <a:ext cx="69669" cy="69669"/>
          </a:xfrm>
          <a:prstGeom prst="ellipse">
            <a:avLst/>
          </a:prstGeom>
          <a:solidFill>
            <a:srgbClr val="252525"/>
          </a:solidFill>
          <a:ln w="12700">
            <a:solidFill>
              <a:srgbClr val="252525"/>
            </a:solidFill>
            <a:prstDash val="solid"/>
          </a:ln>
        </p:spPr>
      </p:sp>
      <p:sp>
        <p:nvSpPr>
          <p:cNvPr id="48" name="Text 46"/>
          <p:cNvSpPr/>
          <p:nvPr/>
        </p:nvSpPr>
        <p:spPr>
          <a:xfrm>
            <a:off x="4178300" y="6235700"/>
            <a:ext cx="29210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Kumasi and markets</a:t>
            </a:r>
            <a:endParaRPr lang="en-US" sz="1700" dirty="0"/>
          </a:p>
        </p:txBody>
      </p:sp>
      <p:sp>
        <p:nvSpPr>
          <p:cNvPr id="49" name="Shape 47"/>
          <p:cNvSpPr/>
          <p:nvPr/>
        </p:nvSpPr>
        <p:spPr>
          <a:xfrm>
            <a:off x="1562100" y="5705475"/>
            <a:ext cx="63500" cy="19050"/>
          </a:xfrm>
          <a:prstGeom prst="rect">
            <a:avLst/>
          </a:prstGeom>
          <a:solidFill>
            <a:srgbClr val="252525"/>
          </a:solidFill>
          <a:ln w="12700">
            <a:solidFill>
              <a:srgbClr val="252525"/>
            </a:solidFill>
            <a:prstDash val="solid"/>
          </a:ln>
        </p:spPr>
      </p:sp>
      <p:sp>
        <p:nvSpPr>
          <p:cNvPr id="50" name="Shape 48"/>
          <p:cNvSpPr/>
          <p:nvPr/>
        </p:nvSpPr>
        <p:spPr>
          <a:xfrm>
            <a:off x="1676400" y="5705475"/>
            <a:ext cx="63500" cy="19050"/>
          </a:xfrm>
          <a:prstGeom prst="rect">
            <a:avLst/>
          </a:prstGeom>
          <a:solidFill>
            <a:srgbClr val="252525"/>
          </a:solidFill>
          <a:ln w="12700">
            <a:solidFill>
              <a:srgbClr val="252525"/>
            </a:solidFill>
            <a:prstDash val="solid"/>
          </a:ln>
        </p:spPr>
      </p:sp>
      <p:sp>
        <p:nvSpPr>
          <p:cNvPr id="51" name="Shape 49"/>
          <p:cNvSpPr/>
          <p:nvPr/>
        </p:nvSpPr>
        <p:spPr>
          <a:xfrm>
            <a:off x="1790700" y="5705475"/>
            <a:ext cx="63500" cy="19050"/>
          </a:xfrm>
          <a:prstGeom prst="rect">
            <a:avLst/>
          </a:prstGeom>
          <a:solidFill>
            <a:srgbClr val="252525"/>
          </a:solidFill>
          <a:ln w="12700">
            <a:solidFill>
              <a:srgbClr val="252525"/>
            </a:solidFill>
            <a:prstDash val="solid"/>
          </a:ln>
        </p:spPr>
      </p:sp>
      <p:sp>
        <p:nvSpPr>
          <p:cNvPr id="52" name="Shape 50"/>
          <p:cNvSpPr/>
          <p:nvPr/>
        </p:nvSpPr>
        <p:spPr>
          <a:xfrm>
            <a:off x="1905000" y="5705475"/>
            <a:ext cx="63500" cy="19050"/>
          </a:xfrm>
          <a:prstGeom prst="rect">
            <a:avLst/>
          </a:prstGeom>
          <a:solidFill>
            <a:srgbClr val="252525"/>
          </a:solidFill>
          <a:ln w="12700">
            <a:solidFill>
              <a:srgbClr val="252525"/>
            </a:solidFill>
            <a:prstDash val="solid"/>
          </a:ln>
        </p:spPr>
      </p:sp>
      <p:sp>
        <p:nvSpPr>
          <p:cNvPr id="53" name="Shape 51"/>
          <p:cNvSpPr/>
          <p:nvPr/>
        </p:nvSpPr>
        <p:spPr>
          <a:xfrm>
            <a:off x="2019300" y="5705475"/>
            <a:ext cx="63500" cy="19050"/>
          </a:xfrm>
          <a:prstGeom prst="rect">
            <a:avLst/>
          </a:prstGeom>
          <a:solidFill>
            <a:srgbClr val="252525"/>
          </a:solidFill>
          <a:ln w="12700">
            <a:solidFill>
              <a:srgbClr val="252525"/>
            </a:solidFill>
            <a:prstDash val="solid"/>
          </a:ln>
        </p:spPr>
      </p:sp>
      <p:sp>
        <p:nvSpPr>
          <p:cNvPr id="54" name="Shape 52"/>
          <p:cNvSpPr/>
          <p:nvPr/>
        </p:nvSpPr>
        <p:spPr>
          <a:xfrm>
            <a:off x="2133600" y="5705475"/>
            <a:ext cx="63500" cy="19050"/>
          </a:xfrm>
          <a:prstGeom prst="rect">
            <a:avLst/>
          </a:prstGeom>
          <a:solidFill>
            <a:srgbClr val="252525"/>
          </a:solidFill>
          <a:ln w="12700">
            <a:solidFill>
              <a:srgbClr val="252525"/>
            </a:solidFill>
            <a:prstDash val="solid"/>
          </a:ln>
        </p:spPr>
      </p:sp>
      <p:sp>
        <p:nvSpPr>
          <p:cNvPr id="55" name="Shape 53"/>
          <p:cNvSpPr/>
          <p:nvPr/>
        </p:nvSpPr>
        <p:spPr>
          <a:xfrm>
            <a:off x="2247900" y="5705475"/>
            <a:ext cx="63500" cy="19050"/>
          </a:xfrm>
          <a:prstGeom prst="rect">
            <a:avLst/>
          </a:prstGeom>
          <a:solidFill>
            <a:srgbClr val="252525"/>
          </a:solidFill>
          <a:ln w="12700">
            <a:solidFill>
              <a:srgbClr val="252525"/>
            </a:solidFill>
            <a:prstDash val="solid"/>
          </a:ln>
        </p:spPr>
      </p:sp>
      <p:sp>
        <p:nvSpPr>
          <p:cNvPr id="56" name="Shape 54"/>
          <p:cNvSpPr/>
          <p:nvPr/>
        </p:nvSpPr>
        <p:spPr>
          <a:xfrm>
            <a:off x="2362200" y="5705475"/>
            <a:ext cx="63500" cy="19050"/>
          </a:xfrm>
          <a:prstGeom prst="rect">
            <a:avLst/>
          </a:prstGeom>
          <a:solidFill>
            <a:srgbClr val="252525"/>
          </a:solidFill>
          <a:ln w="12700">
            <a:solidFill>
              <a:srgbClr val="252525"/>
            </a:solidFill>
            <a:prstDash val="solid"/>
          </a:ln>
        </p:spPr>
      </p:sp>
      <p:sp>
        <p:nvSpPr>
          <p:cNvPr id="57" name="Shape 55"/>
          <p:cNvSpPr/>
          <p:nvPr/>
        </p:nvSpPr>
        <p:spPr>
          <a:xfrm>
            <a:off x="2476500" y="5705475"/>
            <a:ext cx="63500" cy="19050"/>
          </a:xfrm>
          <a:prstGeom prst="rect">
            <a:avLst/>
          </a:prstGeom>
          <a:solidFill>
            <a:srgbClr val="252525"/>
          </a:solidFill>
          <a:ln w="12700">
            <a:solidFill>
              <a:srgbClr val="252525"/>
            </a:solidFill>
            <a:prstDash val="solid"/>
          </a:ln>
        </p:spPr>
      </p:sp>
      <p:sp>
        <p:nvSpPr>
          <p:cNvPr id="58" name="Shape 56"/>
          <p:cNvSpPr/>
          <p:nvPr/>
        </p:nvSpPr>
        <p:spPr>
          <a:xfrm>
            <a:off x="2590800" y="5705475"/>
            <a:ext cx="63500" cy="19050"/>
          </a:xfrm>
          <a:prstGeom prst="rect">
            <a:avLst/>
          </a:prstGeom>
          <a:solidFill>
            <a:srgbClr val="252525"/>
          </a:solidFill>
          <a:ln w="12700">
            <a:solidFill>
              <a:srgbClr val="252525"/>
            </a:solidFill>
            <a:prstDash val="solid"/>
          </a:ln>
        </p:spPr>
      </p:sp>
      <p:sp>
        <p:nvSpPr>
          <p:cNvPr id="59" name="Shape 57"/>
          <p:cNvSpPr/>
          <p:nvPr/>
        </p:nvSpPr>
        <p:spPr>
          <a:xfrm>
            <a:off x="2705100" y="5705475"/>
            <a:ext cx="63500" cy="19050"/>
          </a:xfrm>
          <a:prstGeom prst="rect">
            <a:avLst/>
          </a:prstGeom>
          <a:solidFill>
            <a:srgbClr val="252525"/>
          </a:solidFill>
          <a:ln w="12700">
            <a:solidFill>
              <a:srgbClr val="252525"/>
            </a:solidFill>
            <a:prstDash val="solid"/>
          </a:ln>
        </p:spPr>
      </p:sp>
      <p:sp>
        <p:nvSpPr>
          <p:cNvPr id="60" name="Shape 58"/>
          <p:cNvSpPr/>
          <p:nvPr/>
        </p:nvSpPr>
        <p:spPr>
          <a:xfrm>
            <a:off x="2819400" y="5705475"/>
            <a:ext cx="63500" cy="19050"/>
          </a:xfrm>
          <a:prstGeom prst="rect">
            <a:avLst/>
          </a:prstGeom>
          <a:solidFill>
            <a:srgbClr val="252525"/>
          </a:solidFill>
          <a:ln w="12700">
            <a:solidFill>
              <a:srgbClr val="252525"/>
            </a:solidFill>
            <a:prstDash val="solid"/>
          </a:ln>
        </p:spPr>
      </p:sp>
      <p:sp>
        <p:nvSpPr>
          <p:cNvPr id="61" name="Shape 59"/>
          <p:cNvSpPr/>
          <p:nvPr/>
        </p:nvSpPr>
        <p:spPr>
          <a:xfrm>
            <a:off x="2933700" y="5705475"/>
            <a:ext cx="63500" cy="19050"/>
          </a:xfrm>
          <a:prstGeom prst="rect">
            <a:avLst/>
          </a:prstGeom>
          <a:solidFill>
            <a:srgbClr val="252525"/>
          </a:solidFill>
          <a:ln w="12700">
            <a:solidFill>
              <a:srgbClr val="252525"/>
            </a:solidFill>
            <a:prstDash val="solid"/>
          </a:ln>
        </p:spPr>
      </p:sp>
      <p:sp>
        <p:nvSpPr>
          <p:cNvPr id="62" name="Shape 60"/>
          <p:cNvSpPr/>
          <p:nvPr/>
        </p:nvSpPr>
        <p:spPr>
          <a:xfrm>
            <a:off x="3048000" y="5705475"/>
            <a:ext cx="63500" cy="19050"/>
          </a:xfrm>
          <a:prstGeom prst="rect">
            <a:avLst/>
          </a:prstGeom>
          <a:solidFill>
            <a:srgbClr val="252525"/>
          </a:solidFill>
          <a:ln w="12700">
            <a:solidFill>
              <a:srgbClr val="252525"/>
            </a:solidFill>
            <a:prstDash val="solid"/>
          </a:ln>
        </p:spPr>
      </p:sp>
      <p:sp>
        <p:nvSpPr>
          <p:cNvPr id="63" name="Shape 61"/>
          <p:cNvSpPr/>
          <p:nvPr/>
        </p:nvSpPr>
        <p:spPr>
          <a:xfrm>
            <a:off x="3162300" y="5705475"/>
            <a:ext cx="63500" cy="19050"/>
          </a:xfrm>
          <a:prstGeom prst="rect">
            <a:avLst/>
          </a:prstGeom>
          <a:solidFill>
            <a:srgbClr val="252525"/>
          </a:solidFill>
          <a:ln w="12700">
            <a:solidFill>
              <a:srgbClr val="252525"/>
            </a:solidFill>
            <a:prstDash val="solid"/>
          </a:ln>
        </p:spPr>
      </p:sp>
      <p:sp>
        <p:nvSpPr>
          <p:cNvPr id="64" name="Shape 62"/>
          <p:cNvSpPr/>
          <p:nvPr/>
        </p:nvSpPr>
        <p:spPr>
          <a:xfrm>
            <a:off x="3276600" y="5705475"/>
            <a:ext cx="63500" cy="19050"/>
          </a:xfrm>
          <a:prstGeom prst="rect">
            <a:avLst/>
          </a:prstGeom>
          <a:solidFill>
            <a:srgbClr val="252525"/>
          </a:solidFill>
          <a:ln w="12700">
            <a:solidFill>
              <a:srgbClr val="252525"/>
            </a:solidFill>
            <a:prstDash val="solid"/>
          </a:ln>
        </p:spPr>
      </p:sp>
      <p:sp>
        <p:nvSpPr>
          <p:cNvPr id="65" name="Shape 63"/>
          <p:cNvSpPr/>
          <p:nvPr/>
        </p:nvSpPr>
        <p:spPr>
          <a:xfrm>
            <a:off x="3390900" y="5705475"/>
            <a:ext cx="63500" cy="19050"/>
          </a:xfrm>
          <a:prstGeom prst="rect">
            <a:avLst/>
          </a:prstGeom>
          <a:solidFill>
            <a:srgbClr val="252525"/>
          </a:solidFill>
          <a:ln w="12700">
            <a:solidFill>
              <a:srgbClr val="252525"/>
            </a:solidFill>
            <a:prstDash val="solid"/>
          </a:ln>
        </p:spPr>
      </p:sp>
      <p:sp>
        <p:nvSpPr>
          <p:cNvPr id="66" name="Shape 64"/>
          <p:cNvSpPr/>
          <p:nvPr/>
        </p:nvSpPr>
        <p:spPr>
          <a:xfrm>
            <a:off x="3505200" y="5705475"/>
            <a:ext cx="63500" cy="19050"/>
          </a:xfrm>
          <a:prstGeom prst="rect">
            <a:avLst/>
          </a:prstGeom>
          <a:solidFill>
            <a:srgbClr val="252525"/>
          </a:solidFill>
          <a:ln w="12700">
            <a:solidFill>
              <a:srgbClr val="252525"/>
            </a:solidFill>
            <a:prstDash val="solid"/>
          </a:ln>
        </p:spPr>
      </p:sp>
      <p:sp>
        <p:nvSpPr>
          <p:cNvPr id="67" name="Shape 65"/>
          <p:cNvSpPr/>
          <p:nvPr/>
        </p:nvSpPr>
        <p:spPr>
          <a:xfrm>
            <a:off x="3619500" y="5705475"/>
            <a:ext cx="63500" cy="19050"/>
          </a:xfrm>
          <a:prstGeom prst="rect">
            <a:avLst/>
          </a:prstGeom>
          <a:solidFill>
            <a:srgbClr val="252525"/>
          </a:solidFill>
          <a:ln w="12700">
            <a:solidFill>
              <a:srgbClr val="252525"/>
            </a:solidFill>
            <a:prstDash val="solid"/>
          </a:ln>
        </p:spPr>
      </p:sp>
      <p:sp>
        <p:nvSpPr>
          <p:cNvPr id="68" name="Shape 66"/>
          <p:cNvSpPr/>
          <p:nvPr/>
        </p:nvSpPr>
        <p:spPr>
          <a:xfrm>
            <a:off x="3733800" y="5705475"/>
            <a:ext cx="63500" cy="19050"/>
          </a:xfrm>
          <a:prstGeom prst="rect">
            <a:avLst/>
          </a:prstGeom>
          <a:solidFill>
            <a:srgbClr val="252525"/>
          </a:solidFill>
          <a:ln w="12700">
            <a:solidFill>
              <a:srgbClr val="252525"/>
            </a:solidFill>
            <a:prstDash val="solid"/>
          </a:ln>
        </p:spPr>
      </p:sp>
      <p:sp>
        <p:nvSpPr>
          <p:cNvPr id="69" name="Shape 67"/>
          <p:cNvSpPr/>
          <p:nvPr/>
        </p:nvSpPr>
        <p:spPr>
          <a:xfrm>
            <a:off x="3848100" y="5705475"/>
            <a:ext cx="63500" cy="19050"/>
          </a:xfrm>
          <a:prstGeom prst="rect">
            <a:avLst/>
          </a:prstGeom>
          <a:solidFill>
            <a:srgbClr val="252525"/>
          </a:solidFill>
          <a:ln w="12700">
            <a:solidFill>
              <a:srgbClr val="252525"/>
            </a:solidFill>
            <a:prstDash val="solid"/>
          </a:ln>
        </p:spPr>
      </p:sp>
      <p:sp>
        <p:nvSpPr>
          <p:cNvPr id="70" name="Shape 68"/>
          <p:cNvSpPr/>
          <p:nvPr/>
        </p:nvSpPr>
        <p:spPr>
          <a:xfrm>
            <a:off x="3962400" y="5705475"/>
            <a:ext cx="63500" cy="19050"/>
          </a:xfrm>
          <a:prstGeom prst="rect">
            <a:avLst/>
          </a:prstGeom>
          <a:solidFill>
            <a:srgbClr val="252525"/>
          </a:solidFill>
          <a:ln w="12700">
            <a:solidFill>
              <a:srgbClr val="252525"/>
            </a:solidFill>
            <a:prstDash val="solid"/>
          </a:ln>
        </p:spPr>
      </p:sp>
      <p:sp>
        <p:nvSpPr>
          <p:cNvPr id="71" name="Shape 69"/>
          <p:cNvSpPr/>
          <p:nvPr/>
        </p:nvSpPr>
        <p:spPr>
          <a:xfrm>
            <a:off x="4076700" y="5705475"/>
            <a:ext cx="63500" cy="19050"/>
          </a:xfrm>
          <a:prstGeom prst="rect">
            <a:avLst/>
          </a:prstGeom>
          <a:solidFill>
            <a:srgbClr val="252525"/>
          </a:solidFill>
          <a:ln w="12700">
            <a:solidFill>
              <a:srgbClr val="252525"/>
            </a:solidFill>
            <a:prstDash val="solid"/>
          </a:ln>
        </p:spPr>
      </p:sp>
      <p:sp>
        <p:nvSpPr>
          <p:cNvPr id="72" name="Shape 70"/>
          <p:cNvSpPr/>
          <p:nvPr/>
        </p:nvSpPr>
        <p:spPr>
          <a:xfrm>
            <a:off x="4191000" y="5705475"/>
            <a:ext cx="63500" cy="19050"/>
          </a:xfrm>
          <a:prstGeom prst="rect">
            <a:avLst/>
          </a:prstGeom>
          <a:solidFill>
            <a:srgbClr val="252525"/>
          </a:solidFill>
          <a:ln w="12700">
            <a:solidFill>
              <a:srgbClr val="252525"/>
            </a:solidFill>
            <a:prstDash val="solid"/>
          </a:ln>
        </p:spPr>
      </p:sp>
      <p:sp>
        <p:nvSpPr>
          <p:cNvPr id="73" name="Shape 71"/>
          <p:cNvSpPr/>
          <p:nvPr/>
        </p:nvSpPr>
        <p:spPr>
          <a:xfrm>
            <a:off x="4305300" y="5705475"/>
            <a:ext cx="63500" cy="19050"/>
          </a:xfrm>
          <a:prstGeom prst="rect">
            <a:avLst/>
          </a:prstGeom>
          <a:solidFill>
            <a:srgbClr val="252525"/>
          </a:solidFill>
          <a:ln w="12700">
            <a:solidFill>
              <a:srgbClr val="252525"/>
            </a:solidFill>
            <a:prstDash val="solid"/>
          </a:ln>
        </p:spPr>
      </p:sp>
      <p:sp>
        <p:nvSpPr>
          <p:cNvPr id="74" name="Shape 72"/>
          <p:cNvSpPr/>
          <p:nvPr/>
        </p:nvSpPr>
        <p:spPr>
          <a:xfrm>
            <a:off x="4419600" y="5705475"/>
            <a:ext cx="63500" cy="19050"/>
          </a:xfrm>
          <a:prstGeom prst="rect">
            <a:avLst/>
          </a:prstGeom>
          <a:solidFill>
            <a:srgbClr val="252525"/>
          </a:solidFill>
          <a:ln w="12700">
            <a:solidFill>
              <a:srgbClr val="252525"/>
            </a:solidFill>
            <a:prstDash val="solid"/>
          </a:ln>
        </p:spPr>
      </p:sp>
      <p:sp>
        <p:nvSpPr>
          <p:cNvPr id="75" name="Shape 73"/>
          <p:cNvSpPr/>
          <p:nvPr/>
        </p:nvSpPr>
        <p:spPr>
          <a:xfrm>
            <a:off x="4533900" y="5705475"/>
            <a:ext cx="63500" cy="19050"/>
          </a:xfrm>
          <a:prstGeom prst="rect">
            <a:avLst/>
          </a:prstGeom>
          <a:solidFill>
            <a:srgbClr val="252525"/>
          </a:solidFill>
          <a:ln w="12700">
            <a:solidFill>
              <a:srgbClr val="252525"/>
            </a:solidFill>
            <a:prstDash val="solid"/>
          </a:ln>
        </p:spPr>
      </p:sp>
      <p:sp>
        <p:nvSpPr>
          <p:cNvPr id="76" name="Shape 74"/>
          <p:cNvSpPr/>
          <p:nvPr/>
        </p:nvSpPr>
        <p:spPr>
          <a:xfrm>
            <a:off x="4648200" y="5705475"/>
            <a:ext cx="63500" cy="19050"/>
          </a:xfrm>
          <a:prstGeom prst="rect">
            <a:avLst/>
          </a:prstGeom>
          <a:solidFill>
            <a:srgbClr val="252525"/>
          </a:solidFill>
          <a:ln w="12700">
            <a:solidFill>
              <a:srgbClr val="252525"/>
            </a:solidFill>
            <a:prstDash val="solid"/>
          </a:ln>
        </p:spPr>
      </p:sp>
      <p:sp>
        <p:nvSpPr>
          <p:cNvPr id="77" name="Shape 75"/>
          <p:cNvSpPr/>
          <p:nvPr/>
        </p:nvSpPr>
        <p:spPr>
          <a:xfrm>
            <a:off x="4762500" y="5705475"/>
            <a:ext cx="63500" cy="19050"/>
          </a:xfrm>
          <a:prstGeom prst="rect">
            <a:avLst/>
          </a:prstGeom>
          <a:solidFill>
            <a:srgbClr val="252525"/>
          </a:solidFill>
          <a:ln w="12700">
            <a:solidFill>
              <a:srgbClr val="252525"/>
            </a:solidFill>
            <a:prstDash val="solid"/>
          </a:ln>
        </p:spPr>
      </p:sp>
      <p:sp>
        <p:nvSpPr>
          <p:cNvPr id="78" name="Shape 76"/>
          <p:cNvSpPr/>
          <p:nvPr/>
        </p:nvSpPr>
        <p:spPr>
          <a:xfrm>
            <a:off x="4876800" y="5705475"/>
            <a:ext cx="63500" cy="19050"/>
          </a:xfrm>
          <a:prstGeom prst="rect">
            <a:avLst/>
          </a:prstGeom>
          <a:solidFill>
            <a:srgbClr val="252525"/>
          </a:solidFill>
          <a:ln w="12700">
            <a:solidFill>
              <a:srgbClr val="252525"/>
            </a:solidFill>
            <a:prstDash val="solid"/>
          </a:ln>
        </p:spPr>
      </p:sp>
      <p:sp>
        <p:nvSpPr>
          <p:cNvPr id="79" name="Shape 77"/>
          <p:cNvSpPr/>
          <p:nvPr/>
        </p:nvSpPr>
        <p:spPr>
          <a:xfrm>
            <a:off x="4991100" y="5705475"/>
            <a:ext cx="63500" cy="19050"/>
          </a:xfrm>
          <a:prstGeom prst="rect">
            <a:avLst/>
          </a:prstGeom>
          <a:solidFill>
            <a:srgbClr val="252525"/>
          </a:solidFill>
          <a:ln w="12700">
            <a:solidFill>
              <a:srgbClr val="252525"/>
            </a:solidFill>
            <a:prstDash val="solid"/>
          </a:ln>
        </p:spPr>
      </p:sp>
      <p:sp>
        <p:nvSpPr>
          <p:cNvPr id="80" name="Text 78"/>
          <p:cNvSpPr/>
          <p:nvPr/>
        </p:nvSpPr>
        <p:spPr>
          <a:xfrm>
            <a:off x="3302000" y="5359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81" name="Shape 79"/>
          <p:cNvSpPr/>
          <p:nvPr/>
        </p:nvSpPr>
        <p:spPr>
          <a:xfrm>
            <a:off x="5578475" y="4991100"/>
            <a:ext cx="19050" cy="355600"/>
          </a:xfrm>
          <a:prstGeom prst="rect">
            <a:avLst/>
          </a:prstGeom>
          <a:solidFill>
            <a:srgbClr val="252525"/>
          </a:solidFill>
          <a:ln w="12700">
            <a:solidFill>
              <a:srgbClr val="252525"/>
            </a:solidFill>
            <a:prstDash val="solid"/>
          </a:ln>
        </p:spPr>
      </p:sp>
      <p:sp>
        <p:nvSpPr>
          <p:cNvPr id="82" name="Shape 80"/>
          <p:cNvSpPr/>
          <p:nvPr/>
        </p:nvSpPr>
        <p:spPr>
          <a:xfrm>
            <a:off x="1069975" y="4991100"/>
            <a:ext cx="19050" cy="63500"/>
          </a:xfrm>
          <a:prstGeom prst="rect">
            <a:avLst/>
          </a:prstGeom>
          <a:solidFill>
            <a:srgbClr val="252525"/>
          </a:solidFill>
          <a:ln w="12700">
            <a:solidFill>
              <a:srgbClr val="252525"/>
            </a:solidFill>
            <a:prstDash val="solid"/>
          </a:ln>
        </p:spPr>
      </p:sp>
      <p:sp>
        <p:nvSpPr>
          <p:cNvPr id="83" name="Shape 81"/>
          <p:cNvSpPr/>
          <p:nvPr/>
        </p:nvSpPr>
        <p:spPr>
          <a:xfrm>
            <a:off x="1069975" y="5105400"/>
            <a:ext cx="19050" cy="63500"/>
          </a:xfrm>
          <a:prstGeom prst="rect">
            <a:avLst/>
          </a:prstGeom>
          <a:solidFill>
            <a:srgbClr val="252525"/>
          </a:solidFill>
          <a:ln w="12700">
            <a:solidFill>
              <a:srgbClr val="252525"/>
            </a:solidFill>
            <a:prstDash val="solid"/>
          </a:ln>
        </p:spPr>
      </p:sp>
      <p:sp>
        <p:nvSpPr>
          <p:cNvPr id="84" name="Shape 82"/>
          <p:cNvSpPr/>
          <p:nvPr/>
        </p:nvSpPr>
        <p:spPr>
          <a:xfrm>
            <a:off x="1069975" y="5219700"/>
            <a:ext cx="19050" cy="63500"/>
          </a:xfrm>
          <a:prstGeom prst="rect">
            <a:avLst/>
          </a:prstGeom>
          <a:solidFill>
            <a:srgbClr val="252525"/>
          </a:solidFill>
          <a:ln w="12700">
            <a:solidFill>
              <a:srgbClr val="252525"/>
            </a:solidFill>
            <a:prstDash val="solid"/>
          </a:ln>
        </p:spPr>
      </p:sp>
      <p:sp>
        <p:nvSpPr>
          <p:cNvPr id="85" name="Shape 83"/>
          <p:cNvSpPr/>
          <p:nvPr/>
        </p:nvSpPr>
        <p:spPr>
          <a:xfrm>
            <a:off x="1069975" y="5334000"/>
            <a:ext cx="19050" cy="12700"/>
          </a:xfrm>
          <a:prstGeom prst="rect">
            <a:avLst/>
          </a:prstGeom>
          <a:solidFill>
            <a:srgbClr val="252525"/>
          </a:solidFill>
          <a:ln w="12700">
            <a:solidFill>
              <a:srgbClr val="252525"/>
            </a:solidFill>
            <a:prstDash val="solid"/>
          </a:ln>
        </p:spPr>
      </p:sp>
      <p:sp>
        <p:nvSpPr>
          <p:cNvPr id="86" name="Text 84"/>
          <p:cNvSpPr/>
          <p:nvPr/>
        </p:nvSpPr>
        <p:spPr>
          <a:xfrm>
            <a:off x="457200" y="67945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SCHEMATIC, NOT SURVEY GEOMETRY</a:t>
            </a:r>
            <a:endParaRPr lang="en-US" sz="800" dirty="0"/>
          </a:p>
        </p:txBody>
      </p:sp>
      <p:sp>
        <p:nvSpPr>
          <p:cNvPr id="87" name="Text 85"/>
          <p:cNvSpPr/>
          <p:nvPr/>
        </p:nvSpPr>
        <p:spPr>
          <a:xfrm>
            <a:off x="457200" y="7124700"/>
            <a:ext cx="6642100" cy="4572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Solid: original connections to mines and Kumasi.</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Dashed: later economic links—not a mapped railway route.</a:t>
            </a:r>
            <a:endParaRPr lang="en-US" sz="1000" dirty="0"/>
          </a:p>
        </p:txBody>
      </p:sp>
      <p:sp>
        <p:nvSpPr>
          <p:cNvPr id="88" name="Text 86"/>
          <p:cNvSpPr/>
          <p:nvPr/>
        </p:nvSpPr>
        <p:spPr>
          <a:xfrm>
            <a:off x="457200" y="7772400"/>
            <a:ext cx="3162300" cy="876300"/>
          </a:xfrm>
          <a:prstGeom prst="rect">
            <a:avLst/>
          </a:prstGeom>
          <a:noFill/>
          <a:ln/>
        </p:spPr>
        <p:txBody>
          <a:bodyPr wrap="square" lIns="0" tIns="0" rIns="0" bIns="0" rtlCol="0" anchor="t"/>
          <a:lstStyle/>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Built to extract.</a:t>
            </a:r>
            <a:endParaRPr lang="en-US" sz="2500" dirty="0"/>
          </a:p>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Used for more.</a:t>
            </a:r>
            <a:endParaRPr lang="en-US" sz="2500" dirty="0"/>
          </a:p>
        </p:txBody>
      </p:sp>
      <p:sp>
        <p:nvSpPr>
          <p:cNvPr id="89" name="Text 87"/>
          <p:cNvSpPr/>
          <p:nvPr/>
        </p:nvSpPr>
        <p:spPr>
          <a:xfrm>
            <a:off x="3937000" y="7772400"/>
            <a:ext cx="3162300" cy="1016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also supported cocoa production and urban growth. Original purpose and later effects were not the same (Jedwab &amp; Moradi, 2012).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What each country inherited.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Different resources, skills and infrastructure shaped what countries could do next.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Contemporary photographs give country context; they are not scenes from independence or proof of a growth mechanism.</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Xenos (1970, p. 1); Svirydzenka and Petri (2014, pp. 5–8); Haggard et al. (1997); Asadullah et al. (2024, pp. 13–15); Dolan (1993), archival recheck pending. Photo credits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08</a:t>
            </a:r>
            <a:endParaRPr lang="en-US" sz="1000" dirty="0"/>
          </a:p>
        </p:txBody>
      </p:sp>
      <p:sp>
        <p:nvSpPr>
          <p:cNvPr id="11" name="Shape 9"/>
          <p:cNvSpPr/>
          <p:nvPr/>
        </p:nvSpPr>
        <p:spPr>
          <a:xfrm>
            <a:off x="457200" y="3175000"/>
            <a:ext cx="6642100" cy="825500"/>
          </a:xfrm>
          <a:prstGeom prst="rect">
            <a:avLst/>
          </a:prstGeom>
          <a:solidFill>
            <a:srgbClr val="B95332"/>
          </a:solidFill>
          <a:ln w="12700">
            <a:solidFill>
              <a:srgbClr val="B95332"/>
            </a:solidFill>
            <a:prstDash val="solid"/>
          </a:ln>
        </p:spPr>
      </p:sp>
      <p:pic>
        <p:nvPicPr>
          <p:cNvPr id="12"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616958" y="3213100"/>
            <a:ext cx="1128283" cy="749300"/>
          </a:xfrm>
          <a:prstGeom prst="rect">
            <a:avLst/>
          </a:prstGeom>
        </p:spPr>
      </p:pic>
      <p:sp>
        <p:nvSpPr>
          <p:cNvPr id="13" name="Text 10"/>
          <p:cNvSpPr/>
          <p:nvPr/>
        </p:nvSpPr>
        <p:spPr>
          <a:xfrm>
            <a:off x="2070100" y="3263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Ghana</a:t>
            </a:r>
            <a:endParaRPr lang="en-US" sz="1400" dirty="0"/>
          </a:p>
        </p:txBody>
      </p:sp>
      <p:sp>
        <p:nvSpPr>
          <p:cNvPr id="14" name="Text 11"/>
          <p:cNvSpPr/>
          <p:nvPr/>
        </p:nvSpPr>
        <p:spPr>
          <a:xfrm>
            <a:off x="2070100" y="3594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Cocoa exports; inherited roads, rail and Tema harbour.</a:t>
            </a:r>
            <a:endParaRPr lang="en-US" sz="1000" dirty="0"/>
          </a:p>
        </p:txBody>
      </p:sp>
      <p:sp>
        <p:nvSpPr>
          <p:cNvPr id="15" name="Shape 12"/>
          <p:cNvSpPr/>
          <p:nvPr/>
        </p:nvSpPr>
        <p:spPr>
          <a:xfrm>
            <a:off x="457200" y="4089400"/>
            <a:ext cx="6642100" cy="825500"/>
          </a:xfrm>
          <a:prstGeom prst="rect">
            <a:avLst/>
          </a:prstGeom>
          <a:solidFill>
            <a:srgbClr val="3F684E"/>
          </a:solidFill>
          <a:ln w="12700">
            <a:solidFill>
              <a:srgbClr val="3F684E"/>
            </a:solidFill>
            <a:prstDash val="solid"/>
          </a:ln>
        </p:spPr>
      </p:sp>
      <p:pic>
        <p:nvPicPr>
          <p:cNvPr id="16" name="Image 1" descr="/Users/marcusgrude-grodem/Documents/GitHub/USIL/africa-asia-development-magazine/design/canva_editorial_draft/assets/print/botswana_gaborone.jpg">    </p:cNvPr>
          <p:cNvPicPr>
            <a:picLocks noChangeAspect="1"/>
          </p:cNvPicPr>
          <p:nvPr/>
        </p:nvPicPr>
        <p:blipFill>
          <a:blip r:embed="rId2"/>
          <a:stretch>
            <a:fillRect/>
          </a:stretch>
        </p:blipFill>
        <p:spPr>
          <a:xfrm>
            <a:off x="681567" y="4127500"/>
            <a:ext cx="999067" cy="749300"/>
          </a:xfrm>
          <a:prstGeom prst="rect">
            <a:avLst/>
          </a:prstGeom>
        </p:spPr>
      </p:pic>
      <p:sp>
        <p:nvSpPr>
          <p:cNvPr id="17" name="Text 13"/>
          <p:cNvSpPr/>
          <p:nvPr/>
        </p:nvSpPr>
        <p:spPr>
          <a:xfrm>
            <a:off x="2070100" y="41783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18" name="Text 14"/>
          <p:cNvSpPr/>
          <p:nvPr/>
        </p:nvSpPr>
        <p:spPr>
          <a:xfrm>
            <a:off x="2070100" y="45085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Few inherited public assets and limited skills; mineral income later changed the base.</a:t>
            </a:r>
            <a:endParaRPr lang="en-US" sz="1000" dirty="0"/>
          </a:p>
        </p:txBody>
      </p:sp>
      <p:sp>
        <p:nvSpPr>
          <p:cNvPr id="19" name="Shape 15"/>
          <p:cNvSpPr/>
          <p:nvPr/>
        </p:nvSpPr>
        <p:spPr>
          <a:xfrm>
            <a:off x="457200" y="5003800"/>
            <a:ext cx="6642100" cy="825500"/>
          </a:xfrm>
          <a:prstGeom prst="rect">
            <a:avLst/>
          </a:prstGeom>
          <a:solidFill>
            <a:srgbClr val="D6A23A"/>
          </a:solidFill>
          <a:ln w="12700">
            <a:solidFill>
              <a:srgbClr val="D6A23A"/>
            </a:solidFill>
            <a:prstDash val="solid"/>
          </a:ln>
        </p:spPr>
      </p:sp>
      <p:pic>
        <p:nvPicPr>
          <p:cNvPr id="20" name="Image 2" descr="/Users/marcusgrude-grodem/Documents/GitHub/USIL/africa-asia-development-magazine/design/canva_editorial_draft/assets/print/mauritius_market.jpg">    </p:cNvPr>
          <p:cNvPicPr>
            <a:picLocks noChangeAspect="1"/>
          </p:cNvPicPr>
          <p:nvPr/>
        </p:nvPicPr>
        <p:blipFill>
          <a:blip r:embed="rId3"/>
          <a:stretch>
            <a:fillRect/>
          </a:stretch>
        </p:blipFill>
        <p:spPr>
          <a:xfrm>
            <a:off x="931001" y="5041900"/>
            <a:ext cx="500198" cy="749300"/>
          </a:xfrm>
          <a:prstGeom prst="rect">
            <a:avLst/>
          </a:prstGeom>
        </p:spPr>
      </p:pic>
      <p:sp>
        <p:nvSpPr>
          <p:cNvPr id="21" name="Text 16"/>
          <p:cNvSpPr/>
          <p:nvPr/>
        </p:nvSpPr>
        <p:spPr>
          <a:xfrm>
            <a:off x="2070100" y="50927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Mauritius</a:t>
            </a:r>
            <a:endParaRPr lang="en-US" sz="1400" dirty="0"/>
          </a:p>
        </p:txBody>
      </p:sp>
      <p:sp>
        <p:nvSpPr>
          <p:cNvPr id="22" name="Text 17"/>
          <p:cNvSpPr/>
          <p:nvPr/>
        </p:nvSpPr>
        <p:spPr>
          <a:xfrm>
            <a:off x="2070100" y="54229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Sugar dominated export earnings; diversification came later.</a:t>
            </a:r>
            <a:endParaRPr lang="en-US" sz="1000" dirty="0"/>
          </a:p>
        </p:txBody>
      </p:sp>
      <p:sp>
        <p:nvSpPr>
          <p:cNvPr id="23" name="Shape 18"/>
          <p:cNvSpPr/>
          <p:nvPr/>
        </p:nvSpPr>
        <p:spPr>
          <a:xfrm>
            <a:off x="457200" y="5918200"/>
            <a:ext cx="6642100" cy="825500"/>
          </a:xfrm>
          <a:prstGeom prst="rect">
            <a:avLst/>
          </a:prstGeom>
          <a:solidFill>
            <a:srgbClr val="315A78"/>
          </a:solidFill>
          <a:ln w="12700">
            <a:solidFill>
              <a:srgbClr val="315A78"/>
            </a:solidFill>
            <a:prstDash val="solid"/>
          </a:ln>
        </p:spPr>
      </p:sp>
      <p:pic>
        <p:nvPicPr>
          <p:cNvPr id="24" name="Image 3" descr="/Users/marcusgrude-grodem/Documents/GitHub/USIL/africa-asia-development-magazine/design/canva_editorial_draft/assets/print/korea_busan.jpg">    </p:cNvPr>
          <p:cNvPicPr>
            <a:picLocks noChangeAspect="1"/>
          </p:cNvPicPr>
          <p:nvPr/>
        </p:nvPicPr>
        <p:blipFill>
          <a:blip r:embed="rId4"/>
          <a:stretch>
            <a:fillRect/>
          </a:stretch>
        </p:blipFill>
        <p:spPr>
          <a:xfrm>
            <a:off x="681567" y="5956300"/>
            <a:ext cx="999067" cy="749300"/>
          </a:xfrm>
          <a:prstGeom prst="rect">
            <a:avLst/>
          </a:prstGeom>
        </p:spPr>
      </p:pic>
      <p:sp>
        <p:nvSpPr>
          <p:cNvPr id="25" name="Text 19"/>
          <p:cNvSpPr/>
          <p:nvPr/>
        </p:nvSpPr>
        <p:spPr>
          <a:xfrm>
            <a:off x="2070100" y="60071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26" name="Text 20"/>
          <p:cNvSpPr/>
          <p:nvPr/>
        </p:nvSpPr>
        <p:spPr>
          <a:xfrm>
            <a:off x="2070100" y="63373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Division and war disrupted the colonial inheritance.</a:t>
            </a:r>
            <a:endParaRPr lang="en-US" sz="1000" dirty="0"/>
          </a:p>
        </p:txBody>
      </p:sp>
      <p:sp>
        <p:nvSpPr>
          <p:cNvPr id="27" name="Shape 21"/>
          <p:cNvSpPr/>
          <p:nvPr/>
        </p:nvSpPr>
        <p:spPr>
          <a:xfrm>
            <a:off x="457200" y="6832600"/>
            <a:ext cx="6642100" cy="825500"/>
          </a:xfrm>
          <a:prstGeom prst="rect">
            <a:avLst/>
          </a:prstGeom>
          <a:solidFill>
            <a:srgbClr val="3E7568"/>
          </a:solidFill>
          <a:ln w="12700">
            <a:solidFill>
              <a:srgbClr val="3E7568"/>
            </a:solidFill>
            <a:prstDash val="solid"/>
          </a:ln>
        </p:spPr>
      </p:sp>
      <p:pic>
        <p:nvPicPr>
          <p:cNvPr id="28" name="Image 4" descr="/Users/marcusgrude-grodem/Documents/GitHub/USIL/africa-asia-development-magazine/design/canva_editorial_draft/assets/print/malaysia_perai.jpg">    </p:cNvPr>
          <p:cNvPicPr>
            <a:picLocks noChangeAspect="1"/>
          </p:cNvPicPr>
          <p:nvPr/>
        </p:nvPicPr>
        <p:blipFill>
          <a:blip r:embed="rId5"/>
          <a:stretch>
            <a:fillRect/>
          </a:stretch>
        </p:blipFill>
        <p:spPr>
          <a:xfrm>
            <a:off x="681567" y="6870700"/>
            <a:ext cx="999067" cy="749300"/>
          </a:xfrm>
          <a:prstGeom prst="rect">
            <a:avLst/>
          </a:prstGeom>
        </p:spPr>
      </p:pic>
      <p:sp>
        <p:nvSpPr>
          <p:cNvPr id="29" name="Text 22"/>
          <p:cNvSpPr/>
          <p:nvPr/>
        </p:nvSpPr>
        <p:spPr>
          <a:xfrm>
            <a:off x="2070100" y="69215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30" name="Text 23"/>
          <p:cNvSpPr/>
          <p:nvPr/>
        </p:nvSpPr>
        <p:spPr>
          <a:xfrm>
            <a:off x="2070100" y="72517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Commodity exports came before export manufacturing.</a:t>
            </a:r>
            <a:endParaRPr lang="en-US" sz="1000" dirty="0"/>
          </a:p>
        </p:txBody>
      </p:sp>
      <p:sp>
        <p:nvSpPr>
          <p:cNvPr id="31" name="Shape 24"/>
          <p:cNvSpPr/>
          <p:nvPr/>
        </p:nvSpPr>
        <p:spPr>
          <a:xfrm>
            <a:off x="457200" y="7747000"/>
            <a:ext cx="6642100" cy="825500"/>
          </a:xfrm>
          <a:prstGeom prst="rect">
            <a:avLst/>
          </a:prstGeom>
          <a:solidFill>
            <a:srgbClr val="A63A3A"/>
          </a:solidFill>
          <a:ln w="12700">
            <a:solidFill>
              <a:srgbClr val="A63A3A"/>
            </a:solidFill>
            <a:prstDash val="solid"/>
          </a:ln>
        </p:spPr>
      </p:sp>
      <p:pic>
        <p:nvPicPr>
          <p:cNvPr id="32" name="Image 5" descr="/Users/marcusgrude-grodem/Documents/GitHub/USIL/africa-asia-development-magazine/design/canva_editorial_draft/assets/print/philippines_manila.jpg">    </p:cNvPr>
          <p:cNvPicPr>
            <a:picLocks noChangeAspect="1"/>
          </p:cNvPicPr>
          <p:nvPr/>
        </p:nvPicPr>
        <p:blipFill>
          <a:blip r:embed="rId6"/>
          <a:stretch>
            <a:fillRect/>
          </a:stretch>
        </p:blipFill>
        <p:spPr>
          <a:xfrm>
            <a:off x="617111" y="7785100"/>
            <a:ext cx="1127978" cy="749300"/>
          </a:xfrm>
          <a:prstGeom prst="rect">
            <a:avLst/>
          </a:prstGeom>
        </p:spPr>
      </p:pic>
      <p:sp>
        <p:nvSpPr>
          <p:cNvPr id="33" name="Text 25"/>
          <p:cNvSpPr/>
          <p:nvPr/>
        </p:nvSpPr>
        <p:spPr>
          <a:xfrm>
            <a:off x="2070100" y="7835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34" name="Text 26"/>
          <p:cNvSpPr/>
          <p:nvPr/>
        </p:nvSpPr>
        <p:spPr>
          <a:xfrm>
            <a:off x="2070100" y="8166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Formal institutions and education coexisted with concentrated power.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WORK</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Jobs moved. The mix changed.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Two full-width bars per country show where people worked: 1991 and 2020.</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Moving out of farming does not automatically raise productivity. Industry includes mining, construction and utilities. Services are not all high-skill jobs.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WDI / ILO modelled estimates: SL.AGR.EMPL.ZS, SL.IND.EMPL.ZS, SL.SRV.EMPL.ZS. Percent of employment. 1991 proxies 1990; no 1960 series. Release 13 July 2026; retrieved 6 October 2026.</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09</a:t>
            </a:r>
            <a:endParaRPr lang="en-US" sz="1000" dirty="0"/>
          </a:p>
        </p:txBody>
      </p:sp>
      <p:sp>
        <p:nvSpPr>
          <p:cNvPr id="23" name="Shape 21"/>
          <p:cNvSpPr/>
          <p:nvPr/>
        </p:nvSpPr>
        <p:spPr>
          <a:xfrm>
            <a:off x="457200" y="3213100"/>
            <a:ext cx="165100" cy="165100"/>
          </a:xfrm>
          <a:prstGeom prst="rect">
            <a:avLst/>
          </a:prstGeom>
          <a:solidFill>
            <a:srgbClr val="252525"/>
          </a:solidFill>
          <a:ln w="7620">
            <a:solidFill>
              <a:srgbClr val="514E48"/>
            </a:solidFill>
            <a:prstDash val="solid"/>
          </a:ln>
        </p:spPr>
      </p:sp>
      <p:sp>
        <p:nvSpPr>
          <p:cNvPr id="24" name="Text 22"/>
          <p:cNvSpPr/>
          <p:nvPr/>
        </p:nvSpPr>
        <p:spPr>
          <a:xfrm>
            <a:off x="7239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FARMING</a:t>
            </a:r>
            <a:endParaRPr lang="en-US" sz="900" dirty="0"/>
          </a:p>
        </p:txBody>
      </p:sp>
      <p:sp>
        <p:nvSpPr>
          <p:cNvPr id="25" name="Shape 23"/>
          <p:cNvSpPr/>
          <p:nvPr/>
        </p:nvSpPr>
        <p:spPr>
          <a:xfrm>
            <a:off x="2730500" y="3213100"/>
            <a:ext cx="165100" cy="165100"/>
          </a:xfrm>
          <a:prstGeom prst="rect">
            <a:avLst/>
          </a:prstGeom>
          <a:solidFill>
            <a:srgbClr val="888278"/>
          </a:solidFill>
          <a:ln w="7620">
            <a:solidFill>
              <a:srgbClr val="514E48"/>
            </a:solidFill>
            <a:prstDash val="solid"/>
          </a:ln>
        </p:spPr>
      </p:sp>
      <p:sp>
        <p:nvSpPr>
          <p:cNvPr id="26" name="Text 24"/>
          <p:cNvSpPr/>
          <p:nvPr/>
        </p:nvSpPr>
        <p:spPr>
          <a:xfrm>
            <a:off x="29972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INDUSTRY*</a:t>
            </a:r>
            <a:endParaRPr lang="en-US" sz="900" dirty="0"/>
          </a:p>
        </p:txBody>
      </p:sp>
      <p:sp>
        <p:nvSpPr>
          <p:cNvPr id="27" name="Shape 25"/>
          <p:cNvSpPr/>
          <p:nvPr/>
        </p:nvSpPr>
        <p:spPr>
          <a:xfrm>
            <a:off x="5003800" y="3213100"/>
            <a:ext cx="165100" cy="165100"/>
          </a:xfrm>
          <a:prstGeom prst="rect">
            <a:avLst/>
          </a:prstGeom>
          <a:solidFill>
            <a:srgbClr val="E8E1D4"/>
          </a:solidFill>
          <a:ln w="7620">
            <a:solidFill>
              <a:srgbClr val="514E48"/>
            </a:solidFill>
            <a:prstDash val="solid"/>
          </a:ln>
        </p:spPr>
      </p:sp>
      <p:sp>
        <p:nvSpPr>
          <p:cNvPr id="28" name="Text 26"/>
          <p:cNvSpPr/>
          <p:nvPr/>
        </p:nvSpPr>
        <p:spPr>
          <a:xfrm>
            <a:off x="52705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SERVICES</a:t>
            </a:r>
            <a:endParaRPr lang="en-US" sz="900" dirty="0"/>
          </a:p>
        </p:txBody>
      </p:sp>
      <p:sp>
        <p:nvSpPr>
          <p:cNvPr id="29" name="Text 27"/>
          <p:cNvSpPr/>
          <p:nvPr/>
        </p:nvSpPr>
        <p:spPr>
          <a:xfrm>
            <a:off x="457200" y="3886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Ghana</a:t>
            </a:r>
            <a:endParaRPr lang="en-US" sz="1050" dirty="0"/>
          </a:p>
        </p:txBody>
      </p:sp>
      <p:sp>
        <p:nvSpPr>
          <p:cNvPr id="30" name="Text 28"/>
          <p:cNvSpPr/>
          <p:nvPr/>
        </p:nvSpPr>
        <p:spPr>
          <a:xfrm>
            <a:off x="2057400" y="3759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31" name="Shape 29"/>
          <p:cNvSpPr/>
          <p:nvPr/>
        </p:nvSpPr>
        <p:spPr>
          <a:xfrm>
            <a:off x="2527300" y="3759200"/>
            <a:ext cx="3282696" cy="165100"/>
          </a:xfrm>
          <a:prstGeom prst="rect">
            <a:avLst/>
          </a:prstGeom>
          <a:solidFill>
            <a:srgbClr val="252525"/>
          </a:solidFill>
          <a:ln w="7620">
            <a:solidFill>
              <a:srgbClr val="514E48"/>
            </a:solidFill>
            <a:prstDash val="solid"/>
          </a:ln>
        </p:spPr>
      </p:sp>
      <p:sp>
        <p:nvSpPr>
          <p:cNvPr id="32" name="Shape 30"/>
          <p:cNvSpPr/>
          <p:nvPr/>
        </p:nvSpPr>
        <p:spPr>
          <a:xfrm>
            <a:off x="5809996" y="3759200"/>
            <a:ext cx="411480" cy="165100"/>
          </a:xfrm>
          <a:prstGeom prst="rect">
            <a:avLst/>
          </a:prstGeom>
          <a:solidFill>
            <a:srgbClr val="888278"/>
          </a:solidFill>
          <a:ln w="7620">
            <a:solidFill>
              <a:srgbClr val="514E48"/>
            </a:solidFill>
            <a:prstDash val="solid"/>
          </a:ln>
        </p:spPr>
      </p:sp>
      <p:sp>
        <p:nvSpPr>
          <p:cNvPr id="33" name="Shape 31"/>
          <p:cNvSpPr/>
          <p:nvPr/>
        </p:nvSpPr>
        <p:spPr>
          <a:xfrm>
            <a:off x="6221476" y="3759200"/>
            <a:ext cx="877824" cy="165100"/>
          </a:xfrm>
          <a:prstGeom prst="rect">
            <a:avLst/>
          </a:prstGeom>
          <a:solidFill>
            <a:srgbClr val="E8E1D4"/>
          </a:solidFill>
          <a:ln w="7620">
            <a:solidFill>
              <a:srgbClr val="514E48"/>
            </a:solidFill>
            <a:prstDash val="solid"/>
          </a:ln>
        </p:spPr>
      </p:sp>
      <p:sp>
        <p:nvSpPr>
          <p:cNvPr id="34" name="Text 32"/>
          <p:cNvSpPr/>
          <p:nvPr/>
        </p:nvSpPr>
        <p:spPr>
          <a:xfrm>
            <a:off x="2057400" y="4025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35" name="Shape 33"/>
          <p:cNvSpPr/>
          <p:nvPr/>
        </p:nvSpPr>
        <p:spPr>
          <a:xfrm>
            <a:off x="2527300" y="4025900"/>
            <a:ext cx="1709928" cy="165100"/>
          </a:xfrm>
          <a:prstGeom prst="rect">
            <a:avLst/>
          </a:prstGeom>
          <a:solidFill>
            <a:srgbClr val="252525"/>
          </a:solidFill>
          <a:ln w="7620">
            <a:solidFill>
              <a:srgbClr val="514E48"/>
            </a:solidFill>
            <a:prstDash val="solid"/>
          </a:ln>
        </p:spPr>
      </p:sp>
      <p:sp>
        <p:nvSpPr>
          <p:cNvPr id="36" name="Shape 34"/>
          <p:cNvSpPr/>
          <p:nvPr/>
        </p:nvSpPr>
        <p:spPr>
          <a:xfrm>
            <a:off x="4237228" y="4025900"/>
            <a:ext cx="694944" cy="165100"/>
          </a:xfrm>
          <a:prstGeom prst="rect">
            <a:avLst/>
          </a:prstGeom>
          <a:solidFill>
            <a:srgbClr val="888278"/>
          </a:solidFill>
          <a:ln w="7620">
            <a:solidFill>
              <a:srgbClr val="514E48"/>
            </a:solidFill>
            <a:prstDash val="solid"/>
          </a:ln>
        </p:spPr>
      </p:sp>
      <p:sp>
        <p:nvSpPr>
          <p:cNvPr id="37" name="Shape 35"/>
          <p:cNvSpPr/>
          <p:nvPr/>
        </p:nvSpPr>
        <p:spPr>
          <a:xfrm>
            <a:off x="4932172" y="4025900"/>
            <a:ext cx="2167128" cy="165100"/>
          </a:xfrm>
          <a:prstGeom prst="rect">
            <a:avLst/>
          </a:prstGeom>
          <a:solidFill>
            <a:srgbClr val="E8E1D4"/>
          </a:solidFill>
          <a:ln w="7620">
            <a:solidFill>
              <a:srgbClr val="514E48"/>
            </a:solidFill>
            <a:prstDash val="solid"/>
          </a:ln>
        </p:spPr>
      </p:sp>
      <p:sp>
        <p:nvSpPr>
          <p:cNvPr id="38" name="Text 36"/>
          <p:cNvSpPr/>
          <p:nvPr/>
        </p:nvSpPr>
        <p:spPr>
          <a:xfrm>
            <a:off x="2527300" y="4292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71.8→37.4 / Industry 9.0→15.2 / Services 19.2→47.4</a:t>
            </a:r>
            <a:endParaRPr lang="en-US" sz="800" dirty="0"/>
          </a:p>
        </p:txBody>
      </p:sp>
      <p:sp>
        <p:nvSpPr>
          <p:cNvPr id="39" name="Text 37"/>
          <p:cNvSpPr/>
          <p:nvPr/>
        </p:nvSpPr>
        <p:spPr>
          <a:xfrm>
            <a:off x="457200" y="4711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Botswana</a:t>
            </a:r>
            <a:endParaRPr lang="en-US" sz="1050" dirty="0"/>
          </a:p>
        </p:txBody>
      </p:sp>
      <p:sp>
        <p:nvSpPr>
          <p:cNvPr id="40" name="Text 38"/>
          <p:cNvSpPr/>
          <p:nvPr/>
        </p:nvSpPr>
        <p:spPr>
          <a:xfrm>
            <a:off x="2057400" y="4584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41" name="Shape 39"/>
          <p:cNvSpPr/>
          <p:nvPr/>
        </p:nvSpPr>
        <p:spPr>
          <a:xfrm>
            <a:off x="2527300" y="4584700"/>
            <a:ext cx="576072" cy="165100"/>
          </a:xfrm>
          <a:prstGeom prst="rect">
            <a:avLst/>
          </a:prstGeom>
          <a:solidFill>
            <a:srgbClr val="252525"/>
          </a:solidFill>
          <a:ln w="7620">
            <a:solidFill>
              <a:srgbClr val="514E48"/>
            </a:solidFill>
            <a:prstDash val="solid"/>
          </a:ln>
        </p:spPr>
      </p:sp>
      <p:sp>
        <p:nvSpPr>
          <p:cNvPr id="42" name="Shape 40"/>
          <p:cNvSpPr/>
          <p:nvPr/>
        </p:nvSpPr>
        <p:spPr>
          <a:xfrm>
            <a:off x="3103372" y="4584700"/>
            <a:ext cx="973836" cy="165100"/>
          </a:xfrm>
          <a:prstGeom prst="rect">
            <a:avLst/>
          </a:prstGeom>
          <a:solidFill>
            <a:srgbClr val="888278"/>
          </a:solidFill>
          <a:ln w="7620">
            <a:solidFill>
              <a:srgbClr val="514E48"/>
            </a:solidFill>
            <a:prstDash val="solid"/>
          </a:ln>
        </p:spPr>
      </p:sp>
      <p:sp>
        <p:nvSpPr>
          <p:cNvPr id="43" name="Shape 41"/>
          <p:cNvSpPr/>
          <p:nvPr/>
        </p:nvSpPr>
        <p:spPr>
          <a:xfrm>
            <a:off x="4077208" y="4584700"/>
            <a:ext cx="3022092" cy="165100"/>
          </a:xfrm>
          <a:prstGeom prst="rect">
            <a:avLst/>
          </a:prstGeom>
          <a:solidFill>
            <a:srgbClr val="E8E1D4"/>
          </a:solidFill>
          <a:ln w="7620">
            <a:solidFill>
              <a:srgbClr val="514E48"/>
            </a:solidFill>
            <a:prstDash val="solid"/>
          </a:ln>
        </p:spPr>
      </p:sp>
      <p:sp>
        <p:nvSpPr>
          <p:cNvPr id="44" name="Text 42"/>
          <p:cNvSpPr/>
          <p:nvPr/>
        </p:nvSpPr>
        <p:spPr>
          <a:xfrm>
            <a:off x="2057400" y="4851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45" name="Shape 43"/>
          <p:cNvSpPr/>
          <p:nvPr/>
        </p:nvSpPr>
        <p:spPr>
          <a:xfrm>
            <a:off x="2527300" y="4851400"/>
            <a:ext cx="891540" cy="165100"/>
          </a:xfrm>
          <a:prstGeom prst="rect">
            <a:avLst/>
          </a:prstGeom>
          <a:solidFill>
            <a:srgbClr val="252525"/>
          </a:solidFill>
          <a:ln w="7620">
            <a:solidFill>
              <a:srgbClr val="514E48"/>
            </a:solidFill>
            <a:prstDash val="solid"/>
          </a:ln>
        </p:spPr>
      </p:sp>
      <p:sp>
        <p:nvSpPr>
          <p:cNvPr id="46" name="Shape 44"/>
          <p:cNvSpPr/>
          <p:nvPr/>
        </p:nvSpPr>
        <p:spPr>
          <a:xfrm>
            <a:off x="3418840" y="4851400"/>
            <a:ext cx="685800" cy="165100"/>
          </a:xfrm>
          <a:prstGeom prst="rect">
            <a:avLst/>
          </a:prstGeom>
          <a:solidFill>
            <a:srgbClr val="888278"/>
          </a:solidFill>
          <a:ln w="7620">
            <a:solidFill>
              <a:srgbClr val="514E48"/>
            </a:solidFill>
            <a:prstDash val="solid"/>
          </a:ln>
        </p:spPr>
      </p:sp>
      <p:sp>
        <p:nvSpPr>
          <p:cNvPr id="47" name="Shape 45"/>
          <p:cNvSpPr/>
          <p:nvPr/>
        </p:nvSpPr>
        <p:spPr>
          <a:xfrm>
            <a:off x="4104640" y="4851400"/>
            <a:ext cx="2994660" cy="165100"/>
          </a:xfrm>
          <a:prstGeom prst="rect">
            <a:avLst/>
          </a:prstGeom>
          <a:solidFill>
            <a:srgbClr val="E8E1D4"/>
          </a:solidFill>
          <a:ln w="7620">
            <a:solidFill>
              <a:srgbClr val="514E48"/>
            </a:solidFill>
            <a:prstDash val="solid"/>
          </a:ln>
        </p:spPr>
      </p:sp>
      <p:sp>
        <p:nvSpPr>
          <p:cNvPr id="48" name="Text 46"/>
          <p:cNvSpPr/>
          <p:nvPr/>
        </p:nvSpPr>
        <p:spPr>
          <a:xfrm>
            <a:off x="2527300" y="5118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12.6→19.5 / Industry 21.3→15.0 / Services 66.1→65.5</a:t>
            </a:r>
            <a:endParaRPr lang="en-US" sz="800" dirty="0"/>
          </a:p>
        </p:txBody>
      </p:sp>
      <p:sp>
        <p:nvSpPr>
          <p:cNvPr id="49" name="Text 47"/>
          <p:cNvSpPr/>
          <p:nvPr/>
        </p:nvSpPr>
        <p:spPr>
          <a:xfrm>
            <a:off x="457200" y="5537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50" name="Text 48"/>
          <p:cNvSpPr/>
          <p:nvPr/>
        </p:nvSpPr>
        <p:spPr>
          <a:xfrm>
            <a:off x="2057400" y="5410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51" name="Shape 49"/>
          <p:cNvSpPr/>
          <p:nvPr/>
        </p:nvSpPr>
        <p:spPr>
          <a:xfrm>
            <a:off x="2527300" y="5410200"/>
            <a:ext cx="896112" cy="165100"/>
          </a:xfrm>
          <a:prstGeom prst="rect">
            <a:avLst/>
          </a:prstGeom>
          <a:solidFill>
            <a:srgbClr val="252525"/>
          </a:solidFill>
          <a:ln w="7620">
            <a:solidFill>
              <a:srgbClr val="514E48"/>
            </a:solidFill>
            <a:prstDash val="solid"/>
          </a:ln>
        </p:spPr>
      </p:sp>
      <p:sp>
        <p:nvSpPr>
          <p:cNvPr id="52" name="Shape 50"/>
          <p:cNvSpPr/>
          <p:nvPr/>
        </p:nvSpPr>
        <p:spPr>
          <a:xfrm>
            <a:off x="3423412" y="5410200"/>
            <a:ext cx="1600200" cy="165100"/>
          </a:xfrm>
          <a:prstGeom prst="rect">
            <a:avLst/>
          </a:prstGeom>
          <a:solidFill>
            <a:srgbClr val="888278"/>
          </a:solidFill>
          <a:ln w="7620">
            <a:solidFill>
              <a:srgbClr val="514E48"/>
            </a:solidFill>
            <a:prstDash val="solid"/>
          </a:ln>
        </p:spPr>
      </p:sp>
      <p:sp>
        <p:nvSpPr>
          <p:cNvPr id="53" name="Shape 51"/>
          <p:cNvSpPr/>
          <p:nvPr/>
        </p:nvSpPr>
        <p:spPr>
          <a:xfrm>
            <a:off x="5023612" y="5410200"/>
            <a:ext cx="2075688" cy="165100"/>
          </a:xfrm>
          <a:prstGeom prst="rect">
            <a:avLst/>
          </a:prstGeom>
          <a:solidFill>
            <a:srgbClr val="E8E1D4"/>
          </a:solidFill>
          <a:ln w="7620">
            <a:solidFill>
              <a:srgbClr val="514E48"/>
            </a:solidFill>
            <a:prstDash val="solid"/>
          </a:ln>
        </p:spPr>
      </p:sp>
      <p:sp>
        <p:nvSpPr>
          <p:cNvPr id="54" name="Text 52"/>
          <p:cNvSpPr/>
          <p:nvPr/>
        </p:nvSpPr>
        <p:spPr>
          <a:xfrm>
            <a:off x="2057400" y="5676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55" name="Shape 53"/>
          <p:cNvSpPr/>
          <p:nvPr/>
        </p:nvSpPr>
        <p:spPr>
          <a:xfrm>
            <a:off x="2527300" y="5676900"/>
            <a:ext cx="242316" cy="165100"/>
          </a:xfrm>
          <a:prstGeom prst="rect">
            <a:avLst/>
          </a:prstGeom>
          <a:solidFill>
            <a:srgbClr val="252525"/>
          </a:solidFill>
          <a:ln w="7620">
            <a:solidFill>
              <a:srgbClr val="514E48"/>
            </a:solidFill>
            <a:prstDash val="solid"/>
          </a:ln>
        </p:spPr>
      </p:sp>
      <p:sp>
        <p:nvSpPr>
          <p:cNvPr id="56" name="Shape 54"/>
          <p:cNvSpPr/>
          <p:nvPr/>
        </p:nvSpPr>
        <p:spPr>
          <a:xfrm>
            <a:off x="2769616" y="5676900"/>
            <a:ext cx="1069848" cy="165100"/>
          </a:xfrm>
          <a:prstGeom prst="rect">
            <a:avLst/>
          </a:prstGeom>
          <a:solidFill>
            <a:srgbClr val="888278"/>
          </a:solidFill>
          <a:ln w="7620">
            <a:solidFill>
              <a:srgbClr val="514E48"/>
            </a:solidFill>
            <a:prstDash val="solid"/>
          </a:ln>
        </p:spPr>
      </p:sp>
      <p:sp>
        <p:nvSpPr>
          <p:cNvPr id="57" name="Shape 55"/>
          <p:cNvSpPr/>
          <p:nvPr/>
        </p:nvSpPr>
        <p:spPr>
          <a:xfrm>
            <a:off x="3839464" y="5676900"/>
            <a:ext cx="3259836" cy="165100"/>
          </a:xfrm>
          <a:prstGeom prst="rect">
            <a:avLst/>
          </a:prstGeom>
          <a:solidFill>
            <a:srgbClr val="E8E1D4"/>
          </a:solidFill>
          <a:ln w="7620">
            <a:solidFill>
              <a:srgbClr val="514E48"/>
            </a:solidFill>
            <a:prstDash val="solid"/>
          </a:ln>
        </p:spPr>
      </p:sp>
      <p:sp>
        <p:nvSpPr>
          <p:cNvPr id="58" name="Text 56"/>
          <p:cNvSpPr/>
          <p:nvPr/>
        </p:nvSpPr>
        <p:spPr>
          <a:xfrm>
            <a:off x="2527300" y="5943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19.6→5.3 / Industry 35.0→23.4 / Services 45.4→71.3</a:t>
            </a:r>
            <a:endParaRPr lang="en-US" sz="800" dirty="0"/>
          </a:p>
        </p:txBody>
      </p:sp>
      <p:sp>
        <p:nvSpPr>
          <p:cNvPr id="59" name="Text 57"/>
          <p:cNvSpPr/>
          <p:nvPr/>
        </p:nvSpPr>
        <p:spPr>
          <a:xfrm>
            <a:off x="457200" y="6362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South Korea</a:t>
            </a:r>
            <a:endParaRPr lang="en-US" sz="1050" dirty="0"/>
          </a:p>
        </p:txBody>
      </p:sp>
      <p:sp>
        <p:nvSpPr>
          <p:cNvPr id="60" name="Text 58"/>
          <p:cNvSpPr/>
          <p:nvPr/>
        </p:nvSpPr>
        <p:spPr>
          <a:xfrm>
            <a:off x="2057400" y="6235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61" name="Shape 59"/>
          <p:cNvSpPr/>
          <p:nvPr/>
        </p:nvSpPr>
        <p:spPr>
          <a:xfrm>
            <a:off x="2527300" y="6235700"/>
            <a:ext cx="708660" cy="165100"/>
          </a:xfrm>
          <a:prstGeom prst="rect">
            <a:avLst/>
          </a:prstGeom>
          <a:solidFill>
            <a:srgbClr val="252525"/>
          </a:solidFill>
          <a:ln w="7620">
            <a:solidFill>
              <a:srgbClr val="514E48"/>
            </a:solidFill>
            <a:prstDash val="solid"/>
          </a:ln>
        </p:spPr>
      </p:sp>
      <p:sp>
        <p:nvSpPr>
          <p:cNvPr id="62" name="Shape 60"/>
          <p:cNvSpPr/>
          <p:nvPr/>
        </p:nvSpPr>
        <p:spPr>
          <a:xfrm>
            <a:off x="3235960" y="6235700"/>
            <a:ext cx="1696212" cy="165100"/>
          </a:xfrm>
          <a:prstGeom prst="rect">
            <a:avLst/>
          </a:prstGeom>
          <a:solidFill>
            <a:srgbClr val="888278"/>
          </a:solidFill>
          <a:ln w="7620">
            <a:solidFill>
              <a:srgbClr val="514E48"/>
            </a:solidFill>
            <a:prstDash val="solid"/>
          </a:ln>
        </p:spPr>
      </p:sp>
      <p:sp>
        <p:nvSpPr>
          <p:cNvPr id="63" name="Shape 61"/>
          <p:cNvSpPr/>
          <p:nvPr/>
        </p:nvSpPr>
        <p:spPr>
          <a:xfrm>
            <a:off x="4932172" y="6235700"/>
            <a:ext cx="2167128" cy="165100"/>
          </a:xfrm>
          <a:prstGeom prst="rect">
            <a:avLst/>
          </a:prstGeom>
          <a:solidFill>
            <a:srgbClr val="E8E1D4"/>
          </a:solidFill>
          <a:ln w="7620">
            <a:solidFill>
              <a:srgbClr val="514E48"/>
            </a:solidFill>
            <a:prstDash val="solid"/>
          </a:ln>
        </p:spPr>
      </p:sp>
      <p:sp>
        <p:nvSpPr>
          <p:cNvPr id="64" name="Text 62"/>
          <p:cNvSpPr/>
          <p:nvPr/>
        </p:nvSpPr>
        <p:spPr>
          <a:xfrm>
            <a:off x="2057400" y="6502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65" name="Shape 63"/>
          <p:cNvSpPr/>
          <p:nvPr/>
        </p:nvSpPr>
        <p:spPr>
          <a:xfrm>
            <a:off x="2527300" y="6502400"/>
            <a:ext cx="246888" cy="165100"/>
          </a:xfrm>
          <a:prstGeom prst="rect">
            <a:avLst/>
          </a:prstGeom>
          <a:solidFill>
            <a:srgbClr val="252525"/>
          </a:solidFill>
          <a:ln w="7620">
            <a:solidFill>
              <a:srgbClr val="514E48"/>
            </a:solidFill>
            <a:prstDash val="solid"/>
          </a:ln>
        </p:spPr>
      </p:sp>
      <p:sp>
        <p:nvSpPr>
          <p:cNvPr id="66" name="Shape 64"/>
          <p:cNvSpPr/>
          <p:nvPr/>
        </p:nvSpPr>
        <p:spPr>
          <a:xfrm>
            <a:off x="2774188" y="6502400"/>
            <a:ext cx="1124712" cy="165100"/>
          </a:xfrm>
          <a:prstGeom prst="rect">
            <a:avLst/>
          </a:prstGeom>
          <a:solidFill>
            <a:srgbClr val="888278"/>
          </a:solidFill>
          <a:ln w="7620">
            <a:solidFill>
              <a:srgbClr val="514E48"/>
            </a:solidFill>
            <a:prstDash val="solid"/>
          </a:ln>
        </p:spPr>
      </p:sp>
      <p:sp>
        <p:nvSpPr>
          <p:cNvPr id="67" name="Shape 65"/>
          <p:cNvSpPr/>
          <p:nvPr/>
        </p:nvSpPr>
        <p:spPr>
          <a:xfrm>
            <a:off x="3898900" y="6502400"/>
            <a:ext cx="3200400" cy="165100"/>
          </a:xfrm>
          <a:prstGeom prst="rect">
            <a:avLst/>
          </a:prstGeom>
          <a:solidFill>
            <a:srgbClr val="E8E1D4"/>
          </a:solidFill>
          <a:ln w="7620">
            <a:solidFill>
              <a:srgbClr val="514E48"/>
            </a:solidFill>
            <a:prstDash val="solid"/>
          </a:ln>
        </p:spPr>
      </p:sp>
      <p:sp>
        <p:nvSpPr>
          <p:cNvPr id="68" name="Text 66"/>
          <p:cNvSpPr/>
          <p:nvPr/>
        </p:nvSpPr>
        <p:spPr>
          <a:xfrm>
            <a:off x="2527300" y="6769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15.5→5.4 / Industry 37.1→24.6 / Services 47.4→70.0</a:t>
            </a:r>
            <a:endParaRPr lang="en-US" sz="800" dirty="0"/>
          </a:p>
        </p:txBody>
      </p:sp>
      <p:sp>
        <p:nvSpPr>
          <p:cNvPr id="69" name="Text 67"/>
          <p:cNvSpPr/>
          <p:nvPr/>
        </p:nvSpPr>
        <p:spPr>
          <a:xfrm>
            <a:off x="457200" y="7188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Malaysia</a:t>
            </a:r>
            <a:endParaRPr lang="en-US" sz="1050" dirty="0"/>
          </a:p>
        </p:txBody>
      </p:sp>
      <p:sp>
        <p:nvSpPr>
          <p:cNvPr id="70" name="Text 68"/>
          <p:cNvSpPr/>
          <p:nvPr/>
        </p:nvSpPr>
        <p:spPr>
          <a:xfrm>
            <a:off x="2057400" y="7061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71" name="Shape 69"/>
          <p:cNvSpPr/>
          <p:nvPr/>
        </p:nvSpPr>
        <p:spPr>
          <a:xfrm>
            <a:off x="2527300" y="7061200"/>
            <a:ext cx="864108" cy="165100"/>
          </a:xfrm>
          <a:prstGeom prst="rect">
            <a:avLst/>
          </a:prstGeom>
          <a:solidFill>
            <a:srgbClr val="252525"/>
          </a:solidFill>
          <a:ln w="7620">
            <a:solidFill>
              <a:srgbClr val="514E48"/>
            </a:solidFill>
            <a:prstDash val="solid"/>
          </a:ln>
        </p:spPr>
      </p:sp>
      <p:sp>
        <p:nvSpPr>
          <p:cNvPr id="72" name="Shape 70"/>
          <p:cNvSpPr/>
          <p:nvPr/>
        </p:nvSpPr>
        <p:spPr>
          <a:xfrm>
            <a:off x="3391408" y="7061200"/>
            <a:ext cx="1499616" cy="165100"/>
          </a:xfrm>
          <a:prstGeom prst="rect">
            <a:avLst/>
          </a:prstGeom>
          <a:solidFill>
            <a:srgbClr val="888278"/>
          </a:solidFill>
          <a:ln w="7620">
            <a:solidFill>
              <a:srgbClr val="514E48"/>
            </a:solidFill>
            <a:prstDash val="solid"/>
          </a:ln>
        </p:spPr>
      </p:sp>
      <p:sp>
        <p:nvSpPr>
          <p:cNvPr id="73" name="Shape 71"/>
          <p:cNvSpPr/>
          <p:nvPr/>
        </p:nvSpPr>
        <p:spPr>
          <a:xfrm>
            <a:off x="4891024" y="7061200"/>
            <a:ext cx="2208276" cy="165100"/>
          </a:xfrm>
          <a:prstGeom prst="rect">
            <a:avLst/>
          </a:prstGeom>
          <a:solidFill>
            <a:srgbClr val="E8E1D4"/>
          </a:solidFill>
          <a:ln w="7620">
            <a:solidFill>
              <a:srgbClr val="514E48"/>
            </a:solidFill>
            <a:prstDash val="solid"/>
          </a:ln>
        </p:spPr>
      </p:sp>
      <p:sp>
        <p:nvSpPr>
          <p:cNvPr id="74" name="Text 72"/>
          <p:cNvSpPr/>
          <p:nvPr/>
        </p:nvSpPr>
        <p:spPr>
          <a:xfrm>
            <a:off x="2057400" y="7327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75" name="Shape 73"/>
          <p:cNvSpPr/>
          <p:nvPr/>
        </p:nvSpPr>
        <p:spPr>
          <a:xfrm>
            <a:off x="2527300" y="7327900"/>
            <a:ext cx="480060" cy="165100"/>
          </a:xfrm>
          <a:prstGeom prst="rect">
            <a:avLst/>
          </a:prstGeom>
          <a:solidFill>
            <a:srgbClr val="252525"/>
          </a:solidFill>
          <a:ln w="7620">
            <a:solidFill>
              <a:srgbClr val="514E48"/>
            </a:solidFill>
            <a:prstDash val="solid"/>
          </a:ln>
        </p:spPr>
      </p:sp>
      <p:sp>
        <p:nvSpPr>
          <p:cNvPr id="76" name="Shape 74"/>
          <p:cNvSpPr/>
          <p:nvPr/>
        </p:nvSpPr>
        <p:spPr>
          <a:xfrm>
            <a:off x="3007360" y="7327900"/>
            <a:ext cx="1197864" cy="165100"/>
          </a:xfrm>
          <a:prstGeom prst="rect">
            <a:avLst/>
          </a:prstGeom>
          <a:solidFill>
            <a:srgbClr val="888278"/>
          </a:solidFill>
          <a:ln w="7620">
            <a:solidFill>
              <a:srgbClr val="514E48"/>
            </a:solidFill>
            <a:prstDash val="solid"/>
          </a:ln>
        </p:spPr>
      </p:sp>
      <p:sp>
        <p:nvSpPr>
          <p:cNvPr id="77" name="Shape 75"/>
          <p:cNvSpPr/>
          <p:nvPr/>
        </p:nvSpPr>
        <p:spPr>
          <a:xfrm>
            <a:off x="4205224" y="7327900"/>
            <a:ext cx="2894076" cy="165100"/>
          </a:xfrm>
          <a:prstGeom prst="rect">
            <a:avLst/>
          </a:prstGeom>
          <a:solidFill>
            <a:srgbClr val="E8E1D4"/>
          </a:solidFill>
          <a:ln w="7620">
            <a:solidFill>
              <a:srgbClr val="514E48"/>
            </a:solidFill>
            <a:prstDash val="solid"/>
          </a:ln>
        </p:spPr>
      </p:sp>
      <p:sp>
        <p:nvSpPr>
          <p:cNvPr id="78" name="Text 76"/>
          <p:cNvSpPr/>
          <p:nvPr/>
        </p:nvSpPr>
        <p:spPr>
          <a:xfrm>
            <a:off x="2527300" y="7594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18.9→10.5 / Industry 32.8→26.2 / Services 48.3→63.3</a:t>
            </a:r>
            <a:endParaRPr lang="en-US" sz="800" dirty="0"/>
          </a:p>
        </p:txBody>
      </p:sp>
      <p:sp>
        <p:nvSpPr>
          <p:cNvPr id="79" name="Text 77"/>
          <p:cNvSpPr/>
          <p:nvPr/>
        </p:nvSpPr>
        <p:spPr>
          <a:xfrm>
            <a:off x="457200" y="8013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Philippines</a:t>
            </a:r>
            <a:endParaRPr lang="en-US" sz="1050" dirty="0"/>
          </a:p>
        </p:txBody>
      </p:sp>
      <p:sp>
        <p:nvSpPr>
          <p:cNvPr id="80" name="Text 78"/>
          <p:cNvSpPr/>
          <p:nvPr/>
        </p:nvSpPr>
        <p:spPr>
          <a:xfrm>
            <a:off x="2057400" y="7886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81" name="Shape 79"/>
          <p:cNvSpPr/>
          <p:nvPr/>
        </p:nvSpPr>
        <p:spPr>
          <a:xfrm>
            <a:off x="2527300" y="7886700"/>
            <a:ext cx="2016252" cy="165100"/>
          </a:xfrm>
          <a:prstGeom prst="rect">
            <a:avLst/>
          </a:prstGeom>
          <a:solidFill>
            <a:srgbClr val="252525"/>
          </a:solidFill>
          <a:ln w="7620">
            <a:solidFill>
              <a:srgbClr val="514E48"/>
            </a:solidFill>
            <a:prstDash val="solid"/>
          </a:ln>
        </p:spPr>
      </p:sp>
      <p:sp>
        <p:nvSpPr>
          <p:cNvPr id="82" name="Shape 80"/>
          <p:cNvSpPr/>
          <p:nvPr/>
        </p:nvSpPr>
        <p:spPr>
          <a:xfrm>
            <a:off x="4543552" y="7886700"/>
            <a:ext cx="758952" cy="165100"/>
          </a:xfrm>
          <a:prstGeom prst="rect">
            <a:avLst/>
          </a:prstGeom>
          <a:solidFill>
            <a:srgbClr val="888278"/>
          </a:solidFill>
          <a:ln w="7620">
            <a:solidFill>
              <a:srgbClr val="514E48"/>
            </a:solidFill>
            <a:prstDash val="solid"/>
          </a:ln>
        </p:spPr>
      </p:sp>
      <p:sp>
        <p:nvSpPr>
          <p:cNvPr id="83" name="Shape 81"/>
          <p:cNvSpPr/>
          <p:nvPr/>
        </p:nvSpPr>
        <p:spPr>
          <a:xfrm>
            <a:off x="5302504" y="7886700"/>
            <a:ext cx="1796796" cy="165100"/>
          </a:xfrm>
          <a:prstGeom prst="rect">
            <a:avLst/>
          </a:prstGeom>
          <a:solidFill>
            <a:srgbClr val="E8E1D4"/>
          </a:solidFill>
          <a:ln w="7620">
            <a:solidFill>
              <a:srgbClr val="514E48"/>
            </a:solidFill>
            <a:prstDash val="solid"/>
          </a:ln>
        </p:spPr>
      </p:sp>
      <p:sp>
        <p:nvSpPr>
          <p:cNvPr id="84" name="Text 82"/>
          <p:cNvSpPr/>
          <p:nvPr/>
        </p:nvSpPr>
        <p:spPr>
          <a:xfrm>
            <a:off x="2057400" y="8153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85" name="Shape 83"/>
          <p:cNvSpPr/>
          <p:nvPr/>
        </p:nvSpPr>
        <p:spPr>
          <a:xfrm>
            <a:off x="2527300" y="8153400"/>
            <a:ext cx="1120140" cy="165100"/>
          </a:xfrm>
          <a:prstGeom prst="rect">
            <a:avLst/>
          </a:prstGeom>
          <a:solidFill>
            <a:srgbClr val="252525"/>
          </a:solidFill>
          <a:ln w="7620">
            <a:solidFill>
              <a:srgbClr val="514E48"/>
            </a:solidFill>
            <a:prstDash val="solid"/>
          </a:ln>
        </p:spPr>
      </p:sp>
      <p:sp>
        <p:nvSpPr>
          <p:cNvPr id="86" name="Shape 84"/>
          <p:cNvSpPr/>
          <p:nvPr/>
        </p:nvSpPr>
        <p:spPr>
          <a:xfrm>
            <a:off x="3647440" y="8153400"/>
            <a:ext cx="854964" cy="165100"/>
          </a:xfrm>
          <a:prstGeom prst="rect">
            <a:avLst/>
          </a:prstGeom>
          <a:solidFill>
            <a:srgbClr val="888278"/>
          </a:solidFill>
          <a:ln w="7620">
            <a:solidFill>
              <a:srgbClr val="514E48"/>
            </a:solidFill>
            <a:prstDash val="solid"/>
          </a:ln>
        </p:spPr>
      </p:sp>
      <p:sp>
        <p:nvSpPr>
          <p:cNvPr id="87" name="Shape 85"/>
          <p:cNvSpPr/>
          <p:nvPr/>
        </p:nvSpPr>
        <p:spPr>
          <a:xfrm>
            <a:off x="4502404" y="8153400"/>
            <a:ext cx="2596896" cy="165100"/>
          </a:xfrm>
          <a:prstGeom prst="rect">
            <a:avLst/>
          </a:prstGeom>
          <a:solidFill>
            <a:srgbClr val="E8E1D4"/>
          </a:solidFill>
          <a:ln w="7620">
            <a:solidFill>
              <a:srgbClr val="514E48"/>
            </a:solidFill>
            <a:prstDash val="solid"/>
          </a:ln>
        </p:spPr>
      </p:sp>
      <p:sp>
        <p:nvSpPr>
          <p:cNvPr id="88" name="Text 86"/>
          <p:cNvSpPr/>
          <p:nvPr/>
        </p:nvSpPr>
        <p:spPr>
          <a:xfrm>
            <a:off x="2527300" y="8420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44.1→24.5 / Industry 16.6→18.7 / Services 39.3→56.8</a:t>
            </a:r>
            <a:endParaRPr lang="en-US" sz="800" dirty="0"/>
          </a:p>
        </p:txBody>
      </p:sp>
      <p:sp>
        <p:nvSpPr>
          <p:cNvPr id="89" name="Text 87"/>
          <p:cNvSpPr/>
          <p:nvPr/>
        </p:nvSpPr>
        <p:spPr>
          <a:xfrm>
            <a:off x="457200" y="8737600"/>
            <a:ext cx="6642100" cy="355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Each bar = 100% of employment. Values below each pair are percentages, 1991 → 2020. * Industry includes mining, construction and utilities.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INCOME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Six countries. Three snapshots.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Economic output per person, in constant 2015 US dollars. Read down each year to compare.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GDP per capita is not total national GDP, purchasing power or a typical wage. † Malaysia 1960 is a retrospective territorial series. 2020 is the pandemic year.</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a:t>
            </a:r>
            <a:endParaRPr lang="en-US" sz="1000" dirty="0"/>
          </a:p>
        </p:txBody>
      </p:sp>
      <p:sp>
        <p:nvSpPr>
          <p:cNvPr id="11" name="Shape 9"/>
          <p:cNvSpPr/>
          <p:nvPr/>
        </p:nvSpPr>
        <p:spPr>
          <a:xfrm>
            <a:off x="2108200" y="3200400"/>
            <a:ext cx="1498600" cy="520700"/>
          </a:xfrm>
          <a:prstGeom prst="rect">
            <a:avLst/>
          </a:prstGeom>
          <a:solidFill>
            <a:srgbClr val="252525"/>
          </a:solidFill>
          <a:ln w="12700">
            <a:solidFill>
              <a:srgbClr val="252525"/>
            </a:solidFill>
            <a:prstDash val="solid"/>
          </a:ln>
        </p:spPr>
      </p:sp>
      <p:sp>
        <p:nvSpPr>
          <p:cNvPr id="12" name="Text 10"/>
          <p:cNvSpPr/>
          <p:nvPr/>
        </p:nvSpPr>
        <p:spPr>
          <a:xfrm>
            <a:off x="2222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1960</a:t>
            </a:r>
            <a:endParaRPr lang="en-US" sz="2000" dirty="0"/>
          </a:p>
        </p:txBody>
      </p:sp>
      <p:sp>
        <p:nvSpPr>
          <p:cNvPr id="13" name="Shape 11"/>
          <p:cNvSpPr/>
          <p:nvPr/>
        </p:nvSpPr>
        <p:spPr>
          <a:xfrm>
            <a:off x="3886200" y="3200400"/>
            <a:ext cx="1498600" cy="520700"/>
          </a:xfrm>
          <a:prstGeom prst="rect">
            <a:avLst/>
          </a:prstGeom>
          <a:solidFill>
            <a:srgbClr val="252525"/>
          </a:solidFill>
          <a:ln w="12700">
            <a:solidFill>
              <a:srgbClr val="252525"/>
            </a:solidFill>
            <a:prstDash val="solid"/>
          </a:ln>
        </p:spPr>
      </p:sp>
      <p:sp>
        <p:nvSpPr>
          <p:cNvPr id="14" name="Text 12"/>
          <p:cNvSpPr/>
          <p:nvPr/>
        </p:nvSpPr>
        <p:spPr>
          <a:xfrm>
            <a:off x="4000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1990</a:t>
            </a:r>
            <a:endParaRPr lang="en-US" sz="2000" dirty="0"/>
          </a:p>
        </p:txBody>
      </p:sp>
      <p:sp>
        <p:nvSpPr>
          <p:cNvPr id="15" name="Shape 13"/>
          <p:cNvSpPr/>
          <p:nvPr/>
        </p:nvSpPr>
        <p:spPr>
          <a:xfrm>
            <a:off x="5664200" y="3200400"/>
            <a:ext cx="1498600" cy="520700"/>
          </a:xfrm>
          <a:prstGeom prst="rect">
            <a:avLst/>
          </a:prstGeom>
          <a:solidFill>
            <a:srgbClr val="252525"/>
          </a:solidFill>
          <a:ln w="12700">
            <a:solidFill>
              <a:srgbClr val="252525"/>
            </a:solidFill>
            <a:prstDash val="solid"/>
          </a:ln>
        </p:spPr>
      </p:sp>
      <p:sp>
        <p:nvSpPr>
          <p:cNvPr id="16" name="Text 14"/>
          <p:cNvSpPr/>
          <p:nvPr/>
        </p:nvSpPr>
        <p:spPr>
          <a:xfrm>
            <a:off x="5778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2020</a:t>
            </a:r>
            <a:endParaRPr lang="en-US" sz="2000" dirty="0"/>
          </a:p>
        </p:txBody>
      </p:sp>
      <p:sp>
        <p:nvSpPr>
          <p:cNvPr id="17" name="Shape 15"/>
          <p:cNvSpPr/>
          <p:nvPr/>
        </p:nvSpPr>
        <p:spPr>
          <a:xfrm>
            <a:off x="457200" y="4000500"/>
            <a:ext cx="1524000" cy="596900"/>
          </a:xfrm>
          <a:prstGeom prst="rect">
            <a:avLst/>
          </a:prstGeom>
          <a:solidFill>
            <a:srgbClr val="B95332"/>
          </a:solidFill>
          <a:ln w="12700">
            <a:solidFill>
              <a:srgbClr val="B95332"/>
            </a:solidFill>
            <a:prstDash val="solid"/>
          </a:ln>
        </p:spPr>
      </p:sp>
      <p:sp>
        <p:nvSpPr>
          <p:cNvPr id="18" name="Text 16"/>
          <p:cNvSpPr/>
          <p:nvPr/>
        </p:nvSpPr>
        <p:spPr>
          <a:xfrm>
            <a:off x="546100" y="42037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Ghana</a:t>
            </a:r>
            <a:endParaRPr lang="en-US" sz="1050" dirty="0"/>
          </a:p>
        </p:txBody>
      </p:sp>
      <p:sp>
        <p:nvSpPr>
          <p:cNvPr id="19" name="Text 17"/>
          <p:cNvSpPr/>
          <p:nvPr/>
        </p:nvSpPr>
        <p:spPr>
          <a:xfrm>
            <a:off x="2108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US$1,101</a:t>
            </a:r>
            <a:endParaRPr lang="en-US" sz="1800" dirty="0"/>
          </a:p>
        </p:txBody>
      </p:sp>
      <p:sp>
        <p:nvSpPr>
          <p:cNvPr id="20" name="Text 18"/>
          <p:cNvSpPr/>
          <p:nvPr/>
        </p:nvSpPr>
        <p:spPr>
          <a:xfrm>
            <a:off x="3886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US$856</a:t>
            </a:r>
            <a:endParaRPr lang="en-US" sz="1800" dirty="0"/>
          </a:p>
        </p:txBody>
      </p:sp>
      <p:sp>
        <p:nvSpPr>
          <p:cNvPr id="21" name="Text 19"/>
          <p:cNvSpPr/>
          <p:nvPr/>
        </p:nvSpPr>
        <p:spPr>
          <a:xfrm>
            <a:off x="5664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US$1,970</a:t>
            </a:r>
            <a:endParaRPr lang="en-US" sz="1800" dirty="0"/>
          </a:p>
        </p:txBody>
      </p:sp>
      <p:sp>
        <p:nvSpPr>
          <p:cNvPr id="22" name="Shape 20"/>
          <p:cNvSpPr/>
          <p:nvPr/>
        </p:nvSpPr>
        <p:spPr>
          <a:xfrm>
            <a:off x="2184400" y="4631690"/>
            <a:ext cx="4914900" cy="7620"/>
          </a:xfrm>
          <a:prstGeom prst="rect">
            <a:avLst/>
          </a:prstGeom>
          <a:solidFill>
            <a:srgbClr val="B7B0A4"/>
          </a:solidFill>
          <a:ln w="12700">
            <a:solidFill>
              <a:srgbClr val="B7B0A4"/>
            </a:solidFill>
            <a:prstDash val="solid"/>
          </a:ln>
        </p:spPr>
      </p:sp>
      <p:sp>
        <p:nvSpPr>
          <p:cNvPr id="23" name="Shape 21"/>
          <p:cNvSpPr/>
          <p:nvPr/>
        </p:nvSpPr>
        <p:spPr>
          <a:xfrm>
            <a:off x="457200" y="4749800"/>
            <a:ext cx="1524000" cy="596900"/>
          </a:xfrm>
          <a:prstGeom prst="rect">
            <a:avLst/>
          </a:prstGeom>
          <a:solidFill>
            <a:srgbClr val="3F684E"/>
          </a:solidFill>
          <a:ln w="12700">
            <a:solidFill>
              <a:srgbClr val="3F684E"/>
            </a:solidFill>
            <a:prstDash val="solid"/>
          </a:ln>
        </p:spPr>
      </p:sp>
      <p:sp>
        <p:nvSpPr>
          <p:cNvPr id="24" name="Text 22"/>
          <p:cNvSpPr/>
          <p:nvPr/>
        </p:nvSpPr>
        <p:spPr>
          <a:xfrm>
            <a:off x="546100" y="49530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Botswana</a:t>
            </a:r>
            <a:endParaRPr lang="en-US" sz="1050" dirty="0"/>
          </a:p>
        </p:txBody>
      </p:sp>
      <p:sp>
        <p:nvSpPr>
          <p:cNvPr id="25" name="Text 23"/>
          <p:cNvSpPr/>
          <p:nvPr/>
        </p:nvSpPr>
        <p:spPr>
          <a:xfrm>
            <a:off x="2108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US$394</a:t>
            </a:r>
            <a:endParaRPr lang="en-US" sz="1800" dirty="0"/>
          </a:p>
        </p:txBody>
      </p:sp>
      <p:sp>
        <p:nvSpPr>
          <p:cNvPr id="26" name="Text 24"/>
          <p:cNvSpPr/>
          <p:nvPr/>
        </p:nvSpPr>
        <p:spPr>
          <a:xfrm>
            <a:off x="3886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US$4,039</a:t>
            </a:r>
            <a:endParaRPr lang="en-US" sz="1800" dirty="0"/>
          </a:p>
        </p:txBody>
      </p:sp>
      <p:sp>
        <p:nvSpPr>
          <p:cNvPr id="27" name="Text 25"/>
          <p:cNvSpPr/>
          <p:nvPr/>
        </p:nvSpPr>
        <p:spPr>
          <a:xfrm>
            <a:off x="5664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US$6,254</a:t>
            </a:r>
            <a:endParaRPr lang="en-US" sz="1800" dirty="0"/>
          </a:p>
        </p:txBody>
      </p:sp>
      <p:sp>
        <p:nvSpPr>
          <p:cNvPr id="28" name="Shape 26"/>
          <p:cNvSpPr/>
          <p:nvPr/>
        </p:nvSpPr>
        <p:spPr>
          <a:xfrm>
            <a:off x="2184400" y="5380990"/>
            <a:ext cx="4914900" cy="7620"/>
          </a:xfrm>
          <a:prstGeom prst="rect">
            <a:avLst/>
          </a:prstGeom>
          <a:solidFill>
            <a:srgbClr val="B7B0A4"/>
          </a:solidFill>
          <a:ln w="12700">
            <a:solidFill>
              <a:srgbClr val="B7B0A4"/>
            </a:solidFill>
            <a:prstDash val="solid"/>
          </a:ln>
        </p:spPr>
      </p:sp>
      <p:sp>
        <p:nvSpPr>
          <p:cNvPr id="29" name="Shape 27"/>
          <p:cNvSpPr/>
          <p:nvPr/>
        </p:nvSpPr>
        <p:spPr>
          <a:xfrm>
            <a:off x="457200" y="5499100"/>
            <a:ext cx="1524000" cy="596900"/>
          </a:xfrm>
          <a:prstGeom prst="rect">
            <a:avLst/>
          </a:prstGeom>
          <a:solidFill>
            <a:srgbClr val="D6A23A"/>
          </a:solidFill>
          <a:ln w="12700">
            <a:solidFill>
              <a:srgbClr val="D6A23A"/>
            </a:solidFill>
            <a:prstDash val="solid"/>
          </a:ln>
        </p:spPr>
      </p:sp>
      <p:sp>
        <p:nvSpPr>
          <p:cNvPr id="30" name="Text 28"/>
          <p:cNvSpPr/>
          <p:nvPr/>
        </p:nvSpPr>
        <p:spPr>
          <a:xfrm>
            <a:off x="546100" y="57023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31" name="Text 29"/>
          <p:cNvSpPr/>
          <p:nvPr/>
        </p:nvSpPr>
        <p:spPr>
          <a:xfrm>
            <a:off x="2108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US$1,419</a:t>
            </a:r>
            <a:endParaRPr lang="en-US" sz="1800" dirty="0"/>
          </a:p>
        </p:txBody>
      </p:sp>
      <p:sp>
        <p:nvSpPr>
          <p:cNvPr id="32" name="Text 30"/>
          <p:cNvSpPr/>
          <p:nvPr/>
        </p:nvSpPr>
        <p:spPr>
          <a:xfrm>
            <a:off x="3886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US$3,846</a:t>
            </a:r>
            <a:endParaRPr lang="en-US" sz="1800" dirty="0"/>
          </a:p>
        </p:txBody>
      </p:sp>
      <p:sp>
        <p:nvSpPr>
          <p:cNvPr id="33" name="Text 31"/>
          <p:cNvSpPr/>
          <p:nvPr/>
        </p:nvSpPr>
        <p:spPr>
          <a:xfrm>
            <a:off x="5664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US$9,534</a:t>
            </a:r>
            <a:endParaRPr lang="en-US" sz="1800" dirty="0"/>
          </a:p>
        </p:txBody>
      </p:sp>
      <p:sp>
        <p:nvSpPr>
          <p:cNvPr id="34" name="Shape 32"/>
          <p:cNvSpPr/>
          <p:nvPr/>
        </p:nvSpPr>
        <p:spPr>
          <a:xfrm>
            <a:off x="2184400" y="6130290"/>
            <a:ext cx="4914900" cy="7620"/>
          </a:xfrm>
          <a:prstGeom prst="rect">
            <a:avLst/>
          </a:prstGeom>
          <a:solidFill>
            <a:srgbClr val="B7B0A4"/>
          </a:solidFill>
          <a:ln w="12700">
            <a:solidFill>
              <a:srgbClr val="B7B0A4"/>
            </a:solidFill>
            <a:prstDash val="solid"/>
          </a:ln>
        </p:spPr>
      </p:sp>
      <p:sp>
        <p:nvSpPr>
          <p:cNvPr id="35" name="Shape 33"/>
          <p:cNvSpPr/>
          <p:nvPr/>
        </p:nvSpPr>
        <p:spPr>
          <a:xfrm>
            <a:off x="457200" y="6248400"/>
            <a:ext cx="1524000" cy="596900"/>
          </a:xfrm>
          <a:prstGeom prst="rect">
            <a:avLst/>
          </a:prstGeom>
          <a:solidFill>
            <a:srgbClr val="315A78"/>
          </a:solidFill>
          <a:ln w="12700">
            <a:solidFill>
              <a:srgbClr val="315A78"/>
            </a:solidFill>
            <a:prstDash val="solid"/>
          </a:ln>
        </p:spPr>
      </p:sp>
      <p:sp>
        <p:nvSpPr>
          <p:cNvPr id="36" name="Text 34"/>
          <p:cNvSpPr/>
          <p:nvPr/>
        </p:nvSpPr>
        <p:spPr>
          <a:xfrm>
            <a:off x="546100" y="64516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South Korea</a:t>
            </a:r>
            <a:endParaRPr lang="en-US" sz="1050" dirty="0"/>
          </a:p>
        </p:txBody>
      </p:sp>
      <p:sp>
        <p:nvSpPr>
          <p:cNvPr id="37" name="Text 35"/>
          <p:cNvSpPr/>
          <p:nvPr/>
        </p:nvSpPr>
        <p:spPr>
          <a:xfrm>
            <a:off x="2108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US$1,038</a:t>
            </a:r>
            <a:endParaRPr lang="en-US" sz="1800" dirty="0"/>
          </a:p>
        </p:txBody>
      </p:sp>
      <p:sp>
        <p:nvSpPr>
          <p:cNvPr id="38" name="Text 36"/>
          <p:cNvSpPr/>
          <p:nvPr/>
        </p:nvSpPr>
        <p:spPr>
          <a:xfrm>
            <a:off x="3886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US$9,673</a:t>
            </a:r>
            <a:endParaRPr lang="en-US" sz="1800" dirty="0"/>
          </a:p>
        </p:txBody>
      </p:sp>
      <p:sp>
        <p:nvSpPr>
          <p:cNvPr id="39" name="Text 37"/>
          <p:cNvSpPr/>
          <p:nvPr/>
        </p:nvSpPr>
        <p:spPr>
          <a:xfrm>
            <a:off x="5664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US$33,216</a:t>
            </a:r>
            <a:endParaRPr lang="en-US" sz="1800" dirty="0"/>
          </a:p>
        </p:txBody>
      </p:sp>
      <p:sp>
        <p:nvSpPr>
          <p:cNvPr id="40" name="Shape 38"/>
          <p:cNvSpPr/>
          <p:nvPr/>
        </p:nvSpPr>
        <p:spPr>
          <a:xfrm>
            <a:off x="2184400" y="6879590"/>
            <a:ext cx="4914900" cy="7620"/>
          </a:xfrm>
          <a:prstGeom prst="rect">
            <a:avLst/>
          </a:prstGeom>
          <a:solidFill>
            <a:srgbClr val="B7B0A4"/>
          </a:solidFill>
          <a:ln w="12700">
            <a:solidFill>
              <a:srgbClr val="B7B0A4"/>
            </a:solidFill>
            <a:prstDash val="solid"/>
          </a:ln>
        </p:spPr>
      </p:sp>
      <p:sp>
        <p:nvSpPr>
          <p:cNvPr id="41" name="Shape 39"/>
          <p:cNvSpPr/>
          <p:nvPr/>
        </p:nvSpPr>
        <p:spPr>
          <a:xfrm>
            <a:off x="457200" y="6997700"/>
            <a:ext cx="1524000" cy="596900"/>
          </a:xfrm>
          <a:prstGeom prst="rect">
            <a:avLst/>
          </a:prstGeom>
          <a:solidFill>
            <a:srgbClr val="3E7568"/>
          </a:solidFill>
          <a:ln w="12700">
            <a:solidFill>
              <a:srgbClr val="3E7568"/>
            </a:solidFill>
            <a:prstDash val="solid"/>
          </a:ln>
        </p:spPr>
      </p:sp>
      <p:sp>
        <p:nvSpPr>
          <p:cNvPr id="42" name="Text 40"/>
          <p:cNvSpPr/>
          <p:nvPr/>
        </p:nvSpPr>
        <p:spPr>
          <a:xfrm>
            <a:off x="546100" y="72009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Malaysia</a:t>
            </a:r>
            <a:endParaRPr lang="en-US" sz="1050" dirty="0"/>
          </a:p>
        </p:txBody>
      </p:sp>
      <p:sp>
        <p:nvSpPr>
          <p:cNvPr id="43" name="Text 41"/>
          <p:cNvSpPr/>
          <p:nvPr/>
        </p:nvSpPr>
        <p:spPr>
          <a:xfrm>
            <a:off x="2108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US$1,266 †</a:t>
            </a:r>
            <a:endParaRPr lang="en-US" sz="1800" dirty="0"/>
          </a:p>
        </p:txBody>
      </p:sp>
      <p:sp>
        <p:nvSpPr>
          <p:cNvPr id="44" name="Text 42"/>
          <p:cNvSpPr/>
          <p:nvPr/>
        </p:nvSpPr>
        <p:spPr>
          <a:xfrm>
            <a:off x="3886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US$4,185</a:t>
            </a:r>
            <a:endParaRPr lang="en-US" sz="1800" dirty="0"/>
          </a:p>
        </p:txBody>
      </p:sp>
      <p:sp>
        <p:nvSpPr>
          <p:cNvPr id="45" name="Text 43"/>
          <p:cNvSpPr/>
          <p:nvPr/>
        </p:nvSpPr>
        <p:spPr>
          <a:xfrm>
            <a:off x="5664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US$10,171</a:t>
            </a:r>
            <a:endParaRPr lang="en-US" sz="1800" dirty="0"/>
          </a:p>
        </p:txBody>
      </p:sp>
      <p:sp>
        <p:nvSpPr>
          <p:cNvPr id="46" name="Shape 44"/>
          <p:cNvSpPr/>
          <p:nvPr/>
        </p:nvSpPr>
        <p:spPr>
          <a:xfrm>
            <a:off x="2184400" y="7628890"/>
            <a:ext cx="4914900" cy="7620"/>
          </a:xfrm>
          <a:prstGeom prst="rect">
            <a:avLst/>
          </a:prstGeom>
          <a:solidFill>
            <a:srgbClr val="B7B0A4"/>
          </a:solidFill>
          <a:ln w="12700">
            <a:solidFill>
              <a:srgbClr val="B7B0A4"/>
            </a:solidFill>
            <a:prstDash val="solid"/>
          </a:ln>
        </p:spPr>
      </p:sp>
      <p:sp>
        <p:nvSpPr>
          <p:cNvPr id="47" name="Shape 45"/>
          <p:cNvSpPr/>
          <p:nvPr/>
        </p:nvSpPr>
        <p:spPr>
          <a:xfrm>
            <a:off x="457200" y="7747000"/>
            <a:ext cx="1524000" cy="596900"/>
          </a:xfrm>
          <a:prstGeom prst="rect">
            <a:avLst/>
          </a:prstGeom>
          <a:solidFill>
            <a:srgbClr val="A63A3A"/>
          </a:solidFill>
          <a:ln w="12700">
            <a:solidFill>
              <a:srgbClr val="A63A3A"/>
            </a:solidFill>
            <a:prstDash val="solid"/>
          </a:ln>
        </p:spPr>
      </p:sp>
      <p:sp>
        <p:nvSpPr>
          <p:cNvPr id="48" name="Text 46"/>
          <p:cNvSpPr/>
          <p:nvPr/>
        </p:nvSpPr>
        <p:spPr>
          <a:xfrm>
            <a:off x="546100" y="79502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Philippines</a:t>
            </a:r>
            <a:endParaRPr lang="en-US" sz="1050" dirty="0"/>
          </a:p>
        </p:txBody>
      </p:sp>
      <p:sp>
        <p:nvSpPr>
          <p:cNvPr id="49" name="Text 47"/>
          <p:cNvSpPr/>
          <p:nvPr/>
        </p:nvSpPr>
        <p:spPr>
          <a:xfrm>
            <a:off x="2108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US$1,124</a:t>
            </a:r>
            <a:endParaRPr lang="en-US" sz="1800" dirty="0"/>
          </a:p>
        </p:txBody>
      </p:sp>
      <p:sp>
        <p:nvSpPr>
          <p:cNvPr id="50" name="Text 48"/>
          <p:cNvSpPr/>
          <p:nvPr/>
        </p:nvSpPr>
        <p:spPr>
          <a:xfrm>
            <a:off x="3886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US$1,704</a:t>
            </a:r>
            <a:endParaRPr lang="en-US" sz="1800" dirty="0"/>
          </a:p>
        </p:txBody>
      </p:sp>
      <p:sp>
        <p:nvSpPr>
          <p:cNvPr id="51" name="Text 49"/>
          <p:cNvSpPr/>
          <p:nvPr/>
        </p:nvSpPr>
        <p:spPr>
          <a:xfrm>
            <a:off x="5664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US$3,199</a:t>
            </a:r>
            <a:endParaRPr lang="en-US" sz="1800" dirty="0"/>
          </a:p>
        </p:txBody>
      </p:sp>
      <p:sp>
        <p:nvSpPr>
          <p:cNvPr id="52" name="Shape 50"/>
          <p:cNvSpPr/>
          <p:nvPr/>
        </p:nvSpPr>
        <p:spPr>
          <a:xfrm>
            <a:off x="2184400" y="8378190"/>
            <a:ext cx="4914900" cy="7620"/>
          </a:xfrm>
          <a:prstGeom prst="rect">
            <a:avLst/>
          </a:prstGeom>
          <a:solidFill>
            <a:srgbClr val="B7B0A4"/>
          </a:solidFill>
          <a:ln w="12700">
            <a:solidFill>
              <a:srgbClr val="B7B0A4"/>
            </a:solidFill>
            <a:prstDash val="solid"/>
          </a:ln>
        </p:spPr>
      </p:sp>
      <p:sp>
        <p:nvSpPr>
          <p:cNvPr id="53" name="Text 51"/>
          <p:cNvSpPr/>
          <p:nvPr/>
        </p:nvSpPr>
        <p:spPr>
          <a:xfrm>
            <a:off x="457200" y="8712200"/>
            <a:ext cx="66421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Every value is US dollars per person, adjusted to constant 2015 prices. Compare countries within a column; compare years across a row.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LEARNING</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Build. Learn. Improve. Repeat.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Capability grows through repeated practice—not one factory or one policy.</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a possible learning sequence, not an automatic cycle. Institutions, resources, distribution and access to technology and markets shape every link.</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World Bank (1993, pp. 4–7, 20–26, 79–80, 127–130, 159–161); World Bank (2020, pp. 32–33, Box 2 pp. 44–47).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11</a:t>
            </a:r>
            <a:endParaRPr lang="en-US" sz="1000" dirty="0"/>
          </a:p>
        </p:txBody>
      </p:sp>
      <p:sp>
        <p:nvSpPr>
          <p:cNvPr id="23" name="Shape 21"/>
          <p:cNvSpPr/>
          <p:nvPr/>
        </p:nvSpPr>
        <p:spPr>
          <a:xfrm>
            <a:off x="3784600" y="3581400"/>
            <a:ext cx="1968500" cy="1054100"/>
          </a:xfrm>
          <a:prstGeom prst="line">
            <a:avLst/>
          </a:prstGeom>
          <a:noFill/>
          <a:ln w="152400">
            <a:solidFill>
              <a:srgbClr val="F4F0E7"/>
            </a:solidFill>
            <a:prstDash val="solid"/>
          </a:ln>
        </p:spPr>
      </p:sp>
      <p:sp>
        <p:nvSpPr>
          <p:cNvPr id="24" name="Shape 22"/>
          <p:cNvSpPr/>
          <p:nvPr/>
        </p:nvSpPr>
        <p:spPr>
          <a:xfrm>
            <a:off x="5676900" y="4635500"/>
            <a:ext cx="152400" cy="1943100"/>
          </a:xfrm>
          <a:prstGeom prst="rect">
            <a:avLst/>
          </a:prstGeom>
          <a:solidFill>
            <a:srgbClr val="F4F0E7"/>
          </a:solidFill>
          <a:ln w="12700">
            <a:solidFill>
              <a:srgbClr val="F4F0E7"/>
            </a:solidFill>
            <a:prstDash val="solid"/>
          </a:ln>
        </p:spPr>
      </p:sp>
      <p:sp>
        <p:nvSpPr>
          <p:cNvPr id="25" name="Shape 23"/>
          <p:cNvSpPr/>
          <p:nvPr/>
        </p:nvSpPr>
        <p:spPr>
          <a:xfrm>
            <a:off x="3784600" y="6578600"/>
            <a:ext cx="1968500" cy="1028700"/>
          </a:xfrm>
          <a:prstGeom prst="line">
            <a:avLst/>
          </a:prstGeom>
          <a:noFill/>
          <a:ln w="152400">
            <a:solidFill>
              <a:srgbClr val="F4F0E7"/>
            </a:solidFill>
            <a:prstDash val="solid"/>
          </a:ln>
        </p:spPr>
      </p:sp>
      <p:sp>
        <p:nvSpPr>
          <p:cNvPr id="26" name="Shape 24"/>
          <p:cNvSpPr/>
          <p:nvPr/>
        </p:nvSpPr>
        <p:spPr>
          <a:xfrm flipV="1">
            <a:off x="1803400" y="6578600"/>
            <a:ext cx="1981200" cy="1028700"/>
          </a:xfrm>
          <a:prstGeom prst="line">
            <a:avLst/>
          </a:prstGeom>
          <a:noFill/>
          <a:ln w="152400">
            <a:solidFill>
              <a:srgbClr val="F4F0E7"/>
            </a:solidFill>
            <a:prstDash val="solid"/>
          </a:ln>
        </p:spPr>
      </p:sp>
      <p:sp>
        <p:nvSpPr>
          <p:cNvPr id="27" name="Shape 25"/>
          <p:cNvSpPr/>
          <p:nvPr/>
        </p:nvSpPr>
        <p:spPr>
          <a:xfrm>
            <a:off x="1727200" y="4635500"/>
            <a:ext cx="152400" cy="1943100"/>
          </a:xfrm>
          <a:prstGeom prst="rect">
            <a:avLst/>
          </a:prstGeom>
          <a:solidFill>
            <a:srgbClr val="F4F0E7"/>
          </a:solidFill>
          <a:ln w="12700">
            <a:solidFill>
              <a:srgbClr val="F4F0E7"/>
            </a:solidFill>
            <a:prstDash val="solid"/>
          </a:ln>
        </p:spPr>
      </p:sp>
      <p:sp>
        <p:nvSpPr>
          <p:cNvPr id="28" name="Shape 26"/>
          <p:cNvSpPr/>
          <p:nvPr/>
        </p:nvSpPr>
        <p:spPr>
          <a:xfrm flipV="1">
            <a:off x="1803400" y="3581400"/>
            <a:ext cx="1981200" cy="1054100"/>
          </a:xfrm>
          <a:prstGeom prst="line">
            <a:avLst/>
          </a:prstGeom>
          <a:noFill/>
          <a:ln w="152400">
            <a:solidFill>
              <a:srgbClr val="F4F0E7"/>
            </a:solidFill>
            <a:prstDash val="solid"/>
          </a:ln>
        </p:spPr>
      </p:sp>
      <p:sp>
        <p:nvSpPr>
          <p:cNvPr id="29" name="Shape 27"/>
          <p:cNvSpPr/>
          <p:nvPr/>
        </p:nvSpPr>
        <p:spPr>
          <a:xfrm>
            <a:off x="2844800" y="4686300"/>
            <a:ext cx="1866900" cy="1866900"/>
          </a:xfrm>
          <a:prstGeom prst="ellipse">
            <a:avLst/>
          </a:prstGeom>
          <a:solidFill>
            <a:srgbClr val="F4F0E7"/>
          </a:solidFill>
          <a:ln w="12700">
            <a:solidFill>
              <a:srgbClr val="F4F0E7"/>
            </a:solidFill>
            <a:prstDash val="solid"/>
          </a:ln>
        </p:spPr>
      </p:sp>
      <p:sp>
        <p:nvSpPr>
          <p:cNvPr id="30" name="Shape 28"/>
          <p:cNvSpPr/>
          <p:nvPr/>
        </p:nvSpPr>
        <p:spPr>
          <a:xfrm>
            <a:off x="2971800" y="4813300"/>
            <a:ext cx="1612900" cy="1612900"/>
          </a:xfrm>
          <a:prstGeom prst="ellipse">
            <a:avLst/>
          </a:prstGeom>
          <a:solidFill>
            <a:srgbClr val="252525"/>
          </a:solidFill>
          <a:ln w="12700">
            <a:solidFill>
              <a:srgbClr val="252525"/>
            </a:solidFill>
            <a:prstDash val="solid"/>
          </a:ln>
        </p:spPr>
      </p:sp>
      <p:sp>
        <p:nvSpPr>
          <p:cNvPr id="31" name="Text 29"/>
          <p:cNvSpPr/>
          <p:nvPr/>
        </p:nvSpPr>
        <p:spPr>
          <a:xfrm>
            <a:off x="3111500" y="5245100"/>
            <a:ext cx="1333500" cy="774700"/>
          </a:xfrm>
          <a:prstGeom prst="rect">
            <a:avLst/>
          </a:prstGeom>
          <a:noFill/>
          <a:ln/>
        </p:spPr>
        <p:txBody>
          <a:bodyPr wrap="square" lIns="0" tIns="0" rIns="0" bIns="0" rtlCol="0" anchor="t"/>
          <a:lstStyle/>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LEARN</a:t>
            </a:r>
            <a:endParaRPr lang="en-US" sz="2200" dirty="0"/>
          </a:p>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AGAIN</a:t>
            </a:r>
            <a:endParaRPr lang="en-US" sz="2200" dirty="0"/>
          </a:p>
        </p:txBody>
      </p:sp>
      <p:sp>
        <p:nvSpPr>
          <p:cNvPr id="32" name="Shape 30"/>
          <p:cNvSpPr/>
          <p:nvPr/>
        </p:nvSpPr>
        <p:spPr>
          <a:xfrm>
            <a:off x="3517900" y="3314700"/>
            <a:ext cx="533400" cy="533400"/>
          </a:xfrm>
          <a:prstGeom prst="ellipse">
            <a:avLst/>
          </a:prstGeom>
          <a:solidFill>
            <a:srgbClr val="F4F0E7"/>
          </a:solidFill>
          <a:ln w="5080">
            <a:solidFill>
              <a:srgbClr val="F4F0E7"/>
            </a:solidFill>
            <a:prstDash val="solid"/>
          </a:ln>
        </p:spPr>
      </p:sp>
      <p:sp>
        <p:nvSpPr>
          <p:cNvPr id="33" name="Text 31"/>
          <p:cNvSpPr/>
          <p:nvPr/>
        </p:nvSpPr>
        <p:spPr>
          <a:xfrm>
            <a:off x="3594100" y="34544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1</a:t>
            </a:r>
            <a:endParaRPr lang="en-US" sz="1600" dirty="0"/>
          </a:p>
        </p:txBody>
      </p:sp>
      <p:sp>
        <p:nvSpPr>
          <p:cNvPr id="34" name="Text 32"/>
          <p:cNvSpPr/>
          <p:nvPr/>
        </p:nvSpPr>
        <p:spPr>
          <a:xfrm>
            <a:off x="2667000" y="3098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Skills</a:t>
            </a:r>
            <a:endParaRPr lang="en-US" sz="1100" dirty="0"/>
          </a:p>
        </p:txBody>
      </p:sp>
      <p:sp>
        <p:nvSpPr>
          <p:cNvPr id="35" name="Shape 33"/>
          <p:cNvSpPr/>
          <p:nvPr/>
        </p:nvSpPr>
        <p:spPr>
          <a:xfrm>
            <a:off x="5486400" y="4368800"/>
            <a:ext cx="533400" cy="533400"/>
          </a:xfrm>
          <a:prstGeom prst="ellipse">
            <a:avLst/>
          </a:prstGeom>
          <a:solidFill>
            <a:srgbClr val="F4F0E7"/>
          </a:solidFill>
          <a:ln w="5080">
            <a:solidFill>
              <a:srgbClr val="F4F0E7"/>
            </a:solidFill>
            <a:prstDash val="solid"/>
          </a:ln>
        </p:spPr>
      </p:sp>
      <p:sp>
        <p:nvSpPr>
          <p:cNvPr id="36" name="Text 34"/>
          <p:cNvSpPr/>
          <p:nvPr/>
        </p:nvSpPr>
        <p:spPr>
          <a:xfrm>
            <a:off x="55626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2</a:t>
            </a:r>
            <a:endParaRPr lang="en-US" sz="1600" dirty="0"/>
          </a:p>
        </p:txBody>
      </p:sp>
      <p:sp>
        <p:nvSpPr>
          <p:cNvPr id="37" name="Text 35"/>
          <p:cNvSpPr/>
          <p:nvPr/>
        </p:nvSpPr>
        <p:spPr>
          <a:xfrm>
            <a:off x="50419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Infrastructure</a:t>
            </a:r>
            <a:endParaRPr lang="en-US" sz="1100" dirty="0"/>
          </a:p>
        </p:txBody>
      </p:sp>
      <p:sp>
        <p:nvSpPr>
          <p:cNvPr id="38" name="Shape 36"/>
          <p:cNvSpPr/>
          <p:nvPr/>
        </p:nvSpPr>
        <p:spPr>
          <a:xfrm>
            <a:off x="5486400" y="6311900"/>
            <a:ext cx="533400" cy="533400"/>
          </a:xfrm>
          <a:prstGeom prst="ellipse">
            <a:avLst/>
          </a:prstGeom>
          <a:solidFill>
            <a:srgbClr val="F4F0E7"/>
          </a:solidFill>
          <a:ln w="5080">
            <a:solidFill>
              <a:srgbClr val="F4F0E7"/>
            </a:solidFill>
            <a:prstDash val="solid"/>
          </a:ln>
        </p:spPr>
      </p:sp>
      <p:sp>
        <p:nvSpPr>
          <p:cNvPr id="39" name="Text 37"/>
          <p:cNvSpPr/>
          <p:nvPr/>
        </p:nvSpPr>
        <p:spPr>
          <a:xfrm>
            <a:off x="55626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3</a:t>
            </a:r>
            <a:endParaRPr lang="en-US" sz="1600" dirty="0"/>
          </a:p>
        </p:txBody>
      </p:sp>
      <p:sp>
        <p:nvSpPr>
          <p:cNvPr id="40" name="Text 38"/>
          <p:cNvSpPr/>
          <p:nvPr/>
        </p:nvSpPr>
        <p:spPr>
          <a:xfrm>
            <a:off x="50419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Firms + suppliers</a:t>
            </a:r>
            <a:endParaRPr lang="en-US" sz="1100" dirty="0"/>
          </a:p>
        </p:txBody>
      </p:sp>
      <p:sp>
        <p:nvSpPr>
          <p:cNvPr id="41" name="Shape 39"/>
          <p:cNvSpPr/>
          <p:nvPr/>
        </p:nvSpPr>
        <p:spPr>
          <a:xfrm>
            <a:off x="3517900" y="7340600"/>
            <a:ext cx="533400" cy="533400"/>
          </a:xfrm>
          <a:prstGeom prst="ellipse">
            <a:avLst/>
          </a:prstGeom>
          <a:solidFill>
            <a:srgbClr val="F4F0E7"/>
          </a:solidFill>
          <a:ln w="5080">
            <a:solidFill>
              <a:srgbClr val="F4F0E7"/>
            </a:solidFill>
            <a:prstDash val="solid"/>
          </a:ln>
        </p:spPr>
      </p:sp>
      <p:sp>
        <p:nvSpPr>
          <p:cNvPr id="42" name="Text 40"/>
          <p:cNvSpPr/>
          <p:nvPr/>
        </p:nvSpPr>
        <p:spPr>
          <a:xfrm>
            <a:off x="3594100" y="74803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4</a:t>
            </a:r>
            <a:endParaRPr lang="en-US" sz="1600" dirty="0"/>
          </a:p>
        </p:txBody>
      </p:sp>
      <p:sp>
        <p:nvSpPr>
          <p:cNvPr id="43" name="Text 41"/>
          <p:cNvSpPr/>
          <p:nvPr/>
        </p:nvSpPr>
        <p:spPr>
          <a:xfrm>
            <a:off x="2667000" y="8051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Production</a:t>
            </a:r>
            <a:endParaRPr lang="en-US" sz="1100" dirty="0"/>
          </a:p>
        </p:txBody>
      </p:sp>
      <p:sp>
        <p:nvSpPr>
          <p:cNvPr id="44" name="Shape 42"/>
          <p:cNvSpPr/>
          <p:nvPr/>
        </p:nvSpPr>
        <p:spPr>
          <a:xfrm>
            <a:off x="1536700" y="6311900"/>
            <a:ext cx="533400" cy="533400"/>
          </a:xfrm>
          <a:prstGeom prst="ellipse">
            <a:avLst/>
          </a:prstGeom>
          <a:solidFill>
            <a:srgbClr val="F4F0E7"/>
          </a:solidFill>
          <a:ln w="5080">
            <a:solidFill>
              <a:srgbClr val="F4F0E7"/>
            </a:solidFill>
            <a:prstDash val="solid"/>
          </a:ln>
        </p:spPr>
      </p:sp>
      <p:sp>
        <p:nvSpPr>
          <p:cNvPr id="45" name="Text 43"/>
          <p:cNvSpPr/>
          <p:nvPr/>
        </p:nvSpPr>
        <p:spPr>
          <a:xfrm>
            <a:off x="16129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5</a:t>
            </a:r>
            <a:endParaRPr lang="en-US" sz="1600" dirty="0"/>
          </a:p>
        </p:txBody>
      </p:sp>
      <p:sp>
        <p:nvSpPr>
          <p:cNvPr id="46" name="Text 44"/>
          <p:cNvSpPr/>
          <p:nvPr/>
        </p:nvSpPr>
        <p:spPr>
          <a:xfrm>
            <a:off x="4572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Exports + learning</a:t>
            </a:r>
            <a:endParaRPr lang="en-US" sz="1100" dirty="0"/>
          </a:p>
        </p:txBody>
      </p:sp>
      <p:sp>
        <p:nvSpPr>
          <p:cNvPr id="47" name="Shape 45"/>
          <p:cNvSpPr/>
          <p:nvPr/>
        </p:nvSpPr>
        <p:spPr>
          <a:xfrm>
            <a:off x="1536700" y="4368800"/>
            <a:ext cx="533400" cy="533400"/>
          </a:xfrm>
          <a:prstGeom prst="ellipse">
            <a:avLst/>
          </a:prstGeom>
          <a:solidFill>
            <a:srgbClr val="F4F0E7"/>
          </a:solidFill>
          <a:ln w="5080">
            <a:solidFill>
              <a:srgbClr val="F4F0E7"/>
            </a:solidFill>
            <a:prstDash val="solid"/>
          </a:ln>
        </p:spPr>
      </p:sp>
      <p:sp>
        <p:nvSpPr>
          <p:cNvPr id="48" name="Text 46"/>
          <p:cNvSpPr/>
          <p:nvPr/>
        </p:nvSpPr>
        <p:spPr>
          <a:xfrm>
            <a:off x="16129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6</a:t>
            </a:r>
            <a:endParaRPr lang="en-US" sz="1600" dirty="0"/>
          </a:p>
        </p:txBody>
      </p:sp>
      <p:sp>
        <p:nvSpPr>
          <p:cNvPr id="49" name="Text 47"/>
          <p:cNvSpPr/>
          <p:nvPr/>
        </p:nvSpPr>
        <p:spPr>
          <a:xfrm>
            <a:off x="4572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Reinvestment</a:t>
            </a:r>
            <a:endParaRPr lang="en-US" sz="1100" dirty="0"/>
          </a:p>
        </p:txBody>
      </p:sp>
      <p:sp>
        <p:nvSpPr>
          <p:cNvPr id="50" name="Text 48"/>
          <p:cNvSpPr/>
          <p:nvPr/>
        </p:nvSpPr>
        <p:spPr>
          <a:xfrm>
            <a:off x="457200" y="8699500"/>
            <a:ext cx="6642100" cy="3175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A workshop wheel: turning effort into learning.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FOLLOW THE PRODUCT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“Made here” is not the whole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 country can export a product without keeping all its value—or learning how to make its most complex parts.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Export totals and photographs cannot reveal who keeps the value, how much is local, or which skills firms have learned.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Conceptual journey, not measured product shares. Photographs: jgmorard (2009), Port Klang; george ruiz (2013), Metro Manila; CC BY 2.0. Full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12</a:t>
            </a:r>
            <a:endParaRPr lang="en-US" sz="1000" dirty="0"/>
          </a:p>
        </p:txBody>
      </p:sp>
      <p:pic>
        <p:nvPicPr>
          <p:cNvPr id="23" name="Image 0" descr="/Users/marcusgrude-grodem/Documents/GitHub/USIL/africa-asia-development-magazine/design/canva_editorial_draft/assets/print/malaysia_port_klang.jpg">    </p:cNvPr>
          <p:cNvPicPr>
            <a:picLocks noChangeAspect="1"/>
          </p:cNvPicPr>
          <p:nvPr/>
        </p:nvPicPr>
        <p:blipFill>
          <a:blip r:embed="rId1"/>
          <a:stretch>
            <a:fillRect/>
          </a:stretch>
        </p:blipFill>
        <p:spPr>
          <a:xfrm>
            <a:off x="457200" y="3037935"/>
            <a:ext cx="3162300" cy="2102930"/>
          </a:xfrm>
          <a:prstGeom prst="rect">
            <a:avLst/>
          </a:prstGeom>
        </p:spPr>
      </p:pic>
      <p:pic>
        <p:nvPicPr>
          <p:cNvPr id="24" name="Image 1" descr="/Users/marcusgrude-grodem/Documents/GitHub/USIL/africa-asia-development-magazine/design/canva_editorial_draft/assets/print/philippines_dampa.jpg">    </p:cNvPr>
          <p:cNvPicPr>
            <a:picLocks noChangeAspect="1"/>
          </p:cNvPicPr>
          <p:nvPr/>
        </p:nvPicPr>
        <p:blipFill>
          <a:blip r:embed="rId2"/>
          <a:stretch>
            <a:fillRect/>
          </a:stretch>
        </p:blipFill>
        <p:spPr>
          <a:xfrm>
            <a:off x="3949116" y="3035300"/>
            <a:ext cx="3138068" cy="2108200"/>
          </a:xfrm>
          <a:prstGeom prst="rect">
            <a:avLst/>
          </a:prstGeom>
        </p:spPr>
      </p:pic>
      <p:sp>
        <p:nvSpPr>
          <p:cNvPr id="25" name="Text 21"/>
          <p:cNvSpPr/>
          <p:nvPr/>
        </p:nvSpPr>
        <p:spPr>
          <a:xfrm>
            <a:off x="4572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Port Klang, Malaysia · 2009</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Containers show movement—not local value kept.</a:t>
            </a:r>
            <a:endParaRPr lang="en-US" sz="800" dirty="0"/>
          </a:p>
        </p:txBody>
      </p:sp>
      <p:sp>
        <p:nvSpPr>
          <p:cNvPr id="26" name="Text 22"/>
          <p:cNvSpPr/>
          <p:nvPr/>
        </p:nvSpPr>
        <p:spPr>
          <a:xfrm>
            <a:off x="39370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Metro Manila, Philippines · 2013</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Market exchange—not a national productivity measure.</a:t>
            </a:r>
            <a:endParaRPr lang="en-US" sz="800" dirty="0"/>
          </a:p>
        </p:txBody>
      </p:sp>
      <p:sp>
        <p:nvSpPr>
          <p:cNvPr id="27" name="Shape 23"/>
          <p:cNvSpPr/>
          <p:nvPr/>
        </p:nvSpPr>
        <p:spPr>
          <a:xfrm>
            <a:off x="503646" y="6101080"/>
            <a:ext cx="313509" cy="290286"/>
          </a:xfrm>
          <a:prstGeom prst="rect">
            <a:avLst/>
          </a:prstGeom>
          <a:solidFill>
            <a:srgbClr val="F4F0E7"/>
          </a:solidFill>
          <a:ln w="7620">
            <a:solidFill>
              <a:srgbClr val="252525"/>
            </a:solidFill>
            <a:prstDash val="solid"/>
          </a:ln>
        </p:spPr>
      </p:sp>
      <p:sp>
        <p:nvSpPr>
          <p:cNvPr id="28" name="Shape 24"/>
          <p:cNvSpPr/>
          <p:nvPr/>
        </p:nvSpPr>
        <p:spPr>
          <a:xfrm>
            <a:off x="503646" y="6183811"/>
            <a:ext cx="313509" cy="20320"/>
          </a:xfrm>
          <a:prstGeom prst="rect">
            <a:avLst/>
          </a:prstGeom>
          <a:solidFill>
            <a:srgbClr val="252525"/>
          </a:solidFill>
          <a:ln w="12700">
            <a:solidFill>
              <a:srgbClr val="252525"/>
            </a:solidFill>
            <a:prstDash val="solid"/>
          </a:ln>
        </p:spPr>
      </p:sp>
      <p:sp>
        <p:nvSpPr>
          <p:cNvPr id="29" name="Shape 25"/>
          <p:cNvSpPr/>
          <p:nvPr/>
        </p:nvSpPr>
        <p:spPr>
          <a:xfrm>
            <a:off x="644434" y="6101080"/>
            <a:ext cx="20320" cy="92891"/>
          </a:xfrm>
          <a:prstGeom prst="rect">
            <a:avLst/>
          </a:prstGeom>
          <a:solidFill>
            <a:srgbClr val="252525"/>
          </a:solidFill>
          <a:ln w="12700">
            <a:solidFill>
              <a:srgbClr val="252525"/>
            </a:solidFill>
            <a:prstDash val="solid"/>
          </a:ln>
        </p:spPr>
      </p:sp>
      <p:sp>
        <p:nvSpPr>
          <p:cNvPr id="30" name="Text 26"/>
          <p:cNvSpPr/>
          <p:nvPr/>
        </p:nvSpPr>
        <p:spPr>
          <a:xfrm>
            <a:off x="4572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INPUTS</a:t>
            </a:r>
            <a:endParaRPr lang="en-US" sz="1000" dirty="0"/>
          </a:p>
        </p:txBody>
      </p:sp>
      <p:sp>
        <p:nvSpPr>
          <p:cNvPr id="31" name="Text 27"/>
          <p:cNvSpPr/>
          <p:nvPr/>
        </p:nvSpPr>
        <p:spPr>
          <a:xfrm>
            <a:off x="4572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Parts can come from abroad.</a:t>
            </a:r>
            <a:endParaRPr lang="en-US" sz="1050" dirty="0"/>
          </a:p>
        </p:txBody>
      </p:sp>
      <p:sp>
        <p:nvSpPr>
          <p:cNvPr id="32" name="Text 28"/>
          <p:cNvSpPr/>
          <p:nvPr/>
        </p:nvSpPr>
        <p:spPr>
          <a:xfrm>
            <a:off x="22352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3" name="Shape 29"/>
          <p:cNvSpPr/>
          <p:nvPr/>
        </p:nvSpPr>
        <p:spPr>
          <a:xfrm>
            <a:off x="2753723" y="6381206"/>
            <a:ext cx="348343" cy="20320"/>
          </a:xfrm>
          <a:prstGeom prst="rect">
            <a:avLst/>
          </a:prstGeom>
          <a:solidFill>
            <a:srgbClr val="252525"/>
          </a:solidFill>
          <a:ln w="12700">
            <a:solidFill>
              <a:srgbClr val="252525"/>
            </a:solidFill>
            <a:prstDash val="solid"/>
          </a:ln>
        </p:spPr>
      </p:sp>
      <p:sp>
        <p:nvSpPr>
          <p:cNvPr id="34" name="Shape 30"/>
          <p:cNvSpPr/>
          <p:nvPr/>
        </p:nvSpPr>
        <p:spPr>
          <a:xfrm>
            <a:off x="2743563" y="6193971"/>
            <a:ext cx="20320" cy="197394"/>
          </a:xfrm>
          <a:prstGeom prst="rect">
            <a:avLst/>
          </a:prstGeom>
          <a:solidFill>
            <a:srgbClr val="252525"/>
          </a:solidFill>
          <a:ln w="12700">
            <a:solidFill>
              <a:srgbClr val="252525"/>
            </a:solidFill>
            <a:prstDash val="solid"/>
          </a:ln>
        </p:spPr>
      </p:sp>
      <p:sp>
        <p:nvSpPr>
          <p:cNvPr id="35" name="Shape 31"/>
          <p:cNvSpPr/>
          <p:nvPr/>
        </p:nvSpPr>
        <p:spPr>
          <a:xfrm flipV="1">
            <a:off x="2753723" y="6124303"/>
            <a:ext cx="116114" cy="69669"/>
          </a:xfrm>
          <a:prstGeom prst="line">
            <a:avLst/>
          </a:prstGeom>
          <a:noFill/>
          <a:ln w="20320">
            <a:solidFill>
              <a:srgbClr val="252525"/>
            </a:solidFill>
            <a:prstDash val="solid"/>
          </a:ln>
        </p:spPr>
      </p:sp>
      <p:sp>
        <p:nvSpPr>
          <p:cNvPr id="36" name="Shape 32"/>
          <p:cNvSpPr/>
          <p:nvPr/>
        </p:nvSpPr>
        <p:spPr>
          <a:xfrm>
            <a:off x="2859677" y="6124303"/>
            <a:ext cx="20320" cy="69669"/>
          </a:xfrm>
          <a:prstGeom prst="rect">
            <a:avLst/>
          </a:prstGeom>
          <a:solidFill>
            <a:srgbClr val="252525"/>
          </a:solidFill>
          <a:ln w="12700">
            <a:solidFill>
              <a:srgbClr val="252525"/>
            </a:solidFill>
            <a:prstDash val="solid"/>
          </a:ln>
        </p:spPr>
      </p:sp>
      <p:sp>
        <p:nvSpPr>
          <p:cNvPr id="37" name="Shape 33"/>
          <p:cNvSpPr/>
          <p:nvPr/>
        </p:nvSpPr>
        <p:spPr>
          <a:xfrm flipV="1">
            <a:off x="2869837" y="6124303"/>
            <a:ext cx="127726" cy="69669"/>
          </a:xfrm>
          <a:prstGeom prst="line">
            <a:avLst/>
          </a:prstGeom>
          <a:noFill/>
          <a:ln w="20320">
            <a:solidFill>
              <a:srgbClr val="252525"/>
            </a:solidFill>
            <a:prstDash val="solid"/>
          </a:ln>
        </p:spPr>
      </p:sp>
      <p:sp>
        <p:nvSpPr>
          <p:cNvPr id="38" name="Shape 34"/>
          <p:cNvSpPr/>
          <p:nvPr/>
        </p:nvSpPr>
        <p:spPr>
          <a:xfrm>
            <a:off x="2987403" y="6124303"/>
            <a:ext cx="20320" cy="267063"/>
          </a:xfrm>
          <a:prstGeom prst="rect">
            <a:avLst/>
          </a:prstGeom>
          <a:solidFill>
            <a:srgbClr val="252525"/>
          </a:solidFill>
          <a:ln w="12700">
            <a:solidFill>
              <a:srgbClr val="252525"/>
            </a:solidFill>
            <a:prstDash val="solid"/>
          </a:ln>
        </p:spPr>
      </p:sp>
      <p:sp>
        <p:nvSpPr>
          <p:cNvPr id="39" name="Shape 35"/>
          <p:cNvSpPr/>
          <p:nvPr/>
        </p:nvSpPr>
        <p:spPr>
          <a:xfrm>
            <a:off x="3033849" y="6054634"/>
            <a:ext cx="20320" cy="185783"/>
          </a:xfrm>
          <a:prstGeom prst="rect">
            <a:avLst/>
          </a:prstGeom>
          <a:solidFill>
            <a:srgbClr val="252525"/>
          </a:solidFill>
          <a:ln w="12700">
            <a:solidFill>
              <a:srgbClr val="252525"/>
            </a:solidFill>
            <a:prstDash val="solid"/>
          </a:ln>
        </p:spPr>
      </p:sp>
      <p:sp>
        <p:nvSpPr>
          <p:cNvPr id="40" name="Shape 36"/>
          <p:cNvSpPr/>
          <p:nvPr/>
        </p:nvSpPr>
        <p:spPr>
          <a:xfrm>
            <a:off x="3091906" y="6054634"/>
            <a:ext cx="20320" cy="336731"/>
          </a:xfrm>
          <a:prstGeom prst="rect">
            <a:avLst/>
          </a:prstGeom>
          <a:solidFill>
            <a:srgbClr val="252525"/>
          </a:solidFill>
          <a:ln w="12700">
            <a:solidFill>
              <a:srgbClr val="252525"/>
            </a:solidFill>
            <a:prstDash val="solid"/>
          </a:ln>
        </p:spPr>
      </p:sp>
      <p:sp>
        <p:nvSpPr>
          <p:cNvPr id="41" name="Shape 37"/>
          <p:cNvSpPr/>
          <p:nvPr/>
        </p:nvSpPr>
        <p:spPr>
          <a:xfrm>
            <a:off x="3044009" y="6044474"/>
            <a:ext cx="58057" cy="20320"/>
          </a:xfrm>
          <a:prstGeom prst="rect">
            <a:avLst/>
          </a:prstGeom>
          <a:solidFill>
            <a:srgbClr val="252525"/>
          </a:solidFill>
          <a:ln w="12700">
            <a:solidFill>
              <a:srgbClr val="252525"/>
            </a:solidFill>
            <a:prstDash val="solid"/>
          </a:ln>
        </p:spPr>
      </p:sp>
      <p:sp>
        <p:nvSpPr>
          <p:cNvPr id="42" name="Shape 38"/>
          <p:cNvSpPr/>
          <p:nvPr/>
        </p:nvSpPr>
        <p:spPr>
          <a:xfrm>
            <a:off x="2811780" y="6276703"/>
            <a:ext cx="34834" cy="20320"/>
          </a:xfrm>
          <a:prstGeom prst="rect">
            <a:avLst/>
          </a:prstGeom>
          <a:solidFill>
            <a:srgbClr val="252525"/>
          </a:solidFill>
          <a:ln w="12700">
            <a:solidFill>
              <a:srgbClr val="252525"/>
            </a:solidFill>
            <a:prstDash val="solid"/>
          </a:ln>
        </p:spPr>
      </p:sp>
      <p:sp>
        <p:nvSpPr>
          <p:cNvPr id="43" name="Shape 39"/>
          <p:cNvSpPr/>
          <p:nvPr/>
        </p:nvSpPr>
        <p:spPr>
          <a:xfrm>
            <a:off x="2916283" y="6276703"/>
            <a:ext cx="34834" cy="20320"/>
          </a:xfrm>
          <a:prstGeom prst="rect">
            <a:avLst/>
          </a:prstGeom>
          <a:solidFill>
            <a:srgbClr val="252525"/>
          </a:solidFill>
          <a:ln w="12700">
            <a:solidFill>
              <a:srgbClr val="252525"/>
            </a:solidFill>
            <a:prstDash val="solid"/>
          </a:ln>
        </p:spPr>
      </p:sp>
      <p:sp>
        <p:nvSpPr>
          <p:cNvPr id="44" name="Text 40"/>
          <p:cNvSpPr/>
          <p:nvPr/>
        </p:nvSpPr>
        <p:spPr>
          <a:xfrm>
            <a:off x="27305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ASSEMBLY</a:t>
            </a:r>
            <a:endParaRPr lang="en-US" sz="1000" dirty="0"/>
          </a:p>
        </p:txBody>
      </p:sp>
      <p:sp>
        <p:nvSpPr>
          <p:cNvPr id="45" name="Text 41"/>
          <p:cNvSpPr/>
          <p:nvPr/>
        </p:nvSpPr>
        <p:spPr>
          <a:xfrm>
            <a:off x="27305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work is one part of the value.</a:t>
            </a:r>
            <a:endParaRPr lang="en-US" sz="1050" dirty="0"/>
          </a:p>
        </p:txBody>
      </p:sp>
      <p:sp>
        <p:nvSpPr>
          <p:cNvPr id="46" name="Text 42"/>
          <p:cNvSpPr/>
          <p:nvPr/>
        </p:nvSpPr>
        <p:spPr>
          <a:xfrm>
            <a:off x="45085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47" name="Shape 43"/>
          <p:cNvSpPr/>
          <p:nvPr/>
        </p:nvSpPr>
        <p:spPr>
          <a:xfrm flipV="1">
            <a:off x="5038634" y="6054634"/>
            <a:ext cx="162560" cy="162560"/>
          </a:xfrm>
          <a:prstGeom prst="line">
            <a:avLst/>
          </a:prstGeom>
          <a:noFill/>
          <a:ln w="20320">
            <a:solidFill>
              <a:srgbClr val="252525"/>
            </a:solidFill>
            <a:prstDash val="solid"/>
          </a:ln>
        </p:spPr>
      </p:sp>
      <p:sp>
        <p:nvSpPr>
          <p:cNvPr id="48" name="Shape 44"/>
          <p:cNvSpPr/>
          <p:nvPr/>
        </p:nvSpPr>
        <p:spPr>
          <a:xfrm>
            <a:off x="5201194" y="6054634"/>
            <a:ext cx="162560" cy="162560"/>
          </a:xfrm>
          <a:prstGeom prst="line">
            <a:avLst/>
          </a:prstGeom>
          <a:noFill/>
          <a:ln w="20320">
            <a:solidFill>
              <a:srgbClr val="252525"/>
            </a:solidFill>
            <a:prstDash val="solid"/>
          </a:ln>
        </p:spPr>
      </p:sp>
      <p:sp>
        <p:nvSpPr>
          <p:cNvPr id="49" name="Shape 45"/>
          <p:cNvSpPr/>
          <p:nvPr/>
        </p:nvSpPr>
        <p:spPr>
          <a:xfrm>
            <a:off x="5201194" y="6217194"/>
            <a:ext cx="162560" cy="162560"/>
          </a:xfrm>
          <a:prstGeom prst="line">
            <a:avLst/>
          </a:prstGeom>
          <a:noFill/>
          <a:ln w="20320">
            <a:solidFill>
              <a:srgbClr val="252525"/>
            </a:solidFill>
            <a:prstDash val="solid"/>
          </a:ln>
        </p:spPr>
      </p:sp>
      <p:sp>
        <p:nvSpPr>
          <p:cNvPr id="50" name="Shape 46"/>
          <p:cNvSpPr/>
          <p:nvPr/>
        </p:nvSpPr>
        <p:spPr>
          <a:xfrm flipV="1">
            <a:off x="5038634" y="6217194"/>
            <a:ext cx="162560" cy="162560"/>
          </a:xfrm>
          <a:prstGeom prst="line">
            <a:avLst/>
          </a:prstGeom>
          <a:noFill/>
          <a:ln w="20320">
            <a:solidFill>
              <a:srgbClr val="252525"/>
            </a:solidFill>
            <a:prstDash val="solid"/>
          </a:ln>
        </p:spPr>
      </p:sp>
      <p:sp>
        <p:nvSpPr>
          <p:cNvPr id="51" name="Shape 47"/>
          <p:cNvSpPr/>
          <p:nvPr/>
        </p:nvSpPr>
        <p:spPr>
          <a:xfrm>
            <a:off x="5038634" y="6207034"/>
            <a:ext cx="325120" cy="20320"/>
          </a:xfrm>
          <a:prstGeom prst="rect">
            <a:avLst/>
          </a:prstGeom>
          <a:solidFill>
            <a:srgbClr val="252525"/>
          </a:solidFill>
          <a:ln w="12700">
            <a:solidFill>
              <a:srgbClr val="252525"/>
            </a:solidFill>
            <a:prstDash val="solid"/>
          </a:ln>
        </p:spPr>
      </p:sp>
      <p:sp>
        <p:nvSpPr>
          <p:cNvPr id="52" name="Shape 48"/>
          <p:cNvSpPr/>
          <p:nvPr/>
        </p:nvSpPr>
        <p:spPr>
          <a:xfrm>
            <a:off x="5015411" y="6193971"/>
            <a:ext cx="46446" cy="46446"/>
          </a:xfrm>
          <a:prstGeom prst="ellipse">
            <a:avLst/>
          </a:prstGeom>
          <a:solidFill>
            <a:srgbClr val="252525"/>
          </a:solidFill>
          <a:ln w="12700">
            <a:solidFill>
              <a:srgbClr val="252525"/>
            </a:solidFill>
            <a:prstDash val="solid"/>
          </a:ln>
        </p:spPr>
      </p:sp>
      <p:sp>
        <p:nvSpPr>
          <p:cNvPr id="53" name="Shape 49"/>
          <p:cNvSpPr/>
          <p:nvPr/>
        </p:nvSpPr>
        <p:spPr>
          <a:xfrm>
            <a:off x="5177971" y="6031411"/>
            <a:ext cx="46446" cy="46446"/>
          </a:xfrm>
          <a:prstGeom prst="ellipse">
            <a:avLst/>
          </a:prstGeom>
          <a:solidFill>
            <a:srgbClr val="252525"/>
          </a:solidFill>
          <a:ln w="12700">
            <a:solidFill>
              <a:srgbClr val="252525"/>
            </a:solidFill>
            <a:prstDash val="solid"/>
          </a:ln>
        </p:spPr>
      </p:sp>
      <p:sp>
        <p:nvSpPr>
          <p:cNvPr id="54" name="Shape 50"/>
          <p:cNvSpPr/>
          <p:nvPr/>
        </p:nvSpPr>
        <p:spPr>
          <a:xfrm>
            <a:off x="5340531" y="6193971"/>
            <a:ext cx="46446" cy="46446"/>
          </a:xfrm>
          <a:prstGeom prst="ellipse">
            <a:avLst/>
          </a:prstGeom>
          <a:solidFill>
            <a:srgbClr val="252525"/>
          </a:solidFill>
          <a:ln w="12700">
            <a:solidFill>
              <a:srgbClr val="252525"/>
            </a:solidFill>
            <a:prstDash val="solid"/>
          </a:ln>
        </p:spPr>
      </p:sp>
      <p:sp>
        <p:nvSpPr>
          <p:cNvPr id="55" name="Shape 51"/>
          <p:cNvSpPr/>
          <p:nvPr/>
        </p:nvSpPr>
        <p:spPr>
          <a:xfrm>
            <a:off x="5177971" y="6356531"/>
            <a:ext cx="46446" cy="46446"/>
          </a:xfrm>
          <a:prstGeom prst="ellipse">
            <a:avLst/>
          </a:prstGeom>
          <a:solidFill>
            <a:srgbClr val="252525"/>
          </a:solidFill>
          <a:ln w="12700">
            <a:solidFill>
              <a:srgbClr val="252525"/>
            </a:solidFill>
            <a:prstDash val="solid"/>
          </a:ln>
        </p:spPr>
      </p:sp>
      <p:sp>
        <p:nvSpPr>
          <p:cNvPr id="56" name="Text 52"/>
          <p:cNvSpPr/>
          <p:nvPr/>
        </p:nvSpPr>
        <p:spPr>
          <a:xfrm>
            <a:off x="50038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SUPPLIERS</a:t>
            </a:r>
            <a:endParaRPr lang="en-US" sz="1000" dirty="0"/>
          </a:p>
        </p:txBody>
      </p:sp>
      <p:sp>
        <p:nvSpPr>
          <p:cNvPr id="57" name="Text 53"/>
          <p:cNvSpPr/>
          <p:nvPr/>
        </p:nvSpPr>
        <p:spPr>
          <a:xfrm>
            <a:off x="50038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links may deepen—or stay thin.</a:t>
            </a:r>
            <a:endParaRPr lang="en-US" sz="1050" dirty="0"/>
          </a:p>
        </p:txBody>
      </p:sp>
      <p:sp>
        <p:nvSpPr>
          <p:cNvPr id="58" name="Text 54"/>
          <p:cNvSpPr/>
          <p:nvPr/>
        </p:nvSpPr>
        <p:spPr>
          <a:xfrm>
            <a:off x="457200" y="8064500"/>
            <a:ext cx="6642100" cy="5080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Exports ≠ local value ≠ local skills.</a:t>
            </a:r>
            <a:endParaRPr lang="en-US" sz="2400" dirty="0"/>
          </a:p>
        </p:txBody>
      </p:sp>
      <p:sp>
        <p:nvSpPr>
          <p:cNvPr id="59" name="Text 55"/>
          <p:cNvSpPr/>
          <p:nvPr/>
        </p:nvSpPr>
        <p:spPr>
          <a:xfrm>
            <a:off x="457200" y="85725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Manufacturing share measures production mix, not technological capability. More assembly does not automatically mean deeper domestic learning.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315A78"/>
          </a:solidFill>
          <a:ln w="12700">
            <a:solidFill>
              <a:srgbClr val="315A78"/>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Not an overnight miracle.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South Korea built skills and firms over time. It also made costly policy mistakes.</a:t>
            </a:r>
            <a:endParaRPr lang="en-US" sz="1100" dirty="0"/>
          </a:p>
        </p:txBody>
      </p:sp>
      <p:sp>
        <p:nvSpPr>
          <p:cNvPr id="6" name="Text 4"/>
          <p:cNvSpPr/>
          <p:nvPr/>
        </p:nvSpPr>
        <p:spPr>
          <a:xfrm>
            <a:off x="457200" y="2679700"/>
            <a:ext cx="66421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LEARNING OVER TIME</a:t>
            </a:r>
            <a:endParaRPr lang="en-US" sz="800" dirty="0"/>
          </a:p>
        </p:txBody>
      </p:sp>
      <p:sp>
        <p:nvSpPr>
          <p:cNvPr id="7" name="Text 5"/>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sequence cannot isolate culture as the cause. Other countries cannot copy its history, security setting or international opportunities.</a:t>
            </a:r>
            <a:endParaRPr lang="en-US" sz="850" dirty="0"/>
          </a:p>
        </p:txBody>
      </p:sp>
      <p:sp>
        <p:nvSpPr>
          <p:cNvPr id="8" name="Shape 6"/>
          <p:cNvSpPr/>
          <p:nvPr/>
        </p:nvSpPr>
        <p:spPr>
          <a:xfrm>
            <a:off x="457200" y="9698990"/>
            <a:ext cx="6642100" cy="7620"/>
          </a:xfrm>
          <a:prstGeom prst="rect">
            <a:avLst/>
          </a:prstGeom>
          <a:solidFill>
            <a:srgbClr val="B7B0A4"/>
          </a:solidFill>
          <a:ln w="12700">
            <a:solidFill>
              <a:srgbClr val="B7B0A4"/>
            </a:solidFill>
            <a:prstDash val="solid"/>
          </a:ln>
        </p:spPr>
      </p:sp>
      <p:sp>
        <p:nvSpPr>
          <p:cNvPr id="9" name="Text 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127–130, 159–161, 242). Rodrik (1995): competing investment-coordination argument; registered working-paper abstract, not a page-specific causal estimate.</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13</a:t>
            </a:r>
            <a:endParaRPr lang="en-US" sz="1000" dirty="0"/>
          </a:p>
        </p:txBody>
      </p:sp>
      <p:sp>
        <p:nvSpPr>
          <p:cNvPr id="12" name="Text 10"/>
          <p:cNvSpPr/>
          <p:nvPr/>
        </p:nvSpPr>
        <p:spPr>
          <a:xfrm>
            <a:off x="457200" y="30480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1950s</a:t>
            </a:r>
            <a:endParaRPr lang="en-US" sz="2700" dirty="0"/>
          </a:p>
        </p:txBody>
      </p:sp>
      <p:sp>
        <p:nvSpPr>
          <p:cNvPr id="13" name="Text 11"/>
          <p:cNvSpPr/>
          <p:nvPr/>
        </p:nvSpPr>
        <p:spPr>
          <a:xfrm>
            <a:off x="2413000" y="30480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Recover</a:t>
            </a:r>
            <a:endParaRPr lang="en-US" sz="2000" dirty="0"/>
          </a:p>
        </p:txBody>
      </p:sp>
      <p:sp>
        <p:nvSpPr>
          <p:cNvPr id="14" name="Text 12"/>
          <p:cNvSpPr/>
          <p:nvPr/>
        </p:nvSpPr>
        <p:spPr>
          <a:xfrm>
            <a:off x="2413000" y="35306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agricultural change and infrastructure helped build foundations.</a:t>
            </a:r>
            <a:endParaRPr lang="en-US" sz="1050" dirty="0"/>
          </a:p>
        </p:txBody>
      </p:sp>
      <p:sp>
        <p:nvSpPr>
          <p:cNvPr id="15" name="Text 13"/>
          <p:cNvSpPr/>
          <p:nvPr/>
        </p:nvSpPr>
        <p:spPr>
          <a:xfrm>
            <a:off x="457200" y="41148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1960s</a:t>
            </a:r>
            <a:endParaRPr lang="en-US" sz="2700" dirty="0"/>
          </a:p>
        </p:txBody>
      </p:sp>
      <p:sp>
        <p:nvSpPr>
          <p:cNvPr id="16" name="Text 14"/>
          <p:cNvSpPr/>
          <p:nvPr/>
        </p:nvSpPr>
        <p:spPr>
          <a:xfrm>
            <a:off x="2413000" y="41148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Coordinate</a:t>
            </a:r>
            <a:endParaRPr lang="en-US" sz="2000" dirty="0"/>
          </a:p>
        </p:txBody>
      </p:sp>
      <p:sp>
        <p:nvSpPr>
          <p:cNvPr id="17" name="Text 15"/>
          <p:cNvSpPr/>
          <p:nvPr/>
        </p:nvSpPr>
        <p:spPr>
          <a:xfrm>
            <a:off x="2413000" y="45974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and investment worked alongside export incentives and performance pressure.</a:t>
            </a:r>
            <a:endParaRPr lang="en-US" sz="1050" dirty="0"/>
          </a:p>
        </p:txBody>
      </p:sp>
      <p:sp>
        <p:nvSpPr>
          <p:cNvPr id="18" name="Text 16"/>
          <p:cNvSpPr/>
          <p:nvPr/>
        </p:nvSpPr>
        <p:spPr>
          <a:xfrm>
            <a:off x="457200" y="51816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1970s</a:t>
            </a:r>
            <a:endParaRPr lang="en-US" sz="2700" dirty="0"/>
          </a:p>
        </p:txBody>
      </p:sp>
      <p:sp>
        <p:nvSpPr>
          <p:cNvPr id="19" name="Text 17"/>
          <p:cNvSpPr/>
          <p:nvPr/>
        </p:nvSpPr>
        <p:spPr>
          <a:xfrm>
            <a:off x="2413000" y="51816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Push—and pay</a:t>
            </a:r>
            <a:endParaRPr lang="en-US" sz="2000" dirty="0"/>
          </a:p>
        </p:txBody>
      </p:sp>
      <p:sp>
        <p:nvSpPr>
          <p:cNvPr id="20" name="Text 18"/>
          <p:cNvSpPr/>
          <p:nvPr/>
        </p:nvSpPr>
        <p:spPr>
          <a:xfrm>
            <a:off x="2413000" y="56642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industry expanded, but brought debt, bottlenecks and other costs.</a:t>
            </a:r>
            <a:endParaRPr lang="en-US" sz="1050" dirty="0"/>
          </a:p>
        </p:txBody>
      </p:sp>
      <p:sp>
        <p:nvSpPr>
          <p:cNvPr id="21" name="Text 19"/>
          <p:cNvSpPr/>
          <p:nvPr/>
        </p:nvSpPr>
        <p:spPr>
          <a:xfrm>
            <a:off x="457200" y="62484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1980s</a:t>
            </a:r>
            <a:endParaRPr lang="en-US" sz="2700" dirty="0"/>
          </a:p>
        </p:txBody>
      </p:sp>
      <p:sp>
        <p:nvSpPr>
          <p:cNvPr id="22" name="Text 20"/>
          <p:cNvSpPr/>
          <p:nvPr/>
        </p:nvSpPr>
        <p:spPr>
          <a:xfrm>
            <a:off x="2413000" y="62484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Correct and upgrade</a:t>
            </a:r>
            <a:endParaRPr lang="en-US" sz="2000" dirty="0"/>
          </a:p>
        </p:txBody>
      </p:sp>
      <p:sp>
        <p:nvSpPr>
          <p:cNvPr id="23" name="Text 21"/>
          <p:cNvSpPr/>
          <p:nvPr/>
        </p:nvSpPr>
        <p:spPr>
          <a:xfrm>
            <a:off x="2413000" y="67310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Policy adjustment accompanied deeper firm learning and technological upgrading.</a:t>
            </a:r>
            <a:endParaRPr lang="en-US" sz="1050" dirty="0"/>
          </a:p>
        </p:txBody>
      </p:sp>
      <p:sp>
        <p:nvSpPr>
          <p:cNvPr id="24" name="Shape 22"/>
          <p:cNvSpPr/>
          <p:nvPr/>
        </p:nvSpPr>
        <p:spPr>
          <a:xfrm>
            <a:off x="457200" y="7531100"/>
            <a:ext cx="6642100" cy="1295400"/>
          </a:xfrm>
          <a:prstGeom prst="rect">
            <a:avLst/>
          </a:prstGeom>
          <a:solidFill>
            <a:srgbClr val="252525"/>
          </a:solidFill>
          <a:ln w="12700">
            <a:solidFill>
              <a:srgbClr val="252525"/>
            </a:solidFill>
            <a:prstDash val="solid"/>
          </a:ln>
        </p:spPr>
      </p:sp>
      <p:sp>
        <p:nvSpPr>
          <p:cNvPr id="25" name="Text 23"/>
          <p:cNvSpPr/>
          <p:nvPr/>
        </p:nvSpPr>
        <p:spPr>
          <a:xfrm>
            <a:off x="635000" y="7658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7924800"/>
            <a:ext cx="6286500" cy="8255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Learn from South Korea. Don’t photocopy it. We value cooperation and long-term effort, but these are lessons to adapt—not proof of a superior culture.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GHANA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Two paths. A 16.9-to-1 gap.</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GDP per capita · constant 2015 US dollars per person · 1960, 1990, 2020</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 Straight lines connect anchors, not annual estimates.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a:t>
            </a:r>
            <a:endParaRPr lang="en-US" sz="1000" dirty="0"/>
          </a:p>
        </p:txBody>
      </p:sp>
      <p:sp>
        <p:nvSpPr>
          <p:cNvPr id="11" name="Shape 9"/>
          <p:cNvSpPr/>
          <p:nvPr/>
        </p:nvSpPr>
        <p:spPr>
          <a:xfrm>
            <a:off x="1257300" y="7146608"/>
            <a:ext cx="5219700" cy="6985"/>
          </a:xfrm>
          <a:prstGeom prst="rect">
            <a:avLst/>
          </a:prstGeom>
          <a:solidFill>
            <a:srgbClr val="B7B0A4"/>
          </a:solidFill>
          <a:ln w="12700">
            <a:solidFill>
              <a:srgbClr val="B7B0A4"/>
            </a:solidFill>
            <a:prstDash val="solid"/>
          </a:ln>
        </p:spPr>
      </p:sp>
      <p:sp>
        <p:nvSpPr>
          <p:cNvPr id="12" name="Text 10"/>
          <p:cNvSpPr/>
          <p:nvPr/>
        </p:nvSpPr>
        <p:spPr>
          <a:xfrm>
            <a:off x="457200" y="70866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0</a:t>
            </a:r>
            <a:endParaRPr lang="en-US" sz="850" dirty="0"/>
          </a:p>
        </p:txBody>
      </p:sp>
      <p:sp>
        <p:nvSpPr>
          <p:cNvPr id="13" name="Shape 11"/>
          <p:cNvSpPr/>
          <p:nvPr/>
        </p:nvSpPr>
        <p:spPr>
          <a:xfrm>
            <a:off x="1257300" y="6087065"/>
            <a:ext cx="5219700" cy="6985"/>
          </a:xfrm>
          <a:prstGeom prst="rect">
            <a:avLst/>
          </a:prstGeom>
          <a:solidFill>
            <a:srgbClr val="B7B0A4"/>
          </a:solidFill>
          <a:ln w="12700">
            <a:solidFill>
              <a:srgbClr val="B7B0A4"/>
            </a:solidFill>
            <a:prstDash val="solid"/>
          </a:ln>
        </p:spPr>
      </p:sp>
      <p:sp>
        <p:nvSpPr>
          <p:cNvPr id="14" name="Text 12"/>
          <p:cNvSpPr/>
          <p:nvPr/>
        </p:nvSpPr>
        <p:spPr>
          <a:xfrm>
            <a:off x="457200" y="6027057"/>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10k</a:t>
            </a:r>
            <a:endParaRPr lang="en-US" sz="850" dirty="0"/>
          </a:p>
        </p:txBody>
      </p:sp>
      <p:sp>
        <p:nvSpPr>
          <p:cNvPr id="15" name="Shape 13"/>
          <p:cNvSpPr/>
          <p:nvPr/>
        </p:nvSpPr>
        <p:spPr>
          <a:xfrm>
            <a:off x="1257300" y="5027522"/>
            <a:ext cx="5219700" cy="6985"/>
          </a:xfrm>
          <a:prstGeom prst="rect">
            <a:avLst/>
          </a:prstGeom>
          <a:solidFill>
            <a:srgbClr val="B7B0A4"/>
          </a:solidFill>
          <a:ln w="12700">
            <a:solidFill>
              <a:srgbClr val="B7B0A4"/>
            </a:solidFill>
            <a:prstDash val="solid"/>
          </a:ln>
        </p:spPr>
      </p:sp>
      <p:sp>
        <p:nvSpPr>
          <p:cNvPr id="16" name="Text 14"/>
          <p:cNvSpPr/>
          <p:nvPr/>
        </p:nvSpPr>
        <p:spPr>
          <a:xfrm>
            <a:off x="457200" y="4967514"/>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20k</a:t>
            </a:r>
            <a:endParaRPr lang="en-US" sz="850" dirty="0"/>
          </a:p>
        </p:txBody>
      </p:sp>
      <p:sp>
        <p:nvSpPr>
          <p:cNvPr id="17" name="Shape 15"/>
          <p:cNvSpPr/>
          <p:nvPr/>
        </p:nvSpPr>
        <p:spPr>
          <a:xfrm>
            <a:off x="1257300" y="3967979"/>
            <a:ext cx="5219700" cy="6985"/>
          </a:xfrm>
          <a:prstGeom prst="rect">
            <a:avLst/>
          </a:prstGeom>
          <a:solidFill>
            <a:srgbClr val="B7B0A4"/>
          </a:solidFill>
          <a:ln w="12700">
            <a:solidFill>
              <a:srgbClr val="B7B0A4"/>
            </a:solidFill>
            <a:prstDash val="solid"/>
          </a:ln>
        </p:spPr>
      </p:sp>
      <p:sp>
        <p:nvSpPr>
          <p:cNvPr id="18" name="Text 16"/>
          <p:cNvSpPr/>
          <p:nvPr/>
        </p:nvSpPr>
        <p:spPr>
          <a:xfrm>
            <a:off x="457200" y="3907971"/>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30k</a:t>
            </a:r>
            <a:endParaRPr lang="en-US" sz="850" dirty="0"/>
          </a:p>
        </p:txBody>
      </p:sp>
      <p:sp>
        <p:nvSpPr>
          <p:cNvPr id="19" name="Shape 17"/>
          <p:cNvSpPr/>
          <p:nvPr/>
        </p:nvSpPr>
        <p:spPr>
          <a:xfrm>
            <a:off x="1257300" y="3438208"/>
            <a:ext cx="5219700" cy="6985"/>
          </a:xfrm>
          <a:prstGeom prst="rect">
            <a:avLst/>
          </a:prstGeom>
          <a:solidFill>
            <a:srgbClr val="B7B0A4"/>
          </a:solidFill>
          <a:ln w="12700">
            <a:solidFill>
              <a:srgbClr val="B7B0A4"/>
            </a:solidFill>
            <a:prstDash val="solid"/>
          </a:ln>
        </p:spPr>
      </p:sp>
      <p:sp>
        <p:nvSpPr>
          <p:cNvPr id="20" name="Text 18"/>
          <p:cNvSpPr/>
          <p:nvPr/>
        </p:nvSpPr>
        <p:spPr>
          <a:xfrm>
            <a:off x="457200" y="33782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35k</a:t>
            </a:r>
            <a:endParaRPr lang="en-US" sz="850" dirty="0"/>
          </a:p>
        </p:txBody>
      </p:sp>
      <p:sp>
        <p:nvSpPr>
          <p:cNvPr id="21" name="Shape 19"/>
          <p:cNvSpPr/>
          <p:nvPr/>
        </p:nvSpPr>
        <p:spPr>
          <a:xfrm>
            <a:off x="1333500" y="7033469"/>
            <a:ext cx="2540000" cy="25949"/>
          </a:xfrm>
          <a:prstGeom prst="line">
            <a:avLst/>
          </a:prstGeom>
          <a:noFill/>
          <a:ln w="25400">
            <a:solidFill>
              <a:srgbClr val="B95332"/>
            </a:solidFill>
            <a:prstDash val="solid"/>
          </a:ln>
        </p:spPr>
      </p:sp>
      <p:sp>
        <p:nvSpPr>
          <p:cNvPr id="22" name="Shape 20"/>
          <p:cNvSpPr/>
          <p:nvPr/>
        </p:nvSpPr>
        <p:spPr>
          <a:xfrm>
            <a:off x="1289050" y="6989019"/>
            <a:ext cx="88900" cy="88900"/>
          </a:xfrm>
          <a:prstGeom prst="ellipse">
            <a:avLst/>
          </a:prstGeom>
          <a:solidFill>
            <a:srgbClr val="B95332"/>
          </a:solidFill>
          <a:ln w="7620">
            <a:solidFill>
              <a:srgbClr val="252525"/>
            </a:solidFill>
            <a:prstDash val="solid"/>
          </a:ln>
        </p:spPr>
      </p:sp>
      <p:sp>
        <p:nvSpPr>
          <p:cNvPr id="23" name="Shape 21"/>
          <p:cNvSpPr/>
          <p:nvPr/>
        </p:nvSpPr>
        <p:spPr>
          <a:xfrm flipV="1">
            <a:off x="3873500" y="6941349"/>
            <a:ext cx="2540000" cy="118069"/>
          </a:xfrm>
          <a:prstGeom prst="line">
            <a:avLst/>
          </a:prstGeom>
          <a:noFill/>
          <a:ln w="25400">
            <a:solidFill>
              <a:srgbClr val="B95332"/>
            </a:solidFill>
            <a:prstDash val="solid"/>
          </a:ln>
        </p:spPr>
      </p:sp>
      <p:sp>
        <p:nvSpPr>
          <p:cNvPr id="24" name="Shape 22"/>
          <p:cNvSpPr/>
          <p:nvPr/>
        </p:nvSpPr>
        <p:spPr>
          <a:xfrm>
            <a:off x="3829050" y="7014969"/>
            <a:ext cx="88900" cy="88900"/>
          </a:xfrm>
          <a:prstGeom prst="ellipse">
            <a:avLst/>
          </a:prstGeom>
          <a:solidFill>
            <a:srgbClr val="B95332"/>
          </a:solidFill>
          <a:ln w="7620">
            <a:solidFill>
              <a:srgbClr val="252525"/>
            </a:solidFill>
            <a:prstDash val="solid"/>
          </a:ln>
        </p:spPr>
      </p:sp>
      <p:sp>
        <p:nvSpPr>
          <p:cNvPr id="25" name="Shape 23"/>
          <p:cNvSpPr/>
          <p:nvPr/>
        </p:nvSpPr>
        <p:spPr>
          <a:xfrm>
            <a:off x="6369050" y="6896899"/>
            <a:ext cx="88900" cy="88900"/>
          </a:xfrm>
          <a:prstGeom prst="ellipse">
            <a:avLst/>
          </a:prstGeom>
          <a:solidFill>
            <a:srgbClr val="B95332"/>
          </a:solidFill>
          <a:ln w="7620">
            <a:solidFill>
              <a:srgbClr val="252525"/>
            </a:solidFill>
            <a:prstDash val="solid"/>
          </a:ln>
        </p:spPr>
      </p:sp>
      <p:sp>
        <p:nvSpPr>
          <p:cNvPr id="26" name="Shape 24"/>
          <p:cNvSpPr/>
          <p:nvPr/>
        </p:nvSpPr>
        <p:spPr>
          <a:xfrm flipV="1">
            <a:off x="1333500" y="6125249"/>
            <a:ext cx="2540000" cy="914899"/>
          </a:xfrm>
          <a:prstGeom prst="line">
            <a:avLst/>
          </a:prstGeom>
          <a:noFill/>
          <a:ln w="25400">
            <a:solidFill>
              <a:srgbClr val="315A78"/>
            </a:solidFill>
            <a:prstDash val="dash"/>
          </a:ln>
        </p:spPr>
      </p:sp>
      <p:sp>
        <p:nvSpPr>
          <p:cNvPr id="27" name="Shape 25"/>
          <p:cNvSpPr/>
          <p:nvPr/>
        </p:nvSpPr>
        <p:spPr>
          <a:xfrm>
            <a:off x="1289050" y="6995698"/>
            <a:ext cx="88900" cy="88900"/>
          </a:xfrm>
          <a:prstGeom prst="diamond">
            <a:avLst/>
          </a:prstGeom>
          <a:solidFill>
            <a:srgbClr val="315A78"/>
          </a:solidFill>
          <a:ln w="7620">
            <a:solidFill>
              <a:srgbClr val="252525"/>
            </a:solidFill>
            <a:prstDash val="solid"/>
          </a:ln>
        </p:spPr>
      </p:sp>
      <p:sp>
        <p:nvSpPr>
          <p:cNvPr id="28" name="Shape 26"/>
          <p:cNvSpPr/>
          <p:nvPr/>
        </p:nvSpPr>
        <p:spPr>
          <a:xfrm flipV="1">
            <a:off x="3873500" y="3630730"/>
            <a:ext cx="2540000" cy="2494519"/>
          </a:xfrm>
          <a:prstGeom prst="line">
            <a:avLst/>
          </a:prstGeom>
          <a:noFill/>
          <a:ln w="25400">
            <a:solidFill>
              <a:srgbClr val="315A78"/>
            </a:solidFill>
            <a:prstDash val="dash"/>
          </a:ln>
        </p:spPr>
      </p:sp>
      <p:sp>
        <p:nvSpPr>
          <p:cNvPr id="29" name="Shape 27"/>
          <p:cNvSpPr/>
          <p:nvPr/>
        </p:nvSpPr>
        <p:spPr>
          <a:xfrm>
            <a:off x="3829050" y="6080799"/>
            <a:ext cx="88900" cy="88900"/>
          </a:xfrm>
          <a:prstGeom prst="diamond">
            <a:avLst/>
          </a:prstGeom>
          <a:solidFill>
            <a:srgbClr val="315A78"/>
          </a:solidFill>
          <a:ln w="7620">
            <a:solidFill>
              <a:srgbClr val="252525"/>
            </a:solidFill>
            <a:prstDash val="solid"/>
          </a:ln>
        </p:spPr>
      </p:sp>
      <p:sp>
        <p:nvSpPr>
          <p:cNvPr id="30" name="Shape 28"/>
          <p:cNvSpPr/>
          <p:nvPr/>
        </p:nvSpPr>
        <p:spPr>
          <a:xfrm>
            <a:off x="6369050" y="3586280"/>
            <a:ext cx="88900" cy="88900"/>
          </a:xfrm>
          <a:prstGeom prst="diamond">
            <a:avLst/>
          </a:prstGeom>
          <a:solidFill>
            <a:srgbClr val="315A78"/>
          </a:solidFill>
          <a:ln w="7620">
            <a:solidFill>
              <a:srgbClr val="252525"/>
            </a:solidFill>
            <a:prstDash val="solid"/>
          </a:ln>
        </p:spPr>
      </p:sp>
      <p:sp>
        <p:nvSpPr>
          <p:cNvPr id="31" name="Text 29"/>
          <p:cNvSpPr/>
          <p:nvPr/>
        </p:nvSpPr>
        <p:spPr>
          <a:xfrm>
            <a:off x="101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32" name="Text 30"/>
          <p:cNvSpPr/>
          <p:nvPr/>
        </p:nvSpPr>
        <p:spPr>
          <a:xfrm>
            <a:off x="355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33" name="Text 31"/>
          <p:cNvSpPr/>
          <p:nvPr/>
        </p:nvSpPr>
        <p:spPr>
          <a:xfrm>
            <a:off x="609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34" name="Text 32"/>
          <p:cNvSpPr/>
          <p:nvPr/>
        </p:nvSpPr>
        <p:spPr>
          <a:xfrm>
            <a:off x="4699000" y="2984500"/>
            <a:ext cx="2400300" cy="558800"/>
          </a:xfrm>
          <a:prstGeom prst="rect">
            <a:avLst/>
          </a:prstGeom>
          <a:noFill/>
          <a:ln/>
        </p:spPr>
        <p:txBody>
          <a:bodyPr wrap="square" lIns="0" tIns="0" rIns="0" bIns="0" rtlCol="0" anchor="t"/>
          <a:lstStyle/>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South Korea</a:t>
            </a:r>
            <a:endParaRPr lang="en-US" sz="1200" dirty="0"/>
          </a:p>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US$33,216</a:t>
            </a:r>
            <a:endParaRPr lang="en-US" sz="1200" dirty="0"/>
          </a:p>
        </p:txBody>
      </p:sp>
      <p:sp>
        <p:nvSpPr>
          <p:cNvPr id="35" name="Text 33"/>
          <p:cNvSpPr/>
          <p:nvPr/>
        </p:nvSpPr>
        <p:spPr>
          <a:xfrm>
            <a:off x="5067300" y="6375400"/>
            <a:ext cx="2032000" cy="546100"/>
          </a:xfrm>
          <a:prstGeom prst="rect">
            <a:avLst/>
          </a:prstGeom>
          <a:noFill/>
          <a:ln/>
        </p:spPr>
        <p:txBody>
          <a:bodyPr wrap="square" lIns="0" tIns="0" rIns="0" bIns="0" rtlCol="0" anchor="t"/>
          <a:lstStyle/>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Ghana</a:t>
            </a:r>
            <a:endParaRPr lang="en-US" sz="1100" dirty="0"/>
          </a:p>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US$1,970</a:t>
            </a:r>
            <a:endParaRPr lang="en-US" sz="1100" dirty="0"/>
          </a:p>
        </p:txBody>
      </p:sp>
      <p:sp>
        <p:nvSpPr>
          <p:cNvPr id="36" name="Text 34"/>
          <p:cNvSpPr/>
          <p:nvPr/>
        </p:nvSpPr>
        <p:spPr>
          <a:xfrm>
            <a:off x="457200" y="7759700"/>
            <a:ext cx="3162300" cy="2921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 1,101 / Korea 1,038</a:t>
            </a:r>
            <a:endParaRPr lang="en-US" sz="950" dirty="0"/>
          </a:p>
        </p:txBody>
      </p:sp>
      <p:sp>
        <p:nvSpPr>
          <p:cNvPr id="37" name="Text 35"/>
          <p:cNvSpPr/>
          <p:nvPr/>
        </p:nvSpPr>
        <p:spPr>
          <a:xfrm>
            <a:off x="457200" y="8153400"/>
            <a:ext cx="3162300" cy="4318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1990: Ghana 856 / Korea 9,673</a:t>
            </a:r>
            <a:endParaRPr lang="en-US" sz="950" dirty="0"/>
          </a:p>
        </p:txBody>
      </p:sp>
      <p:sp>
        <p:nvSpPr>
          <p:cNvPr id="38" name="Text 36"/>
          <p:cNvSpPr/>
          <p:nvPr/>
        </p:nvSpPr>
        <p:spPr>
          <a:xfrm>
            <a:off x="3937000" y="7810500"/>
            <a:ext cx="3162300" cy="6477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Black" pitchFamily="34" charset="0"/>
                <a:ea typeface="Montserrat Black" pitchFamily="34" charset="-122"/>
                <a:cs typeface="Montserrat Black" pitchFamily="34" charset="-120"/>
              </a:rPr>
              <a:t>16.9 : 1</a:t>
            </a:r>
            <a:endParaRPr lang="en-US" sz="3600" dirty="0"/>
          </a:p>
        </p:txBody>
      </p:sp>
      <p:sp>
        <p:nvSpPr>
          <p:cNvPr id="39" name="Text 37"/>
          <p:cNvSpPr/>
          <p:nvPr/>
        </p:nvSpPr>
        <p:spPr>
          <a:xfrm>
            <a:off x="3937000" y="8470900"/>
            <a:ext cx="31623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Approximate income ratio in 2020.</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Not a causal estimate.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CULTURE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Meet Hofstede. Then test the idea.</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Hofstede grouped survey responses into six dimensions of national culture. They are lenses for questions—not scores that explain growth.</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 Missing country scores are not invented.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15</a:t>
            </a:r>
            <a:endParaRPr lang="en-US" sz="1000" dirty="0"/>
          </a:p>
        </p:txBody>
      </p:sp>
      <p:sp>
        <p:nvSpPr>
          <p:cNvPr id="11" name="Text 9"/>
          <p:cNvSpPr/>
          <p:nvPr/>
        </p:nvSpPr>
        <p:spPr>
          <a:xfrm>
            <a:off x="457200" y="3187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Power distance</a:t>
            </a:r>
            <a:endParaRPr lang="en-US" sz="1200" dirty="0"/>
          </a:p>
        </p:txBody>
      </p:sp>
      <p:sp>
        <p:nvSpPr>
          <p:cNvPr id="12" name="Text 10"/>
          <p:cNvSpPr/>
          <p:nvPr/>
        </p:nvSpPr>
        <p:spPr>
          <a:xfrm>
            <a:off x="3937000" y="3187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accepted is unequal power?</a:t>
            </a:r>
            <a:endParaRPr lang="en-US" sz="1000" dirty="0"/>
          </a:p>
        </p:txBody>
      </p:sp>
      <p:sp>
        <p:nvSpPr>
          <p:cNvPr id="13" name="Text 11"/>
          <p:cNvSpPr/>
          <p:nvPr/>
        </p:nvSpPr>
        <p:spPr>
          <a:xfrm>
            <a:off x="457200" y="3556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4" name="Shape 12"/>
          <p:cNvSpPr/>
          <p:nvPr/>
        </p:nvSpPr>
        <p:spPr>
          <a:xfrm>
            <a:off x="457200" y="3780790"/>
            <a:ext cx="6642100" cy="7620"/>
          </a:xfrm>
          <a:prstGeom prst="rect">
            <a:avLst/>
          </a:prstGeom>
          <a:solidFill>
            <a:srgbClr val="B7B0A4"/>
          </a:solidFill>
          <a:ln w="12700">
            <a:solidFill>
              <a:srgbClr val="B7B0A4"/>
            </a:solidFill>
            <a:prstDash val="solid"/>
          </a:ln>
        </p:spPr>
      </p:sp>
      <p:sp>
        <p:nvSpPr>
          <p:cNvPr id="15" name="Text 13"/>
          <p:cNvSpPr/>
          <p:nvPr/>
        </p:nvSpPr>
        <p:spPr>
          <a:xfrm>
            <a:off x="457200" y="38735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Individualism / collectivism</a:t>
            </a:r>
            <a:endParaRPr lang="en-US" sz="1200" dirty="0"/>
          </a:p>
        </p:txBody>
      </p:sp>
      <p:sp>
        <p:nvSpPr>
          <p:cNvPr id="16" name="Text 14"/>
          <p:cNvSpPr/>
          <p:nvPr/>
        </p:nvSpPr>
        <p:spPr>
          <a:xfrm>
            <a:off x="3937000" y="38735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are people tied to groups? Not a trust score.</a:t>
            </a:r>
            <a:endParaRPr lang="en-US" sz="1000" dirty="0"/>
          </a:p>
        </p:txBody>
      </p:sp>
      <p:sp>
        <p:nvSpPr>
          <p:cNvPr id="17" name="Text 15"/>
          <p:cNvSpPr/>
          <p:nvPr/>
        </p:nvSpPr>
        <p:spPr>
          <a:xfrm>
            <a:off x="457200" y="42418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8" name="Shape 16"/>
          <p:cNvSpPr/>
          <p:nvPr/>
        </p:nvSpPr>
        <p:spPr>
          <a:xfrm>
            <a:off x="457200" y="4466590"/>
            <a:ext cx="6642100" cy="7620"/>
          </a:xfrm>
          <a:prstGeom prst="rect">
            <a:avLst/>
          </a:prstGeom>
          <a:solidFill>
            <a:srgbClr val="B7B0A4"/>
          </a:solidFill>
          <a:ln w="12700">
            <a:solidFill>
              <a:srgbClr val="B7B0A4"/>
            </a:solidFill>
            <a:prstDash val="solid"/>
          </a:ln>
        </p:spPr>
      </p:sp>
      <p:sp>
        <p:nvSpPr>
          <p:cNvPr id="19" name="Text 17"/>
          <p:cNvSpPr/>
          <p:nvPr/>
        </p:nvSpPr>
        <p:spPr>
          <a:xfrm>
            <a:off x="457200" y="45593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20" name="Text 18"/>
          <p:cNvSpPr/>
          <p:nvPr/>
        </p:nvSpPr>
        <p:spPr>
          <a:xfrm>
            <a:off x="3937000" y="45593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Competition and achievement versus care and quality of life. Historical labels.</a:t>
            </a:r>
            <a:endParaRPr lang="en-US" sz="1000" dirty="0"/>
          </a:p>
        </p:txBody>
      </p:sp>
      <p:sp>
        <p:nvSpPr>
          <p:cNvPr id="21" name="Text 19"/>
          <p:cNvSpPr/>
          <p:nvPr/>
        </p:nvSpPr>
        <p:spPr>
          <a:xfrm>
            <a:off x="457200" y="49276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2" name="Shape 20"/>
          <p:cNvSpPr/>
          <p:nvPr/>
        </p:nvSpPr>
        <p:spPr>
          <a:xfrm>
            <a:off x="457200" y="5152390"/>
            <a:ext cx="6642100" cy="7620"/>
          </a:xfrm>
          <a:prstGeom prst="rect">
            <a:avLst/>
          </a:prstGeom>
          <a:solidFill>
            <a:srgbClr val="B7B0A4"/>
          </a:solidFill>
          <a:ln w="12700">
            <a:solidFill>
              <a:srgbClr val="B7B0A4"/>
            </a:solidFill>
            <a:prstDash val="solid"/>
          </a:ln>
        </p:spPr>
      </p:sp>
      <p:sp>
        <p:nvSpPr>
          <p:cNvPr id="23" name="Text 21"/>
          <p:cNvSpPr/>
          <p:nvPr/>
        </p:nvSpPr>
        <p:spPr>
          <a:xfrm>
            <a:off x="457200" y="52451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24" name="Text 22"/>
          <p:cNvSpPr/>
          <p:nvPr/>
        </p:nvSpPr>
        <p:spPr>
          <a:xfrm>
            <a:off x="3937000" y="52451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Responses to ambiguity—not simply risk-taking.</a:t>
            </a:r>
            <a:endParaRPr lang="en-US" sz="1000" dirty="0"/>
          </a:p>
        </p:txBody>
      </p:sp>
      <p:sp>
        <p:nvSpPr>
          <p:cNvPr id="25" name="Text 23"/>
          <p:cNvSpPr/>
          <p:nvPr/>
        </p:nvSpPr>
        <p:spPr>
          <a:xfrm>
            <a:off x="457200" y="56134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6" name="Shape 24"/>
          <p:cNvSpPr/>
          <p:nvPr/>
        </p:nvSpPr>
        <p:spPr>
          <a:xfrm>
            <a:off x="457200" y="5838190"/>
            <a:ext cx="6642100" cy="7620"/>
          </a:xfrm>
          <a:prstGeom prst="rect">
            <a:avLst/>
          </a:prstGeom>
          <a:solidFill>
            <a:srgbClr val="B7B0A4"/>
          </a:solidFill>
          <a:ln w="12700">
            <a:solidFill>
              <a:srgbClr val="B7B0A4"/>
            </a:solidFill>
            <a:prstDash val="solid"/>
          </a:ln>
        </p:spPr>
      </p:sp>
      <p:sp>
        <p:nvSpPr>
          <p:cNvPr id="27" name="Text 25"/>
          <p:cNvSpPr/>
          <p:nvPr/>
        </p:nvSpPr>
        <p:spPr>
          <a:xfrm>
            <a:off x="457200" y="59309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Long-term orientation</a:t>
            </a:r>
            <a:endParaRPr lang="en-US" sz="1200" dirty="0"/>
          </a:p>
        </p:txBody>
      </p:sp>
      <p:sp>
        <p:nvSpPr>
          <p:cNvPr id="28" name="Text 26"/>
          <p:cNvSpPr/>
          <p:nvPr/>
        </p:nvSpPr>
        <p:spPr>
          <a:xfrm>
            <a:off x="3937000" y="59309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Future-focused adaptation versus present/past obligations. Not policy duration.</a:t>
            </a:r>
            <a:endParaRPr lang="en-US" sz="1000" dirty="0"/>
          </a:p>
        </p:txBody>
      </p:sp>
      <p:sp>
        <p:nvSpPr>
          <p:cNvPr id="29" name="Text 27"/>
          <p:cNvSpPr/>
          <p:nvPr/>
        </p:nvSpPr>
        <p:spPr>
          <a:xfrm>
            <a:off x="457200" y="62992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30" name="Shape 28"/>
          <p:cNvSpPr/>
          <p:nvPr/>
        </p:nvSpPr>
        <p:spPr>
          <a:xfrm>
            <a:off x="457200" y="6523990"/>
            <a:ext cx="6642100" cy="7620"/>
          </a:xfrm>
          <a:prstGeom prst="rect">
            <a:avLst/>
          </a:prstGeom>
          <a:solidFill>
            <a:srgbClr val="B7B0A4"/>
          </a:solidFill>
          <a:ln w="12700">
            <a:solidFill>
              <a:srgbClr val="B7B0A4"/>
            </a:solidFill>
            <a:prstDash val="solid"/>
          </a:ln>
        </p:spPr>
      </p:sp>
      <p:sp>
        <p:nvSpPr>
          <p:cNvPr id="31" name="Text 29"/>
          <p:cNvSpPr/>
          <p:nvPr/>
        </p:nvSpPr>
        <p:spPr>
          <a:xfrm>
            <a:off x="457200" y="6616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32" name="Text 30"/>
          <p:cNvSpPr/>
          <p:nvPr/>
        </p:nvSpPr>
        <p:spPr>
          <a:xfrm>
            <a:off x="3937000" y="6616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Social regulation of gratification. Not work ethic.</a:t>
            </a:r>
            <a:endParaRPr lang="en-US" sz="1000" dirty="0"/>
          </a:p>
        </p:txBody>
      </p:sp>
      <p:sp>
        <p:nvSpPr>
          <p:cNvPr id="33" name="Text 31"/>
          <p:cNvSpPr/>
          <p:nvPr/>
        </p:nvSpPr>
        <p:spPr>
          <a:xfrm>
            <a:off x="457200" y="6985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34" name="Shape 32"/>
          <p:cNvSpPr/>
          <p:nvPr/>
        </p:nvSpPr>
        <p:spPr>
          <a:xfrm>
            <a:off x="457200" y="7209790"/>
            <a:ext cx="6642100" cy="7620"/>
          </a:xfrm>
          <a:prstGeom prst="rect">
            <a:avLst/>
          </a:prstGeom>
          <a:solidFill>
            <a:srgbClr val="B7B0A4"/>
          </a:solidFill>
          <a:ln w="12700">
            <a:solidFill>
              <a:srgbClr val="B7B0A4"/>
            </a:solidFill>
            <a:prstDash val="solid"/>
          </a:ln>
        </p:spPr>
      </p:sp>
      <p:sp>
        <p:nvSpPr>
          <p:cNvPr id="35" name="Shape 33"/>
          <p:cNvSpPr/>
          <p:nvPr/>
        </p:nvSpPr>
        <p:spPr>
          <a:xfrm>
            <a:off x="457200" y="7467600"/>
            <a:ext cx="6642100" cy="1371600"/>
          </a:xfrm>
          <a:prstGeom prst="rect">
            <a:avLst/>
          </a:prstGeom>
          <a:solidFill>
            <a:srgbClr val="252525"/>
          </a:solidFill>
          <a:ln w="12700">
            <a:solidFill>
              <a:srgbClr val="252525"/>
            </a:solidFill>
            <a:prstDash val="solid"/>
          </a:ln>
        </p:spPr>
      </p:sp>
      <p:sp>
        <p:nvSpPr>
          <p:cNvPr id="36" name="Text 34"/>
          <p:cNvSpPr/>
          <p:nvPr/>
        </p:nvSpPr>
        <p:spPr>
          <a:xfrm>
            <a:off x="635000" y="75946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7" name="Text 35"/>
          <p:cNvSpPr/>
          <p:nvPr/>
        </p:nvSpPr>
        <p:spPr>
          <a:xfrm>
            <a:off x="635000" y="7861300"/>
            <a:ext cx="6286500" cy="901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Culture matters. It isn’t destiny. We think shared expectations influence cooperation, while history, resources and institutions shape what people can 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Trust whom—with what?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Trust in a relative, a bank and “most people” are not the same thing.</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Governance indicators are not trust measures. Different questions, years and survey samples cannot be turned into one six-country trust ranking.</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16</a:t>
            </a:r>
            <a:endParaRPr lang="en-US" sz="1000" dirty="0"/>
          </a:p>
        </p:txBody>
      </p:sp>
      <p:sp>
        <p:nvSpPr>
          <p:cNvPr id="11" name="Shape 9"/>
          <p:cNvSpPr/>
          <p:nvPr/>
        </p:nvSpPr>
        <p:spPr>
          <a:xfrm>
            <a:off x="1066800" y="3492500"/>
            <a:ext cx="304800" cy="304800"/>
          </a:xfrm>
          <a:prstGeom prst="ellipse">
            <a:avLst/>
          </a:prstGeom>
          <a:solidFill>
            <a:srgbClr val="252525"/>
          </a:solidFill>
          <a:ln w="5080">
            <a:solidFill>
              <a:srgbClr val="252525"/>
            </a:solidFill>
            <a:prstDash val="solid"/>
          </a:ln>
        </p:spPr>
      </p:sp>
      <p:sp>
        <p:nvSpPr>
          <p:cNvPr id="12" name="Shape 10"/>
          <p:cNvSpPr/>
          <p:nvPr/>
        </p:nvSpPr>
        <p:spPr>
          <a:xfrm>
            <a:off x="1028700" y="3860800"/>
            <a:ext cx="381000" cy="533400"/>
          </a:xfrm>
          <a:prstGeom prst="rect">
            <a:avLst/>
          </a:prstGeom>
          <a:solidFill>
            <a:srgbClr val="252525"/>
          </a:solidFill>
          <a:ln w="12700">
            <a:solidFill>
              <a:srgbClr val="252525"/>
            </a:solidFill>
            <a:prstDash val="solid"/>
          </a:ln>
        </p:spPr>
      </p:sp>
      <p:sp>
        <p:nvSpPr>
          <p:cNvPr id="13" name="Shape 11"/>
          <p:cNvSpPr/>
          <p:nvPr/>
        </p:nvSpPr>
        <p:spPr>
          <a:xfrm>
            <a:off x="1041400" y="4394200"/>
            <a:ext cx="76200" cy="317500"/>
          </a:xfrm>
          <a:prstGeom prst="line">
            <a:avLst/>
          </a:prstGeom>
          <a:noFill/>
          <a:ln w="63500">
            <a:solidFill>
              <a:srgbClr val="252525"/>
            </a:solidFill>
            <a:prstDash val="solid"/>
          </a:ln>
        </p:spPr>
      </p:sp>
      <p:sp>
        <p:nvSpPr>
          <p:cNvPr id="14" name="Shape 12"/>
          <p:cNvSpPr/>
          <p:nvPr/>
        </p:nvSpPr>
        <p:spPr>
          <a:xfrm>
            <a:off x="1320800" y="4394200"/>
            <a:ext cx="76200" cy="317500"/>
          </a:xfrm>
          <a:prstGeom prst="line">
            <a:avLst/>
          </a:prstGeom>
          <a:noFill/>
          <a:ln w="63500">
            <a:solidFill>
              <a:srgbClr val="252525"/>
            </a:solidFill>
            <a:prstDash val="solid"/>
          </a:ln>
        </p:spPr>
      </p:sp>
      <p:sp>
        <p:nvSpPr>
          <p:cNvPr id="15" name="Shape 13"/>
          <p:cNvSpPr/>
          <p:nvPr/>
        </p:nvSpPr>
        <p:spPr>
          <a:xfrm>
            <a:off x="2324100" y="3492500"/>
            <a:ext cx="304800" cy="304800"/>
          </a:xfrm>
          <a:prstGeom prst="ellipse">
            <a:avLst/>
          </a:prstGeom>
          <a:solidFill>
            <a:srgbClr val="252525"/>
          </a:solidFill>
          <a:ln w="5080">
            <a:solidFill>
              <a:srgbClr val="252525"/>
            </a:solidFill>
            <a:prstDash val="solid"/>
          </a:ln>
        </p:spPr>
      </p:sp>
      <p:sp>
        <p:nvSpPr>
          <p:cNvPr id="16" name="Shape 14"/>
          <p:cNvSpPr/>
          <p:nvPr/>
        </p:nvSpPr>
        <p:spPr>
          <a:xfrm>
            <a:off x="2286000" y="3860800"/>
            <a:ext cx="381000" cy="533400"/>
          </a:xfrm>
          <a:prstGeom prst="rect">
            <a:avLst/>
          </a:prstGeom>
          <a:solidFill>
            <a:srgbClr val="252525"/>
          </a:solidFill>
          <a:ln w="12700">
            <a:solidFill>
              <a:srgbClr val="252525"/>
            </a:solidFill>
            <a:prstDash val="solid"/>
          </a:ln>
        </p:spPr>
      </p:sp>
      <p:sp>
        <p:nvSpPr>
          <p:cNvPr id="17" name="Shape 15"/>
          <p:cNvSpPr/>
          <p:nvPr/>
        </p:nvSpPr>
        <p:spPr>
          <a:xfrm>
            <a:off x="2298700" y="4394200"/>
            <a:ext cx="76200" cy="317500"/>
          </a:xfrm>
          <a:prstGeom prst="line">
            <a:avLst/>
          </a:prstGeom>
          <a:noFill/>
          <a:ln w="63500">
            <a:solidFill>
              <a:srgbClr val="252525"/>
            </a:solidFill>
            <a:prstDash val="solid"/>
          </a:ln>
        </p:spPr>
      </p:sp>
      <p:sp>
        <p:nvSpPr>
          <p:cNvPr id="18" name="Shape 16"/>
          <p:cNvSpPr/>
          <p:nvPr/>
        </p:nvSpPr>
        <p:spPr>
          <a:xfrm>
            <a:off x="2578100" y="4394200"/>
            <a:ext cx="76200" cy="317500"/>
          </a:xfrm>
          <a:prstGeom prst="line">
            <a:avLst/>
          </a:prstGeom>
          <a:noFill/>
          <a:ln w="63500">
            <a:solidFill>
              <a:srgbClr val="252525"/>
            </a:solidFill>
            <a:prstDash val="solid"/>
          </a:ln>
        </p:spPr>
      </p:sp>
      <p:sp>
        <p:nvSpPr>
          <p:cNvPr id="19" name="Shape 17"/>
          <p:cNvSpPr/>
          <p:nvPr/>
        </p:nvSpPr>
        <p:spPr>
          <a:xfrm>
            <a:off x="1409700" y="4089400"/>
            <a:ext cx="419100" cy="190500"/>
          </a:xfrm>
          <a:prstGeom prst="line">
            <a:avLst/>
          </a:prstGeom>
          <a:noFill/>
          <a:ln w="63500">
            <a:solidFill>
              <a:srgbClr val="252525"/>
            </a:solidFill>
            <a:prstDash val="solid"/>
          </a:ln>
        </p:spPr>
      </p:sp>
      <p:sp>
        <p:nvSpPr>
          <p:cNvPr id="20" name="Shape 18"/>
          <p:cNvSpPr/>
          <p:nvPr/>
        </p:nvSpPr>
        <p:spPr>
          <a:xfrm>
            <a:off x="1828800" y="4089400"/>
            <a:ext cx="457200" cy="190500"/>
          </a:xfrm>
          <a:prstGeom prst="line">
            <a:avLst/>
          </a:prstGeom>
          <a:noFill/>
          <a:ln w="63500">
            <a:solidFill>
              <a:srgbClr val="252525"/>
            </a:solidFill>
            <a:prstDash val="solid"/>
          </a:ln>
        </p:spPr>
      </p:sp>
      <p:sp>
        <p:nvSpPr>
          <p:cNvPr id="21" name="Text 19"/>
          <p:cNvSpPr/>
          <p:nvPr/>
        </p:nvSpPr>
        <p:spPr>
          <a:xfrm>
            <a:off x="1028700" y="4965700"/>
            <a:ext cx="17653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COOPERATE</a:t>
            </a:r>
            <a:endParaRPr lang="en-US" sz="1000" dirty="0"/>
          </a:p>
        </p:txBody>
      </p:sp>
      <p:sp>
        <p:nvSpPr>
          <p:cNvPr id="22" name="Text 20"/>
          <p:cNvSpPr/>
          <p:nvPr/>
        </p:nvSpPr>
        <p:spPr>
          <a:xfrm>
            <a:off x="3517900" y="31750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PERSON</a:t>
            </a:r>
            <a:endParaRPr lang="en-US" sz="1100" dirty="0"/>
          </a:p>
        </p:txBody>
      </p:sp>
      <p:sp>
        <p:nvSpPr>
          <p:cNvPr id="23" name="Text 21"/>
          <p:cNvSpPr/>
          <p:nvPr/>
        </p:nvSpPr>
        <p:spPr>
          <a:xfrm>
            <a:off x="3517900" y="35179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Knowing someone is different from trusting a stranger.</a:t>
            </a:r>
            <a:endParaRPr lang="en-US" sz="1100" dirty="0"/>
          </a:p>
        </p:txBody>
      </p:sp>
      <p:sp>
        <p:nvSpPr>
          <p:cNvPr id="24" name="Text 22"/>
          <p:cNvSpPr/>
          <p:nvPr/>
        </p:nvSpPr>
        <p:spPr>
          <a:xfrm>
            <a:off x="3517900" y="41529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NETWORK</a:t>
            </a:r>
            <a:endParaRPr lang="en-US" sz="1100" dirty="0"/>
          </a:p>
        </p:txBody>
      </p:sp>
      <p:sp>
        <p:nvSpPr>
          <p:cNvPr id="25" name="Text 23"/>
          <p:cNvSpPr/>
          <p:nvPr/>
        </p:nvSpPr>
        <p:spPr>
          <a:xfrm>
            <a:off x="3517900" y="44958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and contacts can support cooperation.</a:t>
            </a:r>
            <a:endParaRPr lang="en-US" sz="1100" dirty="0"/>
          </a:p>
        </p:txBody>
      </p:sp>
      <p:sp>
        <p:nvSpPr>
          <p:cNvPr id="26" name="Text 24"/>
          <p:cNvSpPr/>
          <p:nvPr/>
        </p:nvSpPr>
        <p:spPr>
          <a:xfrm>
            <a:off x="3517900" y="51308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AN INSTITUTION</a:t>
            </a:r>
            <a:endParaRPr lang="en-US" sz="1100" dirty="0"/>
          </a:p>
        </p:txBody>
      </p:sp>
      <p:sp>
        <p:nvSpPr>
          <p:cNvPr id="27" name="Text 25"/>
          <p:cNvSpPr/>
          <p:nvPr/>
        </p:nvSpPr>
        <p:spPr>
          <a:xfrm>
            <a:off x="3517900" y="54737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Name it: a court, bank or government.</a:t>
            </a:r>
            <a:endParaRPr lang="en-US" sz="1100" dirty="0"/>
          </a:p>
        </p:txBody>
      </p:sp>
      <p:sp>
        <p:nvSpPr>
          <p:cNvPr id="28" name="Text 26"/>
          <p:cNvSpPr/>
          <p:nvPr/>
        </p:nvSpPr>
        <p:spPr>
          <a:xfrm>
            <a:off x="3517900" y="61087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SURVEY ANSWER</a:t>
            </a:r>
            <a:endParaRPr lang="en-US" sz="1100" dirty="0"/>
          </a:p>
        </p:txBody>
      </p:sp>
      <p:sp>
        <p:nvSpPr>
          <p:cNvPr id="29" name="Text 27"/>
          <p:cNvSpPr/>
          <p:nvPr/>
        </p:nvSpPr>
        <p:spPr>
          <a:xfrm>
            <a:off x="3517900" y="64516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Wording, timing and who was asked all matter.</a:t>
            </a:r>
            <a:endParaRPr lang="en-US" sz="1100" dirty="0"/>
          </a:p>
        </p:txBody>
      </p:sp>
      <p:sp>
        <p:nvSpPr>
          <p:cNvPr id="30" name="Text 28"/>
          <p:cNvSpPr/>
          <p:nvPr/>
        </p:nvSpPr>
        <p:spPr>
          <a:xfrm>
            <a:off x="457200" y="7353300"/>
            <a:ext cx="6642100" cy="6223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Trust is not one common scale.</a:t>
            </a:r>
            <a:endParaRPr lang="en-US" sz="2700" dirty="0"/>
          </a:p>
        </p:txBody>
      </p:sp>
      <p:sp>
        <p:nvSpPr>
          <p:cNvPr id="31" name="Text 29"/>
          <p:cNvSpPr/>
          <p:nvPr/>
        </p:nvSpPr>
        <p:spPr>
          <a:xfrm>
            <a:off x="457200" y="8229600"/>
            <a:ext cx="6642100" cy="660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“Asia trusts more” was our initial impression—not a finding supported by comparable evidence across these six countries.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CLOSE NETWORKS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Family first. Doors open—or closed?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Close ties can help people cooperate. They can also shut outsiders out.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a conditional explanation and a discussion prompt—not a measure of any country’s culture, corruption or trust.</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17</a:t>
            </a:r>
            <a:endParaRPr lang="en-US" sz="1000" dirty="0"/>
          </a:p>
        </p:txBody>
      </p:sp>
      <p:sp>
        <p:nvSpPr>
          <p:cNvPr id="11" name="Shape 9"/>
          <p:cNvSpPr/>
          <p:nvPr/>
        </p:nvSpPr>
        <p:spPr>
          <a:xfrm>
            <a:off x="1155700" y="3416300"/>
            <a:ext cx="685800" cy="1219200"/>
          </a:xfrm>
          <a:prstGeom prst="rect">
            <a:avLst/>
          </a:prstGeom>
          <a:solidFill>
            <a:srgbClr val="252525"/>
          </a:solidFill>
          <a:ln w="12700">
            <a:solidFill>
              <a:srgbClr val="252525"/>
            </a:solidFill>
            <a:prstDash val="solid"/>
          </a:ln>
        </p:spPr>
      </p:sp>
      <p:sp>
        <p:nvSpPr>
          <p:cNvPr id="12" name="Shape 10"/>
          <p:cNvSpPr/>
          <p:nvPr/>
        </p:nvSpPr>
        <p:spPr>
          <a:xfrm>
            <a:off x="1231900" y="3492500"/>
            <a:ext cx="533400" cy="1143000"/>
          </a:xfrm>
          <a:prstGeom prst="rect">
            <a:avLst/>
          </a:prstGeom>
          <a:solidFill>
            <a:srgbClr val="F4F0E7"/>
          </a:solidFill>
          <a:ln w="12700">
            <a:solidFill>
              <a:srgbClr val="F4F0E7"/>
            </a:solidFill>
            <a:prstDash val="solid"/>
          </a:ln>
        </p:spPr>
      </p:sp>
      <p:sp>
        <p:nvSpPr>
          <p:cNvPr id="13" name="Shape 11"/>
          <p:cNvSpPr/>
          <p:nvPr/>
        </p:nvSpPr>
        <p:spPr>
          <a:xfrm>
            <a:off x="1651000" y="3530600"/>
            <a:ext cx="114300" cy="1066800"/>
          </a:xfrm>
          <a:prstGeom prst="rect">
            <a:avLst/>
          </a:prstGeom>
          <a:solidFill>
            <a:srgbClr val="252525"/>
          </a:solidFill>
          <a:ln w="12700">
            <a:solidFill>
              <a:srgbClr val="252525"/>
            </a:solidFill>
            <a:prstDash val="solid"/>
          </a:ln>
        </p:spPr>
      </p:sp>
      <p:sp>
        <p:nvSpPr>
          <p:cNvPr id="14" name="Shape 12"/>
          <p:cNvSpPr/>
          <p:nvPr/>
        </p:nvSpPr>
        <p:spPr>
          <a:xfrm>
            <a:off x="1651000" y="3530600"/>
            <a:ext cx="406400" cy="190500"/>
          </a:xfrm>
          <a:prstGeom prst="line">
            <a:avLst/>
          </a:prstGeom>
          <a:noFill/>
          <a:ln w="38100">
            <a:solidFill>
              <a:srgbClr val="252525"/>
            </a:solidFill>
            <a:prstDash val="solid"/>
          </a:ln>
        </p:spPr>
      </p:sp>
      <p:sp>
        <p:nvSpPr>
          <p:cNvPr id="15" name="Shape 13"/>
          <p:cNvSpPr/>
          <p:nvPr/>
        </p:nvSpPr>
        <p:spPr>
          <a:xfrm>
            <a:off x="2038350" y="3721100"/>
            <a:ext cx="38100" cy="1066800"/>
          </a:xfrm>
          <a:prstGeom prst="rect">
            <a:avLst/>
          </a:prstGeom>
          <a:solidFill>
            <a:srgbClr val="252525"/>
          </a:solidFill>
          <a:ln w="12700">
            <a:solidFill>
              <a:srgbClr val="252525"/>
            </a:solidFill>
            <a:prstDash val="solid"/>
          </a:ln>
        </p:spPr>
      </p:sp>
      <p:sp>
        <p:nvSpPr>
          <p:cNvPr id="16" name="Shape 14"/>
          <p:cNvSpPr/>
          <p:nvPr/>
        </p:nvSpPr>
        <p:spPr>
          <a:xfrm flipV="1">
            <a:off x="1651000" y="4597400"/>
            <a:ext cx="406400" cy="190500"/>
          </a:xfrm>
          <a:prstGeom prst="line">
            <a:avLst/>
          </a:prstGeom>
          <a:noFill/>
          <a:ln w="38100">
            <a:solidFill>
              <a:srgbClr val="252525"/>
            </a:solidFill>
            <a:prstDash val="solid"/>
          </a:ln>
        </p:spPr>
      </p:sp>
      <p:sp>
        <p:nvSpPr>
          <p:cNvPr id="17" name="Shape 15"/>
          <p:cNvSpPr/>
          <p:nvPr/>
        </p:nvSpPr>
        <p:spPr>
          <a:xfrm>
            <a:off x="1930400" y="4216400"/>
            <a:ext cx="50800" cy="50800"/>
          </a:xfrm>
          <a:prstGeom prst="ellipse">
            <a:avLst/>
          </a:prstGeom>
          <a:solidFill>
            <a:srgbClr val="252525"/>
          </a:solidFill>
          <a:ln w="5080">
            <a:solidFill>
              <a:srgbClr val="252525"/>
            </a:solidFill>
            <a:prstDash val="solid"/>
          </a:ln>
        </p:spPr>
      </p:sp>
      <p:sp>
        <p:nvSpPr>
          <p:cNvPr id="18" name="Text 16"/>
          <p:cNvSpPr/>
          <p:nvPr/>
        </p:nvSpPr>
        <p:spPr>
          <a:xfrm>
            <a:off x="457200" y="5168900"/>
            <a:ext cx="26416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WHO GETS IN?</a:t>
            </a:r>
            <a:endParaRPr lang="en-US" sz="1600" dirty="0"/>
          </a:p>
        </p:txBody>
      </p:sp>
      <p:sp>
        <p:nvSpPr>
          <p:cNvPr id="19" name="Text 17"/>
          <p:cNvSpPr/>
          <p:nvPr/>
        </p:nvSpPr>
        <p:spPr>
          <a:xfrm>
            <a:off x="3517900" y="31750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strength</a:t>
            </a:r>
            <a:endParaRPr lang="en-US" sz="2100" dirty="0"/>
          </a:p>
        </p:txBody>
      </p:sp>
      <p:sp>
        <p:nvSpPr>
          <p:cNvPr id="20" name="Text 18"/>
          <p:cNvSpPr/>
          <p:nvPr/>
        </p:nvSpPr>
        <p:spPr>
          <a:xfrm>
            <a:off x="3517900" y="39243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Credit, labour and mutual help can keep people and businesses going.</a:t>
            </a:r>
            <a:endParaRPr lang="en-US" sz="1100" dirty="0"/>
          </a:p>
        </p:txBody>
      </p:sp>
      <p:sp>
        <p:nvSpPr>
          <p:cNvPr id="21" name="Text 19"/>
          <p:cNvSpPr/>
          <p:nvPr/>
        </p:nvSpPr>
        <p:spPr>
          <a:xfrm>
            <a:off x="3517900" y="49403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boundary</a:t>
            </a:r>
            <a:endParaRPr lang="en-US" sz="2100" dirty="0"/>
          </a:p>
        </p:txBody>
      </p:sp>
      <p:sp>
        <p:nvSpPr>
          <p:cNvPr id="22" name="Text 20"/>
          <p:cNvSpPr/>
          <p:nvPr/>
        </p:nvSpPr>
        <p:spPr>
          <a:xfrm>
            <a:off x="3517900" y="56896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Hiring outsiders or sharing control may be harder without reliable organisations and contracts.</a:t>
            </a:r>
            <a:endParaRPr lang="en-US" sz="1100" dirty="0"/>
          </a:p>
        </p:txBody>
      </p:sp>
      <p:sp>
        <p:nvSpPr>
          <p:cNvPr id="23" name="Text 21"/>
          <p:cNvSpPr/>
          <p:nvPr/>
        </p:nvSpPr>
        <p:spPr>
          <a:xfrm>
            <a:off x="457200" y="6781800"/>
            <a:ext cx="6642100" cy="4699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would you trust with money?</a:t>
            </a:r>
            <a:endParaRPr lang="en-US" sz="2300" dirty="0"/>
          </a:p>
        </p:txBody>
      </p:sp>
      <p:sp>
        <p:nvSpPr>
          <p:cNvPr id="24" name="Text 22"/>
          <p:cNvSpPr/>
          <p:nvPr/>
        </p:nvSpPr>
        <p:spPr>
          <a:xfrm>
            <a:off x="457200" y="7340600"/>
            <a:ext cx="6642100" cy="431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 friend? A bank? An unfamiliar partner backed by a reliable contract?</a:t>
            </a:r>
            <a:endParaRPr lang="en-US" sz="1100" dirty="0"/>
          </a:p>
        </p:txBody>
      </p:sp>
      <p:sp>
        <p:nvSpPr>
          <p:cNvPr id="25" name="Shape 23"/>
          <p:cNvSpPr/>
          <p:nvPr/>
        </p:nvSpPr>
        <p:spPr>
          <a:xfrm>
            <a:off x="457200" y="7937500"/>
            <a:ext cx="6642100" cy="927100"/>
          </a:xfrm>
          <a:prstGeom prst="rect">
            <a:avLst/>
          </a:prstGeom>
          <a:solidFill>
            <a:srgbClr val="252525"/>
          </a:solidFill>
          <a:ln w="12700">
            <a:solidFill>
              <a:srgbClr val="252525"/>
            </a:solidFill>
            <a:prstDash val="solid"/>
          </a:ln>
        </p:spPr>
      </p:sp>
      <p:sp>
        <p:nvSpPr>
          <p:cNvPr id="26" name="Text 24"/>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7" name="Text 25"/>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see family networks mainly as a strength. But conflict, exclusion and closed-minded decisions can turn that strength into a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LEADERSHIP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Lead. Listen. Change course.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Long-term direction works better when people can challenge mistakes.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National cultural scores cannot replace direct evidence about leadership, policy duration, investment or correction.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18</a:t>
            </a:r>
            <a:endParaRPr lang="en-US" sz="1000" dirty="0"/>
          </a:p>
        </p:txBody>
      </p:sp>
      <p:sp>
        <p:nvSpPr>
          <p:cNvPr id="11" name="Editable road path 1"/>
          <p:cNvSpPr/>
          <p:nvPr/>
        </p:nvSpPr>
        <p:spPr>
          <a:xfrm>
            <a:off x="457200" y="3822700"/>
            <a:ext cx="6426200" cy="1193800"/>
          </a:xfrm>
          <a:custGeom>
            <a:avLst/>
            <a:gdLst/>
            <a:ahLst/>
            <a:cxnLst/>
            <a:rect l="0" t="0" r="r" b="b"/>
            <a:pathLst>
              <a:path w="10000" h="10000">
                <a:moveTo>
                  <a:pt x="0" y="7021"/>
                </a:moveTo>
                <a:lnTo>
                  <a:pt x="6344" y="7021"/>
                </a:lnTo>
                <a:lnTo>
                  <a:pt x="7253" y="6277"/>
                </a:lnTo>
                <a:lnTo>
                  <a:pt x="8182" y="3936"/>
                </a:lnTo>
                <a:lnTo>
                  <a:pt x="9229" y="0"/>
                </a:lnTo>
                <a:lnTo>
                  <a:pt x="10000" y="0"/>
                </a:lnTo>
                <a:lnTo>
                  <a:pt x="10000" y="2766"/>
                </a:lnTo>
                <a:lnTo>
                  <a:pt x="9387" y="2766"/>
                </a:lnTo>
                <a:lnTo>
                  <a:pt x="8458" y="6596"/>
                </a:lnTo>
                <a:lnTo>
                  <a:pt x="7411" y="9149"/>
                </a:lnTo>
                <a:lnTo>
                  <a:pt x="6462" y="10000"/>
                </a:lnTo>
                <a:lnTo>
                  <a:pt x="0" y="10000"/>
                </a:lnTo>
                <a:close/>
              </a:path>
            </a:pathLst>
          </a:custGeom>
          <a:solidFill>
            <a:srgbClr val="F4F0E7"/>
          </a:solidFill>
          <a:ln w="12700">
            <a:solidFill>
              <a:srgbClr val="F4F0E7"/>
            </a:solidFill>
            <a:prstDash val="solid"/>
          </a:ln>
        </p:spPr>
      </p:sp>
      <p:sp>
        <p:nvSpPr>
          <p:cNvPr id="12" name="Editable road path 2"/>
          <p:cNvSpPr/>
          <p:nvPr/>
        </p:nvSpPr>
        <p:spPr>
          <a:xfrm>
            <a:off x="6883400" y="3670300"/>
            <a:ext cx="215900" cy="635000"/>
          </a:xfrm>
          <a:custGeom>
            <a:avLst/>
            <a:gdLst/>
            <a:ahLst/>
            <a:cxnLst/>
            <a:rect l="0" t="0" r="r" b="b"/>
            <a:pathLst>
              <a:path w="10000" h="10000">
                <a:moveTo>
                  <a:pt x="0" y="0"/>
                </a:moveTo>
                <a:lnTo>
                  <a:pt x="10000" y="5000"/>
                </a:lnTo>
                <a:lnTo>
                  <a:pt x="0" y="10000"/>
                </a:lnTo>
                <a:close/>
              </a:path>
            </a:pathLst>
          </a:custGeom>
          <a:solidFill>
            <a:srgbClr val="F4F0E7"/>
          </a:solidFill>
          <a:ln w="12700">
            <a:solidFill>
              <a:srgbClr val="F4F0E7"/>
            </a:solidFill>
            <a:prstDash val="solid"/>
          </a:ln>
        </p:spPr>
      </p:sp>
      <p:sp>
        <p:nvSpPr>
          <p:cNvPr id="13" name="Text 11"/>
          <p:cNvSpPr/>
          <p:nvPr/>
        </p:nvSpPr>
        <p:spPr>
          <a:xfrm>
            <a:off x="4572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01</a:t>
            </a:r>
            <a:endParaRPr lang="en-US" sz="3000" dirty="0"/>
          </a:p>
        </p:txBody>
      </p:sp>
      <p:sp>
        <p:nvSpPr>
          <p:cNvPr id="14" name="Text 12"/>
          <p:cNvSpPr/>
          <p:nvPr/>
        </p:nvSpPr>
        <p:spPr>
          <a:xfrm>
            <a:off x="4572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LEAD</a:t>
            </a:r>
            <a:endParaRPr lang="en-US" sz="1600" dirty="0"/>
          </a:p>
        </p:txBody>
      </p:sp>
      <p:sp>
        <p:nvSpPr>
          <p:cNvPr id="15" name="Text 13"/>
          <p:cNvSpPr/>
          <p:nvPr/>
        </p:nvSpPr>
        <p:spPr>
          <a:xfrm>
            <a:off x="4572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Set a useful direction.</a:t>
            </a:r>
            <a:endParaRPr lang="en-US" sz="1200" dirty="0"/>
          </a:p>
        </p:txBody>
      </p:sp>
      <p:sp>
        <p:nvSpPr>
          <p:cNvPr id="16" name="Text 14"/>
          <p:cNvSpPr/>
          <p:nvPr/>
        </p:nvSpPr>
        <p:spPr>
          <a:xfrm>
            <a:off x="27305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02</a:t>
            </a:r>
            <a:endParaRPr lang="en-US" sz="3000" dirty="0"/>
          </a:p>
        </p:txBody>
      </p:sp>
      <p:sp>
        <p:nvSpPr>
          <p:cNvPr id="17" name="Text 15"/>
          <p:cNvSpPr/>
          <p:nvPr/>
        </p:nvSpPr>
        <p:spPr>
          <a:xfrm>
            <a:off x="27305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LISTEN</a:t>
            </a:r>
            <a:endParaRPr lang="en-US" sz="1600" dirty="0"/>
          </a:p>
        </p:txBody>
      </p:sp>
      <p:sp>
        <p:nvSpPr>
          <p:cNvPr id="18" name="Text 16"/>
          <p:cNvSpPr/>
          <p:nvPr/>
        </p:nvSpPr>
        <p:spPr>
          <a:xfrm>
            <a:off x="27305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Let people challenge mistakes.</a:t>
            </a:r>
            <a:endParaRPr lang="en-US" sz="1200" dirty="0"/>
          </a:p>
        </p:txBody>
      </p:sp>
      <p:sp>
        <p:nvSpPr>
          <p:cNvPr id="19" name="Text 17"/>
          <p:cNvSpPr/>
          <p:nvPr/>
        </p:nvSpPr>
        <p:spPr>
          <a:xfrm>
            <a:off x="50038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03</a:t>
            </a:r>
            <a:endParaRPr lang="en-US" sz="3000" dirty="0"/>
          </a:p>
        </p:txBody>
      </p:sp>
      <p:sp>
        <p:nvSpPr>
          <p:cNvPr id="20" name="Text 18"/>
          <p:cNvSpPr/>
          <p:nvPr/>
        </p:nvSpPr>
        <p:spPr>
          <a:xfrm>
            <a:off x="50038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CHANGE COURSE</a:t>
            </a:r>
            <a:endParaRPr lang="en-US" sz="1600" dirty="0"/>
          </a:p>
        </p:txBody>
      </p:sp>
      <p:sp>
        <p:nvSpPr>
          <p:cNvPr id="21" name="Text 19"/>
          <p:cNvSpPr/>
          <p:nvPr/>
        </p:nvSpPr>
        <p:spPr>
          <a:xfrm>
            <a:off x="50038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Fix what is not working.</a:t>
            </a:r>
            <a:endParaRPr lang="en-US" sz="1200" dirty="0"/>
          </a:p>
        </p:txBody>
      </p:sp>
      <p:sp>
        <p:nvSpPr>
          <p:cNvPr id="22" name="Text 20"/>
          <p:cNvSpPr/>
          <p:nvPr/>
        </p:nvSpPr>
        <p:spPr>
          <a:xfrm>
            <a:off x="457200" y="7188200"/>
            <a:ext cx="6642100" cy="368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A steady direction. Room to turn.</a:t>
            </a:r>
            <a:endParaRPr lang="en-US" sz="2000" dirty="0"/>
          </a:p>
        </p:txBody>
      </p:sp>
      <p:sp>
        <p:nvSpPr>
          <p:cNvPr id="23" name="Text 21"/>
          <p:cNvSpPr/>
          <p:nvPr/>
        </p:nvSpPr>
        <p:spPr>
          <a:xfrm>
            <a:off x="457200" y="7645400"/>
            <a:ext cx="6642100" cy="5461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Hierarchy can coordinate action—or silence feedback. Look at actual decisions and results, not just cultural scores.</a:t>
            </a:r>
            <a:endParaRPr lang="en-US" sz="1100" dirty="0"/>
          </a:p>
        </p:txBody>
      </p:sp>
      <p:sp>
        <p:nvSpPr>
          <p:cNvPr id="24" name="Shape 22"/>
          <p:cNvSpPr/>
          <p:nvPr/>
        </p:nvSpPr>
        <p:spPr>
          <a:xfrm>
            <a:off x="457200" y="8305800"/>
            <a:ext cx="6642100" cy="800100"/>
          </a:xfrm>
          <a:prstGeom prst="rect">
            <a:avLst/>
          </a:prstGeom>
          <a:solidFill>
            <a:srgbClr val="F4F0E7"/>
          </a:solidFill>
          <a:ln w="12700">
            <a:solidFill>
              <a:srgbClr val="F4F0E7"/>
            </a:solidFill>
            <a:prstDash val="solid"/>
          </a:ln>
        </p:spPr>
      </p:sp>
      <p:sp>
        <p:nvSpPr>
          <p:cNvPr id="25" name="Text 23"/>
          <p:cNvSpPr/>
          <p:nvPr/>
        </p:nvSpPr>
        <p:spPr>
          <a:xfrm>
            <a:off x="635000" y="84328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8699500"/>
            <a:ext cx="6286500" cy="3302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Strong government—for whose benefit? We support planning ahead, but leaders must serve the country and face accountability when policies fail.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IDEAS ON TRIAL</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Three roads into the question.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Connections. Cooperation. Direction + correction. We test each idea against the six countries.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A supporting case may fit several explanations. These qualitative comparisons do not isolate a single cause.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Original group hypotheses and six-country matrix. Sources: World Bank (1993, 2020); Maipose (2008); Svirydzenka and Petri (2014); OECD (2017).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19</a:t>
            </a:r>
            <a:endParaRPr lang="en-US" sz="1000" dirty="0"/>
          </a:p>
        </p:txBody>
      </p:sp>
      <p:sp>
        <p:nvSpPr>
          <p:cNvPr id="11" name="Editable road path 3"/>
          <p:cNvSpPr/>
          <p:nvPr/>
        </p:nvSpPr>
        <p:spPr>
          <a:xfrm>
            <a:off x="2616200" y="4368800"/>
            <a:ext cx="2324100" cy="2590800"/>
          </a:xfrm>
          <a:custGeom>
            <a:avLst/>
            <a:gdLst/>
            <a:ahLst/>
            <a:cxnLst/>
            <a:rect l="0" t="0" r="r" b="b"/>
            <a:pathLst>
              <a:path w="10000" h="10000">
                <a:moveTo>
                  <a:pt x="0" y="10000"/>
                </a:moveTo>
                <a:lnTo>
                  <a:pt x="10000" y="10000"/>
                </a:lnTo>
                <a:lnTo>
                  <a:pt x="6339" y="0"/>
                </a:lnTo>
                <a:lnTo>
                  <a:pt x="3661" y="0"/>
                </a:lnTo>
                <a:close/>
              </a:path>
            </a:pathLst>
          </a:custGeom>
          <a:solidFill>
            <a:srgbClr val="B7B0A4"/>
          </a:solidFill>
          <a:ln w="12700">
            <a:solidFill>
              <a:srgbClr val="B7B0A4"/>
            </a:solidFill>
            <a:prstDash val="solid"/>
          </a:ln>
        </p:spPr>
      </p:sp>
      <p:sp>
        <p:nvSpPr>
          <p:cNvPr id="12" name="Editable road path 4"/>
          <p:cNvSpPr/>
          <p:nvPr/>
        </p:nvSpPr>
        <p:spPr>
          <a:xfrm>
            <a:off x="2730500" y="4368800"/>
            <a:ext cx="2095500" cy="2590800"/>
          </a:xfrm>
          <a:custGeom>
            <a:avLst/>
            <a:gdLst/>
            <a:ahLst/>
            <a:cxnLst/>
            <a:rect l="0" t="0" r="r" b="b"/>
            <a:pathLst>
              <a:path w="10000" h="10000">
                <a:moveTo>
                  <a:pt x="0" y="10000"/>
                </a:moveTo>
                <a:lnTo>
                  <a:pt x="10000" y="10000"/>
                </a:lnTo>
                <a:lnTo>
                  <a:pt x="6182" y="0"/>
                </a:lnTo>
                <a:lnTo>
                  <a:pt x="3818" y="0"/>
                </a:lnTo>
                <a:close/>
              </a:path>
            </a:pathLst>
          </a:custGeom>
          <a:solidFill>
            <a:srgbClr val="514E48"/>
          </a:solidFill>
          <a:ln w="12700">
            <a:solidFill>
              <a:srgbClr val="514E48"/>
            </a:solidFill>
            <a:prstDash val="solid"/>
          </a:ln>
        </p:spPr>
      </p:sp>
      <p:sp>
        <p:nvSpPr>
          <p:cNvPr id="13" name="Editable road path 5"/>
          <p:cNvSpPr/>
          <p:nvPr/>
        </p:nvSpPr>
        <p:spPr>
          <a:xfrm>
            <a:off x="457200" y="3949700"/>
            <a:ext cx="3454400" cy="1524000"/>
          </a:xfrm>
          <a:custGeom>
            <a:avLst/>
            <a:gdLst/>
            <a:ahLst/>
            <a:cxnLst/>
            <a:rect l="0" t="0" r="r" b="b"/>
            <a:pathLst>
              <a:path w="10000" h="10000">
                <a:moveTo>
                  <a:pt x="0" y="10000"/>
                </a:moveTo>
                <a:lnTo>
                  <a:pt x="0" y="4667"/>
                </a:lnTo>
                <a:lnTo>
                  <a:pt x="8235" y="917"/>
                </a:lnTo>
                <a:lnTo>
                  <a:pt x="9228" y="0"/>
                </a:lnTo>
                <a:lnTo>
                  <a:pt x="10000" y="2667"/>
                </a:lnTo>
                <a:lnTo>
                  <a:pt x="8860" y="4667"/>
                </a:lnTo>
                <a:close/>
              </a:path>
            </a:pathLst>
          </a:custGeom>
          <a:solidFill>
            <a:srgbClr val="B7B0A4"/>
          </a:solidFill>
          <a:ln w="12700">
            <a:solidFill>
              <a:srgbClr val="B7B0A4"/>
            </a:solidFill>
            <a:prstDash val="solid"/>
          </a:ln>
        </p:spPr>
      </p:sp>
      <p:sp>
        <p:nvSpPr>
          <p:cNvPr id="14" name="Editable road path 6"/>
          <p:cNvSpPr/>
          <p:nvPr/>
        </p:nvSpPr>
        <p:spPr>
          <a:xfrm>
            <a:off x="457200" y="4051300"/>
            <a:ext cx="3365500" cy="1308100"/>
          </a:xfrm>
          <a:custGeom>
            <a:avLst/>
            <a:gdLst/>
            <a:ahLst/>
            <a:cxnLst/>
            <a:rect l="0" t="0" r="r" b="b"/>
            <a:pathLst>
              <a:path w="10000" h="10000">
                <a:moveTo>
                  <a:pt x="0" y="10000"/>
                </a:moveTo>
                <a:lnTo>
                  <a:pt x="0" y="5437"/>
                </a:lnTo>
                <a:lnTo>
                  <a:pt x="8566" y="1068"/>
                </a:lnTo>
                <a:lnTo>
                  <a:pt x="9434" y="0"/>
                </a:lnTo>
                <a:lnTo>
                  <a:pt x="10000" y="1942"/>
                </a:lnTo>
                <a:lnTo>
                  <a:pt x="8981" y="3883"/>
                </a:lnTo>
                <a:close/>
              </a:path>
            </a:pathLst>
          </a:custGeom>
          <a:solidFill>
            <a:srgbClr val="514E48"/>
          </a:solidFill>
          <a:ln w="12700">
            <a:solidFill>
              <a:srgbClr val="514E48"/>
            </a:solidFill>
            <a:prstDash val="solid"/>
          </a:ln>
        </p:spPr>
      </p:sp>
      <p:sp>
        <p:nvSpPr>
          <p:cNvPr id="15" name="Editable road path 7"/>
          <p:cNvSpPr/>
          <p:nvPr/>
        </p:nvSpPr>
        <p:spPr>
          <a:xfrm>
            <a:off x="3644900" y="3949700"/>
            <a:ext cx="3454400" cy="1524000"/>
          </a:xfrm>
          <a:custGeom>
            <a:avLst/>
            <a:gdLst/>
            <a:ahLst/>
            <a:cxnLst/>
            <a:rect l="0" t="0" r="r" b="b"/>
            <a:pathLst>
              <a:path w="10000" h="10000">
                <a:moveTo>
                  <a:pt x="10000" y="10000"/>
                </a:moveTo>
                <a:lnTo>
                  <a:pt x="10000" y="4667"/>
                </a:lnTo>
                <a:lnTo>
                  <a:pt x="1765" y="917"/>
                </a:lnTo>
                <a:lnTo>
                  <a:pt x="772" y="0"/>
                </a:lnTo>
                <a:lnTo>
                  <a:pt x="0" y="2667"/>
                </a:lnTo>
                <a:lnTo>
                  <a:pt x="1140" y="4667"/>
                </a:lnTo>
                <a:close/>
              </a:path>
            </a:pathLst>
          </a:custGeom>
          <a:solidFill>
            <a:srgbClr val="B7B0A4"/>
          </a:solidFill>
          <a:ln w="12700">
            <a:solidFill>
              <a:srgbClr val="B7B0A4"/>
            </a:solidFill>
            <a:prstDash val="solid"/>
          </a:ln>
        </p:spPr>
      </p:sp>
      <p:sp>
        <p:nvSpPr>
          <p:cNvPr id="16" name="Editable road path 8"/>
          <p:cNvSpPr/>
          <p:nvPr/>
        </p:nvSpPr>
        <p:spPr>
          <a:xfrm>
            <a:off x="3733800" y="4051300"/>
            <a:ext cx="3365500" cy="1308100"/>
          </a:xfrm>
          <a:custGeom>
            <a:avLst/>
            <a:gdLst/>
            <a:ahLst/>
            <a:cxnLst/>
            <a:rect l="0" t="0" r="r" b="b"/>
            <a:pathLst>
              <a:path w="10000" h="10000">
                <a:moveTo>
                  <a:pt x="10000" y="10000"/>
                </a:moveTo>
                <a:lnTo>
                  <a:pt x="10000" y="5437"/>
                </a:lnTo>
                <a:lnTo>
                  <a:pt x="1434" y="1068"/>
                </a:lnTo>
                <a:lnTo>
                  <a:pt x="566" y="0"/>
                </a:lnTo>
                <a:lnTo>
                  <a:pt x="0" y="1942"/>
                </a:lnTo>
                <a:lnTo>
                  <a:pt x="1019" y="3883"/>
                </a:lnTo>
                <a:close/>
              </a:path>
            </a:pathLst>
          </a:custGeom>
          <a:solidFill>
            <a:srgbClr val="514E48"/>
          </a:solidFill>
          <a:ln w="12700">
            <a:solidFill>
              <a:srgbClr val="514E48"/>
            </a:solidFill>
            <a:prstDash val="solid"/>
          </a:ln>
        </p:spPr>
      </p:sp>
      <p:sp>
        <p:nvSpPr>
          <p:cNvPr id="17" name="Editable road path 9"/>
          <p:cNvSpPr/>
          <p:nvPr/>
        </p:nvSpPr>
        <p:spPr>
          <a:xfrm>
            <a:off x="3467100" y="3225800"/>
            <a:ext cx="622300" cy="1155700"/>
          </a:xfrm>
          <a:custGeom>
            <a:avLst/>
            <a:gdLst/>
            <a:ahLst/>
            <a:cxnLst/>
            <a:rect l="0" t="0" r="r" b="b"/>
            <a:pathLst>
              <a:path w="10000" h="10000">
                <a:moveTo>
                  <a:pt x="0" y="10000"/>
                </a:moveTo>
                <a:lnTo>
                  <a:pt x="10000" y="10000"/>
                </a:lnTo>
                <a:lnTo>
                  <a:pt x="6939" y="0"/>
                </a:lnTo>
                <a:lnTo>
                  <a:pt x="3061" y="0"/>
                </a:lnTo>
                <a:close/>
              </a:path>
            </a:pathLst>
          </a:custGeom>
          <a:solidFill>
            <a:srgbClr val="B7B0A4"/>
          </a:solidFill>
          <a:ln w="12700">
            <a:solidFill>
              <a:srgbClr val="B7B0A4"/>
            </a:solidFill>
            <a:prstDash val="solid"/>
          </a:ln>
        </p:spPr>
      </p:sp>
      <p:sp>
        <p:nvSpPr>
          <p:cNvPr id="18" name="Editable road path 10"/>
          <p:cNvSpPr/>
          <p:nvPr/>
        </p:nvSpPr>
        <p:spPr>
          <a:xfrm>
            <a:off x="3543300" y="3225800"/>
            <a:ext cx="469900" cy="1155700"/>
          </a:xfrm>
          <a:custGeom>
            <a:avLst/>
            <a:gdLst/>
            <a:ahLst/>
            <a:cxnLst/>
            <a:rect l="0" t="0" r="r" b="b"/>
            <a:pathLst>
              <a:path w="10000" h="10000">
                <a:moveTo>
                  <a:pt x="0" y="10000"/>
                </a:moveTo>
                <a:lnTo>
                  <a:pt x="10000" y="10000"/>
                </a:lnTo>
                <a:lnTo>
                  <a:pt x="6757" y="0"/>
                </a:lnTo>
                <a:lnTo>
                  <a:pt x="3243" y="0"/>
                </a:lnTo>
                <a:close/>
              </a:path>
            </a:pathLst>
          </a:custGeom>
          <a:solidFill>
            <a:srgbClr val="514E48"/>
          </a:solidFill>
          <a:ln w="12700">
            <a:solidFill>
              <a:srgbClr val="514E48"/>
            </a:solidFill>
            <a:prstDash val="solid"/>
          </a:ln>
        </p:spPr>
      </p:sp>
      <p:sp>
        <p:nvSpPr>
          <p:cNvPr id="19" name="Shape 17"/>
          <p:cNvSpPr/>
          <p:nvPr/>
        </p:nvSpPr>
        <p:spPr>
          <a:xfrm>
            <a:off x="3702050" y="6591300"/>
            <a:ext cx="139700" cy="279400"/>
          </a:xfrm>
          <a:prstGeom prst="rect">
            <a:avLst/>
          </a:prstGeom>
          <a:solidFill>
            <a:srgbClr val="F4F0E7"/>
          </a:solidFill>
          <a:ln w="12700">
            <a:solidFill>
              <a:srgbClr val="F4F0E7"/>
            </a:solidFill>
            <a:prstDash val="solid"/>
          </a:ln>
        </p:spPr>
      </p:sp>
      <p:sp>
        <p:nvSpPr>
          <p:cNvPr id="20" name="Shape 18"/>
          <p:cNvSpPr/>
          <p:nvPr/>
        </p:nvSpPr>
        <p:spPr>
          <a:xfrm>
            <a:off x="3714750" y="6108700"/>
            <a:ext cx="114300" cy="215900"/>
          </a:xfrm>
          <a:prstGeom prst="rect">
            <a:avLst/>
          </a:prstGeom>
          <a:solidFill>
            <a:srgbClr val="F4F0E7"/>
          </a:solidFill>
          <a:ln w="12700">
            <a:solidFill>
              <a:srgbClr val="F4F0E7"/>
            </a:solidFill>
            <a:prstDash val="solid"/>
          </a:ln>
        </p:spPr>
      </p:sp>
      <p:sp>
        <p:nvSpPr>
          <p:cNvPr id="21" name="Shape 19"/>
          <p:cNvSpPr/>
          <p:nvPr/>
        </p:nvSpPr>
        <p:spPr>
          <a:xfrm>
            <a:off x="3727450" y="5702300"/>
            <a:ext cx="88900" cy="165100"/>
          </a:xfrm>
          <a:prstGeom prst="rect">
            <a:avLst/>
          </a:prstGeom>
          <a:solidFill>
            <a:srgbClr val="F4F0E7"/>
          </a:solidFill>
          <a:ln w="12700">
            <a:solidFill>
              <a:srgbClr val="F4F0E7"/>
            </a:solidFill>
            <a:prstDash val="solid"/>
          </a:ln>
        </p:spPr>
      </p:sp>
      <p:sp>
        <p:nvSpPr>
          <p:cNvPr id="22" name="Shape 20"/>
          <p:cNvSpPr/>
          <p:nvPr/>
        </p:nvSpPr>
        <p:spPr>
          <a:xfrm>
            <a:off x="3740150" y="5372100"/>
            <a:ext cx="63500" cy="127000"/>
          </a:xfrm>
          <a:prstGeom prst="rect">
            <a:avLst/>
          </a:prstGeom>
          <a:solidFill>
            <a:srgbClr val="F4F0E7"/>
          </a:solidFill>
          <a:ln w="12700">
            <a:solidFill>
              <a:srgbClr val="F4F0E7"/>
            </a:solidFill>
            <a:prstDash val="solid"/>
          </a:ln>
        </p:spPr>
      </p:sp>
      <p:sp>
        <p:nvSpPr>
          <p:cNvPr id="23" name="Shape 21"/>
          <p:cNvSpPr/>
          <p:nvPr/>
        </p:nvSpPr>
        <p:spPr>
          <a:xfrm>
            <a:off x="3746500" y="5105400"/>
            <a:ext cx="50800" cy="101600"/>
          </a:xfrm>
          <a:prstGeom prst="rect">
            <a:avLst/>
          </a:prstGeom>
          <a:solidFill>
            <a:srgbClr val="F4F0E7"/>
          </a:solidFill>
          <a:ln w="12700">
            <a:solidFill>
              <a:srgbClr val="F4F0E7"/>
            </a:solidFill>
            <a:prstDash val="solid"/>
          </a:ln>
        </p:spPr>
      </p:sp>
      <p:sp>
        <p:nvSpPr>
          <p:cNvPr id="24" name="Shape 22"/>
          <p:cNvSpPr/>
          <p:nvPr/>
        </p:nvSpPr>
        <p:spPr>
          <a:xfrm>
            <a:off x="3752850" y="4876800"/>
            <a:ext cx="38100" cy="76200"/>
          </a:xfrm>
          <a:prstGeom prst="rect">
            <a:avLst/>
          </a:prstGeom>
          <a:solidFill>
            <a:srgbClr val="F4F0E7"/>
          </a:solidFill>
          <a:ln w="12700">
            <a:solidFill>
              <a:srgbClr val="F4F0E7"/>
            </a:solidFill>
            <a:prstDash val="solid"/>
          </a:ln>
        </p:spPr>
      </p:sp>
      <p:sp>
        <p:nvSpPr>
          <p:cNvPr id="25" name="Shape 23"/>
          <p:cNvSpPr/>
          <p:nvPr/>
        </p:nvSpPr>
        <p:spPr>
          <a:xfrm>
            <a:off x="3759200" y="4686300"/>
            <a:ext cx="25400" cy="63500"/>
          </a:xfrm>
          <a:prstGeom prst="rect">
            <a:avLst/>
          </a:prstGeom>
          <a:solidFill>
            <a:srgbClr val="F4F0E7"/>
          </a:solidFill>
          <a:ln w="12700">
            <a:solidFill>
              <a:srgbClr val="F4F0E7"/>
            </a:solidFill>
            <a:prstDash val="solid"/>
          </a:ln>
        </p:spPr>
      </p:sp>
      <p:sp>
        <p:nvSpPr>
          <p:cNvPr id="26" name="Shape 24"/>
          <p:cNvSpPr/>
          <p:nvPr/>
        </p:nvSpPr>
        <p:spPr>
          <a:xfrm>
            <a:off x="3759200" y="3721100"/>
            <a:ext cx="25400" cy="63500"/>
          </a:xfrm>
          <a:prstGeom prst="rect">
            <a:avLst/>
          </a:prstGeom>
          <a:solidFill>
            <a:srgbClr val="F4F0E7"/>
          </a:solidFill>
          <a:ln w="12700">
            <a:solidFill>
              <a:srgbClr val="F4F0E7"/>
            </a:solidFill>
            <a:prstDash val="solid"/>
          </a:ln>
        </p:spPr>
      </p:sp>
      <p:sp>
        <p:nvSpPr>
          <p:cNvPr id="27" name="Shape 25"/>
          <p:cNvSpPr/>
          <p:nvPr/>
        </p:nvSpPr>
        <p:spPr>
          <a:xfrm>
            <a:off x="3762375" y="3543300"/>
            <a:ext cx="19050" cy="50800"/>
          </a:xfrm>
          <a:prstGeom prst="rect">
            <a:avLst/>
          </a:prstGeom>
          <a:solidFill>
            <a:srgbClr val="F4F0E7"/>
          </a:solidFill>
          <a:ln w="12700">
            <a:solidFill>
              <a:srgbClr val="F4F0E7"/>
            </a:solidFill>
            <a:prstDash val="solid"/>
          </a:ln>
        </p:spPr>
      </p:sp>
      <p:sp>
        <p:nvSpPr>
          <p:cNvPr id="28" name="Shape 26"/>
          <p:cNvSpPr/>
          <p:nvPr/>
        </p:nvSpPr>
        <p:spPr>
          <a:xfrm>
            <a:off x="3765550" y="3403600"/>
            <a:ext cx="12700" cy="38100"/>
          </a:xfrm>
          <a:prstGeom prst="rect">
            <a:avLst/>
          </a:prstGeom>
          <a:solidFill>
            <a:srgbClr val="F4F0E7"/>
          </a:solidFill>
          <a:ln w="12700">
            <a:solidFill>
              <a:srgbClr val="F4F0E7"/>
            </a:solidFill>
            <a:prstDash val="solid"/>
          </a:ln>
        </p:spPr>
      </p:sp>
      <p:sp>
        <p:nvSpPr>
          <p:cNvPr id="29" name="Editable road path 11"/>
          <p:cNvSpPr/>
          <p:nvPr/>
        </p:nvSpPr>
        <p:spPr>
          <a:xfrm>
            <a:off x="876300" y="4914900"/>
            <a:ext cx="241300" cy="101600"/>
          </a:xfrm>
          <a:custGeom>
            <a:avLst/>
            <a:gdLst/>
            <a:ahLst/>
            <a:cxnLst/>
            <a:rect l="0" t="0" r="r" b="b"/>
            <a:pathLst>
              <a:path w="10000" h="10000">
                <a:moveTo>
                  <a:pt x="0" y="5000"/>
                </a:moveTo>
                <a:lnTo>
                  <a:pt x="9474" y="0"/>
                </a:lnTo>
                <a:lnTo>
                  <a:pt x="10000" y="5000"/>
                </a:lnTo>
                <a:lnTo>
                  <a:pt x="526" y="10000"/>
                </a:lnTo>
                <a:close/>
              </a:path>
            </a:pathLst>
          </a:custGeom>
          <a:solidFill>
            <a:srgbClr val="F4F0E7"/>
          </a:solidFill>
          <a:ln w="12700">
            <a:solidFill>
              <a:srgbClr val="F4F0E7"/>
            </a:solidFill>
            <a:prstDash val="solid"/>
          </a:ln>
        </p:spPr>
      </p:sp>
      <p:sp>
        <p:nvSpPr>
          <p:cNvPr id="30" name="Editable road path 12"/>
          <p:cNvSpPr/>
          <p:nvPr/>
        </p:nvSpPr>
        <p:spPr>
          <a:xfrm>
            <a:off x="1447800" y="4800600"/>
            <a:ext cx="215900" cy="101600"/>
          </a:xfrm>
          <a:custGeom>
            <a:avLst/>
            <a:gdLst/>
            <a:ahLst/>
            <a:cxnLst/>
            <a:rect l="0" t="0" r="r" b="b"/>
            <a:pathLst>
              <a:path w="10000" h="10000">
                <a:moveTo>
                  <a:pt x="0" y="5000"/>
                </a:moveTo>
                <a:lnTo>
                  <a:pt x="9412" y="0"/>
                </a:lnTo>
                <a:lnTo>
                  <a:pt x="10000" y="5000"/>
                </a:lnTo>
                <a:lnTo>
                  <a:pt x="588" y="10000"/>
                </a:lnTo>
                <a:close/>
              </a:path>
            </a:pathLst>
          </a:custGeom>
          <a:solidFill>
            <a:srgbClr val="F4F0E7"/>
          </a:solidFill>
          <a:ln w="12700">
            <a:solidFill>
              <a:srgbClr val="F4F0E7"/>
            </a:solidFill>
            <a:prstDash val="solid"/>
          </a:ln>
        </p:spPr>
      </p:sp>
      <p:sp>
        <p:nvSpPr>
          <p:cNvPr id="31" name="Editable road path 13"/>
          <p:cNvSpPr/>
          <p:nvPr/>
        </p:nvSpPr>
        <p:spPr>
          <a:xfrm>
            <a:off x="1993900" y="4699000"/>
            <a:ext cx="190500" cy="101600"/>
          </a:xfrm>
          <a:custGeom>
            <a:avLst/>
            <a:gdLst/>
            <a:ahLst/>
            <a:cxnLst/>
            <a:rect l="0" t="0" r="r" b="b"/>
            <a:pathLst>
              <a:path w="10000" h="10000">
                <a:moveTo>
                  <a:pt x="0" y="5000"/>
                </a:moveTo>
                <a:lnTo>
                  <a:pt x="9333" y="0"/>
                </a:lnTo>
                <a:lnTo>
                  <a:pt x="10000" y="5000"/>
                </a:lnTo>
                <a:lnTo>
                  <a:pt x="667" y="10000"/>
                </a:lnTo>
                <a:close/>
              </a:path>
            </a:pathLst>
          </a:custGeom>
          <a:solidFill>
            <a:srgbClr val="F4F0E7"/>
          </a:solidFill>
          <a:ln w="12700">
            <a:solidFill>
              <a:srgbClr val="F4F0E7"/>
            </a:solidFill>
            <a:prstDash val="solid"/>
          </a:ln>
        </p:spPr>
      </p:sp>
      <p:sp>
        <p:nvSpPr>
          <p:cNvPr id="32" name="Editable road path 14"/>
          <p:cNvSpPr/>
          <p:nvPr/>
        </p:nvSpPr>
        <p:spPr>
          <a:xfrm>
            <a:off x="2501900" y="4584700"/>
            <a:ext cx="165100" cy="101600"/>
          </a:xfrm>
          <a:custGeom>
            <a:avLst/>
            <a:gdLst/>
            <a:ahLst/>
            <a:cxnLst/>
            <a:rect l="0" t="0" r="r" b="b"/>
            <a:pathLst>
              <a:path w="10000" h="10000">
                <a:moveTo>
                  <a:pt x="0" y="5000"/>
                </a:moveTo>
                <a:lnTo>
                  <a:pt x="9231" y="0"/>
                </a:lnTo>
                <a:lnTo>
                  <a:pt x="10000" y="5000"/>
                </a:lnTo>
                <a:lnTo>
                  <a:pt x="769" y="10000"/>
                </a:lnTo>
                <a:close/>
              </a:path>
            </a:pathLst>
          </a:custGeom>
          <a:solidFill>
            <a:srgbClr val="F4F0E7"/>
          </a:solidFill>
          <a:ln w="12700">
            <a:solidFill>
              <a:srgbClr val="F4F0E7"/>
            </a:solidFill>
            <a:prstDash val="solid"/>
          </a:ln>
        </p:spPr>
      </p:sp>
      <p:sp>
        <p:nvSpPr>
          <p:cNvPr id="33" name="Editable road path 15"/>
          <p:cNvSpPr/>
          <p:nvPr/>
        </p:nvSpPr>
        <p:spPr>
          <a:xfrm>
            <a:off x="2984500" y="4419600"/>
            <a:ext cx="139700" cy="101600"/>
          </a:xfrm>
          <a:custGeom>
            <a:avLst/>
            <a:gdLst/>
            <a:ahLst/>
            <a:cxnLst/>
            <a:rect l="0" t="0" r="r" b="b"/>
            <a:pathLst>
              <a:path w="10000" h="10000">
                <a:moveTo>
                  <a:pt x="0" y="5000"/>
                </a:moveTo>
                <a:lnTo>
                  <a:pt x="9091" y="0"/>
                </a:lnTo>
                <a:lnTo>
                  <a:pt x="10000" y="5000"/>
                </a:lnTo>
                <a:lnTo>
                  <a:pt x="909" y="10000"/>
                </a:lnTo>
                <a:close/>
              </a:path>
            </a:pathLst>
          </a:custGeom>
          <a:solidFill>
            <a:srgbClr val="F4F0E7"/>
          </a:solidFill>
          <a:ln w="12700">
            <a:solidFill>
              <a:srgbClr val="F4F0E7"/>
            </a:solidFill>
            <a:prstDash val="solid"/>
          </a:ln>
        </p:spPr>
      </p:sp>
      <p:sp>
        <p:nvSpPr>
          <p:cNvPr id="34" name="Editable road path 16"/>
          <p:cNvSpPr/>
          <p:nvPr/>
        </p:nvSpPr>
        <p:spPr>
          <a:xfrm>
            <a:off x="6438900" y="4914900"/>
            <a:ext cx="241300" cy="101600"/>
          </a:xfrm>
          <a:custGeom>
            <a:avLst/>
            <a:gdLst/>
            <a:ahLst/>
            <a:cxnLst/>
            <a:rect l="0" t="0" r="r" b="b"/>
            <a:pathLst>
              <a:path w="10000" h="10000">
                <a:moveTo>
                  <a:pt x="10000" y="5000"/>
                </a:moveTo>
                <a:lnTo>
                  <a:pt x="526" y="0"/>
                </a:lnTo>
                <a:lnTo>
                  <a:pt x="0" y="5000"/>
                </a:lnTo>
                <a:lnTo>
                  <a:pt x="9474" y="10000"/>
                </a:lnTo>
                <a:close/>
              </a:path>
            </a:pathLst>
          </a:custGeom>
          <a:solidFill>
            <a:srgbClr val="F4F0E7"/>
          </a:solidFill>
          <a:ln w="12700">
            <a:solidFill>
              <a:srgbClr val="F4F0E7"/>
            </a:solidFill>
            <a:prstDash val="solid"/>
          </a:ln>
        </p:spPr>
      </p:sp>
      <p:sp>
        <p:nvSpPr>
          <p:cNvPr id="35" name="Editable road path 17"/>
          <p:cNvSpPr/>
          <p:nvPr/>
        </p:nvSpPr>
        <p:spPr>
          <a:xfrm>
            <a:off x="5892800" y="4800600"/>
            <a:ext cx="215900" cy="101600"/>
          </a:xfrm>
          <a:custGeom>
            <a:avLst/>
            <a:gdLst/>
            <a:ahLst/>
            <a:cxnLst/>
            <a:rect l="0" t="0" r="r" b="b"/>
            <a:pathLst>
              <a:path w="10000" h="10000">
                <a:moveTo>
                  <a:pt x="10000" y="5000"/>
                </a:moveTo>
                <a:lnTo>
                  <a:pt x="588" y="0"/>
                </a:lnTo>
                <a:lnTo>
                  <a:pt x="0" y="5000"/>
                </a:lnTo>
                <a:lnTo>
                  <a:pt x="9412" y="10000"/>
                </a:lnTo>
                <a:close/>
              </a:path>
            </a:pathLst>
          </a:custGeom>
          <a:solidFill>
            <a:srgbClr val="F4F0E7"/>
          </a:solidFill>
          <a:ln w="12700">
            <a:solidFill>
              <a:srgbClr val="F4F0E7"/>
            </a:solidFill>
            <a:prstDash val="solid"/>
          </a:ln>
        </p:spPr>
      </p:sp>
      <p:sp>
        <p:nvSpPr>
          <p:cNvPr id="36" name="Editable road path 18"/>
          <p:cNvSpPr/>
          <p:nvPr/>
        </p:nvSpPr>
        <p:spPr>
          <a:xfrm>
            <a:off x="5372100" y="4699000"/>
            <a:ext cx="190500" cy="101600"/>
          </a:xfrm>
          <a:custGeom>
            <a:avLst/>
            <a:gdLst/>
            <a:ahLst/>
            <a:cxnLst/>
            <a:rect l="0" t="0" r="r" b="b"/>
            <a:pathLst>
              <a:path w="10000" h="10000">
                <a:moveTo>
                  <a:pt x="10000" y="5000"/>
                </a:moveTo>
                <a:lnTo>
                  <a:pt x="667" y="0"/>
                </a:lnTo>
                <a:lnTo>
                  <a:pt x="0" y="5000"/>
                </a:lnTo>
                <a:lnTo>
                  <a:pt x="9333" y="10000"/>
                </a:lnTo>
                <a:close/>
              </a:path>
            </a:pathLst>
          </a:custGeom>
          <a:solidFill>
            <a:srgbClr val="F4F0E7"/>
          </a:solidFill>
          <a:ln w="12700">
            <a:solidFill>
              <a:srgbClr val="F4F0E7"/>
            </a:solidFill>
            <a:prstDash val="solid"/>
          </a:ln>
        </p:spPr>
      </p:sp>
      <p:sp>
        <p:nvSpPr>
          <p:cNvPr id="37" name="Editable road path 19"/>
          <p:cNvSpPr/>
          <p:nvPr/>
        </p:nvSpPr>
        <p:spPr>
          <a:xfrm>
            <a:off x="4889500" y="4584700"/>
            <a:ext cx="165100" cy="101600"/>
          </a:xfrm>
          <a:custGeom>
            <a:avLst/>
            <a:gdLst/>
            <a:ahLst/>
            <a:cxnLst/>
            <a:rect l="0" t="0" r="r" b="b"/>
            <a:pathLst>
              <a:path w="10000" h="10000">
                <a:moveTo>
                  <a:pt x="10000" y="5000"/>
                </a:moveTo>
                <a:lnTo>
                  <a:pt x="769" y="0"/>
                </a:lnTo>
                <a:lnTo>
                  <a:pt x="0" y="5000"/>
                </a:lnTo>
                <a:lnTo>
                  <a:pt x="9231" y="10000"/>
                </a:lnTo>
                <a:close/>
              </a:path>
            </a:pathLst>
          </a:custGeom>
          <a:solidFill>
            <a:srgbClr val="F4F0E7"/>
          </a:solidFill>
          <a:ln w="12700">
            <a:solidFill>
              <a:srgbClr val="F4F0E7"/>
            </a:solidFill>
            <a:prstDash val="solid"/>
          </a:ln>
        </p:spPr>
      </p:sp>
      <p:sp>
        <p:nvSpPr>
          <p:cNvPr id="38" name="Editable road path 20"/>
          <p:cNvSpPr/>
          <p:nvPr/>
        </p:nvSpPr>
        <p:spPr>
          <a:xfrm>
            <a:off x="4432300" y="4419600"/>
            <a:ext cx="139700" cy="101600"/>
          </a:xfrm>
          <a:custGeom>
            <a:avLst/>
            <a:gdLst/>
            <a:ahLst/>
            <a:cxnLst/>
            <a:rect l="0" t="0" r="r" b="b"/>
            <a:pathLst>
              <a:path w="10000" h="10000">
                <a:moveTo>
                  <a:pt x="10000" y="5000"/>
                </a:moveTo>
                <a:lnTo>
                  <a:pt x="909" y="0"/>
                </a:lnTo>
                <a:lnTo>
                  <a:pt x="0" y="5000"/>
                </a:lnTo>
                <a:lnTo>
                  <a:pt x="9091" y="10000"/>
                </a:lnTo>
                <a:close/>
              </a:path>
            </a:pathLst>
          </a:custGeom>
          <a:solidFill>
            <a:srgbClr val="F4F0E7"/>
          </a:solidFill>
          <a:ln w="12700">
            <a:solidFill>
              <a:srgbClr val="F4F0E7"/>
            </a:solidFill>
            <a:prstDash val="solid"/>
          </a:ln>
        </p:spPr>
      </p:sp>
      <p:sp>
        <p:nvSpPr>
          <p:cNvPr id="39" name="Text 37"/>
          <p:cNvSpPr/>
          <p:nvPr/>
        </p:nvSpPr>
        <p:spPr>
          <a:xfrm>
            <a:off x="457200" y="3924300"/>
            <a:ext cx="2260600" cy="3429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Connections</a:t>
            </a:r>
            <a:endParaRPr lang="en-US" sz="1500" dirty="0"/>
          </a:p>
        </p:txBody>
      </p:sp>
      <p:sp>
        <p:nvSpPr>
          <p:cNvPr id="40" name="Text 38"/>
          <p:cNvSpPr/>
          <p:nvPr/>
        </p:nvSpPr>
        <p:spPr>
          <a:xfrm>
            <a:off x="2768600" y="2844800"/>
            <a:ext cx="2286000" cy="317500"/>
          </a:xfrm>
          <a:prstGeom prst="rect">
            <a:avLst/>
          </a:prstGeom>
          <a:noFill/>
          <a:ln/>
        </p:spPr>
        <p:txBody>
          <a:bodyPr wrap="square" lIns="0" tIns="0" rIns="0" bIns="0" rtlCol="0" anchor="t"/>
          <a:lstStyle/>
          <a:p>
            <a:pPr algn="ct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Cooperation</a:t>
            </a:r>
            <a:endParaRPr lang="en-US" sz="1500" dirty="0"/>
          </a:p>
        </p:txBody>
      </p:sp>
      <p:sp>
        <p:nvSpPr>
          <p:cNvPr id="41" name="Text 39"/>
          <p:cNvSpPr/>
          <p:nvPr/>
        </p:nvSpPr>
        <p:spPr>
          <a:xfrm>
            <a:off x="5181600" y="3810000"/>
            <a:ext cx="1917700" cy="5461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Direction +</a:t>
            </a:r>
            <a:endParaRPr lang="en-US" sz="1500" dirty="0"/>
          </a:p>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correction</a:t>
            </a:r>
            <a:endParaRPr lang="en-US" sz="1500" dirty="0"/>
          </a:p>
        </p:txBody>
      </p:sp>
      <p:sp>
        <p:nvSpPr>
          <p:cNvPr id="42" name="Text 40"/>
          <p:cNvSpPr/>
          <p:nvPr/>
        </p:nvSpPr>
        <p:spPr>
          <a:xfrm>
            <a:off x="457200" y="7213600"/>
            <a:ext cx="6642100" cy="3048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THREE IDEAS. NOT THREE CERTAINTIES.</a:t>
            </a:r>
            <a:endParaRPr lang="en-US" sz="1200" dirty="0"/>
          </a:p>
        </p:txBody>
      </p:sp>
      <p:sp>
        <p:nvSpPr>
          <p:cNvPr id="43" name="Text 41"/>
          <p:cNvSpPr/>
          <p:nvPr/>
        </p:nvSpPr>
        <p:spPr>
          <a:xfrm>
            <a:off x="457200" y="7810500"/>
            <a:ext cx="6642100" cy="12192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Connections: supported with exceptions.</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Trust: inconclusive.</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Continuity + adaptation: supported with exceptions.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1 / CONNECTED DEVELOPMENT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Connections must reach further.</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Three conceptual country diagrams show different linkage stories—not measured infrastructure levels.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Country outlines are generalized and independently fitted, not a common map scale. All links and node counts are fictional—not actual roads or an infrastructure ranking. Connections alone do not establish causality.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 Outlines: Natural Earth (n.d.), 1:110m, public domain.</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a:t>
            </a:r>
            <a:endParaRPr lang="en-US" sz="1000" dirty="0"/>
          </a:p>
        </p:txBody>
      </p:sp>
      <p:sp>
        <p:nvSpPr>
          <p:cNvPr id="11" name="Text 9"/>
          <p:cNvSpPr/>
          <p:nvPr/>
        </p:nvSpPr>
        <p:spPr>
          <a:xfrm>
            <a:off x="4572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15A78"/>
                </a:solidFill>
                <a:latin typeface="Montserrat" pitchFamily="34" charset="0"/>
                <a:ea typeface="Montserrat" pitchFamily="34" charset="-122"/>
                <a:cs typeface="Montserrat" pitchFamily="34" charset="-120"/>
              </a:rPr>
              <a:t>South Korea</a:t>
            </a:r>
            <a:endParaRPr lang="en-US" sz="15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7560005" cy="10692003"/>
          </a:xfrm>
          <a:prstGeom prst="rect">
            <a:avLst/>
          </a:prstGeom>
        </p:spPr>
      </p:pic>
      <p:sp>
        <p:nvSpPr>
          <p:cNvPr id="13" name="Shape 10"/>
          <p:cNvSpPr/>
          <p:nvPr/>
        </p:nvSpPr>
        <p:spPr>
          <a:xfrm>
            <a:off x="1253490" y="4239260"/>
            <a:ext cx="209550" cy="595884"/>
          </a:xfrm>
          <a:prstGeom prst="line">
            <a:avLst/>
          </a:prstGeom>
          <a:noFill/>
          <a:ln w="38100">
            <a:solidFill>
              <a:srgbClr val="315A78"/>
            </a:solidFill>
            <a:prstDash val="solid"/>
          </a:ln>
        </p:spPr>
      </p:sp>
      <p:sp>
        <p:nvSpPr>
          <p:cNvPr id="14" name="Shape 11"/>
          <p:cNvSpPr/>
          <p:nvPr/>
        </p:nvSpPr>
        <p:spPr>
          <a:xfrm>
            <a:off x="1400175" y="4835144"/>
            <a:ext cx="62865" cy="829056"/>
          </a:xfrm>
          <a:prstGeom prst="line">
            <a:avLst/>
          </a:prstGeom>
          <a:noFill/>
          <a:ln w="38100">
            <a:solidFill>
              <a:srgbClr val="315A78"/>
            </a:solidFill>
            <a:prstDash val="solid"/>
          </a:ln>
        </p:spPr>
      </p:sp>
      <p:sp>
        <p:nvSpPr>
          <p:cNvPr id="15" name="Shape 12"/>
          <p:cNvSpPr/>
          <p:nvPr/>
        </p:nvSpPr>
        <p:spPr>
          <a:xfrm>
            <a:off x="939165" y="4835144"/>
            <a:ext cx="523875" cy="518160"/>
          </a:xfrm>
          <a:prstGeom prst="line">
            <a:avLst/>
          </a:prstGeom>
          <a:noFill/>
          <a:ln w="38100">
            <a:solidFill>
              <a:srgbClr val="315A78"/>
            </a:solidFill>
            <a:prstDash val="solid"/>
          </a:ln>
        </p:spPr>
      </p:sp>
      <p:sp>
        <p:nvSpPr>
          <p:cNvPr id="16" name="Shape 13"/>
          <p:cNvSpPr/>
          <p:nvPr/>
        </p:nvSpPr>
        <p:spPr>
          <a:xfrm>
            <a:off x="1463040" y="4835144"/>
            <a:ext cx="461010" cy="310896"/>
          </a:xfrm>
          <a:prstGeom prst="line">
            <a:avLst/>
          </a:prstGeom>
          <a:noFill/>
          <a:ln w="38100">
            <a:solidFill>
              <a:srgbClr val="315A78"/>
            </a:solidFill>
            <a:prstDash val="solid"/>
          </a:ln>
        </p:spPr>
      </p:sp>
      <p:sp>
        <p:nvSpPr>
          <p:cNvPr id="17" name="Shape 14"/>
          <p:cNvSpPr/>
          <p:nvPr/>
        </p:nvSpPr>
        <p:spPr>
          <a:xfrm>
            <a:off x="1400175" y="5664200"/>
            <a:ext cx="481965" cy="77724"/>
          </a:xfrm>
          <a:prstGeom prst="line">
            <a:avLst/>
          </a:prstGeom>
          <a:noFill/>
          <a:ln w="38100">
            <a:solidFill>
              <a:srgbClr val="315A78"/>
            </a:solidFill>
            <a:prstDash val="solid"/>
          </a:ln>
        </p:spPr>
      </p:sp>
      <p:sp>
        <p:nvSpPr>
          <p:cNvPr id="18" name="Shape 15"/>
          <p:cNvSpPr/>
          <p:nvPr/>
        </p:nvSpPr>
        <p:spPr>
          <a:xfrm flipV="1">
            <a:off x="1882140" y="5146040"/>
            <a:ext cx="41910" cy="595884"/>
          </a:xfrm>
          <a:prstGeom prst="line">
            <a:avLst/>
          </a:prstGeom>
          <a:noFill/>
          <a:ln w="38100">
            <a:solidFill>
              <a:srgbClr val="315A78"/>
            </a:solidFill>
            <a:prstDash val="solid"/>
          </a:ln>
        </p:spPr>
      </p:sp>
      <p:sp>
        <p:nvSpPr>
          <p:cNvPr id="19" name="Shape 16"/>
          <p:cNvSpPr/>
          <p:nvPr/>
        </p:nvSpPr>
        <p:spPr>
          <a:xfrm>
            <a:off x="1202690" y="4188460"/>
            <a:ext cx="101600" cy="101600"/>
          </a:xfrm>
          <a:prstGeom prst="ellipse">
            <a:avLst/>
          </a:prstGeom>
          <a:solidFill>
            <a:srgbClr val="315A78"/>
          </a:solidFill>
          <a:ln w="5080">
            <a:solidFill>
              <a:srgbClr val="315A78"/>
            </a:solidFill>
            <a:prstDash val="solid"/>
          </a:ln>
        </p:spPr>
      </p:sp>
      <p:sp>
        <p:nvSpPr>
          <p:cNvPr id="20" name="Shape 17"/>
          <p:cNvSpPr/>
          <p:nvPr/>
        </p:nvSpPr>
        <p:spPr>
          <a:xfrm>
            <a:off x="1412240" y="4784344"/>
            <a:ext cx="101600" cy="101600"/>
          </a:xfrm>
          <a:prstGeom prst="ellipse">
            <a:avLst/>
          </a:prstGeom>
          <a:solidFill>
            <a:srgbClr val="315A78"/>
          </a:solidFill>
          <a:ln w="5080">
            <a:solidFill>
              <a:srgbClr val="315A78"/>
            </a:solidFill>
            <a:prstDash val="solid"/>
          </a:ln>
        </p:spPr>
      </p:sp>
      <p:sp>
        <p:nvSpPr>
          <p:cNvPr id="21" name="Shape 18"/>
          <p:cNvSpPr/>
          <p:nvPr/>
        </p:nvSpPr>
        <p:spPr>
          <a:xfrm>
            <a:off x="1349375" y="5613400"/>
            <a:ext cx="101600" cy="101600"/>
          </a:xfrm>
          <a:prstGeom prst="ellipse">
            <a:avLst/>
          </a:prstGeom>
          <a:solidFill>
            <a:srgbClr val="315A78"/>
          </a:solidFill>
          <a:ln w="5080">
            <a:solidFill>
              <a:srgbClr val="315A78"/>
            </a:solidFill>
            <a:prstDash val="solid"/>
          </a:ln>
        </p:spPr>
      </p:sp>
      <p:sp>
        <p:nvSpPr>
          <p:cNvPr id="22" name="Shape 19"/>
          <p:cNvSpPr/>
          <p:nvPr/>
        </p:nvSpPr>
        <p:spPr>
          <a:xfrm>
            <a:off x="1831340" y="5691124"/>
            <a:ext cx="101600" cy="101600"/>
          </a:xfrm>
          <a:prstGeom prst="ellipse">
            <a:avLst/>
          </a:prstGeom>
          <a:solidFill>
            <a:srgbClr val="315A78"/>
          </a:solidFill>
          <a:ln w="5080">
            <a:solidFill>
              <a:srgbClr val="315A78"/>
            </a:solidFill>
            <a:prstDash val="solid"/>
          </a:ln>
        </p:spPr>
      </p:sp>
      <p:sp>
        <p:nvSpPr>
          <p:cNvPr id="23" name="Shape 20"/>
          <p:cNvSpPr/>
          <p:nvPr/>
        </p:nvSpPr>
        <p:spPr>
          <a:xfrm>
            <a:off x="888365" y="5302504"/>
            <a:ext cx="101600" cy="101600"/>
          </a:xfrm>
          <a:prstGeom prst="ellipse">
            <a:avLst/>
          </a:prstGeom>
          <a:solidFill>
            <a:srgbClr val="315A78"/>
          </a:solidFill>
          <a:ln w="5080">
            <a:solidFill>
              <a:srgbClr val="315A78"/>
            </a:solidFill>
            <a:prstDash val="solid"/>
          </a:ln>
        </p:spPr>
      </p:sp>
      <p:sp>
        <p:nvSpPr>
          <p:cNvPr id="24" name="Shape 21"/>
          <p:cNvSpPr/>
          <p:nvPr/>
        </p:nvSpPr>
        <p:spPr>
          <a:xfrm>
            <a:off x="1873250" y="5095240"/>
            <a:ext cx="101600" cy="101600"/>
          </a:xfrm>
          <a:prstGeom prst="ellipse">
            <a:avLst/>
          </a:prstGeom>
          <a:solidFill>
            <a:srgbClr val="315A78"/>
          </a:solidFill>
          <a:ln w="5080">
            <a:solidFill>
              <a:srgbClr val="315A78"/>
            </a:solidFill>
            <a:prstDash val="solid"/>
          </a:ln>
        </p:spPr>
      </p:sp>
      <p:sp>
        <p:nvSpPr>
          <p:cNvPr id="25" name="Text 22"/>
          <p:cNvSpPr/>
          <p:nvPr/>
        </p:nvSpPr>
        <p:spPr>
          <a:xfrm>
            <a:off x="4572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Build deeper links</a:t>
            </a:r>
            <a:endParaRPr lang="en-US" sz="1500" dirty="0"/>
          </a:p>
        </p:txBody>
      </p:sp>
      <p:sp>
        <p:nvSpPr>
          <p:cNvPr id="26" name="Text 23"/>
          <p:cNvSpPr/>
          <p:nvPr/>
        </p:nvSpPr>
        <p:spPr>
          <a:xfrm>
            <a:off x="4572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Skills, firms and markets developed together. Several causes contributed.</a:t>
            </a:r>
            <a:endParaRPr lang="en-US" sz="1050" dirty="0"/>
          </a:p>
        </p:txBody>
      </p:sp>
      <p:sp>
        <p:nvSpPr>
          <p:cNvPr id="27" name="Text 24"/>
          <p:cNvSpPr/>
          <p:nvPr/>
        </p:nvSpPr>
        <p:spPr>
          <a:xfrm>
            <a:off x="27305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E7568"/>
                </a:solidFill>
                <a:latin typeface="Montserrat" pitchFamily="34" charset="0"/>
                <a:ea typeface="Montserrat" pitchFamily="34" charset="-122"/>
                <a:cs typeface="Montserrat" pitchFamily="34" charset="-120"/>
              </a:rPr>
              <a:t>Malaysia</a:t>
            </a:r>
            <a:endParaRPr lang="en-US" sz="1500" dirty="0"/>
          </a:p>
        </p:txBody>
      </p:sp>
      <p:pic>
        <p:nvPicPr>
          <p:cNvPr id="2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560005" cy="10692003"/>
          </a:xfrm>
          <a:prstGeom prst="rect">
            <a:avLst/>
          </a:prstGeom>
        </p:spPr>
      </p:pic>
      <p:sp>
        <p:nvSpPr>
          <p:cNvPr id="29" name="Shape 25"/>
          <p:cNvSpPr/>
          <p:nvPr/>
        </p:nvSpPr>
        <p:spPr>
          <a:xfrm>
            <a:off x="3526790" y="4239260"/>
            <a:ext cx="209550" cy="595884"/>
          </a:xfrm>
          <a:prstGeom prst="line">
            <a:avLst/>
          </a:prstGeom>
          <a:noFill/>
          <a:ln w="38100">
            <a:solidFill>
              <a:srgbClr val="3E7568"/>
            </a:solidFill>
            <a:prstDash val="solid"/>
          </a:ln>
        </p:spPr>
      </p:sp>
      <p:sp>
        <p:nvSpPr>
          <p:cNvPr id="30" name="Shape 26"/>
          <p:cNvSpPr/>
          <p:nvPr/>
        </p:nvSpPr>
        <p:spPr>
          <a:xfrm>
            <a:off x="3673475" y="4835144"/>
            <a:ext cx="62865" cy="829056"/>
          </a:xfrm>
          <a:prstGeom prst="line">
            <a:avLst/>
          </a:prstGeom>
          <a:noFill/>
          <a:ln w="38100">
            <a:solidFill>
              <a:srgbClr val="3E7568"/>
            </a:solidFill>
            <a:prstDash val="solid"/>
          </a:ln>
        </p:spPr>
      </p:sp>
      <p:sp>
        <p:nvSpPr>
          <p:cNvPr id="31" name="Shape 27"/>
          <p:cNvSpPr/>
          <p:nvPr/>
        </p:nvSpPr>
        <p:spPr>
          <a:xfrm>
            <a:off x="3673475" y="5664200"/>
            <a:ext cx="481965" cy="77724"/>
          </a:xfrm>
          <a:prstGeom prst="line">
            <a:avLst/>
          </a:prstGeom>
          <a:noFill/>
          <a:ln w="38100">
            <a:solidFill>
              <a:srgbClr val="3E7568"/>
            </a:solidFill>
            <a:prstDash val="solid"/>
          </a:ln>
        </p:spPr>
      </p:sp>
      <p:sp>
        <p:nvSpPr>
          <p:cNvPr id="32" name="Shape 28"/>
          <p:cNvSpPr/>
          <p:nvPr/>
        </p:nvSpPr>
        <p:spPr>
          <a:xfrm flipV="1">
            <a:off x="4155440" y="5146040"/>
            <a:ext cx="41910" cy="595884"/>
          </a:xfrm>
          <a:prstGeom prst="line">
            <a:avLst/>
          </a:prstGeom>
          <a:noFill/>
          <a:ln w="38100">
            <a:solidFill>
              <a:srgbClr val="3E7568"/>
            </a:solidFill>
            <a:prstDash val="solid"/>
          </a:ln>
        </p:spPr>
      </p:sp>
      <p:sp>
        <p:nvSpPr>
          <p:cNvPr id="33" name="Shape 29"/>
          <p:cNvSpPr/>
          <p:nvPr/>
        </p:nvSpPr>
        <p:spPr>
          <a:xfrm>
            <a:off x="3475990" y="4188460"/>
            <a:ext cx="101600" cy="101600"/>
          </a:xfrm>
          <a:prstGeom prst="ellipse">
            <a:avLst/>
          </a:prstGeom>
          <a:solidFill>
            <a:srgbClr val="3E7568"/>
          </a:solidFill>
          <a:ln w="5080">
            <a:solidFill>
              <a:srgbClr val="3E7568"/>
            </a:solidFill>
            <a:prstDash val="solid"/>
          </a:ln>
        </p:spPr>
      </p:sp>
      <p:sp>
        <p:nvSpPr>
          <p:cNvPr id="34" name="Shape 30"/>
          <p:cNvSpPr/>
          <p:nvPr/>
        </p:nvSpPr>
        <p:spPr>
          <a:xfrm>
            <a:off x="3685540" y="4784344"/>
            <a:ext cx="101600" cy="101600"/>
          </a:xfrm>
          <a:prstGeom prst="ellipse">
            <a:avLst/>
          </a:prstGeom>
          <a:solidFill>
            <a:srgbClr val="3E7568"/>
          </a:solidFill>
          <a:ln w="5080">
            <a:solidFill>
              <a:srgbClr val="3E7568"/>
            </a:solidFill>
            <a:prstDash val="solid"/>
          </a:ln>
        </p:spPr>
      </p:sp>
      <p:sp>
        <p:nvSpPr>
          <p:cNvPr id="35" name="Shape 31"/>
          <p:cNvSpPr/>
          <p:nvPr/>
        </p:nvSpPr>
        <p:spPr>
          <a:xfrm>
            <a:off x="3622675" y="5613400"/>
            <a:ext cx="101600" cy="101600"/>
          </a:xfrm>
          <a:prstGeom prst="ellipse">
            <a:avLst/>
          </a:prstGeom>
          <a:solidFill>
            <a:srgbClr val="3E7568"/>
          </a:solidFill>
          <a:ln w="5080">
            <a:solidFill>
              <a:srgbClr val="3E7568"/>
            </a:solidFill>
            <a:prstDash val="solid"/>
          </a:ln>
        </p:spPr>
      </p:sp>
      <p:sp>
        <p:nvSpPr>
          <p:cNvPr id="36" name="Shape 32"/>
          <p:cNvSpPr/>
          <p:nvPr/>
        </p:nvSpPr>
        <p:spPr>
          <a:xfrm>
            <a:off x="4104640" y="5691124"/>
            <a:ext cx="101600" cy="101600"/>
          </a:xfrm>
          <a:prstGeom prst="ellipse">
            <a:avLst/>
          </a:prstGeom>
          <a:solidFill>
            <a:srgbClr val="3E7568"/>
          </a:solidFill>
          <a:ln w="5080">
            <a:solidFill>
              <a:srgbClr val="3E7568"/>
            </a:solidFill>
            <a:prstDash val="solid"/>
          </a:ln>
        </p:spPr>
      </p:sp>
      <p:sp>
        <p:nvSpPr>
          <p:cNvPr id="37" name="Shape 33"/>
          <p:cNvSpPr/>
          <p:nvPr/>
        </p:nvSpPr>
        <p:spPr>
          <a:xfrm>
            <a:off x="3161665" y="5302504"/>
            <a:ext cx="101600" cy="101600"/>
          </a:xfrm>
          <a:prstGeom prst="ellipse">
            <a:avLst/>
          </a:prstGeom>
          <a:solidFill>
            <a:srgbClr val="3E7568"/>
          </a:solidFill>
          <a:ln w="5080">
            <a:solidFill>
              <a:srgbClr val="3E7568"/>
            </a:solidFill>
            <a:prstDash val="solid"/>
          </a:ln>
        </p:spPr>
      </p:sp>
      <p:sp>
        <p:nvSpPr>
          <p:cNvPr id="38" name="Shape 34"/>
          <p:cNvSpPr/>
          <p:nvPr/>
        </p:nvSpPr>
        <p:spPr>
          <a:xfrm>
            <a:off x="4146550" y="5095240"/>
            <a:ext cx="101600" cy="101600"/>
          </a:xfrm>
          <a:prstGeom prst="ellipse">
            <a:avLst/>
          </a:prstGeom>
          <a:solidFill>
            <a:srgbClr val="3E7568"/>
          </a:solidFill>
          <a:ln w="5080">
            <a:solidFill>
              <a:srgbClr val="3E7568"/>
            </a:solidFill>
            <a:prstDash val="solid"/>
          </a:ln>
        </p:spPr>
      </p:sp>
      <p:sp>
        <p:nvSpPr>
          <p:cNvPr id="39" name="Text 35"/>
          <p:cNvSpPr/>
          <p:nvPr/>
        </p:nvSpPr>
        <p:spPr>
          <a:xfrm>
            <a:off x="27305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Deepen local supply</a:t>
            </a:r>
            <a:endParaRPr lang="en-US" sz="1500" dirty="0"/>
          </a:p>
        </p:txBody>
      </p:sp>
      <p:sp>
        <p:nvSpPr>
          <p:cNvPr id="40" name="Text 36"/>
          <p:cNvSpPr/>
          <p:nvPr/>
        </p:nvSpPr>
        <p:spPr>
          <a:xfrm>
            <a:off x="27305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Global production can create opportunities; local supplier capability still matters.</a:t>
            </a:r>
            <a:endParaRPr lang="en-US" sz="1050" dirty="0"/>
          </a:p>
        </p:txBody>
      </p:sp>
      <p:sp>
        <p:nvSpPr>
          <p:cNvPr id="41" name="Text 37"/>
          <p:cNvSpPr/>
          <p:nvPr/>
        </p:nvSpPr>
        <p:spPr>
          <a:xfrm>
            <a:off x="50038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A63A3A"/>
                </a:solidFill>
                <a:latin typeface="Montserrat" pitchFamily="34" charset="0"/>
                <a:ea typeface="Montserrat" pitchFamily="34" charset="-122"/>
                <a:cs typeface="Montserrat" pitchFamily="34" charset="-120"/>
              </a:rPr>
              <a:t>Philippines</a:t>
            </a:r>
            <a:endParaRPr lang="en-US" sz="1500" dirty="0"/>
          </a:p>
        </p:txBody>
      </p:sp>
      <p:pic>
        <p:nvPicPr>
          <p:cNvPr id="4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560005" cy="10692003"/>
          </a:xfrm>
          <a:prstGeom prst="rect">
            <a:avLst/>
          </a:prstGeom>
        </p:spPr>
      </p:pic>
      <p:sp>
        <p:nvSpPr>
          <p:cNvPr id="43" name="Shape 38"/>
          <p:cNvSpPr/>
          <p:nvPr/>
        </p:nvSpPr>
        <p:spPr>
          <a:xfrm>
            <a:off x="5800090" y="4239260"/>
            <a:ext cx="209550" cy="595884"/>
          </a:xfrm>
          <a:prstGeom prst="line">
            <a:avLst/>
          </a:prstGeom>
          <a:noFill/>
          <a:ln w="38100">
            <a:solidFill>
              <a:srgbClr val="A63A3A"/>
            </a:solidFill>
            <a:prstDash val="solid"/>
          </a:ln>
        </p:spPr>
      </p:sp>
      <p:sp>
        <p:nvSpPr>
          <p:cNvPr id="44" name="Shape 39"/>
          <p:cNvSpPr/>
          <p:nvPr/>
        </p:nvSpPr>
        <p:spPr>
          <a:xfrm>
            <a:off x="5946775" y="4835144"/>
            <a:ext cx="62865" cy="829056"/>
          </a:xfrm>
          <a:prstGeom prst="line">
            <a:avLst/>
          </a:prstGeom>
          <a:noFill/>
          <a:ln w="38100">
            <a:solidFill>
              <a:srgbClr val="A63A3A"/>
            </a:solidFill>
            <a:prstDash val="solid"/>
          </a:ln>
        </p:spPr>
      </p:sp>
      <p:sp>
        <p:nvSpPr>
          <p:cNvPr id="45" name="Shape 40"/>
          <p:cNvSpPr/>
          <p:nvPr/>
        </p:nvSpPr>
        <p:spPr>
          <a:xfrm flipV="1">
            <a:off x="6428740" y="5146040"/>
            <a:ext cx="41910" cy="595884"/>
          </a:xfrm>
          <a:prstGeom prst="line">
            <a:avLst/>
          </a:prstGeom>
          <a:noFill/>
          <a:ln w="38100">
            <a:solidFill>
              <a:srgbClr val="A63A3A"/>
            </a:solidFill>
            <a:prstDash val="solid"/>
          </a:ln>
        </p:spPr>
      </p:sp>
      <p:sp>
        <p:nvSpPr>
          <p:cNvPr id="46" name="Shape 41"/>
          <p:cNvSpPr/>
          <p:nvPr/>
        </p:nvSpPr>
        <p:spPr>
          <a:xfrm>
            <a:off x="5749290" y="4188460"/>
            <a:ext cx="101600" cy="101600"/>
          </a:xfrm>
          <a:prstGeom prst="ellipse">
            <a:avLst/>
          </a:prstGeom>
          <a:solidFill>
            <a:srgbClr val="A63A3A"/>
          </a:solidFill>
          <a:ln w="5080">
            <a:solidFill>
              <a:srgbClr val="A63A3A"/>
            </a:solidFill>
            <a:prstDash val="solid"/>
          </a:ln>
        </p:spPr>
      </p:sp>
      <p:sp>
        <p:nvSpPr>
          <p:cNvPr id="47" name="Shape 42"/>
          <p:cNvSpPr/>
          <p:nvPr/>
        </p:nvSpPr>
        <p:spPr>
          <a:xfrm>
            <a:off x="5958840" y="4784344"/>
            <a:ext cx="101600" cy="101600"/>
          </a:xfrm>
          <a:prstGeom prst="ellipse">
            <a:avLst/>
          </a:prstGeom>
          <a:solidFill>
            <a:srgbClr val="A63A3A"/>
          </a:solidFill>
          <a:ln w="5080">
            <a:solidFill>
              <a:srgbClr val="A63A3A"/>
            </a:solidFill>
            <a:prstDash val="solid"/>
          </a:ln>
        </p:spPr>
      </p:sp>
      <p:sp>
        <p:nvSpPr>
          <p:cNvPr id="48" name="Shape 43"/>
          <p:cNvSpPr/>
          <p:nvPr/>
        </p:nvSpPr>
        <p:spPr>
          <a:xfrm>
            <a:off x="5895975" y="5613400"/>
            <a:ext cx="101600" cy="101600"/>
          </a:xfrm>
          <a:prstGeom prst="ellipse">
            <a:avLst/>
          </a:prstGeom>
          <a:solidFill>
            <a:srgbClr val="A63A3A"/>
          </a:solidFill>
          <a:ln w="5080">
            <a:solidFill>
              <a:srgbClr val="A63A3A"/>
            </a:solidFill>
            <a:prstDash val="solid"/>
          </a:ln>
        </p:spPr>
      </p:sp>
      <p:sp>
        <p:nvSpPr>
          <p:cNvPr id="49" name="Shape 44"/>
          <p:cNvSpPr/>
          <p:nvPr/>
        </p:nvSpPr>
        <p:spPr>
          <a:xfrm>
            <a:off x="6377940" y="5691124"/>
            <a:ext cx="101600" cy="101600"/>
          </a:xfrm>
          <a:prstGeom prst="ellipse">
            <a:avLst/>
          </a:prstGeom>
          <a:solidFill>
            <a:srgbClr val="A63A3A"/>
          </a:solidFill>
          <a:ln w="5080">
            <a:solidFill>
              <a:srgbClr val="A63A3A"/>
            </a:solidFill>
            <a:prstDash val="solid"/>
          </a:ln>
        </p:spPr>
      </p:sp>
      <p:sp>
        <p:nvSpPr>
          <p:cNvPr id="50" name="Shape 45"/>
          <p:cNvSpPr/>
          <p:nvPr/>
        </p:nvSpPr>
        <p:spPr>
          <a:xfrm>
            <a:off x="5434965" y="5302504"/>
            <a:ext cx="101600" cy="101600"/>
          </a:xfrm>
          <a:prstGeom prst="ellipse">
            <a:avLst/>
          </a:prstGeom>
          <a:solidFill>
            <a:srgbClr val="A63A3A"/>
          </a:solidFill>
          <a:ln w="5080">
            <a:solidFill>
              <a:srgbClr val="A63A3A"/>
            </a:solidFill>
            <a:prstDash val="solid"/>
          </a:ln>
        </p:spPr>
      </p:sp>
      <p:sp>
        <p:nvSpPr>
          <p:cNvPr id="51" name="Shape 46"/>
          <p:cNvSpPr/>
          <p:nvPr/>
        </p:nvSpPr>
        <p:spPr>
          <a:xfrm>
            <a:off x="6419850" y="5095240"/>
            <a:ext cx="101600" cy="101600"/>
          </a:xfrm>
          <a:prstGeom prst="ellipse">
            <a:avLst/>
          </a:prstGeom>
          <a:solidFill>
            <a:srgbClr val="A63A3A"/>
          </a:solidFill>
          <a:ln w="5080">
            <a:solidFill>
              <a:srgbClr val="A63A3A"/>
            </a:solidFill>
            <a:prstDash val="solid"/>
          </a:ln>
        </p:spPr>
      </p:sp>
      <p:sp>
        <p:nvSpPr>
          <p:cNvPr id="52" name="Text 47"/>
          <p:cNvSpPr/>
          <p:nvPr/>
        </p:nvSpPr>
        <p:spPr>
          <a:xfrm>
            <a:off x="50038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Connection is not enough</a:t>
            </a:r>
            <a:endParaRPr lang="en-US" sz="1500" dirty="0"/>
          </a:p>
        </p:txBody>
      </p:sp>
      <p:sp>
        <p:nvSpPr>
          <p:cNvPr id="53" name="Text 48"/>
          <p:cNvSpPr/>
          <p:nvPr/>
        </p:nvSpPr>
        <p:spPr>
          <a:xfrm>
            <a:off x="50038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Exports and global links can coexist with gaps in domestic production networks.</a:t>
            </a:r>
            <a:endParaRPr lang="en-US" sz="1050" dirty="0"/>
          </a:p>
        </p:txBody>
      </p:sp>
      <p:sp>
        <p:nvSpPr>
          <p:cNvPr id="54" name="Text 49"/>
          <p:cNvSpPr/>
          <p:nvPr/>
        </p:nvSpPr>
        <p:spPr>
          <a:xfrm>
            <a:off x="457200" y="85979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SUPPORTED WITH EXCEPTIONS</a:t>
            </a:r>
            <a:endParaRPr lang="en-US" sz="1700" dirty="0"/>
          </a:p>
        </p:txBody>
      </p:sp>
      <p:sp>
        <p:nvSpPr>
          <p:cNvPr id="55" name="Text 50"/>
          <p:cNvSpPr/>
          <p:nvPr/>
        </p:nvSpPr>
        <p:spPr>
          <a:xfrm>
            <a:off x="457200" y="8966200"/>
            <a:ext cx="6642100" cy="1905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Botswana challenges inherited infrastructure as a prerequisite for income growth.</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2 / RADIUS OF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Trust helps. Can we prove the link?</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Our question: does cooperation beyond family help businesses grow? Our answer: plausible—but not established by this comparison.</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Governance indicators are not direct-trust measures. Comparable surveys, timing and tests of alternative explanations are needed.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21</a:t>
            </a:r>
            <a:endParaRPr lang="en-US" sz="1000" dirty="0"/>
          </a:p>
        </p:txBody>
      </p:sp>
      <p:sp>
        <p:nvSpPr>
          <p:cNvPr id="11" name="Text 9"/>
          <p:cNvSpPr/>
          <p:nvPr/>
        </p:nvSpPr>
        <p:spPr>
          <a:xfrm>
            <a:off x="457200" y="3225800"/>
            <a:ext cx="66421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EXPECT</a:t>
            </a:r>
            <a:endParaRPr lang="en-US" sz="900" dirty="0"/>
          </a:p>
        </p:txBody>
      </p:sp>
      <p:sp>
        <p:nvSpPr>
          <p:cNvPr id="12" name="Text 10"/>
          <p:cNvSpPr/>
          <p:nvPr/>
        </p:nvSpPr>
        <p:spPr>
          <a:xfrm>
            <a:off x="457200" y="3695700"/>
            <a:ext cx="6642100" cy="1193800"/>
          </a:xfrm>
          <a:prstGeom prst="rect">
            <a:avLst/>
          </a:prstGeom>
          <a:noFill/>
          <a:ln/>
        </p:spPr>
        <p:txBody>
          <a:bodyPr wrap="square" lIns="0" tIns="0" rIns="0" bIns="0" rtlCol="0" anchor="t"/>
          <a:lstStyle/>
          <a:p>
            <a:pPr indent="0" marL="0">
              <a:lnSpc>
                <a:spcPct val="112000"/>
              </a:lnSpc>
              <a:buNone/>
            </a:pPr>
            <a:r>
              <a:rPr lang="en-US" sz="2900" b="1" dirty="0">
                <a:solidFill>
                  <a:srgbClr val="F4F0E7"/>
                </a:solidFill>
                <a:latin typeface="Alegreya" pitchFamily="34" charset="0"/>
                <a:ea typeface="Alegreya" pitchFamily="34" charset="-122"/>
                <a:cs typeface="Alegreya" pitchFamily="34" charset="-120"/>
              </a:rPr>
              <a:t>Reliable contracts help strangers work together.</a:t>
            </a:r>
            <a:endParaRPr lang="en-US" sz="2900" dirty="0"/>
          </a:p>
        </p:txBody>
      </p:sp>
      <p:sp>
        <p:nvSpPr>
          <p:cNvPr id="13" name="Shape 11"/>
          <p:cNvSpPr/>
          <p:nvPr/>
        </p:nvSpPr>
        <p:spPr>
          <a:xfrm>
            <a:off x="1562100" y="5232400"/>
            <a:ext cx="330200" cy="330200"/>
          </a:xfrm>
          <a:prstGeom prst="ellipse">
            <a:avLst/>
          </a:prstGeom>
          <a:solidFill>
            <a:srgbClr val="F4F0E7"/>
          </a:solidFill>
          <a:ln w="5080">
            <a:solidFill>
              <a:srgbClr val="F4F0E7"/>
            </a:solidFill>
            <a:prstDash val="solid"/>
          </a:ln>
        </p:spPr>
      </p:sp>
      <p:sp>
        <p:nvSpPr>
          <p:cNvPr id="14" name="Shape 12"/>
          <p:cNvSpPr/>
          <p:nvPr/>
        </p:nvSpPr>
        <p:spPr>
          <a:xfrm>
            <a:off x="1511300" y="5626100"/>
            <a:ext cx="431800" cy="558800"/>
          </a:xfrm>
          <a:prstGeom prst="rect">
            <a:avLst/>
          </a:prstGeom>
          <a:solidFill>
            <a:srgbClr val="F4F0E7"/>
          </a:solidFill>
          <a:ln w="12700">
            <a:solidFill>
              <a:srgbClr val="F4F0E7"/>
            </a:solidFill>
            <a:prstDash val="solid"/>
          </a:ln>
        </p:spPr>
      </p:sp>
      <p:sp>
        <p:nvSpPr>
          <p:cNvPr id="15" name="Shape 13"/>
          <p:cNvSpPr/>
          <p:nvPr/>
        </p:nvSpPr>
        <p:spPr>
          <a:xfrm>
            <a:off x="710184" y="6223000"/>
            <a:ext cx="177800" cy="177800"/>
          </a:xfrm>
          <a:prstGeom prst="ellipse">
            <a:avLst/>
          </a:prstGeom>
          <a:solidFill>
            <a:srgbClr val="F4F0E7"/>
          </a:solidFill>
          <a:ln w="5080">
            <a:solidFill>
              <a:srgbClr val="F4F0E7"/>
            </a:solidFill>
            <a:prstDash val="solid"/>
          </a:ln>
        </p:spPr>
      </p:sp>
      <p:sp>
        <p:nvSpPr>
          <p:cNvPr id="16" name="Shape 14"/>
          <p:cNvSpPr/>
          <p:nvPr/>
        </p:nvSpPr>
        <p:spPr>
          <a:xfrm>
            <a:off x="672084" y="6451600"/>
            <a:ext cx="254000" cy="304800"/>
          </a:xfrm>
          <a:prstGeom prst="rect">
            <a:avLst/>
          </a:prstGeom>
          <a:solidFill>
            <a:srgbClr val="F4F0E7"/>
          </a:solidFill>
          <a:ln w="12700">
            <a:solidFill>
              <a:srgbClr val="F4F0E7"/>
            </a:solidFill>
            <a:prstDash val="solid"/>
          </a:ln>
        </p:spPr>
      </p:sp>
      <p:sp>
        <p:nvSpPr>
          <p:cNvPr id="17" name="Shape 15"/>
          <p:cNvSpPr/>
          <p:nvPr/>
        </p:nvSpPr>
        <p:spPr>
          <a:xfrm flipV="1">
            <a:off x="799084" y="6172200"/>
            <a:ext cx="928116" cy="38100"/>
          </a:xfrm>
          <a:prstGeom prst="line">
            <a:avLst/>
          </a:prstGeom>
          <a:noFill/>
          <a:ln w="12700">
            <a:solidFill>
              <a:srgbClr val="F4F0E7"/>
            </a:solidFill>
            <a:prstDash val="dash"/>
          </a:ln>
        </p:spPr>
      </p:sp>
      <p:sp>
        <p:nvSpPr>
          <p:cNvPr id="18" name="Shape 16"/>
          <p:cNvSpPr/>
          <p:nvPr/>
        </p:nvSpPr>
        <p:spPr>
          <a:xfrm>
            <a:off x="1196340" y="6426200"/>
            <a:ext cx="177800" cy="177800"/>
          </a:xfrm>
          <a:prstGeom prst="ellipse">
            <a:avLst/>
          </a:prstGeom>
          <a:solidFill>
            <a:srgbClr val="F4F0E7"/>
          </a:solidFill>
          <a:ln w="5080">
            <a:solidFill>
              <a:srgbClr val="F4F0E7"/>
            </a:solidFill>
            <a:prstDash val="solid"/>
          </a:ln>
        </p:spPr>
      </p:sp>
      <p:sp>
        <p:nvSpPr>
          <p:cNvPr id="19" name="Shape 17"/>
          <p:cNvSpPr/>
          <p:nvPr/>
        </p:nvSpPr>
        <p:spPr>
          <a:xfrm>
            <a:off x="1158240" y="6654800"/>
            <a:ext cx="254000" cy="304800"/>
          </a:xfrm>
          <a:prstGeom prst="rect">
            <a:avLst/>
          </a:prstGeom>
          <a:solidFill>
            <a:srgbClr val="F4F0E7"/>
          </a:solidFill>
          <a:ln w="12700">
            <a:solidFill>
              <a:srgbClr val="F4F0E7"/>
            </a:solidFill>
            <a:prstDash val="solid"/>
          </a:ln>
        </p:spPr>
      </p:sp>
      <p:sp>
        <p:nvSpPr>
          <p:cNvPr id="20" name="Shape 18"/>
          <p:cNvSpPr/>
          <p:nvPr/>
        </p:nvSpPr>
        <p:spPr>
          <a:xfrm>
            <a:off x="1285240" y="6210300"/>
            <a:ext cx="441960" cy="165100"/>
          </a:xfrm>
          <a:prstGeom prst="line">
            <a:avLst/>
          </a:prstGeom>
          <a:noFill/>
          <a:ln w="12700">
            <a:solidFill>
              <a:srgbClr val="F4F0E7"/>
            </a:solidFill>
            <a:prstDash val="dash"/>
          </a:ln>
        </p:spPr>
      </p:sp>
      <p:sp>
        <p:nvSpPr>
          <p:cNvPr id="21" name="Shape 19"/>
          <p:cNvSpPr/>
          <p:nvPr/>
        </p:nvSpPr>
        <p:spPr>
          <a:xfrm>
            <a:off x="2080260" y="6426200"/>
            <a:ext cx="177800" cy="177800"/>
          </a:xfrm>
          <a:prstGeom prst="ellipse">
            <a:avLst/>
          </a:prstGeom>
          <a:solidFill>
            <a:srgbClr val="F4F0E7"/>
          </a:solidFill>
          <a:ln w="5080">
            <a:solidFill>
              <a:srgbClr val="F4F0E7"/>
            </a:solidFill>
            <a:prstDash val="solid"/>
          </a:ln>
        </p:spPr>
      </p:sp>
      <p:sp>
        <p:nvSpPr>
          <p:cNvPr id="22" name="Shape 20"/>
          <p:cNvSpPr/>
          <p:nvPr/>
        </p:nvSpPr>
        <p:spPr>
          <a:xfrm>
            <a:off x="2042160" y="6654800"/>
            <a:ext cx="254000" cy="304800"/>
          </a:xfrm>
          <a:prstGeom prst="rect">
            <a:avLst/>
          </a:prstGeom>
          <a:solidFill>
            <a:srgbClr val="F4F0E7"/>
          </a:solidFill>
          <a:ln w="12700">
            <a:solidFill>
              <a:srgbClr val="F4F0E7"/>
            </a:solidFill>
            <a:prstDash val="solid"/>
          </a:ln>
        </p:spPr>
      </p:sp>
      <p:sp>
        <p:nvSpPr>
          <p:cNvPr id="23" name="Shape 21"/>
          <p:cNvSpPr/>
          <p:nvPr/>
        </p:nvSpPr>
        <p:spPr>
          <a:xfrm>
            <a:off x="1727200" y="6210300"/>
            <a:ext cx="441960" cy="165100"/>
          </a:xfrm>
          <a:prstGeom prst="line">
            <a:avLst/>
          </a:prstGeom>
          <a:noFill/>
          <a:ln w="12700">
            <a:solidFill>
              <a:srgbClr val="F4F0E7"/>
            </a:solidFill>
            <a:prstDash val="dash"/>
          </a:ln>
        </p:spPr>
      </p:sp>
      <p:sp>
        <p:nvSpPr>
          <p:cNvPr id="24" name="Shape 22"/>
          <p:cNvSpPr/>
          <p:nvPr/>
        </p:nvSpPr>
        <p:spPr>
          <a:xfrm>
            <a:off x="2566416" y="6223000"/>
            <a:ext cx="177800" cy="177800"/>
          </a:xfrm>
          <a:prstGeom prst="ellipse">
            <a:avLst/>
          </a:prstGeom>
          <a:solidFill>
            <a:srgbClr val="F4F0E7"/>
          </a:solidFill>
          <a:ln w="5080">
            <a:solidFill>
              <a:srgbClr val="F4F0E7"/>
            </a:solidFill>
            <a:prstDash val="solid"/>
          </a:ln>
        </p:spPr>
      </p:sp>
      <p:sp>
        <p:nvSpPr>
          <p:cNvPr id="25" name="Shape 23"/>
          <p:cNvSpPr/>
          <p:nvPr/>
        </p:nvSpPr>
        <p:spPr>
          <a:xfrm>
            <a:off x="2528316" y="6451600"/>
            <a:ext cx="254000" cy="304800"/>
          </a:xfrm>
          <a:prstGeom prst="rect">
            <a:avLst/>
          </a:prstGeom>
          <a:solidFill>
            <a:srgbClr val="F4F0E7"/>
          </a:solidFill>
          <a:ln w="12700">
            <a:solidFill>
              <a:srgbClr val="F4F0E7"/>
            </a:solidFill>
            <a:prstDash val="solid"/>
          </a:ln>
        </p:spPr>
      </p:sp>
      <p:sp>
        <p:nvSpPr>
          <p:cNvPr id="26" name="Shape 24"/>
          <p:cNvSpPr/>
          <p:nvPr/>
        </p:nvSpPr>
        <p:spPr>
          <a:xfrm flipV="1">
            <a:off x="1727200" y="6172200"/>
            <a:ext cx="928116" cy="38100"/>
          </a:xfrm>
          <a:prstGeom prst="line">
            <a:avLst/>
          </a:prstGeom>
          <a:noFill/>
          <a:ln w="12700">
            <a:solidFill>
              <a:srgbClr val="F4F0E7"/>
            </a:solidFill>
            <a:prstDash val="dash"/>
          </a:ln>
        </p:spPr>
      </p:sp>
      <p:sp>
        <p:nvSpPr>
          <p:cNvPr id="27" name="Text 25"/>
          <p:cNvSpPr/>
          <p:nvPr/>
        </p:nvSpPr>
        <p:spPr>
          <a:xfrm>
            <a:off x="3517900" y="5181600"/>
            <a:ext cx="35814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FOUND</a:t>
            </a:r>
            <a:endParaRPr lang="en-US" sz="900" dirty="0"/>
          </a:p>
        </p:txBody>
      </p:sp>
      <p:sp>
        <p:nvSpPr>
          <p:cNvPr id="28" name="Text 26"/>
          <p:cNvSpPr/>
          <p:nvPr/>
        </p:nvSpPr>
        <p:spPr>
          <a:xfrm>
            <a:off x="3517900" y="5651500"/>
            <a:ext cx="3581400" cy="14097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The six countries do not have a comparable direct-trust evidence base here. Ghana and South Korea remain direct-trust gaps.</a:t>
            </a:r>
            <a:endParaRPr lang="en-US" sz="1200" dirty="0"/>
          </a:p>
        </p:txBody>
      </p:sp>
      <p:sp>
        <p:nvSpPr>
          <p:cNvPr id="29" name="Shape 27"/>
          <p:cNvSpPr/>
          <p:nvPr/>
        </p:nvSpPr>
        <p:spPr>
          <a:xfrm>
            <a:off x="457200" y="7556500"/>
            <a:ext cx="6642100" cy="1104900"/>
          </a:xfrm>
          <a:prstGeom prst="rect">
            <a:avLst/>
          </a:prstGeom>
          <a:solidFill>
            <a:srgbClr val="F4F0E7"/>
          </a:solidFill>
          <a:ln w="12700">
            <a:solidFill>
              <a:srgbClr val="F4F0E7"/>
            </a:solidFill>
            <a:prstDash val="solid"/>
          </a:ln>
        </p:spPr>
      </p:sp>
      <p:sp>
        <p:nvSpPr>
          <p:cNvPr id="30" name="Text 28"/>
          <p:cNvSpPr/>
          <p:nvPr/>
        </p:nvSpPr>
        <p:spPr>
          <a:xfrm>
            <a:off x="635000" y="7683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31" name="Text 29"/>
          <p:cNvSpPr/>
          <p:nvPr/>
        </p:nvSpPr>
        <p:spPr>
          <a:xfrm>
            <a:off x="635000" y="7950200"/>
            <a:ext cx="6286500" cy="6350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Trust matters to us. But “Asia trusts more” was our initial impression—not a finding this evidence can support.</a:t>
            </a:r>
            <a:endParaRPr lang="en-US" sz="1150" dirty="0"/>
          </a:p>
        </p:txBody>
      </p:sp>
      <p:sp>
        <p:nvSpPr>
          <p:cNvPr id="32" name="Text 30"/>
          <p:cNvSpPr/>
          <p:nvPr/>
        </p:nvSpPr>
        <p:spPr>
          <a:xfrm>
            <a:off x="457200" y="88011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VERDICT: INCONCLUSIVE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3 / CONTINUITY + ADAPTATION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Keep direction. Correct mistakes.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Lasting policy helps only if a country learns and adapts.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Supported with exceptions—not a universal recipe. State capacity, resources, FDI, market access, shocks and prior success remain alternative explanations.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127–130, 159–161, 242).</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22</a:t>
            </a:r>
            <a:endParaRPr lang="en-US" sz="1000" dirty="0"/>
          </a:p>
        </p:txBody>
      </p:sp>
      <p:sp>
        <p:nvSpPr>
          <p:cNvPr id="11" name="Text 9"/>
          <p:cNvSpPr/>
          <p:nvPr/>
        </p:nvSpPr>
        <p:spPr>
          <a:xfrm>
            <a:off x="457200" y="32258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12" name="Text 10"/>
          <p:cNvSpPr/>
          <p:nvPr/>
        </p:nvSpPr>
        <p:spPr>
          <a:xfrm>
            <a:off x="2667000" y="32258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Coordinated investment and export pressure; later correction and upgrading.</a:t>
            </a:r>
            <a:endParaRPr lang="en-US" sz="1150" dirty="0"/>
          </a:p>
        </p:txBody>
      </p:sp>
      <p:sp>
        <p:nvSpPr>
          <p:cNvPr id="13" name="Shape 11"/>
          <p:cNvSpPr/>
          <p:nvPr/>
        </p:nvSpPr>
        <p:spPr>
          <a:xfrm>
            <a:off x="457200" y="3996690"/>
            <a:ext cx="6642100" cy="7620"/>
          </a:xfrm>
          <a:prstGeom prst="rect">
            <a:avLst/>
          </a:prstGeom>
          <a:solidFill>
            <a:srgbClr val="B7B0A4"/>
          </a:solidFill>
          <a:ln w="12700">
            <a:solidFill>
              <a:srgbClr val="B7B0A4"/>
            </a:solidFill>
            <a:prstDash val="solid"/>
          </a:ln>
        </p:spPr>
      </p:sp>
      <p:sp>
        <p:nvSpPr>
          <p:cNvPr id="14" name="Text 12"/>
          <p:cNvSpPr/>
          <p:nvPr/>
        </p:nvSpPr>
        <p:spPr>
          <a:xfrm>
            <a:off x="457200" y="41910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Mauritius</a:t>
            </a:r>
            <a:endParaRPr lang="en-US" sz="1400" dirty="0"/>
          </a:p>
        </p:txBody>
      </p:sp>
      <p:sp>
        <p:nvSpPr>
          <p:cNvPr id="15" name="Text 13"/>
          <p:cNvSpPr/>
          <p:nvPr/>
        </p:nvSpPr>
        <p:spPr>
          <a:xfrm>
            <a:off x="2667000" y="41910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A sugar base followed by diversification and adaptation.</a:t>
            </a:r>
            <a:endParaRPr lang="en-US" sz="1150" dirty="0"/>
          </a:p>
        </p:txBody>
      </p:sp>
      <p:sp>
        <p:nvSpPr>
          <p:cNvPr id="16" name="Shape 14"/>
          <p:cNvSpPr/>
          <p:nvPr/>
        </p:nvSpPr>
        <p:spPr>
          <a:xfrm>
            <a:off x="457200" y="4961890"/>
            <a:ext cx="6642100" cy="7620"/>
          </a:xfrm>
          <a:prstGeom prst="rect">
            <a:avLst/>
          </a:prstGeom>
          <a:solidFill>
            <a:srgbClr val="B7B0A4"/>
          </a:solidFill>
          <a:ln w="12700">
            <a:solidFill>
              <a:srgbClr val="B7B0A4"/>
            </a:solidFill>
            <a:prstDash val="solid"/>
          </a:ln>
        </p:spPr>
      </p:sp>
      <p:sp>
        <p:nvSpPr>
          <p:cNvPr id="17" name="Text 15"/>
          <p:cNvSpPr/>
          <p:nvPr/>
        </p:nvSpPr>
        <p:spPr>
          <a:xfrm>
            <a:off x="457200" y="51562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18" name="Text 16"/>
          <p:cNvSpPr/>
          <p:nvPr/>
        </p:nvSpPr>
        <p:spPr>
          <a:xfrm>
            <a:off x="2667000" y="51562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Commodity exports followed by export manufacturing and supplier challenges.</a:t>
            </a:r>
            <a:endParaRPr lang="en-US" sz="1150" dirty="0"/>
          </a:p>
        </p:txBody>
      </p:sp>
      <p:sp>
        <p:nvSpPr>
          <p:cNvPr id="19" name="Shape 17"/>
          <p:cNvSpPr/>
          <p:nvPr/>
        </p:nvSpPr>
        <p:spPr>
          <a:xfrm>
            <a:off x="457200" y="5927090"/>
            <a:ext cx="6642100" cy="7620"/>
          </a:xfrm>
          <a:prstGeom prst="rect">
            <a:avLst/>
          </a:prstGeom>
          <a:solidFill>
            <a:srgbClr val="B7B0A4"/>
          </a:solidFill>
          <a:ln w="12700">
            <a:solidFill>
              <a:srgbClr val="B7B0A4"/>
            </a:solidFill>
            <a:prstDash val="solid"/>
          </a:ln>
        </p:spPr>
      </p:sp>
      <p:sp>
        <p:nvSpPr>
          <p:cNvPr id="20" name="Text 18"/>
          <p:cNvSpPr/>
          <p:nvPr/>
        </p:nvSpPr>
        <p:spPr>
          <a:xfrm>
            <a:off x="457200" y="61214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21" name="Text 19"/>
          <p:cNvSpPr/>
          <p:nvPr/>
        </p:nvSpPr>
        <p:spPr>
          <a:xfrm>
            <a:off x="2667000" y="61214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Global links and formal institutions did not remove weak domestic linkages.</a:t>
            </a:r>
            <a:endParaRPr lang="en-US" sz="1150" dirty="0"/>
          </a:p>
        </p:txBody>
      </p:sp>
      <p:sp>
        <p:nvSpPr>
          <p:cNvPr id="22" name="Shape 20"/>
          <p:cNvSpPr/>
          <p:nvPr/>
        </p:nvSpPr>
        <p:spPr>
          <a:xfrm>
            <a:off x="457200" y="6892290"/>
            <a:ext cx="6642100" cy="7620"/>
          </a:xfrm>
          <a:prstGeom prst="rect">
            <a:avLst/>
          </a:prstGeom>
          <a:solidFill>
            <a:srgbClr val="B7B0A4"/>
          </a:solidFill>
          <a:ln w="12700">
            <a:solidFill>
              <a:srgbClr val="B7B0A4"/>
            </a:solidFill>
            <a:prstDash val="solid"/>
          </a:ln>
        </p:spPr>
      </p:sp>
      <p:sp>
        <p:nvSpPr>
          <p:cNvPr id="23" name="Text 21"/>
          <p:cNvSpPr/>
          <p:nvPr/>
        </p:nvSpPr>
        <p:spPr>
          <a:xfrm>
            <a:off x="457200" y="70866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24" name="Text 22"/>
          <p:cNvSpPr/>
          <p:nvPr/>
        </p:nvSpPr>
        <p:spPr>
          <a:xfrm>
            <a:off x="2667000" y="70866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Mineral-led accumulation shows that wealth and diversification differ.</a:t>
            </a:r>
            <a:endParaRPr lang="en-US" sz="1150" dirty="0"/>
          </a:p>
        </p:txBody>
      </p:sp>
      <p:sp>
        <p:nvSpPr>
          <p:cNvPr id="25" name="Shape 23"/>
          <p:cNvSpPr/>
          <p:nvPr/>
        </p:nvSpPr>
        <p:spPr>
          <a:xfrm>
            <a:off x="457200" y="7857490"/>
            <a:ext cx="6642100" cy="7620"/>
          </a:xfrm>
          <a:prstGeom prst="rect">
            <a:avLst/>
          </a:prstGeom>
          <a:solidFill>
            <a:srgbClr val="B7B0A4"/>
          </a:solidFill>
          <a:ln w="12700">
            <a:solidFill>
              <a:srgbClr val="B7B0A4"/>
            </a:solidFill>
            <a:prstDash val="solid"/>
          </a:ln>
        </p:spPr>
      </p:sp>
      <p:sp>
        <p:nvSpPr>
          <p:cNvPr id="26" name="Text 24"/>
          <p:cNvSpPr/>
          <p:nvPr/>
        </p:nvSpPr>
        <p:spPr>
          <a:xfrm>
            <a:off x="457200" y="8407400"/>
            <a:ext cx="6642100" cy="622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The lesson: keep what works. Change what fails.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EXCEPTIONS MATTER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Four cases change the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Four countries stop us telling one simple continental story.</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No case proves a universal formula. An exception challenges a claim; it does not automatically prove a rival explanation.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Photos: Paul tk (2018), Mochudi; Richard N Horne (2025), Port Louis. Full credits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a:t>
            </a:r>
            <a:endParaRPr lang="en-US" sz="1000" dirty="0"/>
          </a:p>
        </p:txBody>
      </p:sp>
      <p:sp>
        <p:nvSpPr>
          <p:cNvPr id="11" name="Shape 9"/>
          <p:cNvSpPr/>
          <p:nvPr/>
        </p:nvSpPr>
        <p:spPr>
          <a:xfrm>
            <a:off x="457200" y="3073400"/>
            <a:ext cx="127000" cy="127000"/>
          </a:xfrm>
          <a:prstGeom prst="rect">
            <a:avLst/>
          </a:prstGeom>
          <a:solidFill>
            <a:srgbClr val="3F684E"/>
          </a:solidFill>
          <a:ln w="7620">
            <a:solidFill>
              <a:srgbClr val="252525"/>
            </a:solidFill>
            <a:prstDash val="solid"/>
          </a:ln>
        </p:spPr>
      </p:sp>
      <p:sp>
        <p:nvSpPr>
          <p:cNvPr id="12" name="Text 10"/>
          <p:cNvSpPr/>
          <p:nvPr/>
        </p:nvSpPr>
        <p:spPr>
          <a:xfrm>
            <a:off x="711200" y="30226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pic>
        <p:nvPicPr>
          <p:cNvPr id="13" name="Image 0" descr="/Users/marcusgrude-grodem/Documents/GitHub/USIL/africa-asia-development-magazine/design/canva_editorial_draft/assets/print/botswana_mochudi.jpg">    </p:cNvPr>
          <p:cNvPicPr>
            <a:picLocks noChangeAspect="1"/>
          </p:cNvPicPr>
          <p:nvPr/>
        </p:nvPicPr>
        <p:blipFill>
          <a:blip r:embed="rId1"/>
          <a:stretch>
            <a:fillRect/>
          </a:stretch>
        </p:blipFill>
        <p:spPr>
          <a:xfrm>
            <a:off x="511175" y="3505200"/>
            <a:ext cx="1962150" cy="1308100"/>
          </a:xfrm>
          <a:prstGeom prst="rect">
            <a:avLst/>
          </a:prstGeom>
        </p:spPr>
      </p:pic>
      <p:sp>
        <p:nvSpPr>
          <p:cNvPr id="14" name="Text 11"/>
          <p:cNvSpPr/>
          <p:nvPr/>
        </p:nvSpPr>
        <p:spPr>
          <a:xfrm>
            <a:off x="2781300" y="3530600"/>
            <a:ext cx="4318000" cy="10541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resource management and investment. Challenges the need for strong inherited infrastructure. Does not prove broad diversification.</a:t>
            </a:r>
            <a:endParaRPr lang="en-US" sz="1100" dirty="0"/>
          </a:p>
        </p:txBody>
      </p:sp>
      <p:sp>
        <p:nvSpPr>
          <p:cNvPr id="15" name="Text 12"/>
          <p:cNvSpPr/>
          <p:nvPr/>
        </p:nvSpPr>
        <p:spPr>
          <a:xfrm>
            <a:off x="457200" y="4889500"/>
            <a:ext cx="22479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Mochudi solar pumping · 2018</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Infrastructure context, not a growth estimate.</a:t>
            </a:r>
            <a:endParaRPr lang="en-US" sz="800" dirty="0"/>
          </a:p>
        </p:txBody>
      </p:sp>
      <p:sp>
        <p:nvSpPr>
          <p:cNvPr id="16" name="Shape 13"/>
          <p:cNvSpPr/>
          <p:nvPr/>
        </p:nvSpPr>
        <p:spPr>
          <a:xfrm>
            <a:off x="457200" y="5461000"/>
            <a:ext cx="127000" cy="127000"/>
          </a:xfrm>
          <a:prstGeom prst="triangle">
            <a:avLst/>
          </a:prstGeom>
          <a:solidFill>
            <a:srgbClr val="D6A23A"/>
          </a:solidFill>
          <a:ln w="7620">
            <a:solidFill>
              <a:srgbClr val="252525"/>
            </a:solidFill>
            <a:prstDash val="solid"/>
          </a:ln>
        </p:spPr>
      </p:sp>
      <p:sp>
        <p:nvSpPr>
          <p:cNvPr id="17" name="Text 14"/>
          <p:cNvSpPr/>
          <p:nvPr/>
        </p:nvSpPr>
        <p:spPr>
          <a:xfrm>
            <a:off x="711200" y="54102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18" name="Text 15"/>
          <p:cNvSpPr/>
          <p:nvPr/>
        </p:nvSpPr>
        <p:spPr>
          <a:xfrm>
            <a:off x="457200" y="5905500"/>
            <a:ext cx="39497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adaptation and diversification. Challenges fixed cultural destiny. Does not prove continuity alone caused growth.</a:t>
            </a:r>
            <a:endParaRPr lang="en-US" sz="1100" dirty="0"/>
          </a:p>
        </p:txBody>
      </p:sp>
      <p:pic>
        <p:nvPicPr>
          <p:cNvPr id="19" name="Image 1" descr="/Users/marcusgrude-grodem/Documents/GitHub/USIL/africa-asia-development-magazine/design/canva_editorial_draft/assets/print/mauritius_sugar.jpg">    </p:cNvPr>
          <p:cNvPicPr>
            <a:picLocks noChangeAspect="1"/>
          </p:cNvPicPr>
          <p:nvPr/>
        </p:nvPicPr>
        <p:blipFill>
          <a:blip r:embed="rId2"/>
          <a:stretch>
            <a:fillRect/>
          </a:stretch>
        </p:blipFill>
        <p:spPr>
          <a:xfrm>
            <a:off x="5223933" y="5397500"/>
            <a:ext cx="1693333" cy="1270000"/>
          </a:xfrm>
          <a:prstGeom prst="rect">
            <a:avLst/>
          </a:prstGeom>
        </p:spPr>
      </p:pic>
      <p:sp>
        <p:nvSpPr>
          <p:cNvPr id="20" name="Text 16"/>
          <p:cNvSpPr/>
          <p:nvPr/>
        </p:nvSpPr>
        <p:spPr>
          <a:xfrm>
            <a:off x="5041900" y="6756400"/>
            <a:ext cx="2057400" cy="2667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Port Louis sugar terminal · 2025</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Trade context, not a history series.</a:t>
            </a:r>
            <a:endParaRPr lang="en-US" sz="800" dirty="0"/>
          </a:p>
        </p:txBody>
      </p:sp>
      <p:sp>
        <p:nvSpPr>
          <p:cNvPr id="21" name="Shape 17"/>
          <p:cNvSpPr/>
          <p:nvPr/>
        </p:nvSpPr>
        <p:spPr>
          <a:xfrm>
            <a:off x="457200" y="7061200"/>
            <a:ext cx="127000" cy="127000"/>
          </a:xfrm>
          <a:prstGeom prst="hexagon">
            <a:avLst/>
          </a:prstGeom>
          <a:solidFill>
            <a:srgbClr val="3E7568"/>
          </a:solidFill>
          <a:ln w="7620">
            <a:solidFill>
              <a:srgbClr val="252525"/>
            </a:solidFill>
            <a:prstDash val="solid"/>
          </a:ln>
        </p:spPr>
      </p:sp>
      <p:sp>
        <p:nvSpPr>
          <p:cNvPr id="22" name="Text 18"/>
          <p:cNvSpPr/>
          <p:nvPr/>
        </p:nvSpPr>
        <p:spPr>
          <a:xfrm>
            <a:off x="7112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23" name="Shape 19"/>
          <p:cNvSpPr/>
          <p:nvPr/>
        </p:nvSpPr>
        <p:spPr>
          <a:xfrm>
            <a:off x="3937000" y="7104380"/>
            <a:ext cx="127000" cy="40640"/>
          </a:xfrm>
          <a:prstGeom prst="rect">
            <a:avLst/>
          </a:prstGeom>
          <a:solidFill>
            <a:srgbClr val="252525"/>
          </a:solidFill>
          <a:ln w="12700">
            <a:solidFill>
              <a:srgbClr val="252525"/>
            </a:solidFill>
            <a:prstDash val="solid"/>
          </a:ln>
        </p:spPr>
      </p:sp>
      <p:sp>
        <p:nvSpPr>
          <p:cNvPr id="24" name="Shape 20"/>
          <p:cNvSpPr/>
          <p:nvPr/>
        </p:nvSpPr>
        <p:spPr>
          <a:xfrm>
            <a:off x="3980180" y="7061200"/>
            <a:ext cx="40640" cy="127000"/>
          </a:xfrm>
          <a:prstGeom prst="rect">
            <a:avLst/>
          </a:prstGeom>
          <a:solidFill>
            <a:srgbClr val="252525"/>
          </a:solidFill>
          <a:ln w="12700">
            <a:solidFill>
              <a:srgbClr val="252525"/>
            </a:solidFill>
            <a:prstDash val="solid"/>
          </a:ln>
        </p:spPr>
      </p:sp>
      <p:sp>
        <p:nvSpPr>
          <p:cNvPr id="25" name="Shape 21"/>
          <p:cNvSpPr/>
          <p:nvPr/>
        </p:nvSpPr>
        <p:spPr>
          <a:xfrm>
            <a:off x="3937000" y="7113270"/>
            <a:ext cx="127000" cy="22860"/>
          </a:xfrm>
          <a:prstGeom prst="rect">
            <a:avLst/>
          </a:prstGeom>
          <a:solidFill>
            <a:srgbClr val="A63A3A"/>
          </a:solidFill>
          <a:ln w="12700">
            <a:solidFill>
              <a:srgbClr val="A63A3A"/>
            </a:solidFill>
            <a:prstDash val="solid"/>
          </a:ln>
        </p:spPr>
      </p:sp>
      <p:sp>
        <p:nvSpPr>
          <p:cNvPr id="26" name="Shape 22"/>
          <p:cNvSpPr/>
          <p:nvPr/>
        </p:nvSpPr>
        <p:spPr>
          <a:xfrm>
            <a:off x="3989070" y="7061200"/>
            <a:ext cx="22860" cy="127000"/>
          </a:xfrm>
          <a:prstGeom prst="rect">
            <a:avLst/>
          </a:prstGeom>
          <a:solidFill>
            <a:srgbClr val="A63A3A"/>
          </a:solidFill>
          <a:ln w="12700">
            <a:solidFill>
              <a:srgbClr val="A63A3A"/>
            </a:solidFill>
            <a:prstDash val="solid"/>
          </a:ln>
        </p:spPr>
      </p:sp>
      <p:sp>
        <p:nvSpPr>
          <p:cNvPr id="27" name="Text 23"/>
          <p:cNvSpPr/>
          <p:nvPr/>
        </p:nvSpPr>
        <p:spPr>
          <a:xfrm>
            <a:off x="41910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28" name="Text 24"/>
          <p:cNvSpPr/>
          <p:nvPr/>
        </p:nvSpPr>
        <p:spPr>
          <a:xfrm>
            <a:off x="4572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Malaysia: exports can help, but do not prove local capability.</a:t>
            </a:r>
            <a:endParaRPr lang="en-US" sz="1050" dirty="0"/>
          </a:p>
        </p:txBody>
      </p:sp>
      <p:sp>
        <p:nvSpPr>
          <p:cNvPr id="29" name="Text 25"/>
          <p:cNvSpPr/>
          <p:nvPr/>
        </p:nvSpPr>
        <p:spPr>
          <a:xfrm>
            <a:off x="39370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Philippines: global links alone are not enough. There is no single “Asia” path.</a:t>
            </a:r>
            <a:endParaRPr lang="en-US" sz="1050" dirty="0"/>
          </a:p>
        </p:txBody>
      </p:sp>
      <p:sp>
        <p:nvSpPr>
          <p:cNvPr id="30" name="Shape 26"/>
          <p:cNvSpPr/>
          <p:nvPr/>
        </p:nvSpPr>
        <p:spPr>
          <a:xfrm>
            <a:off x="457200" y="7937500"/>
            <a:ext cx="6642100" cy="927100"/>
          </a:xfrm>
          <a:prstGeom prst="rect">
            <a:avLst/>
          </a:prstGeom>
          <a:solidFill>
            <a:srgbClr val="252525"/>
          </a:solidFill>
          <a:ln w="12700">
            <a:solidFill>
              <a:srgbClr val="252525"/>
            </a:solidFill>
            <a:prstDash val="solid"/>
          </a:ln>
        </p:spPr>
      </p:sp>
      <p:sp>
        <p:nvSpPr>
          <p:cNvPr id="31" name="Text 27"/>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2" name="Text 28"/>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Mauritius surprised us. Its small size challenged our assumptions about what a country needs to develop—and about one single African development story.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PUTTING IT TOGETHER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ingredients. Different outcomes.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Development depends on how the ingredients work together—not one fixed regional culture.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Conceptual recipe illustration, not measured contributions or a universal recipe. Six countries do not represent two whole continents.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synthesis: World Bank (1993, pp. 4–7, 20–26, 79–80); World Bank (2020); Maipose (2008); Svirydzenka and Petri (2014); Hofstede (2011).</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24</a:t>
            </a:r>
            <a:endParaRPr lang="en-US" sz="1000" dirty="0"/>
          </a:p>
        </p:txBody>
      </p:sp>
      <p:sp>
        <p:nvSpPr>
          <p:cNvPr id="11" name="Shape 9"/>
          <p:cNvSpPr/>
          <p:nvPr/>
        </p:nvSpPr>
        <p:spPr>
          <a:xfrm>
            <a:off x="927100" y="3365500"/>
            <a:ext cx="101600" cy="215900"/>
          </a:xfrm>
          <a:prstGeom prst="ellipse">
            <a:avLst/>
          </a:prstGeom>
          <a:solidFill>
            <a:srgbClr val="F4F0E7"/>
          </a:solidFill>
          <a:ln w="6350">
            <a:solidFill>
              <a:srgbClr val="F4F0E7"/>
            </a:solidFill>
            <a:prstDash val="solid"/>
          </a:ln>
        </p:spPr>
      </p:sp>
      <p:sp>
        <p:nvSpPr>
          <p:cNvPr id="12" name="Shape 10"/>
          <p:cNvSpPr/>
          <p:nvPr/>
        </p:nvSpPr>
        <p:spPr>
          <a:xfrm>
            <a:off x="1054100" y="3467100"/>
            <a:ext cx="101600" cy="215900"/>
          </a:xfrm>
          <a:prstGeom prst="ellipse">
            <a:avLst/>
          </a:prstGeom>
          <a:solidFill>
            <a:srgbClr val="F4F0E7"/>
          </a:solidFill>
          <a:ln w="6350">
            <a:solidFill>
              <a:srgbClr val="F4F0E7"/>
            </a:solidFill>
            <a:prstDash val="solid"/>
          </a:ln>
        </p:spPr>
      </p:sp>
      <p:sp>
        <p:nvSpPr>
          <p:cNvPr id="13" name="Shape 11"/>
          <p:cNvSpPr/>
          <p:nvPr/>
        </p:nvSpPr>
        <p:spPr>
          <a:xfrm>
            <a:off x="1181100" y="3365500"/>
            <a:ext cx="101600" cy="215900"/>
          </a:xfrm>
          <a:prstGeom prst="ellipse">
            <a:avLst/>
          </a:prstGeom>
          <a:solidFill>
            <a:srgbClr val="F4F0E7"/>
          </a:solidFill>
          <a:ln w="6350">
            <a:solidFill>
              <a:srgbClr val="F4F0E7"/>
            </a:solidFill>
            <a:prstDash val="solid"/>
          </a:ln>
        </p:spPr>
      </p:sp>
      <p:sp>
        <p:nvSpPr>
          <p:cNvPr id="14" name="Text 12"/>
          <p:cNvSpPr/>
          <p:nvPr/>
        </p:nvSpPr>
        <p:spPr>
          <a:xfrm>
            <a:off x="6223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History</a:t>
            </a:r>
            <a:endParaRPr lang="en-US" sz="1200" dirty="0"/>
          </a:p>
        </p:txBody>
      </p:sp>
      <p:sp>
        <p:nvSpPr>
          <p:cNvPr id="15" name="Shape 13"/>
          <p:cNvSpPr/>
          <p:nvPr/>
        </p:nvSpPr>
        <p:spPr>
          <a:xfrm rot="10800000">
            <a:off x="3365500" y="3378200"/>
            <a:ext cx="203200" cy="342900"/>
          </a:xfrm>
          <a:prstGeom prst="triangle">
            <a:avLst/>
          </a:prstGeom>
          <a:solidFill>
            <a:srgbClr val="F4F0E7"/>
          </a:solidFill>
          <a:ln w="12700">
            <a:solidFill>
              <a:srgbClr val="F4F0E7"/>
            </a:solidFill>
            <a:prstDash val="solid"/>
          </a:ln>
        </p:spPr>
      </p:sp>
      <p:sp>
        <p:nvSpPr>
          <p:cNvPr id="16" name="Shape 14"/>
          <p:cNvSpPr/>
          <p:nvPr/>
        </p:nvSpPr>
        <p:spPr>
          <a:xfrm flipV="1">
            <a:off x="3378200" y="3263900"/>
            <a:ext cx="88900" cy="114300"/>
          </a:xfrm>
          <a:prstGeom prst="line">
            <a:avLst/>
          </a:prstGeom>
          <a:noFill/>
          <a:ln w="25400">
            <a:solidFill>
              <a:srgbClr val="F4F0E7"/>
            </a:solidFill>
            <a:prstDash val="solid"/>
          </a:ln>
        </p:spPr>
      </p:sp>
      <p:sp>
        <p:nvSpPr>
          <p:cNvPr id="17" name="Shape 15"/>
          <p:cNvSpPr/>
          <p:nvPr/>
        </p:nvSpPr>
        <p:spPr>
          <a:xfrm flipV="1">
            <a:off x="3467100" y="3263900"/>
            <a:ext cx="88900" cy="114300"/>
          </a:xfrm>
          <a:prstGeom prst="line">
            <a:avLst/>
          </a:prstGeom>
          <a:noFill/>
          <a:ln w="25400">
            <a:solidFill>
              <a:srgbClr val="F4F0E7"/>
            </a:solidFill>
            <a:prstDash val="solid"/>
          </a:ln>
        </p:spPr>
      </p:sp>
      <p:sp>
        <p:nvSpPr>
          <p:cNvPr id="18" name="Text 16"/>
          <p:cNvSpPr/>
          <p:nvPr/>
        </p:nvSpPr>
        <p:spPr>
          <a:xfrm>
            <a:off x="30099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Institutions</a:t>
            </a:r>
            <a:endParaRPr lang="en-US" sz="1200" dirty="0"/>
          </a:p>
        </p:txBody>
      </p:sp>
      <p:sp>
        <p:nvSpPr>
          <p:cNvPr id="19" name="Shape 17"/>
          <p:cNvSpPr/>
          <p:nvPr/>
        </p:nvSpPr>
        <p:spPr>
          <a:xfrm>
            <a:off x="5638800" y="3378200"/>
            <a:ext cx="406400" cy="215900"/>
          </a:xfrm>
          <a:prstGeom prst="ellipse">
            <a:avLst/>
          </a:prstGeom>
          <a:solidFill>
            <a:srgbClr val="F4F0E7"/>
          </a:solidFill>
          <a:ln w="6350">
            <a:solidFill>
              <a:srgbClr val="F4F0E7"/>
            </a:solidFill>
            <a:prstDash val="solid"/>
          </a:ln>
        </p:spPr>
      </p:sp>
      <p:sp>
        <p:nvSpPr>
          <p:cNvPr id="20" name="Shape 18"/>
          <p:cNvSpPr/>
          <p:nvPr/>
        </p:nvSpPr>
        <p:spPr>
          <a:xfrm>
            <a:off x="5778500" y="3530600"/>
            <a:ext cx="127000" cy="203200"/>
          </a:xfrm>
          <a:prstGeom prst="rect">
            <a:avLst/>
          </a:prstGeom>
          <a:solidFill>
            <a:srgbClr val="F4F0E7"/>
          </a:solidFill>
          <a:ln w="12700">
            <a:solidFill>
              <a:srgbClr val="F4F0E7"/>
            </a:solidFill>
            <a:prstDash val="solid"/>
          </a:ln>
        </p:spPr>
      </p:sp>
      <p:sp>
        <p:nvSpPr>
          <p:cNvPr id="21" name="Text 19"/>
          <p:cNvSpPr/>
          <p:nvPr/>
        </p:nvSpPr>
        <p:spPr>
          <a:xfrm>
            <a:off x="53848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Resources</a:t>
            </a:r>
            <a:endParaRPr lang="en-US" sz="1200" dirty="0"/>
          </a:p>
        </p:txBody>
      </p:sp>
      <p:sp>
        <p:nvSpPr>
          <p:cNvPr id="22" name="Shape 20"/>
          <p:cNvSpPr/>
          <p:nvPr/>
        </p:nvSpPr>
        <p:spPr>
          <a:xfrm rot="-2100000">
            <a:off x="901700" y="4394200"/>
            <a:ext cx="177800" cy="304800"/>
          </a:xfrm>
          <a:prstGeom prst="ellipse">
            <a:avLst/>
          </a:prstGeom>
          <a:solidFill>
            <a:srgbClr val="F4F0E7"/>
          </a:solidFill>
          <a:ln w="6350">
            <a:solidFill>
              <a:srgbClr val="F4F0E7"/>
            </a:solidFill>
            <a:prstDash val="solid"/>
          </a:ln>
        </p:spPr>
      </p:sp>
      <p:sp>
        <p:nvSpPr>
          <p:cNvPr id="23" name="Shape 21"/>
          <p:cNvSpPr/>
          <p:nvPr/>
        </p:nvSpPr>
        <p:spPr>
          <a:xfrm rot="2100000">
            <a:off x="1092200" y="4419600"/>
            <a:ext cx="177800" cy="304800"/>
          </a:xfrm>
          <a:prstGeom prst="ellipse">
            <a:avLst/>
          </a:prstGeom>
          <a:solidFill>
            <a:srgbClr val="F4F0E7"/>
          </a:solidFill>
          <a:ln w="6350">
            <a:solidFill>
              <a:srgbClr val="F4F0E7"/>
            </a:solidFill>
            <a:prstDash val="solid"/>
          </a:ln>
        </p:spPr>
      </p:sp>
      <p:sp>
        <p:nvSpPr>
          <p:cNvPr id="24" name="Shape 22"/>
          <p:cNvSpPr/>
          <p:nvPr/>
        </p:nvSpPr>
        <p:spPr>
          <a:xfrm>
            <a:off x="1069975" y="4546600"/>
            <a:ext cx="19050" cy="241300"/>
          </a:xfrm>
          <a:prstGeom prst="rect">
            <a:avLst/>
          </a:prstGeom>
          <a:solidFill>
            <a:srgbClr val="F4F0E7"/>
          </a:solidFill>
          <a:ln w="12700">
            <a:solidFill>
              <a:srgbClr val="F4F0E7"/>
            </a:solidFill>
            <a:prstDash val="solid"/>
          </a:ln>
        </p:spPr>
      </p:sp>
      <p:sp>
        <p:nvSpPr>
          <p:cNvPr id="25" name="Text 23"/>
          <p:cNvSpPr/>
          <p:nvPr/>
        </p:nvSpPr>
        <p:spPr>
          <a:xfrm>
            <a:off x="6223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Skills</a:t>
            </a:r>
            <a:endParaRPr lang="en-US" sz="1200" dirty="0"/>
          </a:p>
        </p:txBody>
      </p:sp>
      <p:sp>
        <p:nvSpPr>
          <p:cNvPr id="26" name="Shape 24"/>
          <p:cNvSpPr/>
          <p:nvPr/>
        </p:nvSpPr>
        <p:spPr>
          <a:xfrm>
            <a:off x="3302000" y="4394200"/>
            <a:ext cx="330200" cy="330200"/>
          </a:xfrm>
          <a:prstGeom prst="ellipse">
            <a:avLst/>
          </a:prstGeom>
          <a:solidFill>
            <a:srgbClr val="F4F0E7"/>
          </a:solidFill>
          <a:ln w="6350">
            <a:solidFill>
              <a:srgbClr val="F4F0E7"/>
            </a:solidFill>
            <a:prstDash val="solid"/>
          </a:ln>
        </p:spPr>
      </p:sp>
      <p:sp>
        <p:nvSpPr>
          <p:cNvPr id="27" name="Shape 25"/>
          <p:cNvSpPr/>
          <p:nvPr/>
        </p:nvSpPr>
        <p:spPr>
          <a:xfrm flipV="1">
            <a:off x="3403600" y="4267200"/>
            <a:ext cx="63500" cy="127000"/>
          </a:xfrm>
          <a:prstGeom prst="line">
            <a:avLst/>
          </a:prstGeom>
          <a:noFill/>
          <a:ln w="25400">
            <a:solidFill>
              <a:srgbClr val="F4F0E7"/>
            </a:solidFill>
            <a:prstDash val="solid"/>
          </a:ln>
        </p:spPr>
      </p:sp>
      <p:sp>
        <p:nvSpPr>
          <p:cNvPr id="28" name="Shape 26"/>
          <p:cNvSpPr/>
          <p:nvPr/>
        </p:nvSpPr>
        <p:spPr>
          <a:xfrm flipV="1">
            <a:off x="3467100" y="4267200"/>
            <a:ext cx="63500" cy="127000"/>
          </a:xfrm>
          <a:prstGeom prst="line">
            <a:avLst/>
          </a:prstGeom>
          <a:noFill/>
          <a:ln w="25400">
            <a:solidFill>
              <a:srgbClr val="F4F0E7"/>
            </a:solidFill>
            <a:prstDash val="solid"/>
          </a:ln>
        </p:spPr>
      </p:sp>
      <p:sp>
        <p:nvSpPr>
          <p:cNvPr id="29" name="Shape 27"/>
          <p:cNvSpPr/>
          <p:nvPr/>
        </p:nvSpPr>
        <p:spPr>
          <a:xfrm>
            <a:off x="3454400" y="4470400"/>
            <a:ext cx="25400" cy="215900"/>
          </a:xfrm>
          <a:prstGeom prst="rect">
            <a:avLst/>
          </a:prstGeom>
          <a:solidFill>
            <a:srgbClr val="252525"/>
          </a:solidFill>
          <a:ln w="12700">
            <a:solidFill>
              <a:srgbClr val="252525"/>
            </a:solidFill>
            <a:prstDash val="solid"/>
          </a:ln>
        </p:spPr>
      </p:sp>
      <p:sp>
        <p:nvSpPr>
          <p:cNvPr id="30" name="Text 28"/>
          <p:cNvSpPr/>
          <p:nvPr/>
        </p:nvSpPr>
        <p:spPr>
          <a:xfrm>
            <a:off x="30099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Markets</a:t>
            </a:r>
            <a:endParaRPr lang="en-US" sz="1200" dirty="0"/>
          </a:p>
        </p:txBody>
      </p:sp>
      <p:sp>
        <p:nvSpPr>
          <p:cNvPr id="31" name="Shape 29"/>
          <p:cNvSpPr/>
          <p:nvPr/>
        </p:nvSpPr>
        <p:spPr>
          <a:xfrm>
            <a:off x="5683250" y="4349750"/>
            <a:ext cx="88900" cy="88900"/>
          </a:xfrm>
          <a:prstGeom prst="ellipse">
            <a:avLst/>
          </a:prstGeom>
          <a:solidFill>
            <a:srgbClr val="F4F0E7"/>
          </a:solidFill>
          <a:ln w="5080">
            <a:solidFill>
              <a:srgbClr val="F4F0E7"/>
            </a:solidFill>
            <a:prstDash val="solid"/>
          </a:ln>
        </p:spPr>
      </p:sp>
      <p:sp>
        <p:nvSpPr>
          <p:cNvPr id="32" name="Shape 30"/>
          <p:cNvSpPr/>
          <p:nvPr/>
        </p:nvSpPr>
        <p:spPr>
          <a:xfrm>
            <a:off x="5848350" y="4349750"/>
            <a:ext cx="88900" cy="88900"/>
          </a:xfrm>
          <a:prstGeom prst="ellipse">
            <a:avLst/>
          </a:prstGeom>
          <a:solidFill>
            <a:srgbClr val="F4F0E7"/>
          </a:solidFill>
          <a:ln w="5080">
            <a:solidFill>
              <a:srgbClr val="F4F0E7"/>
            </a:solidFill>
            <a:prstDash val="solid"/>
          </a:ln>
        </p:spPr>
      </p:sp>
      <p:sp>
        <p:nvSpPr>
          <p:cNvPr id="33" name="Shape 31"/>
          <p:cNvSpPr/>
          <p:nvPr/>
        </p:nvSpPr>
        <p:spPr>
          <a:xfrm>
            <a:off x="5759450" y="4476750"/>
            <a:ext cx="88900" cy="88900"/>
          </a:xfrm>
          <a:prstGeom prst="ellipse">
            <a:avLst/>
          </a:prstGeom>
          <a:solidFill>
            <a:srgbClr val="F4F0E7"/>
          </a:solidFill>
          <a:ln w="5080">
            <a:solidFill>
              <a:srgbClr val="F4F0E7"/>
            </a:solidFill>
            <a:prstDash val="solid"/>
          </a:ln>
        </p:spPr>
      </p:sp>
      <p:sp>
        <p:nvSpPr>
          <p:cNvPr id="34" name="Shape 32"/>
          <p:cNvSpPr/>
          <p:nvPr/>
        </p:nvSpPr>
        <p:spPr>
          <a:xfrm>
            <a:off x="5911850" y="4514850"/>
            <a:ext cx="88900" cy="88900"/>
          </a:xfrm>
          <a:prstGeom prst="ellipse">
            <a:avLst/>
          </a:prstGeom>
          <a:solidFill>
            <a:srgbClr val="F4F0E7"/>
          </a:solidFill>
          <a:ln w="5080">
            <a:solidFill>
              <a:srgbClr val="F4F0E7"/>
            </a:solidFill>
            <a:prstDash val="solid"/>
          </a:ln>
        </p:spPr>
      </p:sp>
      <p:sp>
        <p:nvSpPr>
          <p:cNvPr id="35" name="Shape 33"/>
          <p:cNvSpPr/>
          <p:nvPr/>
        </p:nvSpPr>
        <p:spPr>
          <a:xfrm>
            <a:off x="5632450" y="4552950"/>
            <a:ext cx="88900" cy="88900"/>
          </a:xfrm>
          <a:prstGeom prst="ellipse">
            <a:avLst/>
          </a:prstGeom>
          <a:solidFill>
            <a:srgbClr val="F4F0E7"/>
          </a:solidFill>
          <a:ln w="5080">
            <a:solidFill>
              <a:srgbClr val="F4F0E7"/>
            </a:solidFill>
            <a:prstDash val="solid"/>
          </a:ln>
        </p:spPr>
      </p:sp>
      <p:sp>
        <p:nvSpPr>
          <p:cNvPr id="36" name="Shape 34"/>
          <p:cNvSpPr/>
          <p:nvPr/>
        </p:nvSpPr>
        <p:spPr>
          <a:xfrm>
            <a:off x="5797550" y="4629150"/>
            <a:ext cx="88900" cy="88900"/>
          </a:xfrm>
          <a:prstGeom prst="ellipse">
            <a:avLst/>
          </a:prstGeom>
          <a:solidFill>
            <a:srgbClr val="F4F0E7"/>
          </a:solidFill>
          <a:ln w="5080">
            <a:solidFill>
              <a:srgbClr val="F4F0E7"/>
            </a:solidFill>
            <a:prstDash val="solid"/>
          </a:ln>
        </p:spPr>
      </p:sp>
      <p:sp>
        <p:nvSpPr>
          <p:cNvPr id="37" name="Text 35"/>
          <p:cNvSpPr/>
          <p:nvPr/>
        </p:nvSpPr>
        <p:spPr>
          <a:xfrm>
            <a:off x="53848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Culture</a:t>
            </a:r>
            <a:endParaRPr lang="en-US" sz="1200" dirty="0"/>
          </a:p>
        </p:txBody>
      </p:sp>
      <p:sp>
        <p:nvSpPr>
          <p:cNvPr id="38" name="Shape 36"/>
          <p:cNvSpPr/>
          <p:nvPr/>
        </p:nvSpPr>
        <p:spPr>
          <a:xfrm>
            <a:off x="1841500" y="5118100"/>
            <a:ext cx="3873500" cy="1168400"/>
          </a:xfrm>
          <a:prstGeom prst="ellipse">
            <a:avLst/>
          </a:prstGeom>
          <a:solidFill>
            <a:srgbClr val="F4F0E7"/>
          </a:solidFill>
          <a:ln w="12700">
            <a:solidFill>
              <a:srgbClr val="F4F0E7"/>
            </a:solidFill>
            <a:prstDash val="solid"/>
          </a:ln>
        </p:spPr>
      </p:sp>
      <p:sp>
        <p:nvSpPr>
          <p:cNvPr id="39" name="Shape 37"/>
          <p:cNvSpPr/>
          <p:nvPr/>
        </p:nvSpPr>
        <p:spPr>
          <a:xfrm>
            <a:off x="1816100" y="5092700"/>
            <a:ext cx="3924300" cy="571500"/>
          </a:xfrm>
          <a:prstGeom prst="rect">
            <a:avLst/>
          </a:prstGeom>
          <a:solidFill>
            <a:srgbClr val="252525"/>
          </a:solidFill>
          <a:ln w="12700">
            <a:solidFill>
              <a:srgbClr val="252525"/>
            </a:solidFill>
            <a:prstDash val="solid"/>
          </a:ln>
        </p:spPr>
      </p:sp>
      <p:sp>
        <p:nvSpPr>
          <p:cNvPr id="40" name="Shape 38"/>
          <p:cNvSpPr/>
          <p:nvPr/>
        </p:nvSpPr>
        <p:spPr>
          <a:xfrm>
            <a:off x="1841500" y="5410200"/>
            <a:ext cx="3873500" cy="495300"/>
          </a:xfrm>
          <a:prstGeom prst="ellipse">
            <a:avLst/>
          </a:prstGeom>
          <a:solidFill>
            <a:srgbClr val="F4F0E7"/>
          </a:solidFill>
          <a:ln w="12700">
            <a:solidFill>
              <a:srgbClr val="F4F0E7"/>
            </a:solidFill>
            <a:prstDash val="solid"/>
          </a:ln>
        </p:spPr>
      </p:sp>
      <p:sp>
        <p:nvSpPr>
          <p:cNvPr id="41" name="Shape 39"/>
          <p:cNvSpPr/>
          <p:nvPr/>
        </p:nvSpPr>
        <p:spPr>
          <a:xfrm>
            <a:off x="1993900" y="5473700"/>
            <a:ext cx="3568700" cy="317500"/>
          </a:xfrm>
          <a:prstGeom prst="ellipse">
            <a:avLst/>
          </a:prstGeom>
          <a:solidFill>
            <a:srgbClr val="252525"/>
          </a:solidFill>
          <a:ln w="12700">
            <a:solidFill>
              <a:srgbClr val="252525"/>
            </a:solidFill>
            <a:prstDash val="solid"/>
          </a:ln>
        </p:spPr>
      </p:sp>
      <p:sp>
        <p:nvSpPr>
          <p:cNvPr id="42" name="Shape 40"/>
          <p:cNvSpPr/>
          <p:nvPr/>
        </p:nvSpPr>
        <p:spPr>
          <a:xfrm>
            <a:off x="3200400" y="6223000"/>
            <a:ext cx="1155700" cy="88900"/>
          </a:xfrm>
          <a:prstGeom prst="rect">
            <a:avLst/>
          </a:prstGeom>
          <a:solidFill>
            <a:srgbClr val="F4F0E7"/>
          </a:solidFill>
          <a:ln w="12700">
            <a:solidFill>
              <a:srgbClr val="F4F0E7"/>
            </a:solidFill>
            <a:prstDash val="solid"/>
          </a:ln>
        </p:spPr>
      </p:sp>
      <p:sp>
        <p:nvSpPr>
          <p:cNvPr id="43" name="Shape 41"/>
          <p:cNvSpPr/>
          <p:nvPr/>
        </p:nvSpPr>
        <p:spPr>
          <a:xfrm>
            <a:off x="2184400" y="6026150"/>
            <a:ext cx="3175000" cy="12700"/>
          </a:xfrm>
          <a:prstGeom prst="rect">
            <a:avLst/>
          </a:prstGeom>
          <a:solidFill>
            <a:srgbClr val="F4F0E7"/>
          </a:solidFill>
          <a:ln w="12700">
            <a:solidFill>
              <a:srgbClr val="F4F0E7"/>
            </a:solidFill>
            <a:prstDash val="solid"/>
          </a:ln>
        </p:spPr>
      </p:sp>
      <p:sp>
        <p:nvSpPr>
          <p:cNvPr id="44" name="Text 42"/>
          <p:cNvSpPr/>
          <p:nvPr/>
        </p:nvSpPr>
        <p:spPr>
          <a:xfrm>
            <a:off x="1600200" y="6565900"/>
            <a:ext cx="4470400" cy="342900"/>
          </a:xfrm>
          <a:prstGeom prst="rect">
            <a:avLst/>
          </a:prstGeom>
          <a:noFill/>
          <a:ln/>
        </p:spPr>
        <p:txBody>
          <a:bodyPr wrap="square" lIns="0" tIns="0" rIns="0" bIns="0" rtlCol="0" anchor="t"/>
          <a:lstStyle/>
          <a:p>
            <a:pPr algn="ctr" indent="0" marL="0">
              <a:lnSpc>
                <a:spcPct val="112000"/>
              </a:lnSpc>
              <a:buNone/>
            </a:pPr>
            <a:r>
              <a:rPr lang="en-US" sz="1800" b="1" dirty="0">
                <a:solidFill>
                  <a:srgbClr val="F4F0E7"/>
                </a:solidFill>
                <a:latin typeface="Montserrat" pitchFamily="34" charset="0"/>
                <a:ea typeface="Montserrat" pitchFamily="34" charset="-122"/>
                <a:cs typeface="Montserrat" pitchFamily="34" charset="-120"/>
              </a:rPr>
              <a:t>PRODUCTIVE CAPABILITY</a:t>
            </a:r>
            <a:endParaRPr lang="en-US" sz="1800" dirty="0"/>
          </a:p>
        </p:txBody>
      </p:sp>
      <p:sp>
        <p:nvSpPr>
          <p:cNvPr id="45" name="Text 43"/>
          <p:cNvSpPr/>
          <p:nvPr/>
        </p:nvSpPr>
        <p:spPr>
          <a:xfrm>
            <a:off x="457200" y="7188200"/>
            <a:ext cx="6642100" cy="1803400"/>
          </a:xfrm>
          <a:prstGeom prst="rect">
            <a:avLst/>
          </a:prstGeom>
          <a:noFill/>
          <a:ln/>
        </p:spPr>
        <p:txBody>
          <a:bodyPr wrap="square" lIns="0" tIns="0" rIns="0" bIns="0" rtlCol="0" anchor="t"/>
          <a:lstStyle/>
          <a:p>
            <a:pPr indent="0" marL="0">
              <a:lnSpc>
                <a:spcPct val="112000"/>
              </a:lnSpc>
              <a:buNone/>
            </a:pPr>
            <a:r>
              <a:rPr lang="en-US" sz="1050" dirty="0">
                <a:solidFill>
                  <a:srgbClr val="F4F0E7"/>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OUR TAKE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Development should feel like a better life.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Our priorities: health, buying power, freedom and living standards. Not just a bigger GDP.</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values, not a six-country wellbeing ranking. GDP: World Bank (2026), NY.GDP.PCAP.KD. Photographs: Amuzujoe (2020), Accra; Gaël Chardon (2008), Seoul. Full credits and licences: p. 28.</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25</a:t>
            </a:r>
            <a:endParaRPr lang="en-US" sz="1000" dirty="0"/>
          </a:p>
        </p:txBody>
      </p:sp>
      <p:sp>
        <p:nvSpPr>
          <p:cNvPr id="22" name="Shape 20"/>
          <p:cNvSpPr/>
          <p:nvPr/>
        </p:nvSpPr>
        <p:spPr>
          <a:xfrm>
            <a:off x="457200" y="3187700"/>
            <a:ext cx="3162300" cy="3251200"/>
          </a:xfrm>
          <a:prstGeom prst="rect">
            <a:avLst/>
          </a:prstGeom>
          <a:solidFill>
            <a:srgbClr val="B95332"/>
          </a:solidFill>
          <a:ln w="12700">
            <a:solidFill>
              <a:srgbClr val="B95332"/>
            </a:solidFill>
            <a:prstDash val="solid"/>
          </a:ln>
        </p:spPr>
      </p:sp>
      <p:sp>
        <p:nvSpPr>
          <p:cNvPr id="23" name="Shape 21"/>
          <p:cNvSpPr/>
          <p:nvPr/>
        </p:nvSpPr>
        <p:spPr>
          <a:xfrm>
            <a:off x="3937000" y="3187700"/>
            <a:ext cx="3162300" cy="3251200"/>
          </a:xfrm>
          <a:prstGeom prst="rect">
            <a:avLst/>
          </a:prstGeom>
          <a:solidFill>
            <a:srgbClr val="315A78"/>
          </a:solidFill>
          <a:ln w="12700">
            <a:solidFill>
              <a:srgbClr val="315A78"/>
            </a:solidFill>
            <a:prstDash val="solid"/>
          </a:ln>
        </p:spPr>
      </p:sp>
      <p:pic>
        <p:nvPicPr>
          <p:cNvPr id="24" name="Image 0" descr="/Users/marcusgrude-grodem/Documents/GitHub/USIL/africa-asia-development-magazine/design/canva_editorial_draft/assets/print/ghana_accra.jpg">    </p:cNvPr>
          <p:cNvPicPr>
            <a:picLocks noChangeAspect="1"/>
          </p:cNvPicPr>
          <p:nvPr/>
        </p:nvPicPr>
        <p:blipFill>
          <a:blip r:embed="rId1"/>
          <a:stretch>
            <a:fillRect/>
          </a:stretch>
        </p:blipFill>
        <p:spPr>
          <a:xfrm>
            <a:off x="1062037" y="3276600"/>
            <a:ext cx="1952625" cy="2603500"/>
          </a:xfrm>
          <a:prstGeom prst="rect">
            <a:avLst/>
          </a:prstGeom>
        </p:spPr>
      </p:pic>
      <p:pic>
        <p:nvPicPr>
          <p:cNvPr id="25" name="Image 1" descr="/Users/marcusgrude-grodem/Documents/GitHub/USIL/africa-asia-development-magazine/design/canva_editorial_draft/assets/print/korea_market.jpg">    </p:cNvPr>
          <p:cNvPicPr>
            <a:picLocks noChangeAspect="1"/>
          </p:cNvPicPr>
          <p:nvPr/>
        </p:nvPicPr>
        <p:blipFill>
          <a:blip r:embed="rId2"/>
          <a:stretch>
            <a:fillRect/>
          </a:stretch>
        </p:blipFill>
        <p:spPr>
          <a:xfrm>
            <a:off x="4025900" y="3459163"/>
            <a:ext cx="2984500" cy="2238375"/>
          </a:xfrm>
          <a:prstGeom prst="rect">
            <a:avLst/>
          </a:prstGeom>
        </p:spPr>
      </p:pic>
      <p:sp>
        <p:nvSpPr>
          <p:cNvPr id="26" name="Text 22"/>
          <p:cNvSpPr/>
          <p:nvPr/>
        </p:nvSpPr>
        <p:spPr>
          <a:xfrm>
            <a:off x="5715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 / ACCRA MARKET · 2020</a:t>
            </a:r>
            <a:endParaRPr lang="en-US" sz="800" dirty="0"/>
          </a:p>
        </p:txBody>
      </p:sp>
      <p:sp>
        <p:nvSpPr>
          <p:cNvPr id="27" name="Text 23"/>
          <p:cNvSpPr/>
          <p:nvPr/>
        </p:nvSpPr>
        <p:spPr>
          <a:xfrm>
            <a:off x="40513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SEOUL MARKET · 2008</a:t>
            </a:r>
            <a:endParaRPr lang="en-US" sz="800" dirty="0"/>
          </a:p>
        </p:txBody>
      </p:sp>
      <p:sp>
        <p:nvSpPr>
          <p:cNvPr id="28" name="Text 24"/>
          <p:cNvSpPr/>
          <p:nvPr/>
        </p:nvSpPr>
        <p:spPr>
          <a:xfrm>
            <a:off x="457200" y="6756400"/>
            <a:ext cx="6642100" cy="4445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Everyday places. Actual people.</a:t>
            </a:r>
            <a:endParaRPr lang="en-US" sz="2300" dirty="0"/>
          </a:p>
        </p:txBody>
      </p:sp>
      <p:sp>
        <p:nvSpPr>
          <p:cNvPr id="29" name="Text 25"/>
          <p:cNvSpPr/>
          <p:nvPr/>
        </p:nvSpPr>
        <p:spPr>
          <a:xfrm>
            <a:off x="457200" y="7442200"/>
            <a:ext cx="6642100" cy="1054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For us, higher income matters because of the life it can support: what people can buy, whether they are healthy, and whether they have more freedom.</a:t>
            </a:r>
            <a:endParaRPr lang="en-US" sz="1500" dirty="0"/>
          </a:p>
        </p:txBody>
      </p:sp>
      <p:sp>
        <p:nvSpPr>
          <p:cNvPr id="30" name="Text 26"/>
          <p:cNvSpPr/>
          <p:nvPr/>
        </p:nvSpPr>
        <p:spPr>
          <a:xfrm>
            <a:off x="457200" y="87757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These market photographs show human-scale context, not measured health, freedom, purchasing power or family life.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ANSWER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starts. Paths can change.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Culture matters. So do history, resources, institutions and what countries build next.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Schematic starting conditions, not a quantitative ranking or forecast.</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viewpoint informed by the six-country comparison. Inheritance sources: pp. 5–8. Cultural change: Hofstede (2011, pp. 6–8, 16); Beugelsdijk and Welzel (2018, pp. 1469–1475, Figures 7–9).</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26</a:t>
            </a:r>
            <a:endParaRPr lang="en-US" sz="1000" dirty="0"/>
          </a:p>
        </p:txBody>
      </p:sp>
      <p:sp>
        <p:nvSpPr>
          <p:cNvPr id="11" name="Text 9"/>
          <p:cNvSpPr/>
          <p:nvPr/>
        </p:nvSpPr>
        <p:spPr>
          <a:xfrm>
            <a:off x="457200" y="3200400"/>
            <a:ext cx="6642100" cy="2286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DIFFERENT INHERITANCES → NEW CHOICES</a:t>
            </a:r>
            <a:endParaRPr lang="en-US" sz="900" dirty="0"/>
          </a:p>
        </p:txBody>
      </p:sp>
      <p:sp>
        <p:nvSpPr>
          <p:cNvPr id="12" name="Text 10"/>
          <p:cNvSpPr/>
          <p:nvPr/>
        </p:nvSpPr>
        <p:spPr>
          <a:xfrm>
            <a:off x="457200" y="369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Ghana</a:t>
            </a:r>
            <a:endParaRPr lang="en-US" sz="1100" dirty="0"/>
          </a:p>
        </p:txBody>
      </p:sp>
      <p:sp>
        <p:nvSpPr>
          <p:cNvPr id="13" name="Shape 11"/>
          <p:cNvSpPr/>
          <p:nvPr/>
        </p:nvSpPr>
        <p:spPr>
          <a:xfrm>
            <a:off x="2387600" y="3657600"/>
            <a:ext cx="2908300" cy="368300"/>
          </a:xfrm>
          <a:prstGeom prst="rect">
            <a:avLst/>
          </a:prstGeom>
          <a:solidFill>
            <a:srgbClr val="B95332"/>
          </a:solidFill>
          <a:ln w="12700">
            <a:solidFill>
              <a:srgbClr val="B95332"/>
            </a:solidFill>
            <a:prstDash val="solid"/>
          </a:ln>
        </p:spPr>
      </p:sp>
      <p:sp>
        <p:nvSpPr>
          <p:cNvPr id="14" name="Text 12"/>
          <p:cNvSpPr/>
          <p:nvPr/>
        </p:nvSpPr>
        <p:spPr>
          <a:xfrm>
            <a:off x="2501900" y="375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Cocoa exports</a:t>
            </a:r>
            <a:endParaRPr lang="en-US" sz="1050" dirty="0"/>
          </a:p>
        </p:txBody>
      </p:sp>
      <p:sp>
        <p:nvSpPr>
          <p:cNvPr id="15" name="Shape 13"/>
          <p:cNvSpPr/>
          <p:nvPr/>
        </p:nvSpPr>
        <p:spPr>
          <a:xfrm>
            <a:off x="5448300" y="3825875"/>
            <a:ext cx="1485900" cy="19050"/>
          </a:xfrm>
          <a:prstGeom prst="rect">
            <a:avLst/>
          </a:prstGeom>
          <a:solidFill>
            <a:srgbClr val="F4F0E7"/>
          </a:solidFill>
          <a:ln w="12700">
            <a:solidFill>
              <a:srgbClr val="F4F0E7"/>
            </a:solidFill>
            <a:prstDash val="solid"/>
          </a:ln>
        </p:spPr>
      </p:sp>
      <p:sp>
        <p:nvSpPr>
          <p:cNvPr id="16" name="Text 14"/>
          <p:cNvSpPr/>
          <p:nvPr/>
        </p:nvSpPr>
        <p:spPr>
          <a:xfrm>
            <a:off x="6845300" y="368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17" name="Text 15"/>
          <p:cNvSpPr/>
          <p:nvPr/>
        </p:nvSpPr>
        <p:spPr>
          <a:xfrm>
            <a:off x="457200" y="4203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Botswana</a:t>
            </a:r>
            <a:endParaRPr lang="en-US" sz="1100" dirty="0"/>
          </a:p>
        </p:txBody>
      </p:sp>
      <p:sp>
        <p:nvSpPr>
          <p:cNvPr id="18" name="Shape 16"/>
          <p:cNvSpPr/>
          <p:nvPr/>
        </p:nvSpPr>
        <p:spPr>
          <a:xfrm>
            <a:off x="2387600" y="4165600"/>
            <a:ext cx="2908300" cy="368300"/>
          </a:xfrm>
          <a:prstGeom prst="rect">
            <a:avLst/>
          </a:prstGeom>
          <a:solidFill>
            <a:srgbClr val="3F684E"/>
          </a:solidFill>
          <a:ln w="12700">
            <a:solidFill>
              <a:srgbClr val="3F684E"/>
            </a:solidFill>
            <a:prstDash val="solid"/>
          </a:ln>
        </p:spPr>
      </p:sp>
      <p:sp>
        <p:nvSpPr>
          <p:cNvPr id="19" name="Text 17"/>
          <p:cNvSpPr/>
          <p:nvPr/>
        </p:nvSpPr>
        <p:spPr>
          <a:xfrm>
            <a:off x="2501900" y="4267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Limited public assets</a:t>
            </a:r>
            <a:endParaRPr lang="en-US" sz="1050" dirty="0"/>
          </a:p>
        </p:txBody>
      </p:sp>
      <p:sp>
        <p:nvSpPr>
          <p:cNvPr id="20" name="Shape 18"/>
          <p:cNvSpPr/>
          <p:nvPr/>
        </p:nvSpPr>
        <p:spPr>
          <a:xfrm>
            <a:off x="5448300" y="4333875"/>
            <a:ext cx="1485900" cy="19050"/>
          </a:xfrm>
          <a:prstGeom prst="rect">
            <a:avLst/>
          </a:prstGeom>
          <a:solidFill>
            <a:srgbClr val="F4F0E7"/>
          </a:solidFill>
          <a:ln w="12700">
            <a:solidFill>
              <a:srgbClr val="F4F0E7"/>
            </a:solidFill>
            <a:prstDash val="solid"/>
          </a:ln>
        </p:spPr>
      </p:sp>
      <p:sp>
        <p:nvSpPr>
          <p:cNvPr id="21" name="Text 19"/>
          <p:cNvSpPr/>
          <p:nvPr/>
        </p:nvSpPr>
        <p:spPr>
          <a:xfrm>
            <a:off x="6845300" y="4191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457200" y="4711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Mauritius</a:t>
            </a:r>
            <a:endParaRPr lang="en-US" sz="1100" dirty="0"/>
          </a:p>
        </p:txBody>
      </p:sp>
      <p:sp>
        <p:nvSpPr>
          <p:cNvPr id="23" name="Shape 21"/>
          <p:cNvSpPr/>
          <p:nvPr/>
        </p:nvSpPr>
        <p:spPr>
          <a:xfrm>
            <a:off x="2387600" y="4673600"/>
            <a:ext cx="2908300" cy="368300"/>
          </a:xfrm>
          <a:prstGeom prst="rect">
            <a:avLst/>
          </a:prstGeom>
          <a:solidFill>
            <a:srgbClr val="D6A23A"/>
          </a:solidFill>
          <a:ln w="12700">
            <a:solidFill>
              <a:srgbClr val="D6A23A"/>
            </a:solidFill>
            <a:prstDash val="solid"/>
          </a:ln>
        </p:spPr>
      </p:sp>
      <p:sp>
        <p:nvSpPr>
          <p:cNvPr id="24" name="Text 22"/>
          <p:cNvSpPr/>
          <p:nvPr/>
        </p:nvSpPr>
        <p:spPr>
          <a:xfrm>
            <a:off x="2501900" y="4775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Sugar exports</a:t>
            </a:r>
            <a:endParaRPr lang="en-US" sz="1050" dirty="0"/>
          </a:p>
        </p:txBody>
      </p:sp>
      <p:sp>
        <p:nvSpPr>
          <p:cNvPr id="25" name="Shape 23"/>
          <p:cNvSpPr/>
          <p:nvPr/>
        </p:nvSpPr>
        <p:spPr>
          <a:xfrm>
            <a:off x="5448300" y="4841875"/>
            <a:ext cx="1485900" cy="19050"/>
          </a:xfrm>
          <a:prstGeom prst="rect">
            <a:avLst/>
          </a:prstGeom>
          <a:solidFill>
            <a:srgbClr val="F4F0E7"/>
          </a:solidFill>
          <a:ln w="12700">
            <a:solidFill>
              <a:srgbClr val="F4F0E7"/>
            </a:solidFill>
            <a:prstDash val="solid"/>
          </a:ln>
        </p:spPr>
      </p:sp>
      <p:sp>
        <p:nvSpPr>
          <p:cNvPr id="26" name="Text 24"/>
          <p:cNvSpPr/>
          <p:nvPr/>
        </p:nvSpPr>
        <p:spPr>
          <a:xfrm>
            <a:off x="6845300" y="4699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27" name="Text 25"/>
          <p:cNvSpPr/>
          <p:nvPr/>
        </p:nvSpPr>
        <p:spPr>
          <a:xfrm>
            <a:off x="457200" y="5219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South Korea</a:t>
            </a:r>
            <a:endParaRPr lang="en-US" sz="1100" dirty="0"/>
          </a:p>
        </p:txBody>
      </p:sp>
      <p:sp>
        <p:nvSpPr>
          <p:cNvPr id="28" name="Shape 26"/>
          <p:cNvSpPr/>
          <p:nvPr/>
        </p:nvSpPr>
        <p:spPr>
          <a:xfrm>
            <a:off x="2387600" y="5181600"/>
            <a:ext cx="2908300" cy="368300"/>
          </a:xfrm>
          <a:prstGeom prst="rect">
            <a:avLst/>
          </a:prstGeom>
          <a:solidFill>
            <a:srgbClr val="315A78"/>
          </a:solidFill>
          <a:ln w="12700">
            <a:solidFill>
              <a:srgbClr val="315A78"/>
            </a:solidFill>
            <a:prstDash val="solid"/>
          </a:ln>
        </p:spPr>
      </p:sp>
      <p:sp>
        <p:nvSpPr>
          <p:cNvPr id="29" name="Text 27"/>
          <p:cNvSpPr/>
          <p:nvPr/>
        </p:nvSpPr>
        <p:spPr>
          <a:xfrm>
            <a:off x="2501900" y="5283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Division and war</a:t>
            </a:r>
            <a:endParaRPr lang="en-US" sz="1050" dirty="0"/>
          </a:p>
        </p:txBody>
      </p:sp>
      <p:sp>
        <p:nvSpPr>
          <p:cNvPr id="30" name="Shape 28"/>
          <p:cNvSpPr/>
          <p:nvPr/>
        </p:nvSpPr>
        <p:spPr>
          <a:xfrm>
            <a:off x="5448300" y="5349875"/>
            <a:ext cx="1485900" cy="19050"/>
          </a:xfrm>
          <a:prstGeom prst="rect">
            <a:avLst/>
          </a:prstGeom>
          <a:solidFill>
            <a:srgbClr val="F4F0E7"/>
          </a:solidFill>
          <a:ln w="12700">
            <a:solidFill>
              <a:srgbClr val="F4F0E7"/>
            </a:solidFill>
            <a:prstDash val="solid"/>
          </a:ln>
        </p:spPr>
      </p:sp>
      <p:sp>
        <p:nvSpPr>
          <p:cNvPr id="31" name="Text 29"/>
          <p:cNvSpPr/>
          <p:nvPr/>
        </p:nvSpPr>
        <p:spPr>
          <a:xfrm>
            <a:off x="6845300" y="5207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2" name="Text 30"/>
          <p:cNvSpPr/>
          <p:nvPr/>
        </p:nvSpPr>
        <p:spPr>
          <a:xfrm>
            <a:off x="457200" y="5727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Malaysia</a:t>
            </a:r>
            <a:endParaRPr lang="en-US" sz="1100" dirty="0"/>
          </a:p>
        </p:txBody>
      </p:sp>
      <p:sp>
        <p:nvSpPr>
          <p:cNvPr id="33" name="Shape 31"/>
          <p:cNvSpPr/>
          <p:nvPr/>
        </p:nvSpPr>
        <p:spPr>
          <a:xfrm>
            <a:off x="2387600" y="5689600"/>
            <a:ext cx="2908300" cy="368300"/>
          </a:xfrm>
          <a:prstGeom prst="rect">
            <a:avLst/>
          </a:prstGeom>
          <a:solidFill>
            <a:srgbClr val="3E7568"/>
          </a:solidFill>
          <a:ln w="12700">
            <a:solidFill>
              <a:srgbClr val="3E7568"/>
            </a:solidFill>
            <a:prstDash val="solid"/>
          </a:ln>
        </p:spPr>
      </p:sp>
      <p:sp>
        <p:nvSpPr>
          <p:cNvPr id="34" name="Text 32"/>
          <p:cNvSpPr/>
          <p:nvPr/>
        </p:nvSpPr>
        <p:spPr>
          <a:xfrm>
            <a:off x="2501900" y="5791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Commodity exports</a:t>
            </a:r>
            <a:endParaRPr lang="en-US" sz="1050" dirty="0"/>
          </a:p>
        </p:txBody>
      </p:sp>
      <p:sp>
        <p:nvSpPr>
          <p:cNvPr id="35" name="Shape 33"/>
          <p:cNvSpPr/>
          <p:nvPr/>
        </p:nvSpPr>
        <p:spPr>
          <a:xfrm>
            <a:off x="5448300" y="5857875"/>
            <a:ext cx="1485900" cy="19050"/>
          </a:xfrm>
          <a:prstGeom prst="rect">
            <a:avLst/>
          </a:prstGeom>
          <a:solidFill>
            <a:srgbClr val="F4F0E7"/>
          </a:solidFill>
          <a:ln w="12700">
            <a:solidFill>
              <a:srgbClr val="F4F0E7"/>
            </a:solidFill>
            <a:prstDash val="solid"/>
          </a:ln>
        </p:spPr>
      </p:sp>
      <p:sp>
        <p:nvSpPr>
          <p:cNvPr id="36" name="Text 34"/>
          <p:cNvSpPr/>
          <p:nvPr/>
        </p:nvSpPr>
        <p:spPr>
          <a:xfrm>
            <a:off x="6845300" y="5715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7" name="Text 35"/>
          <p:cNvSpPr/>
          <p:nvPr/>
        </p:nvSpPr>
        <p:spPr>
          <a:xfrm>
            <a:off x="457200" y="623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Philippines</a:t>
            </a:r>
            <a:endParaRPr lang="en-US" sz="1100" dirty="0"/>
          </a:p>
        </p:txBody>
      </p:sp>
      <p:sp>
        <p:nvSpPr>
          <p:cNvPr id="38" name="Shape 36"/>
          <p:cNvSpPr/>
          <p:nvPr/>
        </p:nvSpPr>
        <p:spPr>
          <a:xfrm>
            <a:off x="2387600" y="6197600"/>
            <a:ext cx="2908300" cy="368300"/>
          </a:xfrm>
          <a:prstGeom prst="rect">
            <a:avLst/>
          </a:prstGeom>
          <a:solidFill>
            <a:srgbClr val="A63A3A"/>
          </a:solidFill>
          <a:ln w="12700">
            <a:solidFill>
              <a:srgbClr val="A63A3A"/>
            </a:solidFill>
            <a:prstDash val="solid"/>
          </a:ln>
        </p:spPr>
      </p:sp>
      <p:sp>
        <p:nvSpPr>
          <p:cNvPr id="39" name="Text 37"/>
          <p:cNvSpPr/>
          <p:nvPr/>
        </p:nvSpPr>
        <p:spPr>
          <a:xfrm>
            <a:off x="2501900" y="629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Concentrated power</a:t>
            </a:r>
            <a:endParaRPr lang="en-US" sz="1050" dirty="0"/>
          </a:p>
        </p:txBody>
      </p:sp>
      <p:sp>
        <p:nvSpPr>
          <p:cNvPr id="40" name="Shape 38"/>
          <p:cNvSpPr/>
          <p:nvPr/>
        </p:nvSpPr>
        <p:spPr>
          <a:xfrm>
            <a:off x="5448300" y="6365875"/>
            <a:ext cx="1485900" cy="19050"/>
          </a:xfrm>
          <a:prstGeom prst="rect">
            <a:avLst/>
          </a:prstGeom>
          <a:solidFill>
            <a:srgbClr val="F4F0E7"/>
          </a:solidFill>
          <a:ln w="12700">
            <a:solidFill>
              <a:srgbClr val="F4F0E7"/>
            </a:solidFill>
            <a:prstDash val="solid"/>
          </a:ln>
        </p:spPr>
      </p:sp>
      <p:sp>
        <p:nvSpPr>
          <p:cNvPr id="41" name="Text 39"/>
          <p:cNvSpPr/>
          <p:nvPr/>
        </p:nvSpPr>
        <p:spPr>
          <a:xfrm>
            <a:off x="6845300" y="622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42" name="Text 40"/>
          <p:cNvSpPr/>
          <p:nvPr/>
        </p:nvSpPr>
        <p:spPr>
          <a:xfrm>
            <a:off x="457200" y="7010400"/>
            <a:ext cx="6642100" cy="1041400"/>
          </a:xfrm>
          <a:prstGeom prst="rect">
            <a:avLst/>
          </a:prstGeom>
          <a:noFill/>
          <a:ln/>
        </p:spPr>
        <p:txBody>
          <a:bodyPr wrap="square" lIns="0" tIns="0" rIns="0" bIns="0" rtlCol="0" anchor="t"/>
          <a:lstStyle/>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History shapes the start.</a:t>
            </a:r>
            <a:endParaRPr lang="en-US" sz="2800" dirty="0"/>
          </a:p>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It does not fix the finish.</a:t>
            </a:r>
            <a:endParaRPr lang="en-US" sz="2800" dirty="0"/>
          </a:p>
        </p:txBody>
      </p:sp>
      <p:sp>
        <p:nvSpPr>
          <p:cNvPr id="43" name="Shape 41"/>
          <p:cNvSpPr/>
          <p:nvPr/>
        </p:nvSpPr>
        <p:spPr>
          <a:xfrm>
            <a:off x="457200" y="8153400"/>
            <a:ext cx="6642100" cy="952500"/>
          </a:xfrm>
          <a:prstGeom prst="rect">
            <a:avLst/>
          </a:prstGeom>
          <a:solidFill>
            <a:srgbClr val="F4F0E7"/>
          </a:solidFill>
          <a:ln w="12700">
            <a:solidFill>
              <a:srgbClr val="F4F0E7"/>
            </a:solidFill>
            <a:prstDash val="solid"/>
          </a:ln>
        </p:spPr>
      </p:sp>
      <p:sp>
        <p:nvSpPr>
          <p:cNvPr id="44" name="Text 42"/>
          <p:cNvSpPr/>
          <p:nvPr/>
        </p:nvSpPr>
        <p:spPr>
          <a:xfrm>
            <a:off x="635000" y="82804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5" name="Text 43"/>
          <p:cNvSpPr/>
          <p:nvPr/>
        </p:nvSpPr>
        <p:spPr>
          <a:xfrm>
            <a:off x="635000" y="8547100"/>
            <a:ext cx="6286500" cy="482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the original Africa-versus-Asia question is too simple. Culture plays a part, but different starting points and opportunities make the answer much bigger.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SOURCES + COLOPHON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Sources. Credits. What remains open.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Complete editorial draft — final evidence, rights and physical-print checks pending.</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Data: World Bank WDI / ILO modelled employment. Map: Natural Earth 1:110m Admin 0 Countries v5.1.1, public domain. Full image credits: p. 28.</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27</a:t>
            </a:r>
            <a:endParaRPr lang="en-US" sz="1000" dirty="0"/>
          </a:p>
        </p:txBody>
      </p:sp>
      <p:sp>
        <p:nvSpPr>
          <p:cNvPr id="10" name="Text 8">
            <a:hlinkClick r:id="rId1" tooltip=""/>
          </p:cNvPr>
          <p:cNvSpPr/>
          <p:nvPr/>
        </p:nvSpPr>
        <p:spPr>
          <a:xfrm>
            <a:off x="457200" y="317500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World Bank. (2026). World Development Indicators [Data set]. Retrieved October 6, 2026, from</a:t>
            </a:r>
            <a:endParaRPr lang="en-US" sz="850" dirty="0"/>
          </a:p>
        </p:txBody>
      </p:sp>
      <p:sp>
        <p:nvSpPr>
          <p:cNvPr id="11" name="Text 9">
            <a:hlinkClick r:id="rId2" tooltip=""/>
          </p:cNvPr>
          <p:cNvSpPr/>
          <p:nvPr/>
        </p:nvSpPr>
        <p:spPr>
          <a:xfrm>
            <a:off x="457200" y="345821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 Bank. (1993). The East Asian miracle: Economic growth and public policy. Oxford University Press.</a:t>
            </a:r>
            <a:endParaRPr lang="en-US" sz="850" dirty="0"/>
          </a:p>
        </p:txBody>
      </p:sp>
      <p:sp>
        <p:nvSpPr>
          <p:cNvPr id="12" name="Text 10">
            <a:hlinkClick r:id="rId3" tooltip=""/>
          </p:cNvPr>
          <p:cNvSpPr/>
          <p:nvPr/>
        </p:nvSpPr>
        <p:spPr>
          <a:xfrm>
            <a:off x="457200" y="374142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World Bank. (2020). Structural transformation and labor market performance in Ghana.</a:t>
            </a:r>
            <a:endParaRPr lang="en-US" sz="850" dirty="0"/>
          </a:p>
        </p:txBody>
      </p:sp>
      <p:sp>
        <p:nvSpPr>
          <p:cNvPr id="13" name="Text 11">
            <a:hlinkClick r:id="rId4" tooltip=""/>
          </p:cNvPr>
          <p:cNvSpPr/>
          <p:nvPr/>
        </p:nvSpPr>
        <p:spPr>
          <a:xfrm>
            <a:off x="457200" y="402463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World Bank. (1985). Ghana: Industrial policy, performance and recovery (Report No. 5716-GH).</a:t>
            </a:r>
            <a:endParaRPr lang="en-US" sz="850" dirty="0"/>
          </a:p>
        </p:txBody>
      </p:sp>
      <p:sp>
        <p:nvSpPr>
          <p:cNvPr id="14" name="Text 12">
            <a:hlinkClick r:id="rId5" tooltip=""/>
          </p:cNvPr>
          <p:cNvSpPr/>
          <p:nvPr/>
        </p:nvSpPr>
        <p:spPr>
          <a:xfrm>
            <a:off x="457200" y="430784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Maipose, G. S. (2008). Policy and institutional dynamics of sustained development in Botswana (Commission on Growth and Development Working Paper No. 35). World Bank.</a:t>
            </a:r>
            <a:endParaRPr lang="en-US" sz="850" dirty="0"/>
          </a:p>
        </p:txBody>
      </p:sp>
      <p:sp>
        <p:nvSpPr>
          <p:cNvPr id="15" name="Text 13">
            <a:hlinkClick r:id="rId6" tooltip=""/>
          </p:cNvPr>
          <p:cNvSpPr/>
          <p:nvPr/>
        </p:nvSpPr>
        <p:spPr>
          <a:xfrm>
            <a:off x="457200" y="472186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Svirydzenka, K., &amp; Petri, M. (2014). Mauritius: The drivers of growth-Can the past be extended? (IMF Working Paper No. 14/134). International Monetary Fund.</a:t>
            </a:r>
            <a:endParaRPr lang="en-US" sz="850" dirty="0"/>
          </a:p>
        </p:txBody>
      </p:sp>
      <p:sp>
        <p:nvSpPr>
          <p:cNvPr id="16" name="Text 14">
            <a:hlinkClick r:id="rId7" tooltip=""/>
          </p:cNvPr>
          <p:cNvSpPr/>
          <p:nvPr/>
        </p:nvSpPr>
        <p:spPr>
          <a:xfrm>
            <a:off x="457200" y="513588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Jedwab, R., &amp; Moradi, A. (2012). Colonial investments and long-term development in Africa: Evidence from Ghanaian railways [Working paper]. Northeast Universities Development Consortium.</a:t>
            </a:r>
            <a:endParaRPr lang="en-US" sz="850" dirty="0"/>
          </a:p>
        </p:txBody>
      </p:sp>
      <p:sp>
        <p:nvSpPr>
          <p:cNvPr id="17" name="Text 15">
            <a:hlinkClick r:id="rId8" tooltip=""/>
          </p:cNvPr>
          <p:cNvSpPr/>
          <p:nvPr/>
        </p:nvSpPr>
        <p:spPr>
          <a:xfrm>
            <a:off x="457200" y="554990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Hofstede, G. (2011). Dimensionalizing cultures: The Hofstede model in context. Online Readings in Psychology and Culture, 2(1), Article 8.</a:t>
            </a:r>
            <a:endParaRPr lang="en-US" sz="850" dirty="0"/>
          </a:p>
        </p:txBody>
      </p:sp>
      <p:sp>
        <p:nvSpPr>
          <p:cNvPr id="18" name="Text 16">
            <a:hlinkClick r:id="rId9" tooltip=""/>
          </p:cNvPr>
          <p:cNvSpPr/>
          <p:nvPr/>
        </p:nvSpPr>
        <p:spPr>
          <a:xfrm>
            <a:off x="457200" y="596392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McSweeney, B. (2002). Hofstede's model of national cultural differences and their consequences: A triumph of faith—a failure of analysis. Human Relations, 55(1), 89–118.</a:t>
            </a:r>
            <a:endParaRPr lang="en-US" sz="850" dirty="0"/>
          </a:p>
        </p:txBody>
      </p:sp>
      <p:sp>
        <p:nvSpPr>
          <p:cNvPr id="19" name="Text 17">
            <a:hlinkClick r:id="rId10" tooltip=""/>
          </p:cNvPr>
          <p:cNvSpPr/>
          <p:nvPr/>
        </p:nvSpPr>
        <p:spPr>
          <a:xfrm>
            <a:off x="457200" y="637794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Organisation for Economic Co-operation and Development. (2017). OECD guidelines on measuring trust. OECD Publishing.</a:t>
            </a:r>
            <a:endParaRPr lang="en-US" sz="850" dirty="0"/>
          </a:p>
        </p:txBody>
      </p:sp>
      <p:sp>
        <p:nvSpPr>
          <p:cNvPr id="20" name="Text 18"/>
          <p:cNvSpPr/>
          <p:nvPr/>
        </p:nvSpPr>
        <p:spPr>
          <a:xfrm>
            <a:off x="457200" y="8255000"/>
            <a:ext cx="6642100" cy="5969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Still to check: final citations and rights; A4 print, colour and classroom readability. Historical 1914 map remains withheld pending verified artwork and original legend.</a:t>
            </a:r>
            <a:endParaRPr lang="en-US" sz="950" dirty="0"/>
          </a:p>
        </p:txBody>
      </p:sp>
      <p:sp>
        <p:nvSpPr>
          <p:cNvPr id="21" name="Text 19"/>
          <p:cNvSpPr/>
          <p:nvPr/>
        </p:nvSpPr>
        <p:spPr>
          <a:xfrm>
            <a:off x="457200" y="8991600"/>
            <a:ext cx="6642100" cy="4826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TEAM NAME: [TO BE CONFIRMED]</a:t>
            </a:r>
            <a:endParaRPr lang="en-US" sz="950" dirty="0"/>
          </a:p>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Complete source appendix: [LINK / QR PLACEHOLDER]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CREDITS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The people behind the pictures.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Twelve country-specific photographs. Images give context—not proof of culture, trust or growth.</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All photographs resized only, without cropping or content changes. Source-page and licence links are attached below. Check the licence terms before reusing or changing an image.</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28</a:t>
            </a:r>
            <a:endParaRPr lang="en-US" sz="1000" dirty="0"/>
          </a:p>
        </p:txBody>
      </p:sp>
      <p:sp>
        <p:nvSpPr>
          <p:cNvPr id="10" name="Shape 8"/>
          <p:cNvSpPr/>
          <p:nvPr/>
        </p:nvSpPr>
        <p:spPr>
          <a:xfrm>
            <a:off x="457200" y="3073400"/>
            <a:ext cx="127000" cy="127000"/>
          </a:xfrm>
          <a:prstGeom prst="ellipse">
            <a:avLst/>
          </a:prstGeom>
          <a:solidFill>
            <a:srgbClr val="B95332"/>
          </a:solidFill>
          <a:ln w="7620">
            <a:solidFill>
              <a:srgbClr val="252525"/>
            </a:solidFill>
            <a:prstDash val="solid"/>
          </a:ln>
        </p:spPr>
      </p:sp>
      <p:sp>
        <p:nvSpPr>
          <p:cNvPr id="11" name="Text 9"/>
          <p:cNvSpPr/>
          <p:nvPr/>
        </p:nvSpPr>
        <p:spPr>
          <a:xfrm>
            <a:off x="711200" y="3022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2" name="Text 10"/>
          <p:cNvSpPr/>
          <p:nvPr/>
        </p:nvSpPr>
        <p:spPr>
          <a:xfrm>
            <a:off x="2768600" y="3035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 CC BY-SA 4.0.</a:t>
            </a:r>
            <a:endParaRPr lang="en-US" sz="850" dirty="0"/>
          </a:p>
        </p:txBody>
      </p:sp>
      <p:sp>
        <p:nvSpPr>
          <p:cNvPr id="13" name="Text 11"/>
          <p:cNvSpPr/>
          <p:nvPr/>
        </p:nvSpPr>
        <p:spPr>
          <a:xfrm>
            <a:off x="2768600" y="3327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Amuzujoe (2020-11-27). Market Accra · CC BY-SA 4.0.</a:t>
            </a:r>
            <a:endParaRPr lang="en-US" sz="850" dirty="0"/>
          </a:p>
        </p:txBody>
      </p:sp>
      <p:sp>
        <p:nvSpPr>
          <p:cNvPr id="14" name="Text 12">
            <a:hlinkClick r:id="rId1" tooltip=""/>
          </p:cNvPr>
          <p:cNvSpPr/>
          <p:nvPr/>
        </p:nvSpPr>
        <p:spPr>
          <a:xfrm>
            <a:off x="2768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15" name="Text 13">
            <a:hlinkClick r:id="rId2" tooltip=""/>
          </p:cNvPr>
          <p:cNvSpPr/>
          <p:nvPr/>
        </p:nvSpPr>
        <p:spPr>
          <a:xfrm>
            <a:off x="36322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6" name="Text 14">
            <a:hlinkClick r:id="rId3" tooltip=""/>
          </p:cNvPr>
          <p:cNvSpPr/>
          <p:nvPr/>
        </p:nvSpPr>
        <p:spPr>
          <a:xfrm>
            <a:off x="4546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17" name="Text 15">
            <a:hlinkClick r:id="rId4" tooltip=""/>
          </p:cNvPr>
          <p:cNvSpPr/>
          <p:nvPr/>
        </p:nvSpPr>
        <p:spPr>
          <a:xfrm>
            <a:off x="5435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8" name="Shape 16"/>
          <p:cNvSpPr/>
          <p:nvPr/>
        </p:nvSpPr>
        <p:spPr>
          <a:xfrm>
            <a:off x="457200" y="3831590"/>
            <a:ext cx="6642100" cy="7620"/>
          </a:xfrm>
          <a:prstGeom prst="rect">
            <a:avLst/>
          </a:prstGeom>
          <a:solidFill>
            <a:srgbClr val="B7B0A4"/>
          </a:solidFill>
          <a:ln w="12700">
            <a:solidFill>
              <a:srgbClr val="B7B0A4"/>
            </a:solidFill>
            <a:prstDash val="solid"/>
          </a:ln>
        </p:spPr>
      </p:sp>
      <p:sp>
        <p:nvSpPr>
          <p:cNvPr id="19" name="Shape 17"/>
          <p:cNvSpPr/>
          <p:nvPr/>
        </p:nvSpPr>
        <p:spPr>
          <a:xfrm>
            <a:off x="457200" y="3937000"/>
            <a:ext cx="127000" cy="127000"/>
          </a:xfrm>
          <a:prstGeom prst="rect">
            <a:avLst/>
          </a:prstGeom>
          <a:solidFill>
            <a:srgbClr val="3F684E"/>
          </a:solidFill>
          <a:ln w="7620">
            <a:solidFill>
              <a:srgbClr val="252525"/>
            </a:solidFill>
            <a:prstDash val="solid"/>
          </a:ln>
        </p:spPr>
      </p:sp>
      <p:sp>
        <p:nvSpPr>
          <p:cNvPr id="20" name="Text 18"/>
          <p:cNvSpPr/>
          <p:nvPr/>
        </p:nvSpPr>
        <p:spPr>
          <a:xfrm>
            <a:off x="711200" y="38862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1" name="Text 19"/>
          <p:cNvSpPr/>
          <p:nvPr/>
        </p:nvSpPr>
        <p:spPr>
          <a:xfrm>
            <a:off x="2768600" y="38989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 CC BY-SA 4.0.</a:t>
            </a:r>
            <a:endParaRPr lang="en-US" sz="850" dirty="0"/>
          </a:p>
        </p:txBody>
      </p:sp>
      <p:sp>
        <p:nvSpPr>
          <p:cNvPr id="22" name="Text 20"/>
          <p:cNvSpPr/>
          <p:nvPr/>
        </p:nvSpPr>
        <p:spPr>
          <a:xfrm>
            <a:off x="2768600" y="41910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Paul tk (2018-09-14). MochudiBotswanaSolarPanel · CC BY-SA 4.0.</a:t>
            </a:r>
            <a:endParaRPr lang="en-US" sz="850" dirty="0"/>
          </a:p>
        </p:txBody>
      </p:sp>
      <p:sp>
        <p:nvSpPr>
          <p:cNvPr id="23" name="Text 21">
            <a:hlinkClick r:id="rId5" tooltip=""/>
          </p:cNvPr>
          <p:cNvSpPr/>
          <p:nvPr/>
        </p:nvSpPr>
        <p:spPr>
          <a:xfrm>
            <a:off x="2768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24" name="Text 22">
            <a:hlinkClick r:id="rId6" tooltip=""/>
          </p:cNvPr>
          <p:cNvSpPr/>
          <p:nvPr/>
        </p:nvSpPr>
        <p:spPr>
          <a:xfrm>
            <a:off x="36322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5" name="Text 23">
            <a:hlinkClick r:id="rId7" tooltip=""/>
          </p:cNvPr>
          <p:cNvSpPr/>
          <p:nvPr/>
        </p:nvSpPr>
        <p:spPr>
          <a:xfrm>
            <a:off x="4546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26" name="Text 24">
            <a:hlinkClick r:id="rId8" tooltip=""/>
          </p:cNvPr>
          <p:cNvSpPr/>
          <p:nvPr/>
        </p:nvSpPr>
        <p:spPr>
          <a:xfrm>
            <a:off x="5435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7" name="Shape 25"/>
          <p:cNvSpPr/>
          <p:nvPr/>
        </p:nvSpPr>
        <p:spPr>
          <a:xfrm>
            <a:off x="457200" y="4695190"/>
            <a:ext cx="6642100" cy="7620"/>
          </a:xfrm>
          <a:prstGeom prst="rect">
            <a:avLst/>
          </a:prstGeom>
          <a:solidFill>
            <a:srgbClr val="B7B0A4"/>
          </a:solidFill>
          <a:ln w="12700">
            <a:solidFill>
              <a:srgbClr val="B7B0A4"/>
            </a:solidFill>
            <a:prstDash val="solid"/>
          </a:ln>
        </p:spPr>
      </p:sp>
      <p:sp>
        <p:nvSpPr>
          <p:cNvPr id="28" name="Shape 26"/>
          <p:cNvSpPr/>
          <p:nvPr/>
        </p:nvSpPr>
        <p:spPr>
          <a:xfrm>
            <a:off x="457200" y="4800600"/>
            <a:ext cx="127000" cy="127000"/>
          </a:xfrm>
          <a:prstGeom prst="triangle">
            <a:avLst/>
          </a:prstGeom>
          <a:solidFill>
            <a:srgbClr val="D6A23A"/>
          </a:solidFill>
          <a:ln w="7620">
            <a:solidFill>
              <a:srgbClr val="252525"/>
            </a:solidFill>
            <a:prstDash val="solid"/>
          </a:ln>
        </p:spPr>
      </p:sp>
      <p:sp>
        <p:nvSpPr>
          <p:cNvPr id="29" name="Text 27"/>
          <p:cNvSpPr/>
          <p:nvPr/>
        </p:nvSpPr>
        <p:spPr>
          <a:xfrm>
            <a:off x="711200" y="47498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0" name="Text 28"/>
          <p:cNvSpPr/>
          <p:nvPr/>
        </p:nvSpPr>
        <p:spPr>
          <a:xfrm>
            <a:off x="2768600" y="47625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 CC BY-SA 2.0.</a:t>
            </a:r>
            <a:endParaRPr lang="en-US" sz="850" dirty="0"/>
          </a:p>
        </p:txBody>
      </p:sp>
      <p:sp>
        <p:nvSpPr>
          <p:cNvPr id="31" name="Text 29"/>
          <p:cNvSpPr/>
          <p:nvPr/>
        </p:nvSpPr>
        <p:spPr>
          <a:xfrm>
            <a:off x="2768600" y="50546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Richard N Horne (2025-04-03). Port Louis, Mauritius, Bulk Sugar Terminal Quay · CC BY 4.0.</a:t>
            </a:r>
            <a:endParaRPr lang="en-US" sz="850" dirty="0"/>
          </a:p>
        </p:txBody>
      </p:sp>
      <p:sp>
        <p:nvSpPr>
          <p:cNvPr id="32" name="Text 30">
            <a:hlinkClick r:id="rId9" tooltip=""/>
          </p:cNvPr>
          <p:cNvSpPr/>
          <p:nvPr/>
        </p:nvSpPr>
        <p:spPr>
          <a:xfrm>
            <a:off x="2768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33" name="Text 31">
            <a:hlinkClick r:id="rId10" tooltip=""/>
          </p:cNvPr>
          <p:cNvSpPr/>
          <p:nvPr/>
        </p:nvSpPr>
        <p:spPr>
          <a:xfrm>
            <a:off x="36322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4" name="Text 32">
            <a:hlinkClick r:id="rId11" tooltip=""/>
          </p:cNvPr>
          <p:cNvSpPr/>
          <p:nvPr/>
        </p:nvSpPr>
        <p:spPr>
          <a:xfrm>
            <a:off x="4546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35" name="Text 33">
            <a:hlinkClick r:id="rId12" tooltip=""/>
          </p:cNvPr>
          <p:cNvSpPr/>
          <p:nvPr/>
        </p:nvSpPr>
        <p:spPr>
          <a:xfrm>
            <a:off x="5435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6" name="Shape 34"/>
          <p:cNvSpPr/>
          <p:nvPr/>
        </p:nvSpPr>
        <p:spPr>
          <a:xfrm>
            <a:off x="457200" y="5558790"/>
            <a:ext cx="6642100" cy="7620"/>
          </a:xfrm>
          <a:prstGeom prst="rect">
            <a:avLst/>
          </a:prstGeom>
          <a:solidFill>
            <a:srgbClr val="B7B0A4"/>
          </a:solidFill>
          <a:ln w="12700">
            <a:solidFill>
              <a:srgbClr val="B7B0A4"/>
            </a:solidFill>
            <a:prstDash val="solid"/>
          </a:ln>
        </p:spPr>
      </p:sp>
      <p:sp>
        <p:nvSpPr>
          <p:cNvPr id="37" name="Shape 35"/>
          <p:cNvSpPr/>
          <p:nvPr/>
        </p:nvSpPr>
        <p:spPr>
          <a:xfrm>
            <a:off x="457200" y="5664200"/>
            <a:ext cx="127000" cy="127000"/>
          </a:xfrm>
          <a:prstGeom prst="diamond">
            <a:avLst/>
          </a:prstGeom>
          <a:solidFill>
            <a:srgbClr val="315A78"/>
          </a:solidFill>
          <a:ln w="7620">
            <a:solidFill>
              <a:srgbClr val="252525"/>
            </a:solidFill>
            <a:prstDash val="solid"/>
          </a:ln>
        </p:spPr>
      </p:sp>
      <p:sp>
        <p:nvSpPr>
          <p:cNvPr id="38" name="Text 36"/>
          <p:cNvSpPr/>
          <p:nvPr/>
        </p:nvSpPr>
        <p:spPr>
          <a:xfrm>
            <a:off x="711200" y="56134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9" name="Text 37"/>
          <p:cNvSpPr/>
          <p:nvPr/>
        </p:nvSpPr>
        <p:spPr>
          <a:xfrm>
            <a:off x="2768600" y="56261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 CC BY-SA 3.0.</a:t>
            </a:r>
            <a:endParaRPr lang="en-US" sz="850" dirty="0"/>
          </a:p>
        </p:txBody>
      </p:sp>
      <p:sp>
        <p:nvSpPr>
          <p:cNvPr id="40" name="Text 38"/>
          <p:cNvSpPr/>
          <p:nvPr/>
        </p:nvSpPr>
        <p:spPr>
          <a:xfrm>
            <a:off x="2768600" y="59182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Gaël Chardon (2008-04-21). Korea-Seoul-Gyeongdong Market-01 · CC BY-SA 2.0.</a:t>
            </a:r>
            <a:endParaRPr lang="en-US" sz="850" dirty="0"/>
          </a:p>
        </p:txBody>
      </p:sp>
      <p:sp>
        <p:nvSpPr>
          <p:cNvPr id="41" name="Text 39">
            <a:hlinkClick r:id="rId13" tooltip=""/>
          </p:cNvPr>
          <p:cNvSpPr/>
          <p:nvPr/>
        </p:nvSpPr>
        <p:spPr>
          <a:xfrm>
            <a:off x="2768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42" name="Text 40">
            <a:hlinkClick r:id="rId14" tooltip=""/>
          </p:cNvPr>
          <p:cNvSpPr/>
          <p:nvPr/>
        </p:nvSpPr>
        <p:spPr>
          <a:xfrm>
            <a:off x="36322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3" name="Text 41">
            <a:hlinkClick r:id="rId15" tooltip=""/>
          </p:cNvPr>
          <p:cNvSpPr/>
          <p:nvPr/>
        </p:nvSpPr>
        <p:spPr>
          <a:xfrm>
            <a:off x="4546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44" name="Text 42">
            <a:hlinkClick r:id="rId16" tooltip=""/>
          </p:cNvPr>
          <p:cNvSpPr/>
          <p:nvPr/>
        </p:nvSpPr>
        <p:spPr>
          <a:xfrm>
            <a:off x="5435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5" name="Shape 43"/>
          <p:cNvSpPr/>
          <p:nvPr/>
        </p:nvSpPr>
        <p:spPr>
          <a:xfrm>
            <a:off x="457200" y="6422390"/>
            <a:ext cx="6642100" cy="7620"/>
          </a:xfrm>
          <a:prstGeom prst="rect">
            <a:avLst/>
          </a:prstGeom>
          <a:solidFill>
            <a:srgbClr val="B7B0A4"/>
          </a:solidFill>
          <a:ln w="12700">
            <a:solidFill>
              <a:srgbClr val="B7B0A4"/>
            </a:solidFill>
            <a:prstDash val="solid"/>
          </a:ln>
        </p:spPr>
      </p:sp>
      <p:sp>
        <p:nvSpPr>
          <p:cNvPr id="46" name="Shape 44"/>
          <p:cNvSpPr/>
          <p:nvPr/>
        </p:nvSpPr>
        <p:spPr>
          <a:xfrm>
            <a:off x="457200" y="6527800"/>
            <a:ext cx="127000" cy="127000"/>
          </a:xfrm>
          <a:prstGeom prst="hexagon">
            <a:avLst/>
          </a:prstGeom>
          <a:solidFill>
            <a:srgbClr val="3E7568"/>
          </a:solidFill>
          <a:ln w="7620">
            <a:solidFill>
              <a:srgbClr val="252525"/>
            </a:solidFill>
            <a:prstDash val="solid"/>
          </a:ln>
        </p:spPr>
      </p:sp>
      <p:sp>
        <p:nvSpPr>
          <p:cNvPr id="47" name="Text 45"/>
          <p:cNvSpPr/>
          <p:nvPr/>
        </p:nvSpPr>
        <p:spPr>
          <a:xfrm>
            <a:off x="711200" y="64770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8" name="Text 46"/>
          <p:cNvSpPr/>
          <p:nvPr/>
        </p:nvSpPr>
        <p:spPr>
          <a:xfrm>
            <a:off x="2768600" y="64897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 CC BY-SA 4.0.</a:t>
            </a:r>
            <a:endParaRPr lang="en-US" sz="850" dirty="0"/>
          </a:p>
        </p:txBody>
      </p:sp>
      <p:sp>
        <p:nvSpPr>
          <p:cNvPr id="49" name="Text 47"/>
          <p:cNvSpPr/>
          <p:nvPr/>
        </p:nvSpPr>
        <p:spPr>
          <a:xfrm>
            <a:off x="2768600" y="67818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jgmorard (2009-03-01). 090301.020.PortKlang · CC BY 2.0.</a:t>
            </a:r>
            <a:endParaRPr lang="en-US" sz="850" dirty="0"/>
          </a:p>
        </p:txBody>
      </p:sp>
      <p:sp>
        <p:nvSpPr>
          <p:cNvPr id="50" name="Text 48">
            <a:hlinkClick r:id="rId17" tooltip=""/>
          </p:cNvPr>
          <p:cNvSpPr/>
          <p:nvPr/>
        </p:nvSpPr>
        <p:spPr>
          <a:xfrm>
            <a:off x="2768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51" name="Text 49">
            <a:hlinkClick r:id="rId18" tooltip=""/>
          </p:cNvPr>
          <p:cNvSpPr/>
          <p:nvPr/>
        </p:nvSpPr>
        <p:spPr>
          <a:xfrm>
            <a:off x="36322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2" name="Text 50">
            <a:hlinkClick r:id="rId19" tooltip=""/>
          </p:cNvPr>
          <p:cNvSpPr/>
          <p:nvPr/>
        </p:nvSpPr>
        <p:spPr>
          <a:xfrm>
            <a:off x="4546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53" name="Text 51">
            <a:hlinkClick r:id="rId20" tooltip=""/>
          </p:cNvPr>
          <p:cNvSpPr/>
          <p:nvPr/>
        </p:nvSpPr>
        <p:spPr>
          <a:xfrm>
            <a:off x="5435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4" name="Shape 52"/>
          <p:cNvSpPr/>
          <p:nvPr/>
        </p:nvSpPr>
        <p:spPr>
          <a:xfrm>
            <a:off x="457200" y="7285990"/>
            <a:ext cx="6642100" cy="7620"/>
          </a:xfrm>
          <a:prstGeom prst="rect">
            <a:avLst/>
          </a:prstGeom>
          <a:solidFill>
            <a:srgbClr val="B7B0A4"/>
          </a:solidFill>
          <a:ln w="12700">
            <a:solidFill>
              <a:srgbClr val="B7B0A4"/>
            </a:solidFill>
            <a:prstDash val="solid"/>
          </a:ln>
        </p:spPr>
      </p:sp>
      <p:sp>
        <p:nvSpPr>
          <p:cNvPr id="55" name="Shape 53"/>
          <p:cNvSpPr/>
          <p:nvPr/>
        </p:nvSpPr>
        <p:spPr>
          <a:xfrm>
            <a:off x="457200" y="7434580"/>
            <a:ext cx="127000" cy="40640"/>
          </a:xfrm>
          <a:prstGeom prst="rect">
            <a:avLst/>
          </a:prstGeom>
          <a:solidFill>
            <a:srgbClr val="252525"/>
          </a:solidFill>
          <a:ln w="12700">
            <a:solidFill>
              <a:srgbClr val="252525"/>
            </a:solidFill>
            <a:prstDash val="solid"/>
          </a:ln>
        </p:spPr>
      </p:sp>
      <p:sp>
        <p:nvSpPr>
          <p:cNvPr id="56" name="Shape 54"/>
          <p:cNvSpPr/>
          <p:nvPr/>
        </p:nvSpPr>
        <p:spPr>
          <a:xfrm>
            <a:off x="500380" y="7391400"/>
            <a:ext cx="40640" cy="127000"/>
          </a:xfrm>
          <a:prstGeom prst="rect">
            <a:avLst/>
          </a:prstGeom>
          <a:solidFill>
            <a:srgbClr val="252525"/>
          </a:solidFill>
          <a:ln w="12700">
            <a:solidFill>
              <a:srgbClr val="252525"/>
            </a:solidFill>
            <a:prstDash val="solid"/>
          </a:ln>
        </p:spPr>
      </p:sp>
      <p:sp>
        <p:nvSpPr>
          <p:cNvPr id="57" name="Shape 55"/>
          <p:cNvSpPr/>
          <p:nvPr/>
        </p:nvSpPr>
        <p:spPr>
          <a:xfrm>
            <a:off x="457200" y="7443470"/>
            <a:ext cx="127000" cy="22860"/>
          </a:xfrm>
          <a:prstGeom prst="rect">
            <a:avLst/>
          </a:prstGeom>
          <a:solidFill>
            <a:srgbClr val="A63A3A"/>
          </a:solidFill>
          <a:ln w="12700">
            <a:solidFill>
              <a:srgbClr val="A63A3A"/>
            </a:solidFill>
            <a:prstDash val="solid"/>
          </a:ln>
        </p:spPr>
      </p:sp>
      <p:sp>
        <p:nvSpPr>
          <p:cNvPr id="58" name="Shape 56"/>
          <p:cNvSpPr/>
          <p:nvPr/>
        </p:nvSpPr>
        <p:spPr>
          <a:xfrm>
            <a:off x="509270" y="7391400"/>
            <a:ext cx="22860" cy="127000"/>
          </a:xfrm>
          <a:prstGeom prst="rect">
            <a:avLst/>
          </a:prstGeom>
          <a:solidFill>
            <a:srgbClr val="A63A3A"/>
          </a:solidFill>
          <a:ln w="12700">
            <a:solidFill>
              <a:srgbClr val="A63A3A"/>
            </a:solidFill>
            <a:prstDash val="solid"/>
          </a:ln>
        </p:spPr>
      </p:sp>
      <p:sp>
        <p:nvSpPr>
          <p:cNvPr id="59" name="Text 57"/>
          <p:cNvSpPr/>
          <p:nvPr/>
        </p:nvSpPr>
        <p:spPr>
          <a:xfrm>
            <a:off x="711200" y="7340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0" name="Text 58"/>
          <p:cNvSpPr/>
          <p:nvPr/>
        </p:nvSpPr>
        <p:spPr>
          <a:xfrm>
            <a:off x="2768600" y="7353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 CC BY-SA 3.0.</a:t>
            </a:r>
            <a:endParaRPr lang="en-US" sz="850" dirty="0"/>
          </a:p>
        </p:txBody>
      </p:sp>
      <p:sp>
        <p:nvSpPr>
          <p:cNvPr id="61" name="Text 59"/>
          <p:cNvSpPr/>
          <p:nvPr/>
        </p:nvSpPr>
        <p:spPr>
          <a:xfrm>
            <a:off x="2768600" y="7645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george ruiz (2013-01-04). The Philippines — seaside market in Manila · CC BY 2.0.</a:t>
            </a:r>
            <a:endParaRPr lang="en-US" sz="850" dirty="0"/>
          </a:p>
        </p:txBody>
      </p:sp>
      <p:sp>
        <p:nvSpPr>
          <p:cNvPr id="62" name="Text 60">
            <a:hlinkClick r:id="rId21" tooltip=""/>
          </p:cNvPr>
          <p:cNvSpPr/>
          <p:nvPr/>
        </p:nvSpPr>
        <p:spPr>
          <a:xfrm>
            <a:off x="2768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63" name="Text 61">
            <a:hlinkClick r:id="rId22" tooltip=""/>
          </p:cNvPr>
          <p:cNvSpPr/>
          <p:nvPr/>
        </p:nvSpPr>
        <p:spPr>
          <a:xfrm>
            <a:off x="36322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4" name="Text 62">
            <a:hlinkClick r:id="rId23" tooltip=""/>
          </p:cNvPr>
          <p:cNvSpPr/>
          <p:nvPr/>
        </p:nvSpPr>
        <p:spPr>
          <a:xfrm>
            <a:off x="4546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65" name="Text 63">
            <a:hlinkClick r:id="rId24" tooltip=""/>
          </p:cNvPr>
          <p:cNvSpPr/>
          <p:nvPr/>
        </p:nvSpPr>
        <p:spPr>
          <a:xfrm>
            <a:off x="5435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6" name="Shape 64"/>
          <p:cNvSpPr/>
          <p:nvPr/>
        </p:nvSpPr>
        <p:spPr>
          <a:xfrm>
            <a:off x="457200" y="8149590"/>
            <a:ext cx="6642100" cy="7620"/>
          </a:xfrm>
          <a:prstGeom prst="rect">
            <a:avLst/>
          </a:prstGeom>
          <a:solidFill>
            <a:srgbClr val="B7B0A4"/>
          </a:solidFill>
          <a:ln w="12700">
            <a:solidFill>
              <a:srgbClr val="B7B0A4"/>
            </a:solidFill>
            <a:prstDash val="solid"/>
          </a:ln>
        </p:spPr>
      </p:sp>
      <p:sp>
        <p:nvSpPr>
          <p:cNvPr id="67" name="Text 65"/>
          <p:cNvSpPr/>
          <p:nvPr/>
        </p:nvSpPr>
        <p:spPr>
          <a:xfrm>
            <a:off x="457200" y="8382000"/>
            <a:ext cx="6642100" cy="546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Map: Natural Earth. (n.d.). Admin 0 – Countries, 1:110m Cultural Vectors (v5.1.1). Public-domain data; generalized present-day boundaries, not historical geometry. Mauritius is located by point at this scale.</a:t>
            </a:r>
            <a:endParaRPr lang="en-US" sz="850" dirty="0"/>
          </a:p>
        </p:txBody>
      </p:sp>
      <p:sp>
        <p:nvSpPr>
          <p:cNvPr id="68" name="Text 66">
            <a:hlinkClick r:id="rId25" tooltip=""/>
          </p:cNvPr>
          <p:cNvSpPr/>
          <p:nvPr/>
        </p:nvSpPr>
        <p:spPr>
          <a:xfrm>
            <a:off x="457200" y="9067800"/>
            <a:ext cx="2032000" cy="2159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5" invalidUrl="" action="" tgtFrame="" tooltip="" history="1" highlightClick="0" endSnd="0">
                  <a:extLst>
                    <a:ext uri="{A12FA001-AC4F-418D-AE19-62706E023703}">
                      <ahyp:hlinkClr xmlns:ahyp="http://schemas.microsoft.com/office/drawing/2018/hyperlinkcolor" val="tx"/>
                    </a:ext>
                  </a:extLst>
                </a:hlinkClick>
              </a:rPr>
              <a:t>MAP SOURCE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grey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Editorial research magazine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2026-10-13T00:32:24Z</dcterms:created>
  <dcterms:modified xsi:type="dcterms:W3CDTF">2026-10-13T00:32:24Z</dcterms:modified>
</cp:coreProperties>
</file>