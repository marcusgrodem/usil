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7560005" cy="10692003"/>
  <p:notesSz cx="10692003" cy="756000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databank.worldbank.org/source/world-development-indicators" TargetMode="External"/><Relationship Id="rId2" Type="http://schemas.openxmlformats.org/officeDocument/2006/relationships/hyperlink" Target="https://documents.worldbank.org/en/publication/documents-reports/documentdetail/975081468244550798/the-east-asian-miracle-economic-growth-and-public-policy" TargetMode="External"/><Relationship Id="rId3" Type="http://schemas.openxmlformats.org/officeDocument/2006/relationships/hyperlink" Target="https://documents1.worldbank.org/curated/en/755321606255985947/pdf/Structural-Transformation-and-Labor-Market-Performance-in-Ghana.pdf" TargetMode="External"/><Relationship Id="rId4" Type="http://schemas.openxmlformats.org/officeDocument/2006/relationships/hyperlink" Target="https://documents.worldbank.org/curated/en/832361468032174119/pdf/multi0page.pdf" TargetMode="External"/><Relationship Id="rId5" Type="http://schemas.openxmlformats.org/officeDocument/2006/relationships/hyperlink" Target="https://documents.worldbank.org/curated/en/364701468330906042/pdf/577340NWP0Box353767B01PUBLIC10gcwp035web.pdf" TargetMode="External"/><Relationship Id="rId6" Type="http://schemas.openxmlformats.org/officeDocument/2006/relationships/hyperlink" Target="https://www.imf.org/external/pubs/ft/wp/2014/wp14134.pdf" TargetMode="External"/><Relationship Id="rId7" Type="http://schemas.openxmlformats.org/officeDocument/2006/relationships/hyperlink" Target="https://www.dartmouth.edu/neudc2012/docs/paper_34.pdf" TargetMode="External"/><Relationship Id="rId8" Type="http://schemas.openxmlformats.org/officeDocument/2006/relationships/hyperlink" Target="https://doi.org/10.9707/2307-0919.1014" TargetMode="External"/><Relationship Id="rId9" Type="http://schemas.openxmlformats.org/officeDocument/2006/relationships/hyperlink" Target="https://doi.org/10.1177/0018726702551004" TargetMode="External"/><Relationship Id="rId10" Type="http://schemas.openxmlformats.org/officeDocument/2006/relationships/hyperlink" Target="https://doi.org/10.1787/9789264278219-en" TargetMode="External"/><Relationship Id="rId11" Type="http://schemas.openxmlformats.org/officeDocument/2006/relationships/slideLayout" Target="../slideLayouts/slideLayout1.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commons.wikimedia.org/wiki/File:Tema_port.jpg" TargetMode="External"/><Relationship Id="rId2" Type="http://schemas.openxmlformats.org/officeDocument/2006/relationships/hyperlink" Target="https://creativecommons.org/licenses/by-sa/4.0/" TargetMode="External"/><Relationship Id="rId3" Type="http://schemas.openxmlformats.org/officeDocument/2006/relationships/hyperlink" Target="https://commons.wikimedia.org/wiki/File:South_Korea_Busan_harbour.jpg" TargetMode="External"/><Relationship Id="rId4" Type="http://schemas.openxmlformats.org/officeDocument/2006/relationships/hyperlink" Target="https://creativecommons.org/licenses/by-sa/3.0/" TargetMode="External"/><Relationship Id="rId5" Type="http://schemas.openxmlformats.org/officeDocument/2006/relationships/hyperlink" Target="https://commons.wikimedia.org/wiki/File:Sarvesh_Lutchmun_-_Bus_Terminal_in_Gaborone,_Botswana.jpg" TargetMode="External"/><Relationship Id="rId6" Type="http://schemas.openxmlformats.org/officeDocument/2006/relationships/hyperlink" Target="https://creativecommons.org/licenses/by-sa/4.0/" TargetMode="External"/><Relationship Id="rId7" Type="http://schemas.openxmlformats.org/officeDocument/2006/relationships/hyperlink" Target="https://commons.wikimedia.org/wiki/File:Mauritius_-_Port_Louis_(Central_Market)_(17118303459).jpg" TargetMode="External"/><Relationship Id="rId8" Type="http://schemas.openxmlformats.org/officeDocument/2006/relationships/hyperlink" Target="https://creativecommons.org/licenses/by-sa/2.0/" TargetMode="External"/><Relationship Id="rId9" Type="http://schemas.openxmlformats.org/officeDocument/2006/relationships/hyperlink" Target="https://commons.wikimedia.org/wiki/File:Perai_Industrial_Zone,_Seberang_Perai,_Penang.jpg" TargetMode="External"/><Relationship Id="rId10" Type="http://schemas.openxmlformats.org/officeDocument/2006/relationships/hyperlink" Target="https://creativecommons.org/licenses/by-sa/4.0/" TargetMode="External"/><Relationship Id="rId11" Type="http://schemas.openxmlformats.org/officeDocument/2006/relationships/hyperlink" Target="https://commons.wikimedia.org/wiki/File:Port_of_Manila.jpg" TargetMode="External"/><Relationship Id="rId12" Type="http://schemas.openxmlformats.org/officeDocument/2006/relationships/hyperlink" Target="https://creativecommons.org/licenses/by-sa/3.0/" TargetMode="External"/><Relationship Id="rId13" Type="http://schemas.openxmlformats.org/officeDocument/2006/relationships/slideLayout" Target="../slideLayouts/slideLayout1.xml"/><Relationship Id="rId1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AN INVESTIGATION IN SIX COUNTRIES</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Shape 2"/>
          <p:cNvSpPr/>
          <p:nvPr/>
        </p:nvSpPr>
        <p:spPr>
          <a:xfrm>
            <a:off x="457200" y="9575800"/>
            <a:ext cx="6642100" cy="0"/>
          </a:xfrm>
          <a:prstGeom prst="line">
            <a:avLst/>
          </a:prstGeom>
          <a:noFill/>
          <a:ln w="7620">
            <a:solidFill>
              <a:srgbClr val="B7B0A4"/>
            </a:solidFill>
            <a:prstDash val="solid"/>
          </a:ln>
        </p:spPr>
      </p:sp>
      <p:sp>
        <p:nvSpPr>
          <p:cNvPr id="5" name="Text 3"/>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Photographs: JulianGrayscales (2020), Tema port; Svwmal (2012), Busan harbour. Both are present-day context, not a 1960 baseline or evidence of relative performance. Full credits and licences: p. 27.</a:t>
            </a:r>
            <a:endParaRPr lang="en-US" sz="800" dirty="0"/>
          </a:p>
        </p:txBody>
      </p:sp>
      <p:sp>
        <p:nvSpPr>
          <p:cNvPr id="6" name="Text 4"/>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7" name="Text 5"/>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01</a:t>
            </a:r>
            <a:endParaRPr lang="en-US" sz="1100" dirty="0"/>
          </a:p>
        </p:txBody>
      </p:sp>
      <p:sp>
        <p:nvSpPr>
          <p:cNvPr id="8" name="Text 6"/>
          <p:cNvSpPr/>
          <p:nvPr/>
        </p:nvSpPr>
        <p:spPr>
          <a:xfrm>
            <a:off x="457200" y="889000"/>
            <a:ext cx="6642100" cy="749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Montserrat Black" pitchFamily="34" charset="0"/>
                <a:ea typeface="Montserrat Black" pitchFamily="34" charset="-122"/>
                <a:cs typeface="Montserrat Black" pitchFamily="34" charset="-120"/>
              </a:rPr>
              <a:t>Africa &amp; Asia:</a:t>
            </a:r>
            <a:endParaRPr lang="en-US" sz="4200" dirty="0"/>
          </a:p>
        </p:txBody>
      </p:sp>
      <p:sp>
        <p:nvSpPr>
          <p:cNvPr id="9" name="Text 7"/>
          <p:cNvSpPr/>
          <p:nvPr/>
        </p:nvSpPr>
        <p:spPr>
          <a:xfrm>
            <a:off x="457200" y="1765300"/>
            <a:ext cx="6604000" cy="22225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Montserrat Black" pitchFamily="34" charset="0"/>
                <a:ea typeface="Montserrat Black" pitchFamily="34" charset="-122"/>
                <a:cs typeface="Montserrat Black" pitchFamily="34" charset="-120"/>
              </a:rPr>
              <a:t>Why did their</a:t>
            </a:r>
            <a:endParaRPr lang="en-US" sz="4200" dirty="0"/>
          </a:p>
          <a:p>
            <a:pPr indent="0" marL="0">
              <a:lnSpc>
                <a:spcPct val="112000"/>
              </a:lnSpc>
              <a:buNone/>
            </a:pPr>
            <a:r>
              <a:rPr lang="en-US" sz="4200" b="1" dirty="0">
                <a:solidFill>
                  <a:srgbClr val="252525"/>
                </a:solidFill>
                <a:latin typeface="Montserrat Black" pitchFamily="34" charset="0"/>
                <a:ea typeface="Montserrat Black" pitchFamily="34" charset="-122"/>
                <a:cs typeface="Montserrat Black" pitchFamily="34" charset="-120"/>
              </a:rPr>
              <a:t>economic paths</a:t>
            </a:r>
            <a:endParaRPr lang="en-US" sz="4200" dirty="0"/>
          </a:p>
          <a:p>
            <a:pPr indent="0" marL="0">
              <a:lnSpc>
                <a:spcPct val="112000"/>
              </a:lnSpc>
              <a:buNone/>
            </a:pPr>
            <a:r>
              <a:rPr lang="en-US" sz="4200" b="1" dirty="0">
                <a:solidFill>
                  <a:srgbClr val="252525"/>
                </a:solidFill>
                <a:latin typeface="Montserrat Black" pitchFamily="34" charset="0"/>
                <a:ea typeface="Montserrat Black" pitchFamily="34" charset="-122"/>
                <a:cs typeface="Montserrat Black" pitchFamily="34" charset="-120"/>
              </a:rPr>
              <a:t>diverge?</a:t>
            </a:r>
            <a:endParaRPr lang="en-US" sz="4200" dirty="0"/>
          </a:p>
        </p:txBody>
      </p:sp>
      <p:sp>
        <p:nvSpPr>
          <p:cNvPr id="10" name="Text 8"/>
          <p:cNvSpPr/>
          <p:nvPr/>
        </p:nvSpPr>
        <p:spPr>
          <a:xfrm>
            <a:off x="457200" y="4216400"/>
            <a:ext cx="6540500" cy="685800"/>
          </a:xfrm>
          <a:prstGeom prst="rect">
            <a:avLst/>
          </a:prstGeom>
          <a:noFill/>
          <a:ln/>
        </p:spPr>
        <p:txBody>
          <a:bodyPr wrap="square" lIns="0" tIns="0" rIns="0" bIns="0" rtlCol="0" anchor="t"/>
          <a:lstStyle/>
          <a:p>
            <a:pPr indent="0" marL="0">
              <a:lnSpc>
                <a:spcPct val="112000"/>
              </a:lnSpc>
              <a:buNone/>
            </a:pPr>
            <a:r>
              <a:rPr lang="en-US" sz="1500" dirty="0">
                <a:solidFill>
                  <a:srgbClr val="514E48"/>
                </a:solidFill>
                <a:latin typeface="Montserrat" pitchFamily="34" charset="0"/>
                <a:ea typeface="Montserrat" pitchFamily="34" charset="-122"/>
                <a:cs typeface="Montserrat" pitchFamily="34" charset="-120"/>
              </a:rPr>
              <a:t>Testing culture against history, institutions,</a:t>
            </a:r>
            <a:endParaRPr lang="en-US" sz="1500" dirty="0"/>
          </a:p>
          <a:p>
            <a:pPr indent="0" marL="0">
              <a:lnSpc>
                <a:spcPct val="112000"/>
              </a:lnSpc>
              <a:buNone/>
            </a:pPr>
            <a:r>
              <a:rPr lang="en-US" sz="1500" dirty="0">
                <a:solidFill>
                  <a:srgbClr val="514E48"/>
                </a:solidFill>
                <a:latin typeface="Montserrat" pitchFamily="34" charset="0"/>
                <a:ea typeface="Montserrat" pitchFamily="34" charset="-122"/>
                <a:cs typeface="Montserrat" pitchFamily="34" charset="-120"/>
              </a:rPr>
              <a:t>policy and economic evidence.</a:t>
            </a:r>
            <a:endParaRPr lang="en-US" sz="1500" dirty="0"/>
          </a:p>
        </p:txBody>
      </p:sp>
      <p:pic>
        <p:nvPicPr>
          <p:cNvPr id="11"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457200" y="5261848"/>
            <a:ext cx="3162300" cy="2100104"/>
          </a:xfrm>
          <a:prstGeom prst="rect">
            <a:avLst/>
          </a:prstGeom>
        </p:spPr>
      </p:pic>
      <p:pic>
        <p:nvPicPr>
          <p:cNvPr id="12" name="Image 1" descr="/Users/marcusgrude-grodem/Documents/GitHub/USIL/africa-asia-development-magazine/design/canva_editorial_draft/assets/print/korea_busan.jpg">    </p:cNvPr>
          <p:cNvPicPr>
            <a:picLocks noChangeAspect="1"/>
          </p:cNvPicPr>
          <p:nvPr/>
        </p:nvPicPr>
        <p:blipFill>
          <a:blip r:embed="rId2"/>
          <a:stretch>
            <a:fillRect/>
          </a:stretch>
        </p:blipFill>
        <p:spPr>
          <a:xfrm>
            <a:off x="3960283" y="5143500"/>
            <a:ext cx="3115733" cy="2336800"/>
          </a:xfrm>
          <a:prstGeom prst="rect">
            <a:avLst/>
          </a:prstGeom>
        </p:spPr>
      </p:pic>
      <p:sp>
        <p:nvSpPr>
          <p:cNvPr id="13" name="Shape 9"/>
          <p:cNvSpPr/>
          <p:nvPr/>
        </p:nvSpPr>
        <p:spPr>
          <a:xfrm>
            <a:off x="469900" y="7734300"/>
            <a:ext cx="101600" cy="101600"/>
          </a:xfrm>
          <a:prstGeom prst="ellipse">
            <a:avLst/>
          </a:prstGeom>
          <a:solidFill>
            <a:srgbClr val="B95332"/>
          </a:solidFill>
          <a:ln w="7620">
            <a:solidFill>
              <a:srgbClr val="252525"/>
            </a:solidFill>
            <a:prstDash val="solid"/>
          </a:ln>
        </p:spPr>
      </p:sp>
      <p:sp>
        <p:nvSpPr>
          <p:cNvPr id="14" name="Text 10"/>
          <p:cNvSpPr/>
          <p:nvPr/>
        </p:nvSpPr>
        <p:spPr>
          <a:xfrm>
            <a:off x="685800" y="7683500"/>
            <a:ext cx="2438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Ghana</a:t>
            </a:r>
            <a:endParaRPr lang="en-US" sz="1100" dirty="0"/>
          </a:p>
        </p:txBody>
      </p:sp>
      <p:sp>
        <p:nvSpPr>
          <p:cNvPr id="15" name="Shape 11"/>
          <p:cNvSpPr/>
          <p:nvPr/>
        </p:nvSpPr>
        <p:spPr>
          <a:xfrm>
            <a:off x="3949700" y="7734300"/>
            <a:ext cx="101600" cy="101600"/>
          </a:xfrm>
          <a:prstGeom prst="diamond">
            <a:avLst/>
          </a:prstGeom>
          <a:solidFill>
            <a:srgbClr val="315A78"/>
          </a:solidFill>
          <a:ln w="7620">
            <a:solidFill>
              <a:srgbClr val="252525"/>
            </a:solidFill>
            <a:prstDash val="solid"/>
          </a:ln>
        </p:spPr>
      </p:sp>
      <p:sp>
        <p:nvSpPr>
          <p:cNvPr id="16" name="Text 12"/>
          <p:cNvSpPr/>
          <p:nvPr/>
        </p:nvSpPr>
        <p:spPr>
          <a:xfrm>
            <a:off x="4165600" y="7683500"/>
            <a:ext cx="2438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South Korea</a:t>
            </a:r>
            <a:endParaRPr lang="en-US" sz="1100" dirty="0"/>
          </a:p>
        </p:txBody>
      </p:sp>
      <p:sp>
        <p:nvSpPr>
          <p:cNvPr id="17" name="Text 13"/>
          <p:cNvSpPr/>
          <p:nvPr/>
        </p:nvSpPr>
        <p:spPr>
          <a:xfrm>
            <a:off x="685800" y="8013700"/>
            <a:ext cx="2857500" cy="228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Tema port · 2020</a:t>
            </a:r>
            <a:endParaRPr lang="en-US" sz="900" dirty="0"/>
          </a:p>
        </p:txBody>
      </p:sp>
      <p:sp>
        <p:nvSpPr>
          <p:cNvPr id="18" name="Text 14"/>
          <p:cNvSpPr/>
          <p:nvPr/>
        </p:nvSpPr>
        <p:spPr>
          <a:xfrm>
            <a:off x="4165600" y="8013700"/>
            <a:ext cx="2857500" cy="228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Busan harbour · 2012</a:t>
            </a:r>
            <a:endParaRPr lang="en-US" sz="900" dirty="0"/>
          </a:p>
        </p:txBody>
      </p:sp>
      <p:sp>
        <p:nvSpPr>
          <p:cNvPr id="19" name="Text 15"/>
          <p:cNvSpPr/>
          <p:nvPr/>
        </p:nvSpPr>
        <p:spPr>
          <a:xfrm>
            <a:off x="457200" y="8661400"/>
            <a:ext cx="6642100" cy="6350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SIX CASES. THREE ANCHORS.</a:t>
            </a:r>
            <a:endParaRPr lang="en-US" sz="1600" dirty="0"/>
          </a:p>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NO SINGLE CONTINENTAL STORY.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01 / THE QUESTION</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Montserrat Black" pitchFamily="34" charset="0"/>
                <a:ea typeface="Montserrat Black" pitchFamily="34" charset="-122"/>
                <a:cs typeface="Montserrat Black" pitchFamily="34" charset="-120"/>
              </a:rPr>
              <a:t>Was slower growth caused by culture—or was culture also shaped by history and institutions?</a:t>
            </a:r>
            <a:endParaRPr lang="en-US" sz="27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The assignment is our question, not our answer. We compare six cases and ask which explanations survive the exceptions.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Method: original group framework. Evidence boundaries follow Hofstede (2011, pp. 6–8), McSweeney (2002, pp. 93–107), and the approved project theory matrix.</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02</a:t>
            </a:r>
            <a:endParaRPr lang="en-US" sz="1100" dirty="0"/>
          </a:p>
        </p:txBody>
      </p:sp>
      <p:sp>
        <p:nvSpPr>
          <p:cNvPr id="10" name="Text 8"/>
          <p:cNvSpPr/>
          <p:nvPr/>
        </p:nvSpPr>
        <p:spPr>
          <a:xfrm>
            <a:off x="457200" y="3213100"/>
            <a:ext cx="1397000" cy="393700"/>
          </a:xfrm>
          <a:prstGeom prst="rect">
            <a:avLst/>
          </a:prstGeom>
          <a:noFill/>
          <a:ln/>
        </p:spPr>
        <p:txBody>
          <a:bodyPr wrap="square" lIns="0" tIns="0" rIns="0" bIns="0" rtlCol="0" anchor="t"/>
          <a:lstStyle/>
          <a:p>
            <a:pPr indent="0" marL="0">
              <a:lnSpc>
                <a:spcPct val="112000"/>
              </a:lnSpc>
              <a:buNone/>
            </a:pPr>
            <a:r>
              <a:rPr lang="en-US" sz="2200" b="1" dirty="0">
                <a:solidFill>
                  <a:srgbClr val="514E48"/>
                </a:solidFill>
                <a:latin typeface="Montserrat" pitchFamily="34" charset="0"/>
                <a:ea typeface="Montserrat" pitchFamily="34" charset="-122"/>
                <a:cs typeface="Montserrat" pitchFamily="34" charset="-120"/>
              </a:rPr>
              <a:t>01</a:t>
            </a:r>
            <a:endParaRPr lang="en-US" sz="2200" dirty="0"/>
          </a:p>
        </p:txBody>
      </p:sp>
      <p:sp>
        <p:nvSpPr>
          <p:cNvPr id="11" name="Text 9"/>
          <p:cNvSpPr/>
          <p:nvPr/>
        </p:nvSpPr>
        <p:spPr>
          <a:xfrm>
            <a:off x="457200" y="3733800"/>
            <a:ext cx="15240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OBSERVE</a:t>
            </a:r>
            <a:endParaRPr lang="en-US" sz="1400" dirty="0"/>
          </a:p>
        </p:txBody>
      </p:sp>
      <p:sp>
        <p:nvSpPr>
          <p:cNvPr id="12" name="Text 10"/>
          <p:cNvSpPr/>
          <p:nvPr/>
        </p:nvSpPr>
        <p:spPr>
          <a:xfrm>
            <a:off x="1841500" y="3670300"/>
            <a:ext cx="304800" cy="381000"/>
          </a:xfrm>
          <a:prstGeom prst="rect">
            <a:avLst/>
          </a:prstGeom>
          <a:noFill/>
          <a:ln/>
        </p:spPr>
        <p:txBody>
          <a:bodyPr wrap="square" lIns="0" tIns="0" rIns="0" bIns="0" rtlCol="0" anchor="t"/>
          <a:lstStyle/>
          <a:p>
            <a:pPr indent="0" marL="0">
              <a:lnSpc>
                <a:spcPct val="112000"/>
              </a:lnSpc>
              <a:buNone/>
            </a:pPr>
            <a:r>
              <a:rPr lang="en-US" sz="2000" dirty="0">
                <a:solidFill>
                  <a:srgbClr val="252525"/>
                </a:solidFill>
                <a:latin typeface="Montserrat" pitchFamily="34" charset="0"/>
                <a:ea typeface="Montserrat" pitchFamily="34" charset="-122"/>
                <a:cs typeface="Montserrat" pitchFamily="34" charset="-120"/>
              </a:rPr>
              <a:t>→</a:t>
            </a:r>
            <a:endParaRPr lang="en-US" sz="2000" dirty="0"/>
          </a:p>
        </p:txBody>
      </p:sp>
      <p:sp>
        <p:nvSpPr>
          <p:cNvPr id="13" name="Text 11"/>
          <p:cNvSpPr/>
          <p:nvPr/>
        </p:nvSpPr>
        <p:spPr>
          <a:xfrm>
            <a:off x="2133600" y="3213100"/>
            <a:ext cx="1397000" cy="393700"/>
          </a:xfrm>
          <a:prstGeom prst="rect">
            <a:avLst/>
          </a:prstGeom>
          <a:noFill/>
          <a:ln/>
        </p:spPr>
        <p:txBody>
          <a:bodyPr wrap="square" lIns="0" tIns="0" rIns="0" bIns="0" rtlCol="0" anchor="t"/>
          <a:lstStyle/>
          <a:p>
            <a:pPr indent="0" marL="0">
              <a:lnSpc>
                <a:spcPct val="112000"/>
              </a:lnSpc>
              <a:buNone/>
            </a:pPr>
            <a:r>
              <a:rPr lang="en-US" sz="2200" b="1" dirty="0">
                <a:solidFill>
                  <a:srgbClr val="514E48"/>
                </a:solidFill>
                <a:latin typeface="Montserrat" pitchFamily="34" charset="0"/>
                <a:ea typeface="Montserrat" pitchFamily="34" charset="-122"/>
                <a:cs typeface="Montserrat" pitchFamily="34" charset="-120"/>
              </a:rPr>
              <a:t>02</a:t>
            </a:r>
            <a:endParaRPr lang="en-US" sz="2200" dirty="0"/>
          </a:p>
        </p:txBody>
      </p:sp>
      <p:sp>
        <p:nvSpPr>
          <p:cNvPr id="14" name="Text 12"/>
          <p:cNvSpPr/>
          <p:nvPr/>
        </p:nvSpPr>
        <p:spPr>
          <a:xfrm>
            <a:off x="2133600" y="3733800"/>
            <a:ext cx="15240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PREDICT</a:t>
            </a:r>
            <a:endParaRPr lang="en-US" sz="1400" dirty="0"/>
          </a:p>
        </p:txBody>
      </p:sp>
      <p:sp>
        <p:nvSpPr>
          <p:cNvPr id="15" name="Text 13"/>
          <p:cNvSpPr/>
          <p:nvPr/>
        </p:nvSpPr>
        <p:spPr>
          <a:xfrm>
            <a:off x="3517900" y="3670300"/>
            <a:ext cx="304800" cy="381000"/>
          </a:xfrm>
          <a:prstGeom prst="rect">
            <a:avLst/>
          </a:prstGeom>
          <a:noFill/>
          <a:ln/>
        </p:spPr>
        <p:txBody>
          <a:bodyPr wrap="square" lIns="0" tIns="0" rIns="0" bIns="0" rtlCol="0" anchor="t"/>
          <a:lstStyle/>
          <a:p>
            <a:pPr indent="0" marL="0">
              <a:lnSpc>
                <a:spcPct val="112000"/>
              </a:lnSpc>
              <a:buNone/>
            </a:pPr>
            <a:r>
              <a:rPr lang="en-US" sz="2000" dirty="0">
                <a:solidFill>
                  <a:srgbClr val="252525"/>
                </a:solidFill>
                <a:latin typeface="Montserrat" pitchFamily="34" charset="0"/>
                <a:ea typeface="Montserrat" pitchFamily="34" charset="-122"/>
                <a:cs typeface="Montserrat" pitchFamily="34" charset="-120"/>
              </a:rPr>
              <a:t>→</a:t>
            </a:r>
            <a:endParaRPr lang="en-US" sz="2000" dirty="0"/>
          </a:p>
        </p:txBody>
      </p:sp>
      <p:sp>
        <p:nvSpPr>
          <p:cNvPr id="16" name="Text 14"/>
          <p:cNvSpPr/>
          <p:nvPr/>
        </p:nvSpPr>
        <p:spPr>
          <a:xfrm>
            <a:off x="3810000" y="3213100"/>
            <a:ext cx="1397000" cy="393700"/>
          </a:xfrm>
          <a:prstGeom prst="rect">
            <a:avLst/>
          </a:prstGeom>
          <a:noFill/>
          <a:ln/>
        </p:spPr>
        <p:txBody>
          <a:bodyPr wrap="square" lIns="0" tIns="0" rIns="0" bIns="0" rtlCol="0" anchor="t"/>
          <a:lstStyle/>
          <a:p>
            <a:pPr indent="0" marL="0">
              <a:lnSpc>
                <a:spcPct val="112000"/>
              </a:lnSpc>
              <a:buNone/>
            </a:pPr>
            <a:r>
              <a:rPr lang="en-US" sz="2200" b="1" dirty="0">
                <a:solidFill>
                  <a:srgbClr val="514E48"/>
                </a:solidFill>
                <a:latin typeface="Montserrat" pitchFamily="34" charset="0"/>
                <a:ea typeface="Montserrat" pitchFamily="34" charset="-122"/>
                <a:cs typeface="Montserrat" pitchFamily="34" charset="-120"/>
              </a:rPr>
              <a:t>03</a:t>
            </a:r>
            <a:endParaRPr lang="en-US" sz="2200" dirty="0"/>
          </a:p>
        </p:txBody>
      </p:sp>
      <p:sp>
        <p:nvSpPr>
          <p:cNvPr id="17" name="Text 15"/>
          <p:cNvSpPr/>
          <p:nvPr/>
        </p:nvSpPr>
        <p:spPr>
          <a:xfrm>
            <a:off x="3810000" y="3733800"/>
            <a:ext cx="15240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TEST</a:t>
            </a:r>
            <a:endParaRPr lang="en-US" sz="1400" dirty="0"/>
          </a:p>
        </p:txBody>
      </p:sp>
      <p:sp>
        <p:nvSpPr>
          <p:cNvPr id="18" name="Text 16"/>
          <p:cNvSpPr/>
          <p:nvPr/>
        </p:nvSpPr>
        <p:spPr>
          <a:xfrm>
            <a:off x="5194300" y="3670300"/>
            <a:ext cx="304800" cy="381000"/>
          </a:xfrm>
          <a:prstGeom prst="rect">
            <a:avLst/>
          </a:prstGeom>
          <a:noFill/>
          <a:ln/>
        </p:spPr>
        <p:txBody>
          <a:bodyPr wrap="square" lIns="0" tIns="0" rIns="0" bIns="0" rtlCol="0" anchor="t"/>
          <a:lstStyle/>
          <a:p>
            <a:pPr indent="0" marL="0">
              <a:lnSpc>
                <a:spcPct val="112000"/>
              </a:lnSpc>
              <a:buNone/>
            </a:pPr>
            <a:r>
              <a:rPr lang="en-US" sz="2000" dirty="0">
                <a:solidFill>
                  <a:srgbClr val="252525"/>
                </a:solidFill>
                <a:latin typeface="Montserrat" pitchFamily="34" charset="0"/>
                <a:ea typeface="Montserrat" pitchFamily="34" charset="-122"/>
                <a:cs typeface="Montserrat" pitchFamily="34" charset="-120"/>
              </a:rPr>
              <a:t>→</a:t>
            </a:r>
            <a:endParaRPr lang="en-US" sz="2000" dirty="0"/>
          </a:p>
        </p:txBody>
      </p:sp>
      <p:sp>
        <p:nvSpPr>
          <p:cNvPr id="19" name="Text 17"/>
          <p:cNvSpPr/>
          <p:nvPr/>
        </p:nvSpPr>
        <p:spPr>
          <a:xfrm>
            <a:off x="5486400" y="3213100"/>
            <a:ext cx="1397000" cy="393700"/>
          </a:xfrm>
          <a:prstGeom prst="rect">
            <a:avLst/>
          </a:prstGeom>
          <a:noFill/>
          <a:ln/>
        </p:spPr>
        <p:txBody>
          <a:bodyPr wrap="square" lIns="0" tIns="0" rIns="0" bIns="0" rtlCol="0" anchor="t"/>
          <a:lstStyle/>
          <a:p>
            <a:pPr indent="0" marL="0">
              <a:lnSpc>
                <a:spcPct val="112000"/>
              </a:lnSpc>
              <a:buNone/>
            </a:pPr>
            <a:r>
              <a:rPr lang="en-US" sz="2200" b="1" dirty="0">
                <a:solidFill>
                  <a:srgbClr val="514E48"/>
                </a:solidFill>
                <a:latin typeface="Montserrat" pitchFamily="34" charset="0"/>
                <a:ea typeface="Montserrat" pitchFamily="34" charset="-122"/>
                <a:cs typeface="Montserrat" pitchFamily="34" charset="-120"/>
              </a:rPr>
              <a:t>04</a:t>
            </a:r>
            <a:endParaRPr lang="en-US" sz="2200" dirty="0"/>
          </a:p>
        </p:txBody>
      </p:sp>
      <p:sp>
        <p:nvSpPr>
          <p:cNvPr id="20" name="Text 18"/>
          <p:cNvSpPr/>
          <p:nvPr/>
        </p:nvSpPr>
        <p:spPr>
          <a:xfrm>
            <a:off x="5486400" y="3733800"/>
            <a:ext cx="15240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REVISE</a:t>
            </a:r>
            <a:endParaRPr lang="en-US" sz="1400" dirty="0"/>
          </a:p>
        </p:txBody>
      </p:sp>
      <p:sp>
        <p:nvSpPr>
          <p:cNvPr id="21" name="Text 19"/>
          <p:cNvSpPr/>
          <p:nvPr/>
        </p:nvSpPr>
        <p:spPr>
          <a:xfrm>
            <a:off x="457200" y="4343400"/>
            <a:ext cx="6477000" cy="660400"/>
          </a:xfrm>
          <a:prstGeom prst="rect">
            <a:avLst/>
          </a:prstGeom>
          <a:noFill/>
          <a:ln/>
        </p:spPr>
        <p:txBody>
          <a:bodyPr wrap="square" lIns="0" tIns="0" rIns="0" bIns="0" rtlCol="0" anchor="t"/>
          <a:lstStyle/>
          <a:p>
            <a:pPr indent="0" marL="0">
              <a:lnSpc>
                <a:spcPct val="112000"/>
              </a:lnSpc>
              <a:buNone/>
            </a:pPr>
            <a:r>
              <a:rPr lang="en-US" sz="1300" dirty="0">
                <a:solidFill>
                  <a:srgbClr val="252525"/>
                </a:solidFill>
                <a:latin typeface="Montserrat" pitchFamily="34" charset="0"/>
                <a:ea typeface="Montserrat" pitchFamily="34" charset="-122"/>
                <a:cs typeface="Montserrat" pitchFamily="34" charset="-120"/>
              </a:rPr>
              <a:t>Start with a pattern. Make the mechanism explicit.</a:t>
            </a:r>
            <a:endParaRPr lang="en-US" sz="1300" dirty="0"/>
          </a:p>
          <a:p>
            <a:pPr indent="0" marL="0">
              <a:lnSpc>
                <a:spcPct val="112000"/>
              </a:lnSpc>
              <a:buNone/>
            </a:pPr>
            <a:r>
              <a:rPr lang="en-US" sz="1300" dirty="0">
                <a:solidFill>
                  <a:srgbClr val="252525"/>
                </a:solidFill>
                <a:latin typeface="Montserrat" pitchFamily="34" charset="0"/>
                <a:ea typeface="Montserrat" pitchFamily="34" charset="-122"/>
                <a:cs typeface="Montserrat" pitchFamily="34" charset="-120"/>
              </a:rPr>
              <a:t>Look for a challenging case. Change the explanation.</a:t>
            </a:r>
            <a:endParaRPr lang="en-US" sz="1300" dirty="0"/>
          </a:p>
        </p:txBody>
      </p:sp>
      <p:sp>
        <p:nvSpPr>
          <p:cNvPr id="22" name="Shape 20"/>
          <p:cNvSpPr/>
          <p:nvPr/>
        </p:nvSpPr>
        <p:spPr>
          <a:xfrm>
            <a:off x="457200" y="5359400"/>
            <a:ext cx="6642100" cy="0"/>
          </a:xfrm>
          <a:prstGeom prst="line">
            <a:avLst/>
          </a:prstGeom>
          <a:noFill/>
          <a:ln w="7620">
            <a:solidFill>
              <a:srgbClr val="B7B0A4"/>
            </a:solidFill>
            <a:prstDash val="solid"/>
          </a:ln>
        </p:spPr>
      </p:sp>
      <p:sp>
        <p:nvSpPr>
          <p:cNvPr id="23" name="Text 21"/>
          <p:cNvSpPr/>
          <p:nvPr/>
        </p:nvSpPr>
        <p:spPr>
          <a:xfrm>
            <a:off x="457200" y="5486400"/>
            <a:ext cx="482600" cy="2794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01</a:t>
            </a:r>
            <a:endParaRPr lang="en-US" sz="1000" dirty="0"/>
          </a:p>
        </p:txBody>
      </p:sp>
      <p:sp>
        <p:nvSpPr>
          <p:cNvPr id="24" name="Text 22"/>
          <p:cNvSpPr/>
          <p:nvPr/>
        </p:nvSpPr>
        <p:spPr>
          <a:xfrm>
            <a:off x="1143000" y="5486400"/>
            <a:ext cx="4699000" cy="3048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The question</a:t>
            </a:r>
            <a:endParaRPr lang="en-US" sz="1200" dirty="0"/>
          </a:p>
        </p:txBody>
      </p:sp>
      <p:sp>
        <p:nvSpPr>
          <p:cNvPr id="25" name="Text 23"/>
          <p:cNvSpPr/>
          <p:nvPr/>
        </p:nvSpPr>
        <p:spPr>
          <a:xfrm>
            <a:off x="6121400" y="5486400"/>
            <a:ext cx="977900" cy="2794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02–04</a:t>
            </a:r>
            <a:endParaRPr lang="en-US" sz="1000" dirty="0"/>
          </a:p>
        </p:txBody>
      </p:sp>
      <p:sp>
        <p:nvSpPr>
          <p:cNvPr id="26" name="Shape 24"/>
          <p:cNvSpPr/>
          <p:nvPr/>
        </p:nvSpPr>
        <p:spPr>
          <a:xfrm>
            <a:off x="457200" y="5892800"/>
            <a:ext cx="6642100" cy="0"/>
          </a:xfrm>
          <a:prstGeom prst="line">
            <a:avLst/>
          </a:prstGeom>
          <a:noFill/>
          <a:ln w="7620">
            <a:solidFill>
              <a:srgbClr val="B7B0A4"/>
            </a:solidFill>
            <a:prstDash val="solid"/>
          </a:ln>
        </p:spPr>
      </p:sp>
      <p:sp>
        <p:nvSpPr>
          <p:cNvPr id="27" name="Text 25"/>
          <p:cNvSpPr/>
          <p:nvPr/>
        </p:nvSpPr>
        <p:spPr>
          <a:xfrm>
            <a:off x="457200" y="6019800"/>
            <a:ext cx="482600" cy="2794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02</a:t>
            </a:r>
            <a:endParaRPr lang="en-US" sz="1000" dirty="0"/>
          </a:p>
        </p:txBody>
      </p:sp>
      <p:sp>
        <p:nvSpPr>
          <p:cNvPr id="28" name="Text 26"/>
          <p:cNvSpPr/>
          <p:nvPr/>
        </p:nvSpPr>
        <p:spPr>
          <a:xfrm>
            <a:off x="1143000" y="6019800"/>
            <a:ext cx="4699000" cy="3048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The starting line</a:t>
            </a:r>
            <a:endParaRPr lang="en-US" sz="1200" dirty="0"/>
          </a:p>
        </p:txBody>
      </p:sp>
      <p:sp>
        <p:nvSpPr>
          <p:cNvPr id="29" name="Text 27"/>
          <p:cNvSpPr/>
          <p:nvPr/>
        </p:nvSpPr>
        <p:spPr>
          <a:xfrm>
            <a:off x="6121400" y="6019800"/>
            <a:ext cx="977900" cy="2794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05–09</a:t>
            </a:r>
            <a:endParaRPr lang="en-US" sz="1000" dirty="0"/>
          </a:p>
        </p:txBody>
      </p:sp>
      <p:sp>
        <p:nvSpPr>
          <p:cNvPr id="30" name="Shape 28"/>
          <p:cNvSpPr/>
          <p:nvPr/>
        </p:nvSpPr>
        <p:spPr>
          <a:xfrm>
            <a:off x="457200" y="6426200"/>
            <a:ext cx="6642100" cy="0"/>
          </a:xfrm>
          <a:prstGeom prst="line">
            <a:avLst/>
          </a:prstGeom>
          <a:noFill/>
          <a:ln w="7620">
            <a:solidFill>
              <a:srgbClr val="B7B0A4"/>
            </a:solidFill>
            <a:prstDash val="solid"/>
          </a:ln>
        </p:spPr>
      </p:sp>
      <p:sp>
        <p:nvSpPr>
          <p:cNvPr id="31" name="Text 29"/>
          <p:cNvSpPr/>
          <p:nvPr/>
        </p:nvSpPr>
        <p:spPr>
          <a:xfrm>
            <a:off x="457200" y="6553200"/>
            <a:ext cx="482600" cy="2794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03</a:t>
            </a:r>
            <a:endParaRPr lang="en-US" sz="1000" dirty="0"/>
          </a:p>
        </p:txBody>
      </p:sp>
      <p:sp>
        <p:nvSpPr>
          <p:cNvPr id="32" name="Text 30"/>
          <p:cNvSpPr/>
          <p:nvPr/>
        </p:nvSpPr>
        <p:spPr>
          <a:xfrm>
            <a:off x="1143000" y="6553200"/>
            <a:ext cx="4699000" cy="3048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Building capability</a:t>
            </a:r>
            <a:endParaRPr lang="en-US" sz="1200" dirty="0"/>
          </a:p>
        </p:txBody>
      </p:sp>
      <p:sp>
        <p:nvSpPr>
          <p:cNvPr id="33" name="Text 31"/>
          <p:cNvSpPr/>
          <p:nvPr/>
        </p:nvSpPr>
        <p:spPr>
          <a:xfrm>
            <a:off x="6121400" y="6553200"/>
            <a:ext cx="977900" cy="2794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10–13</a:t>
            </a:r>
            <a:endParaRPr lang="en-US" sz="1000" dirty="0"/>
          </a:p>
        </p:txBody>
      </p:sp>
      <p:sp>
        <p:nvSpPr>
          <p:cNvPr id="34" name="Shape 32"/>
          <p:cNvSpPr/>
          <p:nvPr/>
        </p:nvSpPr>
        <p:spPr>
          <a:xfrm>
            <a:off x="457200" y="6959600"/>
            <a:ext cx="6642100" cy="0"/>
          </a:xfrm>
          <a:prstGeom prst="line">
            <a:avLst/>
          </a:prstGeom>
          <a:noFill/>
          <a:ln w="7620">
            <a:solidFill>
              <a:srgbClr val="B7B0A4"/>
            </a:solidFill>
            <a:prstDash val="solid"/>
          </a:ln>
        </p:spPr>
      </p:sp>
      <p:sp>
        <p:nvSpPr>
          <p:cNvPr id="35" name="Text 33"/>
          <p:cNvSpPr/>
          <p:nvPr/>
        </p:nvSpPr>
        <p:spPr>
          <a:xfrm>
            <a:off x="457200" y="7086600"/>
            <a:ext cx="482600" cy="2794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04</a:t>
            </a:r>
            <a:endParaRPr lang="en-US" sz="1000" dirty="0"/>
          </a:p>
        </p:txBody>
      </p:sp>
      <p:sp>
        <p:nvSpPr>
          <p:cNvPr id="36" name="Text 34"/>
          <p:cNvSpPr/>
          <p:nvPr/>
        </p:nvSpPr>
        <p:spPr>
          <a:xfrm>
            <a:off x="1143000" y="7086600"/>
            <a:ext cx="4699000" cy="3048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Culture under examination</a:t>
            </a:r>
            <a:endParaRPr lang="en-US" sz="1200" dirty="0"/>
          </a:p>
        </p:txBody>
      </p:sp>
      <p:sp>
        <p:nvSpPr>
          <p:cNvPr id="37" name="Text 35"/>
          <p:cNvSpPr/>
          <p:nvPr/>
        </p:nvSpPr>
        <p:spPr>
          <a:xfrm>
            <a:off x="6121400" y="7086600"/>
            <a:ext cx="977900" cy="2794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14–17</a:t>
            </a:r>
            <a:endParaRPr lang="en-US" sz="1000" dirty="0"/>
          </a:p>
        </p:txBody>
      </p:sp>
      <p:sp>
        <p:nvSpPr>
          <p:cNvPr id="38" name="Shape 36"/>
          <p:cNvSpPr/>
          <p:nvPr/>
        </p:nvSpPr>
        <p:spPr>
          <a:xfrm>
            <a:off x="457200" y="7493000"/>
            <a:ext cx="6642100" cy="0"/>
          </a:xfrm>
          <a:prstGeom prst="line">
            <a:avLst/>
          </a:prstGeom>
          <a:noFill/>
          <a:ln w="7620">
            <a:solidFill>
              <a:srgbClr val="B7B0A4"/>
            </a:solidFill>
            <a:prstDash val="solid"/>
          </a:ln>
        </p:spPr>
      </p:sp>
      <p:sp>
        <p:nvSpPr>
          <p:cNvPr id="39" name="Text 37"/>
          <p:cNvSpPr/>
          <p:nvPr/>
        </p:nvSpPr>
        <p:spPr>
          <a:xfrm>
            <a:off x="457200" y="7620000"/>
            <a:ext cx="482600" cy="2794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05</a:t>
            </a:r>
            <a:endParaRPr lang="en-US" sz="1000" dirty="0"/>
          </a:p>
        </p:txBody>
      </p:sp>
      <p:sp>
        <p:nvSpPr>
          <p:cNvPr id="40" name="Text 38"/>
          <p:cNvSpPr/>
          <p:nvPr/>
        </p:nvSpPr>
        <p:spPr>
          <a:xfrm>
            <a:off x="1143000" y="7620000"/>
            <a:ext cx="4699000" cy="3048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Three ideas on trial</a:t>
            </a:r>
            <a:endParaRPr lang="en-US" sz="1200" dirty="0"/>
          </a:p>
        </p:txBody>
      </p:sp>
      <p:sp>
        <p:nvSpPr>
          <p:cNvPr id="41" name="Text 39"/>
          <p:cNvSpPr/>
          <p:nvPr/>
        </p:nvSpPr>
        <p:spPr>
          <a:xfrm>
            <a:off x="6121400" y="7620000"/>
            <a:ext cx="977900" cy="2794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18–22</a:t>
            </a:r>
            <a:endParaRPr lang="en-US" sz="1000" dirty="0"/>
          </a:p>
        </p:txBody>
      </p:sp>
      <p:sp>
        <p:nvSpPr>
          <p:cNvPr id="42" name="Shape 40"/>
          <p:cNvSpPr/>
          <p:nvPr/>
        </p:nvSpPr>
        <p:spPr>
          <a:xfrm>
            <a:off x="457200" y="8026400"/>
            <a:ext cx="6642100" cy="0"/>
          </a:xfrm>
          <a:prstGeom prst="line">
            <a:avLst/>
          </a:prstGeom>
          <a:noFill/>
          <a:ln w="7620">
            <a:solidFill>
              <a:srgbClr val="B7B0A4"/>
            </a:solidFill>
            <a:prstDash val="solid"/>
          </a:ln>
        </p:spPr>
      </p:sp>
      <p:sp>
        <p:nvSpPr>
          <p:cNvPr id="43" name="Text 41"/>
          <p:cNvSpPr/>
          <p:nvPr/>
        </p:nvSpPr>
        <p:spPr>
          <a:xfrm>
            <a:off x="457200" y="8153400"/>
            <a:ext cx="482600" cy="2794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06</a:t>
            </a:r>
            <a:endParaRPr lang="en-US" sz="1000" dirty="0"/>
          </a:p>
        </p:txBody>
      </p:sp>
      <p:sp>
        <p:nvSpPr>
          <p:cNvPr id="44" name="Text 42"/>
          <p:cNvSpPr/>
          <p:nvPr/>
        </p:nvSpPr>
        <p:spPr>
          <a:xfrm>
            <a:off x="1143000" y="8153400"/>
            <a:ext cx="4699000" cy="3048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What survives</a:t>
            </a:r>
            <a:endParaRPr lang="en-US" sz="1200" dirty="0"/>
          </a:p>
        </p:txBody>
      </p:sp>
      <p:sp>
        <p:nvSpPr>
          <p:cNvPr id="45" name="Text 43"/>
          <p:cNvSpPr/>
          <p:nvPr/>
        </p:nvSpPr>
        <p:spPr>
          <a:xfrm>
            <a:off x="6121400" y="8153400"/>
            <a:ext cx="977900" cy="2794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23–27</a:t>
            </a:r>
            <a:endParaRPr lang="en-US" sz="1000" dirty="0"/>
          </a:p>
        </p:txBody>
      </p:sp>
      <p:sp>
        <p:nvSpPr>
          <p:cNvPr id="46" name="Text 44"/>
          <p:cNvSpPr/>
          <p:nvPr/>
        </p:nvSpPr>
        <p:spPr>
          <a:xfrm>
            <a:off x="457200" y="8902700"/>
            <a:ext cx="6604000" cy="533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Not Africa versus Asia as two uniform blocs. Not a ranking of people.</a:t>
            </a:r>
            <a:endParaRPr lang="en-US" sz="1050" dirty="0"/>
          </a:p>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A bounded comparison of histories, mechanisms and outcomes.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01 / OBSERVE</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1960: close in income, different in history</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GDP per capita · constant 2015 US dollars per person · observed 1960 values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(SRC-WDI-001). Frozen release: 13 July 2026; retrieved 6 October 2026. Data and locators: project CSVs; reference p. 26. Indicator: NY.GDP.PCAP.KD. Rounded to nearest US dollar.</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03</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Similar income levels do not mean identical starting conditions. These values do not identify causes or describe distribution within countries.</a:t>
            </a:r>
            <a:endParaRPr lang="en-US" sz="900" dirty="0"/>
          </a:p>
        </p:txBody>
      </p:sp>
      <p:sp>
        <p:nvSpPr>
          <p:cNvPr id="12" name="Shape 10"/>
          <p:cNvSpPr/>
          <p:nvPr/>
        </p:nvSpPr>
        <p:spPr>
          <a:xfrm>
            <a:off x="469900" y="3200400"/>
            <a:ext cx="101600" cy="101600"/>
          </a:xfrm>
          <a:prstGeom prst="ellipse">
            <a:avLst/>
          </a:prstGeom>
          <a:solidFill>
            <a:srgbClr val="B95332"/>
          </a:solidFill>
          <a:ln w="7620">
            <a:solidFill>
              <a:srgbClr val="252525"/>
            </a:solidFill>
            <a:prstDash val="solid"/>
          </a:ln>
        </p:spPr>
      </p:sp>
      <p:sp>
        <p:nvSpPr>
          <p:cNvPr id="13" name="Text 11"/>
          <p:cNvSpPr/>
          <p:nvPr/>
        </p:nvSpPr>
        <p:spPr>
          <a:xfrm>
            <a:off x="685800" y="3149600"/>
            <a:ext cx="2438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Ghana</a:t>
            </a:r>
            <a:endParaRPr lang="en-US" sz="1100" dirty="0"/>
          </a:p>
        </p:txBody>
      </p:sp>
      <p:sp>
        <p:nvSpPr>
          <p:cNvPr id="14" name="Shape 12"/>
          <p:cNvSpPr/>
          <p:nvPr/>
        </p:nvSpPr>
        <p:spPr>
          <a:xfrm>
            <a:off x="3949700" y="3200400"/>
            <a:ext cx="101600" cy="101600"/>
          </a:xfrm>
          <a:prstGeom prst="diamond">
            <a:avLst/>
          </a:prstGeom>
          <a:solidFill>
            <a:srgbClr val="315A78"/>
          </a:solidFill>
          <a:ln w="7620">
            <a:solidFill>
              <a:srgbClr val="252525"/>
            </a:solidFill>
            <a:prstDash val="solid"/>
          </a:ln>
        </p:spPr>
      </p:sp>
      <p:sp>
        <p:nvSpPr>
          <p:cNvPr id="15" name="Text 13"/>
          <p:cNvSpPr/>
          <p:nvPr/>
        </p:nvSpPr>
        <p:spPr>
          <a:xfrm>
            <a:off x="4165600" y="3149600"/>
            <a:ext cx="2438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South Korea</a:t>
            </a:r>
            <a:endParaRPr lang="en-US" sz="1100" dirty="0"/>
          </a:p>
        </p:txBody>
      </p:sp>
      <p:sp>
        <p:nvSpPr>
          <p:cNvPr id="16" name="Text 14"/>
          <p:cNvSpPr/>
          <p:nvPr/>
        </p:nvSpPr>
        <p:spPr>
          <a:xfrm>
            <a:off x="457200" y="3594100"/>
            <a:ext cx="3149600" cy="889000"/>
          </a:xfrm>
          <a:prstGeom prst="rect">
            <a:avLst/>
          </a:prstGeom>
          <a:noFill/>
          <a:ln/>
        </p:spPr>
        <p:txBody>
          <a:bodyPr wrap="square" lIns="0" tIns="0" rIns="0" bIns="0" rtlCol="0" anchor="t"/>
          <a:lstStyle/>
          <a:p>
            <a:pPr indent="0" marL="0">
              <a:lnSpc>
                <a:spcPct val="112000"/>
              </a:lnSpc>
              <a:buNone/>
            </a:pPr>
            <a:r>
              <a:rPr lang="en-US" sz="3600" b="1" dirty="0">
                <a:solidFill>
                  <a:srgbClr val="252525"/>
                </a:solidFill>
                <a:latin typeface="Montserrat" pitchFamily="34" charset="0"/>
                <a:ea typeface="Montserrat" pitchFamily="34" charset="-122"/>
                <a:cs typeface="Montserrat" pitchFamily="34" charset="-120"/>
              </a:rPr>
              <a:t>US$1,101</a:t>
            </a:r>
            <a:endParaRPr lang="en-US" sz="3600" dirty="0"/>
          </a:p>
        </p:txBody>
      </p:sp>
      <p:sp>
        <p:nvSpPr>
          <p:cNvPr id="17" name="Text 15"/>
          <p:cNvSpPr/>
          <p:nvPr/>
        </p:nvSpPr>
        <p:spPr>
          <a:xfrm>
            <a:off x="3937000" y="3594100"/>
            <a:ext cx="3162300" cy="889000"/>
          </a:xfrm>
          <a:prstGeom prst="rect">
            <a:avLst/>
          </a:prstGeom>
          <a:noFill/>
          <a:ln/>
        </p:spPr>
        <p:txBody>
          <a:bodyPr wrap="square" lIns="0" tIns="0" rIns="0" bIns="0" rtlCol="0" anchor="t"/>
          <a:lstStyle/>
          <a:p>
            <a:pPr indent="0" marL="0">
              <a:lnSpc>
                <a:spcPct val="112000"/>
              </a:lnSpc>
              <a:buNone/>
            </a:pPr>
            <a:r>
              <a:rPr lang="en-US" sz="3600" b="1" dirty="0">
                <a:solidFill>
                  <a:srgbClr val="252525"/>
                </a:solidFill>
                <a:latin typeface="Montserrat" pitchFamily="34" charset="0"/>
                <a:ea typeface="Montserrat" pitchFamily="34" charset="-122"/>
                <a:cs typeface="Montserrat" pitchFamily="34" charset="-120"/>
              </a:rPr>
              <a:t>US$1,038</a:t>
            </a:r>
            <a:endParaRPr lang="en-US" sz="3600" dirty="0"/>
          </a:p>
        </p:txBody>
      </p:sp>
      <p:sp>
        <p:nvSpPr>
          <p:cNvPr id="18" name="Text 16"/>
          <p:cNvSpPr/>
          <p:nvPr/>
        </p:nvSpPr>
        <p:spPr>
          <a:xfrm>
            <a:off x="457200" y="4775200"/>
            <a:ext cx="6477000" cy="8255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Near parity is a starting question.</a:t>
            </a:r>
            <a:endParaRPr lang="en-US" sz="2300" dirty="0"/>
          </a:p>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It is not a controlled experiment.</a:t>
            </a:r>
            <a:endParaRPr lang="en-US" sz="2300" dirty="0"/>
          </a:p>
        </p:txBody>
      </p:sp>
      <p:sp>
        <p:nvSpPr>
          <p:cNvPr id="19" name="Shape 17"/>
          <p:cNvSpPr/>
          <p:nvPr/>
        </p:nvSpPr>
        <p:spPr>
          <a:xfrm>
            <a:off x="469900" y="6108700"/>
            <a:ext cx="101600" cy="101600"/>
          </a:xfrm>
          <a:prstGeom prst="rect">
            <a:avLst/>
          </a:prstGeom>
          <a:solidFill>
            <a:srgbClr val="3F684E"/>
          </a:solidFill>
          <a:ln w="7620">
            <a:solidFill>
              <a:srgbClr val="252525"/>
            </a:solidFill>
            <a:prstDash val="solid"/>
          </a:ln>
        </p:spPr>
      </p:sp>
      <p:sp>
        <p:nvSpPr>
          <p:cNvPr id="20" name="Text 18"/>
          <p:cNvSpPr/>
          <p:nvPr/>
        </p:nvSpPr>
        <p:spPr>
          <a:xfrm>
            <a:off x="685800" y="6057900"/>
            <a:ext cx="32639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Botswana</a:t>
            </a:r>
            <a:endParaRPr lang="en-US" sz="1100" dirty="0"/>
          </a:p>
        </p:txBody>
      </p:sp>
      <p:sp>
        <p:nvSpPr>
          <p:cNvPr id="21" name="Text 19"/>
          <p:cNvSpPr/>
          <p:nvPr/>
        </p:nvSpPr>
        <p:spPr>
          <a:xfrm>
            <a:off x="4191000" y="6057900"/>
            <a:ext cx="2857500" cy="317500"/>
          </a:xfrm>
          <a:prstGeom prst="rect">
            <a:avLst/>
          </a:prstGeom>
          <a:noFill/>
          <a:ln/>
        </p:spPr>
        <p:txBody>
          <a:bodyPr wrap="square" lIns="0" tIns="0" rIns="0" bIns="0" rtlCol="0" anchor="t"/>
          <a:lstStyle/>
          <a:p>
            <a:pPr algn="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US$394</a:t>
            </a:r>
            <a:endParaRPr lang="en-US" sz="1500" dirty="0"/>
          </a:p>
        </p:txBody>
      </p:sp>
      <p:sp>
        <p:nvSpPr>
          <p:cNvPr id="22" name="Shape 20"/>
          <p:cNvSpPr/>
          <p:nvPr/>
        </p:nvSpPr>
        <p:spPr>
          <a:xfrm>
            <a:off x="457200" y="6464300"/>
            <a:ext cx="6642100" cy="0"/>
          </a:xfrm>
          <a:prstGeom prst="line">
            <a:avLst/>
          </a:prstGeom>
          <a:noFill/>
          <a:ln w="7620">
            <a:solidFill>
              <a:srgbClr val="B7B0A4"/>
            </a:solidFill>
            <a:prstDash val="solid"/>
          </a:ln>
        </p:spPr>
      </p:sp>
      <p:sp>
        <p:nvSpPr>
          <p:cNvPr id="23" name="Shape 21"/>
          <p:cNvSpPr/>
          <p:nvPr/>
        </p:nvSpPr>
        <p:spPr>
          <a:xfrm>
            <a:off x="469900" y="6604000"/>
            <a:ext cx="101600" cy="101600"/>
          </a:xfrm>
          <a:prstGeom prst="triangle">
            <a:avLst/>
          </a:prstGeom>
          <a:solidFill>
            <a:srgbClr val="D6A23A"/>
          </a:solidFill>
          <a:ln w="7620">
            <a:solidFill>
              <a:srgbClr val="252525"/>
            </a:solidFill>
            <a:prstDash val="solid"/>
          </a:ln>
        </p:spPr>
      </p:sp>
      <p:sp>
        <p:nvSpPr>
          <p:cNvPr id="24" name="Text 22"/>
          <p:cNvSpPr/>
          <p:nvPr/>
        </p:nvSpPr>
        <p:spPr>
          <a:xfrm>
            <a:off x="685800" y="6553200"/>
            <a:ext cx="32639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Mauritius</a:t>
            </a:r>
            <a:endParaRPr lang="en-US" sz="1100" dirty="0"/>
          </a:p>
        </p:txBody>
      </p:sp>
      <p:sp>
        <p:nvSpPr>
          <p:cNvPr id="25" name="Text 23"/>
          <p:cNvSpPr/>
          <p:nvPr/>
        </p:nvSpPr>
        <p:spPr>
          <a:xfrm>
            <a:off x="4191000" y="6553200"/>
            <a:ext cx="2857500" cy="317500"/>
          </a:xfrm>
          <a:prstGeom prst="rect">
            <a:avLst/>
          </a:prstGeom>
          <a:noFill/>
          <a:ln/>
        </p:spPr>
        <p:txBody>
          <a:bodyPr wrap="square" lIns="0" tIns="0" rIns="0" bIns="0" rtlCol="0" anchor="t"/>
          <a:lstStyle/>
          <a:p>
            <a:pPr algn="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US$1,419</a:t>
            </a:r>
            <a:endParaRPr lang="en-US" sz="1500" dirty="0"/>
          </a:p>
        </p:txBody>
      </p:sp>
      <p:sp>
        <p:nvSpPr>
          <p:cNvPr id="26" name="Shape 24"/>
          <p:cNvSpPr/>
          <p:nvPr/>
        </p:nvSpPr>
        <p:spPr>
          <a:xfrm>
            <a:off x="457200" y="6959600"/>
            <a:ext cx="6642100" cy="0"/>
          </a:xfrm>
          <a:prstGeom prst="line">
            <a:avLst/>
          </a:prstGeom>
          <a:noFill/>
          <a:ln w="7620">
            <a:solidFill>
              <a:srgbClr val="B7B0A4"/>
            </a:solidFill>
            <a:prstDash val="solid"/>
          </a:ln>
        </p:spPr>
      </p:sp>
      <p:sp>
        <p:nvSpPr>
          <p:cNvPr id="27" name="Shape 25"/>
          <p:cNvSpPr/>
          <p:nvPr/>
        </p:nvSpPr>
        <p:spPr>
          <a:xfrm>
            <a:off x="469900" y="7099300"/>
            <a:ext cx="101600" cy="101600"/>
          </a:xfrm>
          <a:prstGeom prst="hexagon">
            <a:avLst/>
          </a:prstGeom>
          <a:solidFill>
            <a:srgbClr val="3E7568"/>
          </a:solidFill>
          <a:ln w="7620">
            <a:solidFill>
              <a:srgbClr val="252525"/>
            </a:solidFill>
            <a:prstDash val="solid"/>
          </a:ln>
        </p:spPr>
      </p:sp>
      <p:sp>
        <p:nvSpPr>
          <p:cNvPr id="28" name="Text 26"/>
          <p:cNvSpPr/>
          <p:nvPr/>
        </p:nvSpPr>
        <p:spPr>
          <a:xfrm>
            <a:off x="685800" y="7048500"/>
            <a:ext cx="32639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Malaysia</a:t>
            </a:r>
            <a:endParaRPr lang="en-US" sz="1100" dirty="0"/>
          </a:p>
        </p:txBody>
      </p:sp>
      <p:sp>
        <p:nvSpPr>
          <p:cNvPr id="29" name="Text 27"/>
          <p:cNvSpPr/>
          <p:nvPr/>
        </p:nvSpPr>
        <p:spPr>
          <a:xfrm>
            <a:off x="4191000" y="7048500"/>
            <a:ext cx="2857500" cy="317500"/>
          </a:xfrm>
          <a:prstGeom prst="rect">
            <a:avLst/>
          </a:prstGeom>
          <a:noFill/>
          <a:ln/>
        </p:spPr>
        <p:txBody>
          <a:bodyPr wrap="square" lIns="0" tIns="0" rIns="0" bIns="0" rtlCol="0" anchor="t"/>
          <a:lstStyle/>
          <a:p>
            <a:pPr algn="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US$1,266 †</a:t>
            </a:r>
            <a:endParaRPr lang="en-US" sz="1500" dirty="0"/>
          </a:p>
        </p:txBody>
      </p:sp>
      <p:sp>
        <p:nvSpPr>
          <p:cNvPr id="30" name="Shape 28"/>
          <p:cNvSpPr/>
          <p:nvPr/>
        </p:nvSpPr>
        <p:spPr>
          <a:xfrm>
            <a:off x="457200" y="7454900"/>
            <a:ext cx="6642100" cy="0"/>
          </a:xfrm>
          <a:prstGeom prst="line">
            <a:avLst/>
          </a:prstGeom>
          <a:noFill/>
          <a:ln w="7620">
            <a:solidFill>
              <a:srgbClr val="B7B0A4"/>
            </a:solidFill>
            <a:prstDash val="solid"/>
          </a:ln>
        </p:spPr>
      </p:sp>
      <p:sp>
        <p:nvSpPr>
          <p:cNvPr id="31" name="Shape 29"/>
          <p:cNvSpPr/>
          <p:nvPr/>
        </p:nvSpPr>
        <p:spPr>
          <a:xfrm>
            <a:off x="469900" y="7645400"/>
            <a:ext cx="101600" cy="0"/>
          </a:xfrm>
          <a:prstGeom prst="line">
            <a:avLst/>
          </a:prstGeom>
          <a:noFill/>
          <a:ln w="40640">
            <a:solidFill>
              <a:srgbClr val="252525"/>
            </a:solidFill>
            <a:prstDash val="solid"/>
          </a:ln>
        </p:spPr>
      </p:sp>
      <p:sp>
        <p:nvSpPr>
          <p:cNvPr id="32" name="Shape 30"/>
          <p:cNvSpPr/>
          <p:nvPr/>
        </p:nvSpPr>
        <p:spPr>
          <a:xfrm>
            <a:off x="520700" y="7594600"/>
            <a:ext cx="0" cy="101600"/>
          </a:xfrm>
          <a:prstGeom prst="line">
            <a:avLst/>
          </a:prstGeom>
          <a:noFill/>
          <a:ln w="40640">
            <a:solidFill>
              <a:srgbClr val="252525"/>
            </a:solidFill>
            <a:prstDash val="solid"/>
          </a:ln>
        </p:spPr>
      </p:sp>
      <p:sp>
        <p:nvSpPr>
          <p:cNvPr id="33" name="Shape 31"/>
          <p:cNvSpPr/>
          <p:nvPr/>
        </p:nvSpPr>
        <p:spPr>
          <a:xfrm>
            <a:off x="469900" y="7645400"/>
            <a:ext cx="101600" cy="0"/>
          </a:xfrm>
          <a:prstGeom prst="line">
            <a:avLst/>
          </a:prstGeom>
          <a:noFill/>
          <a:ln w="22860">
            <a:solidFill>
              <a:srgbClr val="A63A3A"/>
            </a:solidFill>
            <a:prstDash val="solid"/>
          </a:ln>
        </p:spPr>
      </p:sp>
      <p:sp>
        <p:nvSpPr>
          <p:cNvPr id="34" name="Shape 32"/>
          <p:cNvSpPr/>
          <p:nvPr/>
        </p:nvSpPr>
        <p:spPr>
          <a:xfrm>
            <a:off x="520700" y="7594600"/>
            <a:ext cx="0" cy="101600"/>
          </a:xfrm>
          <a:prstGeom prst="line">
            <a:avLst/>
          </a:prstGeom>
          <a:noFill/>
          <a:ln w="22860">
            <a:solidFill>
              <a:srgbClr val="A63A3A"/>
            </a:solidFill>
            <a:prstDash val="solid"/>
          </a:ln>
        </p:spPr>
      </p:sp>
      <p:sp>
        <p:nvSpPr>
          <p:cNvPr id="35" name="Text 33"/>
          <p:cNvSpPr/>
          <p:nvPr/>
        </p:nvSpPr>
        <p:spPr>
          <a:xfrm>
            <a:off x="685800" y="7543800"/>
            <a:ext cx="32639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Philippines</a:t>
            </a:r>
            <a:endParaRPr lang="en-US" sz="1100" dirty="0"/>
          </a:p>
        </p:txBody>
      </p:sp>
      <p:sp>
        <p:nvSpPr>
          <p:cNvPr id="36" name="Text 34"/>
          <p:cNvSpPr/>
          <p:nvPr/>
        </p:nvSpPr>
        <p:spPr>
          <a:xfrm>
            <a:off x="4191000" y="7543800"/>
            <a:ext cx="2857500" cy="317500"/>
          </a:xfrm>
          <a:prstGeom prst="rect">
            <a:avLst/>
          </a:prstGeom>
          <a:noFill/>
          <a:ln/>
        </p:spPr>
        <p:txBody>
          <a:bodyPr wrap="square" lIns="0" tIns="0" rIns="0" bIns="0" rtlCol="0" anchor="t"/>
          <a:lstStyle/>
          <a:p>
            <a:pPr algn="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US$1,124</a:t>
            </a:r>
            <a:endParaRPr lang="en-US" sz="1500" dirty="0"/>
          </a:p>
        </p:txBody>
      </p:sp>
      <p:sp>
        <p:nvSpPr>
          <p:cNvPr id="37" name="Shape 35"/>
          <p:cNvSpPr/>
          <p:nvPr/>
        </p:nvSpPr>
        <p:spPr>
          <a:xfrm>
            <a:off x="457200" y="7950200"/>
            <a:ext cx="6642100" cy="0"/>
          </a:xfrm>
          <a:prstGeom prst="line">
            <a:avLst/>
          </a:prstGeom>
          <a:noFill/>
          <a:ln w="7620">
            <a:solidFill>
              <a:srgbClr val="B7B0A4"/>
            </a:solidFill>
            <a:prstDash val="solid"/>
          </a:ln>
        </p:spPr>
      </p:sp>
      <p:sp>
        <p:nvSpPr>
          <p:cNvPr id="38" name="Text 36"/>
          <p:cNvSpPr/>
          <p:nvPr/>
        </p:nvSpPr>
        <p:spPr>
          <a:xfrm>
            <a:off x="457200" y="8255000"/>
            <a:ext cx="6642100" cy="4953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 Malaysia: retrospective territorial series. The 1960 value predates the federation’s 1963 formation and Singapore’s 1965 exit.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01 / OBSERVE</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What diverged—and what did not?</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Structural transformation: workers move between sectors, productivity changes within sectors, and the economy’s production mix changes.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(SRC-WDI-001). Frozen release: 13 July 2026; retrieved 6 October 2026. Data and locators: project CSVs; reference p. 26. GDP: NY.GDP.PCAP.KD; agriculture employment: SL.AGR.EMPL.ZS (ILO modelled); manufacturing: NV.IND.MANF.ZS. McMillan et al. (2014, p. 11).</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04</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Employment shares are not productivity. Services growth does not automatically equal industrial upgrading; current-price manufacturing shares also reflect prices.</a:t>
            </a:r>
            <a:endParaRPr lang="en-US" sz="900" dirty="0"/>
          </a:p>
        </p:txBody>
      </p:sp>
      <p:sp>
        <p:nvSpPr>
          <p:cNvPr id="12" name="Text 10"/>
          <p:cNvSpPr/>
          <p:nvPr/>
        </p:nvSpPr>
        <p:spPr>
          <a:xfrm>
            <a:off x="457200" y="2921000"/>
            <a:ext cx="1397000" cy="2540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COUNTRY</a:t>
            </a:r>
            <a:endParaRPr lang="en-US" sz="800" dirty="0"/>
          </a:p>
        </p:txBody>
      </p:sp>
      <p:sp>
        <p:nvSpPr>
          <p:cNvPr id="13" name="Text 11"/>
          <p:cNvSpPr/>
          <p:nvPr/>
        </p:nvSpPr>
        <p:spPr>
          <a:xfrm>
            <a:off x="2006600" y="2921000"/>
            <a:ext cx="1676400" cy="2540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INCOME / PERSON</a:t>
            </a:r>
            <a:endParaRPr lang="en-US" sz="800" dirty="0"/>
          </a:p>
        </p:txBody>
      </p:sp>
      <p:sp>
        <p:nvSpPr>
          <p:cNvPr id="14" name="Text 12"/>
          <p:cNvSpPr/>
          <p:nvPr/>
        </p:nvSpPr>
        <p:spPr>
          <a:xfrm>
            <a:off x="3911600" y="2921000"/>
            <a:ext cx="1562100" cy="2540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AGRICULTURE JOBS</a:t>
            </a:r>
            <a:endParaRPr lang="en-US" sz="800" dirty="0"/>
          </a:p>
        </p:txBody>
      </p:sp>
      <p:sp>
        <p:nvSpPr>
          <p:cNvPr id="15" name="Text 13"/>
          <p:cNvSpPr/>
          <p:nvPr/>
        </p:nvSpPr>
        <p:spPr>
          <a:xfrm>
            <a:off x="5727700" y="2921000"/>
            <a:ext cx="1371600" cy="2540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MANUFACTURING</a:t>
            </a:r>
            <a:endParaRPr lang="en-US" sz="800" dirty="0"/>
          </a:p>
        </p:txBody>
      </p:sp>
      <p:sp>
        <p:nvSpPr>
          <p:cNvPr id="16" name="Text 14"/>
          <p:cNvSpPr/>
          <p:nvPr/>
        </p:nvSpPr>
        <p:spPr>
          <a:xfrm>
            <a:off x="2006600" y="3187700"/>
            <a:ext cx="1739900" cy="4572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1960 → 2020</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US$ · 0–35,000</a:t>
            </a:r>
            <a:endParaRPr lang="en-US" sz="800" dirty="0"/>
          </a:p>
        </p:txBody>
      </p:sp>
      <p:sp>
        <p:nvSpPr>
          <p:cNvPr id="17" name="Text 15"/>
          <p:cNvSpPr/>
          <p:nvPr/>
        </p:nvSpPr>
        <p:spPr>
          <a:xfrm>
            <a:off x="3911600" y="3187700"/>
            <a:ext cx="1714500" cy="4572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1991† → 2020</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 · 0–100</a:t>
            </a:r>
            <a:endParaRPr lang="en-US" sz="800" dirty="0"/>
          </a:p>
        </p:txBody>
      </p:sp>
      <p:sp>
        <p:nvSpPr>
          <p:cNvPr id="18" name="Text 16"/>
          <p:cNvSpPr/>
          <p:nvPr/>
        </p:nvSpPr>
        <p:spPr>
          <a:xfrm>
            <a:off x="5727700" y="3187700"/>
            <a:ext cx="1371600" cy="4572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1990 → 2020</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 GDP · 0–30</a:t>
            </a:r>
            <a:endParaRPr lang="en-US" sz="800" dirty="0"/>
          </a:p>
        </p:txBody>
      </p:sp>
      <p:sp>
        <p:nvSpPr>
          <p:cNvPr id="19" name="Shape 17"/>
          <p:cNvSpPr/>
          <p:nvPr/>
        </p:nvSpPr>
        <p:spPr>
          <a:xfrm>
            <a:off x="469900" y="3949700"/>
            <a:ext cx="101600" cy="101600"/>
          </a:xfrm>
          <a:prstGeom prst="ellipse">
            <a:avLst/>
          </a:prstGeom>
          <a:solidFill>
            <a:srgbClr val="B95332"/>
          </a:solidFill>
          <a:ln w="7620">
            <a:solidFill>
              <a:srgbClr val="252525"/>
            </a:solidFill>
            <a:prstDash val="solid"/>
          </a:ln>
        </p:spPr>
      </p:sp>
      <p:sp>
        <p:nvSpPr>
          <p:cNvPr id="20" name="Text 18"/>
          <p:cNvSpPr/>
          <p:nvPr/>
        </p:nvSpPr>
        <p:spPr>
          <a:xfrm>
            <a:off x="685800" y="3898900"/>
            <a:ext cx="12573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Ghana</a:t>
            </a:r>
            <a:endParaRPr lang="en-US" sz="1100" dirty="0"/>
          </a:p>
        </p:txBody>
      </p:sp>
      <p:sp>
        <p:nvSpPr>
          <p:cNvPr id="21" name="Shape 19"/>
          <p:cNvSpPr/>
          <p:nvPr/>
        </p:nvSpPr>
        <p:spPr>
          <a:xfrm>
            <a:off x="2006600" y="4127500"/>
            <a:ext cx="1524000" cy="0"/>
          </a:xfrm>
          <a:prstGeom prst="line">
            <a:avLst/>
          </a:prstGeom>
          <a:noFill/>
          <a:ln w="6350">
            <a:solidFill>
              <a:srgbClr val="B7B0A4"/>
            </a:solidFill>
            <a:prstDash val="solid"/>
          </a:ln>
        </p:spPr>
      </p:sp>
      <p:sp>
        <p:nvSpPr>
          <p:cNvPr id="22" name="Shape 20"/>
          <p:cNvSpPr/>
          <p:nvPr/>
        </p:nvSpPr>
        <p:spPr>
          <a:xfrm>
            <a:off x="2054541" y="4127500"/>
            <a:ext cx="37839" cy="0"/>
          </a:xfrm>
          <a:prstGeom prst="line">
            <a:avLst/>
          </a:prstGeom>
          <a:noFill/>
          <a:ln w="25400">
            <a:solidFill>
              <a:srgbClr val="B95332"/>
            </a:solidFill>
            <a:prstDash val="solid"/>
          </a:ln>
        </p:spPr>
      </p:sp>
      <p:sp>
        <p:nvSpPr>
          <p:cNvPr id="23" name="Shape 21"/>
          <p:cNvSpPr/>
          <p:nvPr/>
        </p:nvSpPr>
        <p:spPr>
          <a:xfrm>
            <a:off x="2029141" y="4102100"/>
            <a:ext cx="50800" cy="50800"/>
          </a:xfrm>
          <a:prstGeom prst="ellipse">
            <a:avLst/>
          </a:prstGeom>
          <a:solidFill>
            <a:srgbClr val="F4F0E7"/>
          </a:solidFill>
          <a:ln w="8890">
            <a:solidFill>
              <a:srgbClr val="252525"/>
            </a:solidFill>
            <a:prstDash val="solid"/>
          </a:ln>
        </p:spPr>
      </p:sp>
      <p:sp>
        <p:nvSpPr>
          <p:cNvPr id="24" name="Shape 22"/>
          <p:cNvSpPr/>
          <p:nvPr/>
        </p:nvSpPr>
        <p:spPr>
          <a:xfrm>
            <a:off x="2060629" y="4095750"/>
            <a:ext cx="63500" cy="63500"/>
          </a:xfrm>
          <a:prstGeom prst="ellipse">
            <a:avLst/>
          </a:prstGeom>
          <a:solidFill>
            <a:srgbClr val="B95332"/>
          </a:solidFill>
          <a:ln w="7620">
            <a:solidFill>
              <a:srgbClr val="252525"/>
            </a:solidFill>
            <a:prstDash val="solid"/>
          </a:ln>
        </p:spPr>
      </p:sp>
      <p:sp>
        <p:nvSpPr>
          <p:cNvPr id="25" name="Text 23"/>
          <p:cNvSpPr/>
          <p:nvPr/>
        </p:nvSpPr>
        <p:spPr>
          <a:xfrm>
            <a:off x="2006600" y="4241800"/>
            <a:ext cx="15875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1,101 → 1,970</a:t>
            </a:r>
            <a:endParaRPr lang="en-US" sz="850" dirty="0"/>
          </a:p>
        </p:txBody>
      </p:sp>
      <p:sp>
        <p:nvSpPr>
          <p:cNvPr id="26" name="Shape 24"/>
          <p:cNvSpPr/>
          <p:nvPr/>
        </p:nvSpPr>
        <p:spPr>
          <a:xfrm>
            <a:off x="3911600" y="4127500"/>
            <a:ext cx="1473200" cy="0"/>
          </a:xfrm>
          <a:prstGeom prst="line">
            <a:avLst/>
          </a:prstGeom>
          <a:noFill/>
          <a:ln w="6350">
            <a:solidFill>
              <a:srgbClr val="B7B0A4"/>
            </a:solidFill>
            <a:prstDash val="solid"/>
          </a:ln>
        </p:spPr>
      </p:sp>
      <p:sp>
        <p:nvSpPr>
          <p:cNvPr id="27" name="Shape 25"/>
          <p:cNvSpPr/>
          <p:nvPr/>
        </p:nvSpPr>
        <p:spPr>
          <a:xfrm>
            <a:off x="4462577" y="4127500"/>
            <a:ext cx="506781" cy="0"/>
          </a:xfrm>
          <a:prstGeom prst="line">
            <a:avLst/>
          </a:prstGeom>
          <a:noFill/>
          <a:ln w="25400">
            <a:solidFill>
              <a:srgbClr val="B95332"/>
            </a:solidFill>
            <a:prstDash val="solid"/>
          </a:ln>
        </p:spPr>
      </p:sp>
      <p:sp>
        <p:nvSpPr>
          <p:cNvPr id="28" name="Shape 26"/>
          <p:cNvSpPr/>
          <p:nvPr/>
        </p:nvSpPr>
        <p:spPr>
          <a:xfrm>
            <a:off x="4943958" y="4102100"/>
            <a:ext cx="50800" cy="50800"/>
          </a:xfrm>
          <a:prstGeom prst="ellipse">
            <a:avLst/>
          </a:prstGeom>
          <a:solidFill>
            <a:srgbClr val="F4F0E7"/>
          </a:solidFill>
          <a:ln w="8890">
            <a:solidFill>
              <a:srgbClr val="252525"/>
            </a:solidFill>
            <a:prstDash val="solid"/>
          </a:ln>
        </p:spPr>
      </p:sp>
      <p:sp>
        <p:nvSpPr>
          <p:cNvPr id="29" name="Shape 27"/>
          <p:cNvSpPr/>
          <p:nvPr/>
        </p:nvSpPr>
        <p:spPr>
          <a:xfrm>
            <a:off x="4430827" y="4095750"/>
            <a:ext cx="63500" cy="63500"/>
          </a:xfrm>
          <a:prstGeom prst="ellipse">
            <a:avLst/>
          </a:prstGeom>
          <a:solidFill>
            <a:srgbClr val="B95332"/>
          </a:solidFill>
          <a:ln w="7620">
            <a:solidFill>
              <a:srgbClr val="252525"/>
            </a:solidFill>
            <a:prstDash val="solid"/>
          </a:ln>
        </p:spPr>
      </p:sp>
      <p:sp>
        <p:nvSpPr>
          <p:cNvPr id="30" name="Text 28"/>
          <p:cNvSpPr/>
          <p:nvPr/>
        </p:nvSpPr>
        <p:spPr>
          <a:xfrm>
            <a:off x="3911600" y="4241800"/>
            <a:ext cx="15367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71.8 → 37.4</a:t>
            </a:r>
            <a:endParaRPr lang="en-US" sz="850" dirty="0"/>
          </a:p>
        </p:txBody>
      </p:sp>
      <p:sp>
        <p:nvSpPr>
          <p:cNvPr id="31" name="Shape 29"/>
          <p:cNvSpPr/>
          <p:nvPr/>
        </p:nvSpPr>
        <p:spPr>
          <a:xfrm>
            <a:off x="5727700" y="4127500"/>
            <a:ext cx="1295400" cy="0"/>
          </a:xfrm>
          <a:prstGeom prst="line">
            <a:avLst/>
          </a:prstGeom>
          <a:noFill/>
          <a:ln w="6350">
            <a:solidFill>
              <a:srgbClr val="B7B0A4"/>
            </a:solidFill>
            <a:prstDash val="solid"/>
          </a:ln>
        </p:spPr>
      </p:sp>
      <p:sp>
        <p:nvSpPr>
          <p:cNvPr id="32" name="Shape 30"/>
          <p:cNvSpPr/>
          <p:nvPr/>
        </p:nvSpPr>
        <p:spPr>
          <a:xfrm>
            <a:off x="6150864" y="4127500"/>
            <a:ext cx="51816" cy="0"/>
          </a:xfrm>
          <a:prstGeom prst="line">
            <a:avLst/>
          </a:prstGeom>
          <a:noFill/>
          <a:ln w="25400">
            <a:solidFill>
              <a:srgbClr val="B95332"/>
            </a:solidFill>
            <a:prstDash val="solid"/>
          </a:ln>
        </p:spPr>
      </p:sp>
      <p:sp>
        <p:nvSpPr>
          <p:cNvPr id="33" name="Shape 31"/>
          <p:cNvSpPr/>
          <p:nvPr/>
        </p:nvSpPr>
        <p:spPr>
          <a:xfrm>
            <a:off x="6125464" y="4102100"/>
            <a:ext cx="50800" cy="50800"/>
          </a:xfrm>
          <a:prstGeom prst="ellipse">
            <a:avLst/>
          </a:prstGeom>
          <a:solidFill>
            <a:srgbClr val="F4F0E7"/>
          </a:solidFill>
          <a:ln w="8890">
            <a:solidFill>
              <a:srgbClr val="252525"/>
            </a:solidFill>
            <a:prstDash val="solid"/>
          </a:ln>
        </p:spPr>
      </p:sp>
      <p:sp>
        <p:nvSpPr>
          <p:cNvPr id="34" name="Shape 32"/>
          <p:cNvSpPr/>
          <p:nvPr/>
        </p:nvSpPr>
        <p:spPr>
          <a:xfrm>
            <a:off x="6170930" y="4095750"/>
            <a:ext cx="63500" cy="63500"/>
          </a:xfrm>
          <a:prstGeom prst="ellipse">
            <a:avLst/>
          </a:prstGeom>
          <a:solidFill>
            <a:srgbClr val="B95332"/>
          </a:solidFill>
          <a:ln w="7620">
            <a:solidFill>
              <a:srgbClr val="252525"/>
            </a:solidFill>
            <a:prstDash val="solid"/>
          </a:ln>
        </p:spPr>
      </p:sp>
      <p:sp>
        <p:nvSpPr>
          <p:cNvPr id="35" name="Text 33"/>
          <p:cNvSpPr/>
          <p:nvPr/>
        </p:nvSpPr>
        <p:spPr>
          <a:xfrm>
            <a:off x="5727700" y="4241800"/>
            <a:ext cx="13589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9.8 → 11</a:t>
            </a:r>
            <a:endParaRPr lang="en-US" sz="850" dirty="0"/>
          </a:p>
        </p:txBody>
      </p:sp>
      <p:sp>
        <p:nvSpPr>
          <p:cNvPr id="36" name="Shape 34"/>
          <p:cNvSpPr/>
          <p:nvPr/>
        </p:nvSpPr>
        <p:spPr>
          <a:xfrm>
            <a:off x="457200" y="4521200"/>
            <a:ext cx="6642100" cy="0"/>
          </a:xfrm>
          <a:prstGeom prst="line">
            <a:avLst/>
          </a:prstGeom>
          <a:noFill/>
          <a:ln w="7620">
            <a:solidFill>
              <a:srgbClr val="B7B0A4"/>
            </a:solidFill>
            <a:prstDash val="solid"/>
          </a:ln>
        </p:spPr>
      </p:sp>
      <p:sp>
        <p:nvSpPr>
          <p:cNvPr id="37" name="Shape 35"/>
          <p:cNvSpPr/>
          <p:nvPr/>
        </p:nvSpPr>
        <p:spPr>
          <a:xfrm>
            <a:off x="469900" y="4648200"/>
            <a:ext cx="101600" cy="101600"/>
          </a:xfrm>
          <a:prstGeom prst="rect">
            <a:avLst/>
          </a:prstGeom>
          <a:solidFill>
            <a:srgbClr val="3F684E"/>
          </a:solidFill>
          <a:ln w="7620">
            <a:solidFill>
              <a:srgbClr val="252525"/>
            </a:solidFill>
            <a:prstDash val="solid"/>
          </a:ln>
        </p:spPr>
      </p:sp>
      <p:sp>
        <p:nvSpPr>
          <p:cNvPr id="38" name="Text 36"/>
          <p:cNvSpPr/>
          <p:nvPr/>
        </p:nvSpPr>
        <p:spPr>
          <a:xfrm>
            <a:off x="685800" y="4597400"/>
            <a:ext cx="12573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Botswana</a:t>
            </a:r>
            <a:endParaRPr lang="en-US" sz="1100" dirty="0"/>
          </a:p>
        </p:txBody>
      </p:sp>
      <p:sp>
        <p:nvSpPr>
          <p:cNvPr id="39" name="Shape 37"/>
          <p:cNvSpPr/>
          <p:nvPr/>
        </p:nvSpPr>
        <p:spPr>
          <a:xfrm>
            <a:off x="2006600" y="4826000"/>
            <a:ext cx="1524000" cy="0"/>
          </a:xfrm>
          <a:prstGeom prst="line">
            <a:avLst/>
          </a:prstGeom>
          <a:noFill/>
          <a:ln w="6350">
            <a:solidFill>
              <a:srgbClr val="B7B0A4"/>
            </a:solidFill>
            <a:prstDash val="solid"/>
          </a:ln>
        </p:spPr>
      </p:sp>
      <p:sp>
        <p:nvSpPr>
          <p:cNvPr id="40" name="Shape 38"/>
          <p:cNvSpPr/>
          <p:nvPr/>
        </p:nvSpPr>
        <p:spPr>
          <a:xfrm>
            <a:off x="2023756" y="4826000"/>
            <a:ext cx="255161" cy="0"/>
          </a:xfrm>
          <a:prstGeom prst="line">
            <a:avLst/>
          </a:prstGeom>
          <a:noFill/>
          <a:ln w="25400">
            <a:solidFill>
              <a:srgbClr val="3F684E"/>
            </a:solidFill>
            <a:prstDash val="solid"/>
          </a:ln>
        </p:spPr>
      </p:sp>
      <p:sp>
        <p:nvSpPr>
          <p:cNvPr id="41" name="Shape 39"/>
          <p:cNvSpPr/>
          <p:nvPr/>
        </p:nvSpPr>
        <p:spPr>
          <a:xfrm>
            <a:off x="1998356" y="4800600"/>
            <a:ext cx="50800" cy="50800"/>
          </a:xfrm>
          <a:prstGeom prst="ellipse">
            <a:avLst/>
          </a:prstGeom>
          <a:solidFill>
            <a:srgbClr val="F4F0E7"/>
          </a:solidFill>
          <a:ln w="8890">
            <a:solidFill>
              <a:srgbClr val="252525"/>
            </a:solidFill>
            <a:prstDash val="solid"/>
          </a:ln>
        </p:spPr>
      </p:sp>
      <p:sp>
        <p:nvSpPr>
          <p:cNvPr id="42" name="Shape 40"/>
          <p:cNvSpPr/>
          <p:nvPr/>
        </p:nvSpPr>
        <p:spPr>
          <a:xfrm>
            <a:off x="2247167" y="4794250"/>
            <a:ext cx="63500" cy="63500"/>
          </a:xfrm>
          <a:prstGeom prst="rect">
            <a:avLst/>
          </a:prstGeom>
          <a:solidFill>
            <a:srgbClr val="3F684E"/>
          </a:solidFill>
          <a:ln w="7620">
            <a:solidFill>
              <a:srgbClr val="252525"/>
            </a:solidFill>
            <a:prstDash val="solid"/>
          </a:ln>
        </p:spPr>
      </p:sp>
      <p:sp>
        <p:nvSpPr>
          <p:cNvPr id="43" name="Text 41"/>
          <p:cNvSpPr/>
          <p:nvPr/>
        </p:nvSpPr>
        <p:spPr>
          <a:xfrm>
            <a:off x="2006600" y="4940300"/>
            <a:ext cx="15875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394 → 6,254</a:t>
            </a:r>
            <a:endParaRPr lang="en-US" sz="850" dirty="0"/>
          </a:p>
        </p:txBody>
      </p:sp>
      <p:sp>
        <p:nvSpPr>
          <p:cNvPr id="44" name="Shape 42"/>
          <p:cNvSpPr/>
          <p:nvPr/>
        </p:nvSpPr>
        <p:spPr>
          <a:xfrm>
            <a:off x="3911600" y="4826000"/>
            <a:ext cx="1473200" cy="0"/>
          </a:xfrm>
          <a:prstGeom prst="line">
            <a:avLst/>
          </a:prstGeom>
          <a:noFill/>
          <a:ln w="6350">
            <a:solidFill>
              <a:srgbClr val="B7B0A4"/>
            </a:solidFill>
            <a:prstDash val="solid"/>
          </a:ln>
        </p:spPr>
      </p:sp>
      <p:sp>
        <p:nvSpPr>
          <p:cNvPr id="45" name="Shape 43"/>
          <p:cNvSpPr/>
          <p:nvPr/>
        </p:nvSpPr>
        <p:spPr>
          <a:xfrm>
            <a:off x="4097223" y="4826000"/>
            <a:ext cx="101651" cy="0"/>
          </a:xfrm>
          <a:prstGeom prst="line">
            <a:avLst/>
          </a:prstGeom>
          <a:noFill/>
          <a:ln w="25400">
            <a:solidFill>
              <a:srgbClr val="3F684E"/>
            </a:solidFill>
            <a:prstDash val="solid"/>
          </a:ln>
        </p:spPr>
      </p:sp>
      <p:sp>
        <p:nvSpPr>
          <p:cNvPr id="46" name="Shape 44"/>
          <p:cNvSpPr/>
          <p:nvPr/>
        </p:nvSpPr>
        <p:spPr>
          <a:xfrm>
            <a:off x="4071823" y="4800600"/>
            <a:ext cx="50800" cy="50800"/>
          </a:xfrm>
          <a:prstGeom prst="ellipse">
            <a:avLst/>
          </a:prstGeom>
          <a:solidFill>
            <a:srgbClr val="F4F0E7"/>
          </a:solidFill>
          <a:ln w="8890">
            <a:solidFill>
              <a:srgbClr val="252525"/>
            </a:solidFill>
            <a:prstDash val="solid"/>
          </a:ln>
        </p:spPr>
      </p:sp>
      <p:sp>
        <p:nvSpPr>
          <p:cNvPr id="47" name="Shape 45"/>
          <p:cNvSpPr/>
          <p:nvPr/>
        </p:nvSpPr>
        <p:spPr>
          <a:xfrm>
            <a:off x="4167124" y="4794250"/>
            <a:ext cx="63500" cy="63500"/>
          </a:xfrm>
          <a:prstGeom prst="rect">
            <a:avLst/>
          </a:prstGeom>
          <a:solidFill>
            <a:srgbClr val="3F684E"/>
          </a:solidFill>
          <a:ln w="7620">
            <a:solidFill>
              <a:srgbClr val="252525"/>
            </a:solidFill>
            <a:prstDash val="solid"/>
          </a:ln>
        </p:spPr>
      </p:sp>
      <p:sp>
        <p:nvSpPr>
          <p:cNvPr id="48" name="Text 46"/>
          <p:cNvSpPr/>
          <p:nvPr/>
        </p:nvSpPr>
        <p:spPr>
          <a:xfrm>
            <a:off x="3911600" y="4940300"/>
            <a:ext cx="15367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12.6 → 19.5</a:t>
            </a:r>
            <a:endParaRPr lang="en-US" sz="850" dirty="0"/>
          </a:p>
        </p:txBody>
      </p:sp>
      <p:sp>
        <p:nvSpPr>
          <p:cNvPr id="49" name="Shape 47"/>
          <p:cNvSpPr/>
          <p:nvPr/>
        </p:nvSpPr>
        <p:spPr>
          <a:xfrm>
            <a:off x="5727700" y="4826000"/>
            <a:ext cx="1295400" cy="0"/>
          </a:xfrm>
          <a:prstGeom prst="line">
            <a:avLst/>
          </a:prstGeom>
          <a:noFill/>
          <a:ln w="6350">
            <a:solidFill>
              <a:srgbClr val="B7B0A4"/>
            </a:solidFill>
            <a:prstDash val="solid"/>
          </a:ln>
        </p:spPr>
      </p:sp>
      <p:sp>
        <p:nvSpPr>
          <p:cNvPr id="50" name="Shape 48"/>
          <p:cNvSpPr/>
          <p:nvPr/>
        </p:nvSpPr>
        <p:spPr>
          <a:xfrm>
            <a:off x="5934964" y="4826000"/>
            <a:ext cx="38862" cy="0"/>
          </a:xfrm>
          <a:prstGeom prst="line">
            <a:avLst/>
          </a:prstGeom>
          <a:noFill/>
          <a:ln w="25400">
            <a:solidFill>
              <a:srgbClr val="3F684E"/>
            </a:solidFill>
            <a:prstDash val="solid"/>
          </a:ln>
        </p:spPr>
      </p:sp>
      <p:sp>
        <p:nvSpPr>
          <p:cNvPr id="51" name="Shape 49"/>
          <p:cNvSpPr/>
          <p:nvPr/>
        </p:nvSpPr>
        <p:spPr>
          <a:xfrm>
            <a:off x="5909564" y="4800600"/>
            <a:ext cx="50800" cy="50800"/>
          </a:xfrm>
          <a:prstGeom prst="ellipse">
            <a:avLst/>
          </a:prstGeom>
          <a:solidFill>
            <a:srgbClr val="F4F0E7"/>
          </a:solidFill>
          <a:ln w="8890">
            <a:solidFill>
              <a:srgbClr val="252525"/>
            </a:solidFill>
            <a:prstDash val="solid"/>
          </a:ln>
        </p:spPr>
      </p:sp>
      <p:sp>
        <p:nvSpPr>
          <p:cNvPr id="52" name="Shape 50"/>
          <p:cNvSpPr/>
          <p:nvPr/>
        </p:nvSpPr>
        <p:spPr>
          <a:xfrm>
            <a:off x="5942076" y="4794250"/>
            <a:ext cx="63500" cy="63500"/>
          </a:xfrm>
          <a:prstGeom prst="rect">
            <a:avLst/>
          </a:prstGeom>
          <a:solidFill>
            <a:srgbClr val="3F684E"/>
          </a:solidFill>
          <a:ln w="7620">
            <a:solidFill>
              <a:srgbClr val="252525"/>
            </a:solidFill>
            <a:prstDash val="solid"/>
          </a:ln>
        </p:spPr>
      </p:sp>
      <p:sp>
        <p:nvSpPr>
          <p:cNvPr id="53" name="Text 51"/>
          <p:cNvSpPr/>
          <p:nvPr/>
        </p:nvSpPr>
        <p:spPr>
          <a:xfrm>
            <a:off x="5727700" y="4940300"/>
            <a:ext cx="13589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4.8 → 5.7</a:t>
            </a:r>
            <a:endParaRPr lang="en-US" sz="850" dirty="0"/>
          </a:p>
        </p:txBody>
      </p:sp>
      <p:sp>
        <p:nvSpPr>
          <p:cNvPr id="54" name="Shape 52"/>
          <p:cNvSpPr/>
          <p:nvPr/>
        </p:nvSpPr>
        <p:spPr>
          <a:xfrm>
            <a:off x="457200" y="5219700"/>
            <a:ext cx="6642100" cy="0"/>
          </a:xfrm>
          <a:prstGeom prst="line">
            <a:avLst/>
          </a:prstGeom>
          <a:noFill/>
          <a:ln w="7620">
            <a:solidFill>
              <a:srgbClr val="B7B0A4"/>
            </a:solidFill>
            <a:prstDash val="solid"/>
          </a:ln>
        </p:spPr>
      </p:sp>
      <p:sp>
        <p:nvSpPr>
          <p:cNvPr id="55" name="Shape 53"/>
          <p:cNvSpPr/>
          <p:nvPr/>
        </p:nvSpPr>
        <p:spPr>
          <a:xfrm>
            <a:off x="469900" y="5346700"/>
            <a:ext cx="101600" cy="101600"/>
          </a:xfrm>
          <a:prstGeom prst="triangle">
            <a:avLst/>
          </a:prstGeom>
          <a:solidFill>
            <a:srgbClr val="D6A23A"/>
          </a:solidFill>
          <a:ln w="7620">
            <a:solidFill>
              <a:srgbClr val="252525"/>
            </a:solidFill>
            <a:prstDash val="solid"/>
          </a:ln>
        </p:spPr>
      </p:sp>
      <p:sp>
        <p:nvSpPr>
          <p:cNvPr id="56" name="Text 54"/>
          <p:cNvSpPr/>
          <p:nvPr/>
        </p:nvSpPr>
        <p:spPr>
          <a:xfrm>
            <a:off x="685800" y="5295900"/>
            <a:ext cx="12573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Mauritius</a:t>
            </a:r>
            <a:endParaRPr lang="en-US" sz="1100" dirty="0"/>
          </a:p>
        </p:txBody>
      </p:sp>
      <p:sp>
        <p:nvSpPr>
          <p:cNvPr id="57" name="Shape 55"/>
          <p:cNvSpPr/>
          <p:nvPr/>
        </p:nvSpPr>
        <p:spPr>
          <a:xfrm>
            <a:off x="2006600" y="5524500"/>
            <a:ext cx="1524000" cy="0"/>
          </a:xfrm>
          <a:prstGeom prst="line">
            <a:avLst/>
          </a:prstGeom>
          <a:noFill/>
          <a:ln w="6350">
            <a:solidFill>
              <a:srgbClr val="B7B0A4"/>
            </a:solidFill>
            <a:prstDash val="solid"/>
          </a:ln>
        </p:spPr>
      </p:sp>
      <p:sp>
        <p:nvSpPr>
          <p:cNvPr id="58" name="Shape 56"/>
          <p:cNvSpPr/>
          <p:nvPr/>
        </p:nvSpPr>
        <p:spPr>
          <a:xfrm>
            <a:off x="2068387" y="5524500"/>
            <a:ext cx="353350" cy="0"/>
          </a:xfrm>
          <a:prstGeom prst="line">
            <a:avLst/>
          </a:prstGeom>
          <a:noFill/>
          <a:ln w="25400">
            <a:solidFill>
              <a:srgbClr val="D6A23A"/>
            </a:solidFill>
            <a:prstDash val="solid"/>
          </a:ln>
        </p:spPr>
      </p:sp>
      <p:sp>
        <p:nvSpPr>
          <p:cNvPr id="59" name="Shape 57"/>
          <p:cNvSpPr/>
          <p:nvPr/>
        </p:nvSpPr>
        <p:spPr>
          <a:xfrm>
            <a:off x="2042987" y="5499100"/>
            <a:ext cx="50800" cy="50800"/>
          </a:xfrm>
          <a:prstGeom prst="ellipse">
            <a:avLst/>
          </a:prstGeom>
          <a:solidFill>
            <a:srgbClr val="F4F0E7"/>
          </a:solidFill>
          <a:ln w="8890">
            <a:solidFill>
              <a:srgbClr val="252525"/>
            </a:solidFill>
            <a:prstDash val="solid"/>
          </a:ln>
        </p:spPr>
      </p:sp>
      <p:sp>
        <p:nvSpPr>
          <p:cNvPr id="60" name="Shape 58"/>
          <p:cNvSpPr/>
          <p:nvPr/>
        </p:nvSpPr>
        <p:spPr>
          <a:xfrm>
            <a:off x="2389988" y="5492750"/>
            <a:ext cx="63500" cy="63500"/>
          </a:xfrm>
          <a:prstGeom prst="triangle">
            <a:avLst/>
          </a:prstGeom>
          <a:solidFill>
            <a:srgbClr val="D6A23A"/>
          </a:solidFill>
          <a:ln w="7620">
            <a:solidFill>
              <a:srgbClr val="252525"/>
            </a:solidFill>
            <a:prstDash val="solid"/>
          </a:ln>
        </p:spPr>
      </p:sp>
      <p:sp>
        <p:nvSpPr>
          <p:cNvPr id="61" name="Text 59"/>
          <p:cNvSpPr/>
          <p:nvPr/>
        </p:nvSpPr>
        <p:spPr>
          <a:xfrm>
            <a:off x="2006600" y="5638800"/>
            <a:ext cx="15875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1,419 → 9,534</a:t>
            </a:r>
            <a:endParaRPr lang="en-US" sz="850" dirty="0"/>
          </a:p>
        </p:txBody>
      </p:sp>
      <p:sp>
        <p:nvSpPr>
          <p:cNvPr id="62" name="Shape 60"/>
          <p:cNvSpPr/>
          <p:nvPr/>
        </p:nvSpPr>
        <p:spPr>
          <a:xfrm>
            <a:off x="3911600" y="5524500"/>
            <a:ext cx="1473200" cy="0"/>
          </a:xfrm>
          <a:prstGeom prst="line">
            <a:avLst/>
          </a:prstGeom>
          <a:noFill/>
          <a:ln w="6350">
            <a:solidFill>
              <a:srgbClr val="B7B0A4"/>
            </a:solidFill>
            <a:prstDash val="solid"/>
          </a:ln>
        </p:spPr>
      </p:sp>
      <p:sp>
        <p:nvSpPr>
          <p:cNvPr id="63" name="Shape 61"/>
          <p:cNvSpPr/>
          <p:nvPr/>
        </p:nvSpPr>
        <p:spPr>
          <a:xfrm>
            <a:off x="3989680" y="5524500"/>
            <a:ext cx="210668" cy="0"/>
          </a:xfrm>
          <a:prstGeom prst="line">
            <a:avLst/>
          </a:prstGeom>
          <a:noFill/>
          <a:ln w="25400">
            <a:solidFill>
              <a:srgbClr val="D6A23A"/>
            </a:solidFill>
            <a:prstDash val="solid"/>
          </a:ln>
        </p:spPr>
      </p:sp>
      <p:sp>
        <p:nvSpPr>
          <p:cNvPr id="64" name="Shape 62"/>
          <p:cNvSpPr/>
          <p:nvPr/>
        </p:nvSpPr>
        <p:spPr>
          <a:xfrm>
            <a:off x="4174947" y="5499100"/>
            <a:ext cx="50800" cy="50800"/>
          </a:xfrm>
          <a:prstGeom prst="ellipse">
            <a:avLst/>
          </a:prstGeom>
          <a:solidFill>
            <a:srgbClr val="F4F0E7"/>
          </a:solidFill>
          <a:ln w="8890">
            <a:solidFill>
              <a:srgbClr val="252525"/>
            </a:solidFill>
            <a:prstDash val="solid"/>
          </a:ln>
        </p:spPr>
      </p:sp>
      <p:sp>
        <p:nvSpPr>
          <p:cNvPr id="65" name="Shape 63"/>
          <p:cNvSpPr/>
          <p:nvPr/>
        </p:nvSpPr>
        <p:spPr>
          <a:xfrm>
            <a:off x="3957930" y="5492750"/>
            <a:ext cx="63500" cy="63500"/>
          </a:xfrm>
          <a:prstGeom prst="triangle">
            <a:avLst/>
          </a:prstGeom>
          <a:solidFill>
            <a:srgbClr val="D6A23A"/>
          </a:solidFill>
          <a:ln w="7620">
            <a:solidFill>
              <a:srgbClr val="252525"/>
            </a:solidFill>
            <a:prstDash val="solid"/>
          </a:ln>
        </p:spPr>
      </p:sp>
      <p:sp>
        <p:nvSpPr>
          <p:cNvPr id="66" name="Text 64"/>
          <p:cNvSpPr/>
          <p:nvPr/>
        </p:nvSpPr>
        <p:spPr>
          <a:xfrm>
            <a:off x="3911600" y="5638800"/>
            <a:ext cx="15367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19.6 → 5.3</a:t>
            </a:r>
            <a:endParaRPr lang="en-US" sz="850" dirty="0"/>
          </a:p>
        </p:txBody>
      </p:sp>
      <p:sp>
        <p:nvSpPr>
          <p:cNvPr id="67" name="Shape 65"/>
          <p:cNvSpPr/>
          <p:nvPr/>
        </p:nvSpPr>
        <p:spPr>
          <a:xfrm>
            <a:off x="5727700" y="5524500"/>
            <a:ext cx="1295400" cy="0"/>
          </a:xfrm>
          <a:prstGeom prst="line">
            <a:avLst/>
          </a:prstGeom>
          <a:noFill/>
          <a:ln w="6350">
            <a:solidFill>
              <a:srgbClr val="B7B0A4"/>
            </a:solidFill>
            <a:prstDash val="solid"/>
          </a:ln>
        </p:spPr>
      </p:sp>
      <p:sp>
        <p:nvSpPr>
          <p:cNvPr id="68" name="Shape 66"/>
          <p:cNvSpPr/>
          <p:nvPr/>
        </p:nvSpPr>
        <p:spPr>
          <a:xfrm>
            <a:off x="6189726" y="5524500"/>
            <a:ext cx="418846" cy="0"/>
          </a:xfrm>
          <a:prstGeom prst="line">
            <a:avLst/>
          </a:prstGeom>
          <a:noFill/>
          <a:ln w="25400">
            <a:solidFill>
              <a:srgbClr val="D6A23A"/>
            </a:solidFill>
            <a:prstDash val="solid"/>
          </a:ln>
        </p:spPr>
      </p:sp>
      <p:sp>
        <p:nvSpPr>
          <p:cNvPr id="69" name="Shape 67"/>
          <p:cNvSpPr/>
          <p:nvPr/>
        </p:nvSpPr>
        <p:spPr>
          <a:xfrm>
            <a:off x="6583172" y="5499100"/>
            <a:ext cx="50800" cy="50800"/>
          </a:xfrm>
          <a:prstGeom prst="ellipse">
            <a:avLst/>
          </a:prstGeom>
          <a:solidFill>
            <a:srgbClr val="F4F0E7"/>
          </a:solidFill>
          <a:ln w="8890">
            <a:solidFill>
              <a:srgbClr val="252525"/>
            </a:solidFill>
            <a:prstDash val="solid"/>
          </a:ln>
        </p:spPr>
      </p:sp>
      <p:sp>
        <p:nvSpPr>
          <p:cNvPr id="70" name="Shape 68"/>
          <p:cNvSpPr/>
          <p:nvPr/>
        </p:nvSpPr>
        <p:spPr>
          <a:xfrm>
            <a:off x="6157976" y="5492750"/>
            <a:ext cx="63500" cy="63500"/>
          </a:xfrm>
          <a:prstGeom prst="triangle">
            <a:avLst/>
          </a:prstGeom>
          <a:solidFill>
            <a:srgbClr val="D6A23A"/>
          </a:solidFill>
          <a:ln w="7620">
            <a:solidFill>
              <a:srgbClr val="252525"/>
            </a:solidFill>
            <a:prstDash val="solid"/>
          </a:ln>
        </p:spPr>
      </p:sp>
      <p:sp>
        <p:nvSpPr>
          <p:cNvPr id="71" name="Text 69"/>
          <p:cNvSpPr/>
          <p:nvPr/>
        </p:nvSpPr>
        <p:spPr>
          <a:xfrm>
            <a:off x="5727700" y="5638800"/>
            <a:ext cx="13589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20.4 → 10.7</a:t>
            </a:r>
            <a:endParaRPr lang="en-US" sz="850" dirty="0"/>
          </a:p>
        </p:txBody>
      </p:sp>
      <p:sp>
        <p:nvSpPr>
          <p:cNvPr id="72" name="Shape 70"/>
          <p:cNvSpPr/>
          <p:nvPr/>
        </p:nvSpPr>
        <p:spPr>
          <a:xfrm>
            <a:off x="457200" y="5918200"/>
            <a:ext cx="6642100" cy="0"/>
          </a:xfrm>
          <a:prstGeom prst="line">
            <a:avLst/>
          </a:prstGeom>
          <a:noFill/>
          <a:ln w="7620">
            <a:solidFill>
              <a:srgbClr val="B7B0A4"/>
            </a:solidFill>
            <a:prstDash val="solid"/>
          </a:ln>
        </p:spPr>
      </p:sp>
      <p:sp>
        <p:nvSpPr>
          <p:cNvPr id="73" name="Shape 71"/>
          <p:cNvSpPr/>
          <p:nvPr/>
        </p:nvSpPr>
        <p:spPr>
          <a:xfrm>
            <a:off x="469900" y="6045200"/>
            <a:ext cx="101600" cy="101600"/>
          </a:xfrm>
          <a:prstGeom prst="diamond">
            <a:avLst/>
          </a:prstGeom>
          <a:solidFill>
            <a:srgbClr val="315A78"/>
          </a:solidFill>
          <a:ln w="7620">
            <a:solidFill>
              <a:srgbClr val="252525"/>
            </a:solidFill>
            <a:prstDash val="solid"/>
          </a:ln>
        </p:spPr>
      </p:sp>
      <p:sp>
        <p:nvSpPr>
          <p:cNvPr id="74" name="Text 72"/>
          <p:cNvSpPr/>
          <p:nvPr/>
        </p:nvSpPr>
        <p:spPr>
          <a:xfrm>
            <a:off x="685800" y="5994400"/>
            <a:ext cx="12573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South Korea</a:t>
            </a:r>
            <a:endParaRPr lang="en-US" sz="1100" dirty="0"/>
          </a:p>
        </p:txBody>
      </p:sp>
      <p:sp>
        <p:nvSpPr>
          <p:cNvPr id="75" name="Shape 73"/>
          <p:cNvSpPr/>
          <p:nvPr/>
        </p:nvSpPr>
        <p:spPr>
          <a:xfrm>
            <a:off x="2006600" y="6223000"/>
            <a:ext cx="1524000" cy="0"/>
          </a:xfrm>
          <a:prstGeom prst="line">
            <a:avLst/>
          </a:prstGeom>
          <a:noFill/>
          <a:ln w="6350">
            <a:solidFill>
              <a:srgbClr val="B7B0A4"/>
            </a:solidFill>
            <a:prstDash val="solid"/>
          </a:ln>
        </p:spPr>
      </p:sp>
      <p:sp>
        <p:nvSpPr>
          <p:cNvPr id="76" name="Shape 74"/>
          <p:cNvSpPr/>
          <p:nvPr/>
        </p:nvSpPr>
        <p:spPr>
          <a:xfrm>
            <a:off x="2051797" y="6223000"/>
            <a:ext cx="1401122" cy="0"/>
          </a:xfrm>
          <a:prstGeom prst="line">
            <a:avLst/>
          </a:prstGeom>
          <a:noFill/>
          <a:ln w="25400">
            <a:solidFill>
              <a:srgbClr val="315A78"/>
            </a:solidFill>
            <a:prstDash val="solid"/>
          </a:ln>
        </p:spPr>
      </p:sp>
      <p:sp>
        <p:nvSpPr>
          <p:cNvPr id="77" name="Shape 75"/>
          <p:cNvSpPr/>
          <p:nvPr/>
        </p:nvSpPr>
        <p:spPr>
          <a:xfrm>
            <a:off x="2026397" y="6197600"/>
            <a:ext cx="50800" cy="50800"/>
          </a:xfrm>
          <a:prstGeom prst="ellipse">
            <a:avLst/>
          </a:prstGeom>
          <a:solidFill>
            <a:srgbClr val="F4F0E7"/>
          </a:solidFill>
          <a:ln w="8890">
            <a:solidFill>
              <a:srgbClr val="252525"/>
            </a:solidFill>
            <a:prstDash val="solid"/>
          </a:ln>
        </p:spPr>
      </p:sp>
      <p:sp>
        <p:nvSpPr>
          <p:cNvPr id="78" name="Shape 76"/>
          <p:cNvSpPr/>
          <p:nvPr/>
        </p:nvSpPr>
        <p:spPr>
          <a:xfrm>
            <a:off x="3421170" y="6191250"/>
            <a:ext cx="63500" cy="63500"/>
          </a:xfrm>
          <a:prstGeom prst="diamond">
            <a:avLst/>
          </a:prstGeom>
          <a:solidFill>
            <a:srgbClr val="315A78"/>
          </a:solidFill>
          <a:ln w="7620">
            <a:solidFill>
              <a:srgbClr val="252525"/>
            </a:solidFill>
            <a:prstDash val="solid"/>
          </a:ln>
        </p:spPr>
      </p:sp>
      <p:sp>
        <p:nvSpPr>
          <p:cNvPr id="79" name="Text 77"/>
          <p:cNvSpPr/>
          <p:nvPr/>
        </p:nvSpPr>
        <p:spPr>
          <a:xfrm>
            <a:off x="2006600" y="6337300"/>
            <a:ext cx="15875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1,038 → 33,216</a:t>
            </a:r>
            <a:endParaRPr lang="en-US" sz="850" dirty="0"/>
          </a:p>
        </p:txBody>
      </p:sp>
      <p:sp>
        <p:nvSpPr>
          <p:cNvPr id="80" name="Shape 78"/>
          <p:cNvSpPr/>
          <p:nvPr/>
        </p:nvSpPr>
        <p:spPr>
          <a:xfrm>
            <a:off x="3911600" y="6223000"/>
            <a:ext cx="1473200" cy="0"/>
          </a:xfrm>
          <a:prstGeom prst="line">
            <a:avLst/>
          </a:prstGeom>
          <a:noFill/>
          <a:ln w="6350">
            <a:solidFill>
              <a:srgbClr val="B7B0A4"/>
            </a:solidFill>
            <a:prstDash val="solid"/>
          </a:ln>
        </p:spPr>
      </p:sp>
      <p:sp>
        <p:nvSpPr>
          <p:cNvPr id="81" name="Shape 79"/>
          <p:cNvSpPr/>
          <p:nvPr/>
        </p:nvSpPr>
        <p:spPr>
          <a:xfrm>
            <a:off x="3991153" y="6223000"/>
            <a:ext cx="148793" cy="0"/>
          </a:xfrm>
          <a:prstGeom prst="line">
            <a:avLst/>
          </a:prstGeom>
          <a:noFill/>
          <a:ln w="25400">
            <a:solidFill>
              <a:srgbClr val="315A78"/>
            </a:solidFill>
            <a:prstDash val="solid"/>
          </a:ln>
        </p:spPr>
      </p:sp>
      <p:sp>
        <p:nvSpPr>
          <p:cNvPr id="82" name="Shape 80"/>
          <p:cNvSpPr/>
          <p:nvPr/>
        </p:nvSpPr>
        <p:spPr>
          <a:xfrm>
            <a:off x="4114546" y="6197600"/>
            <a:ext cx="50800" cy="50800"/>
          </a:xfrm>
          <a:prstGeom prst="ellipse">
            <a:avLst/>
          </a:prstGeom>
          <a:solidFill>
            <a:srgbClr val="F4F0E7"/>
          </a:solidFill>
          <a:ln w="8890">
            <a:solidFill>
              <a:srgbClr val="252525"/>
            </a:solidFill>
            <a:prstDash val="solid"/>
          </a:ln>
        </p:spPr>
      </p:sp>
      <p:sp>
        <p:nvSpPr>
          <p:cNvPr id="83" name="Shape 81"/>
          <p:cNvSpPr/>
          <p:nvPr/>
        </p:nvSpPr>
        <p:spPr>
          <a:xfrm>
            <a:off x="3959403" y="6191250"/>
            <a:ext cx="63500" cy="63500"/>
          </a:xfrm>
          <a:prstGeom prst="diamond">
            <a:avLst/>
          </a:prstGeom>
          <a:solidFill>
            <a:srgbClr val="315A78"/>
          </a:solidFill>
          <a:ln w="7620">
            <a:solidFill>
              <a:srgbClr val="252525"/>
            </a:solidFill>
            <a:prstDash val="solid"/>
          </a:ln>
        </p:spPr>
      </p:sp>
      <p:sp>
        <p:nvSpPr>
          <p:cNvPr id="84" name="Text 82"/>
          <p:cNvSpPr/>
          <p:nvPr/>
        </p:nvSpPr>
        <p:spPr>
          <a:xfrm>
            <a:off x="3911600" y="6337300"/>
            <a:ext cx="15367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15.5 → 5.4</a:t>
            </a:r>
            <a:endParaRPr lang="en-US" sz="850" dirty="0"/>
          </a:p>
        </p:txBody>
      </p:sp>
      <p:sp>
        <p:nvSpPr>
          <p:cNvPr id="85" name="Shape 83"/>
          <p:cNvSpPr/>
          <p:nvPr/>
        </p:nvSpPr>
        <p:spPr>
          <a:xfrm>
            <a:off x="5727700" y="6223000"/>
            <a:ext cx="1295400" cy="0"/>
          </a:xfrm>
          <a:prstGeom prst="line">
            <a:avLst/>
          </a:prstGeom>
          <a:noFill/>
          <a:ln w="6350">
            <a:solidFill>
              <a:srgbClr val="B7B0A4"/>
            </a:solidFill>
            <a:prstDash val="solid"/>
          </a:ln>
        </p:spPr>
      </p:sp>
      <p:sp>
        <p:nvSpPr>
          <p:cNvPr id="86" name="Shape 84"/>
          <p:cNvSpPr/>
          <p:nvPr/>
        </p:nvSpPr>
        <p:spPr>
          <a:xfrm>
            <a:off x="6815836" y="6223000"/>
            <a:ext cx="21590" cy="0"/>
          </a:xfrm>
          <a:prstGeom prst="line">
            <a:avLst/>
          </a:prstGeom>
          <a:noFill/>
          <a:ln w="25400">
            <a:solidFill>
              <a:srgbClr val="315A78"/>
            </a:solidFill>
            <a:prstDash val="solid"/>
          </a:ln>
        </p:spPr>
      </p:sp>
      <p:sp>
        <p:nvSpPr>
          <p:cNvPr id="87" name="Shape 85"/>
          <p:cNvSpPr/>
          <p:nvPr/>
        </p:nvSpPr>
        <p:spPr>
          <a:xfrm>
            <a:off x="6790436" y="6197600"/>
            <a:ext cx="50800" cy="50800"/>
          </a:xfrm>
          <a:prstGeom prst="ellipse">
            <a:avLst/>
          </a:prstGeom>
          <a:solidFill>
            <a:srgbClr val="F4F0E7"/>
          </a:solidFill>
          <a:ln w="8890">
            <a:solidFill>
              <a:srgbClr val="252525"/>
            </a:solidFill>
            <a:prstDash val="solid"/>
          </a:ln>
        </p:spPr>
      </p:sp>
      <p:sp>
        <p:nvSpPr>
          <p:cNvPr id="88" name="Shape 86"/>
          <p:cNvSpPr/>
          <p:nvPr/>
        </p:nvSpPr>
        <p:spPr>
          <a:xfrm>
            <a:off x="6805676" y="6191250"/>
            <a:ext cx="63500" cy="63500"/>
          </a:xfrm>
          <a:prstGeom prst="diamond">
            <a:avLst/>
          </a:prstGeom>
          <a:solidFill>
            <a:srgbClr val="315A78"/>
          </a:solidFill>
          <a:ln w="7620">
            <a:solidFill>
              <a:srgbClr val="252525"/>
            </a:solidFill>
            <a:prstDash val="solid"/>
          </a:ln>
        </p:spPr>
      </p:sp>
      <p:sp>
        <p:nvSpPr>
          <p:cNvPr id="89" name="Text 87"/>
          <p:cNvSpPr/>
          <p:nvPr/>
        </p:nvSpPr>
        <p:spPr>
          <a:xfrm>
            <a:off x="5727700" y="6337300"/>
            <a:ext cx="13589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25.2 → 25.7</a:t>
            </a:r>
            <a:endParaRPr lang="en-US" sz="850" dirty="0"/>
          </a:p>
        </p:txBody>
      </p:sp>
      <p:sp>
        <p:nvSpPr>
          <p:cNvPr id="90" name="Shape 88"/>
          <p:cNvSpPr/>
          <p:nvPr/>
        </p:nvSpPr>
        <p:spPr>
          <a:xfrm>
            <a:off x="457200" y="6616700"/>
            <a:ext cx="6642100" cy="0"/>
          </a:xfrm>
          <a:prstGeom prst="line">
            <a:avLst/>
          </a:prstGeom>
          <a:noFill/>
          <a:ln w="7620">
            <a:solidFill>
              <a:srgbClr val="B7B0A4"/>
            </a:solidFill>
            <a:prstDash val="solid"/>
          </a:ln>
        </p:spPr>
      </p:sp>
      <p:sp>
        <p:nvSpPr>
          <p:cNvPr id="91" name="Shape 89"/>
          <p:cNvSpPr/>
          <p:nvPr/>
        </p:nvSpPr>
        <p:spPr>
          <a:xfrm>
            <a:off x="469900" y="6743700"/>
            <a:ext cx="101600" cy="101600"/>
          </a:xfrm>
          <a:prstGeom prst="hexagon">
            <a:avLst/>
          </a:prstGeom>
          <a:solidFill>
            <a:srgbClr val="3E7568"/>
          </a:solidFill>
          <a:ln w="7620">
            <a:solidFill>
              <a:srgbClr val="252525"/>
            </a:solidFill>
            <a:prstDash val="solid"/>
          </a:ln>
        </p:spPr>
      </p:sp>
      <p:sp>
        <p:nvSpPr>
          <p:cNvPr id="92" name="Text 90"/>
          <p:cNvSpPr/>
          <p:nvPr/>
        </p:nvSpPr>
        <p:spPr>
          <a:xfrm>
            <a:off x="685800" y="6692900"/>
            <a:ext cx="12573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Malaysia</a:t>
            </a:r>
            <a:endParaRPr lang="en-US" sz="1100" dirty="0"/>
          </a:p>
        </p:txBody>
      </p:sp>
      <p:sp>
        <p:nvSpPr>
          <p:cNvPr id="93" name="Shape 91"/>
          <p:cNvSpPr/>
          <p:nvPr/>
        </p:nvSpPr>
        <p:spPr>
          <a:xfrm>
            <a:off x="2006600" y="6921500"/>
            <a:ext cx="1524000" cy="0"/>
          </a:xfrm>
          <a:prstGeom prst="line">
            <a:avLst/>
          </a:prstGeom>
          <a:noFill/>
          <a:ln w="6350">
            <a:solidFill>
              <a:srgbClr val="B7B0A4"/>
            </a:solidFill>
            <a:prstDash val="solid"/>
          </a:ln>
        </p:spPr>
      </p:sp>
      <p:sp>
        <p:nvSpPr>
          <p:cNvPr id="94" name="Shape 92"/>
          <p:cNvSpPr/>
          <p:nvPr/>
        </p:nvSpPr>
        <p:spPr>
          <a:xfrm>
            <a:off x="2061725" y="6921500"/>
            <a:ext cx="387749" cy="0"/>
          </a:xfrm>
          <a:prstGeom prst="line">
            <a:avLst/>
          </a:prstGeom>
          <a:noFill/>
          <a:ln w="25400">
            <a:solidFill>
              <a:srgbClr val="3E7568"/>
            </a:solidFill>
            <a:prstDash val="solid"/>
          </a:ln>
        </p:spPr>
      </p:sp>
      <p:sp>
        <p:nvSpPr>
          <p:cNvPr id="95" name="Shape 93"/>
          <p:cNvSpPr/>
          <p:nvPr/>
        </p:nvSpPr>
        <p:spPr>
          <a:xfrm>
            <a:off x="2036325" y="6896100"/>
            <a:ext cx="50800" cy="50800"/>
          </a:xfrm>
          <a:prstGeom prst="ellipse">
            <a:avLst/>
          </a:prstGeom>
          <a:solidFill>
            <a:srgbClr val="F4F0E7"/>
          </a:solidFill>
          <a:ln w="8890">
            <a:solidFill>
              <a:srgbClr val="252525"/>
            </a:solidFill>
            <a:prstDash val="solid"/>
          </a:ln>
        </p:spPr>
      </p:sp>
      <p:sp>
        <p:nvSpPr>
          <p:cNvPr id="96" name="Shape 94"/>
          <p:cNvSpPr/>
          <p:nvPr/>
        </p:nvSpPr>
        <p:spPr>
          <a:xfrm>
            <a:off x="2417724" y="6889750"/>
            <a:ext cx="63500" cy="63500"/>
          </a:xfrm>
          <a:prstGeom prst="hexagon">
            <a:avLst/>
          </a:prstGeom>
          <a:solidFill>
            <a:srgbClr val="3E7568"/>
          </a:solidFill>
          <a:ln w="7620">
            <a:solidFill>
              <a:srgbClr val="252525"/>
            </a:solidFill>
            <a:prstDash val="solid"/>
          </a:ln>
        </p:spPr>
      </p:sp>
      <p:sp>
        <p:nvSpPr>
          <p:cNvPr id="97" name="Text 95"/>
          <p:cNvSpPr/>
          <p:nvPr/>
        </p:nvSpPr>
        <p:spPr>
          <a:xfrm>
            <a:off x="2006600" y="7035800"/>
            <a:ext cx="15875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1,266 → 10,171</a:t>
            </a:r>
            <a:endParaRPr lang="en-US" sz="850" dirty="0"/>
          </a:p>
        </p:txBody>
      </p:sp>
      <p:sp>
        <p:nvSpPr>
          <p:cNvPr id="98" name="Shape 96"/>
          <p:cNvSpPr/>
          <p:nvPr/>
        </p:nvSpPr>
        <p:spPr>
          <a:xfrm>
            <a:off x="3911600" y="6921500"/>
            <a:ext cx="1473200" cy="0"/>
          </a:xfrm>
          <a:prstGeom prst="line">
            <a:avLst/>
          </a:prstGeom>
          <a:noFill/>
          <a:ln w="6350">
            <a:solidFill>
              <a:srgbClr val="B7B0A4"/>
            </a:solidFill>
            <a:prstDash val="solid"/>
          </a:ln>
        </p:spPr>
      </p:sp>
      <p:sp>
        <p:nvSpPr>
          <p:cNvPr id="99" name="Shape 97"/>
          <p:cNvSpPr/>
          <p:nvPr/>
        </p:nvSpPr>
        <p:spPr>
          <a:xfrm>
            <a:off x="4066286" y="6921500"/>
            <a:ext cx="123749" cy="0"/>
          </a:xfrm>
          <a:prstGeom prst="line">
            <a:avLst/>
          </a:prstGeom>
          <a:noFill/>
          <a:ln w="25400">
            <a:solidFill>
              <a:srgbClr val="3E7568"/>
            </a:solidFill>
            <a:prstDash val="solid"/>
          </a:ln>
        </p:spPr>
      </p:sp>
      <p:sp>
        <p:nvSpPr>
          <p:cNvPr id="100" name="Shape 98"/>
          <p:cNvSpPr/>
          <p:nvPr/>
        </p:nvSpPr>
        <p:spPr>
          <a:xfrm>
            <a:off x="4164635" y="6896100"/>
            <a:ext cx="50800" cy="50800"/>
          </a:xfrm>
          <a:prstGeom prst="ellipse">
            <a:avLst/>
          </a:prstGeom>
          <a:solidFill>
            <a:srgbClr val="F4F0E7"/>
          </a:solidFill>
          <a:ln w="8890">
            <a:solidFill>
              <a:srgbClr val="252525"/>
            </a:solidFill>
            <a:prstDash val="solid"/>
          </a:ln>
        </p:spPr>
      </p:sp>
      <p:sp>
        <p:nvSpPr>
          <p:cNvPr id="101" name="Shape 99"/>
          <p:cNvSpPr/>
          <p:nvPr/>
        </p:nvSpPr>
        <p:spPr>
          <a:xfrm>
            <a:off x="4034536" y="6889750"/>
            <a:ext cx="63500" cy="63500"/>
          </a:xfrm>
          <a:prstGeom prst="hexagon">
            <a:avLst/>
          </a:prstGeom>
          <a:solidFill>
            <a:srgbClr val="3E7568"/>
          </a:solidFill>
          <a:ln w="7620">
            <a:solidFill>
              <a:srgbClr val="252525"/>
            </a:solidFill>
            <a:prstDash val="solid"/>
          </a:ln>
        </p:spPr>
      </p:sp>
      <p:sp>
        <p:nvSpPr>
          <p:cNvPr id="102" name="Text 100"/>
          <p:cNvSpPr/>
          <p:nvPr/>
        </p:nvSpPr>
        <p:spPr>
          <a:xfrm>
            <a:off x="3911600" y="7035800"/>
            <a:ext cx="15367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18.9 → 10.5</a:t>
            </a:r>
            <a:endParaRPr lang="en-US" sz="850" dirty="0"/>
          </a:p>
        </p:txBody>
      </p:sp>
      <p:sp>
        <p:nvSpPr>
          <p:cNvPr id="103" name="Shape 101"/>
          <p:cNvSpPr/>
          <p:nvPr/>
        </p:nvSpPr>
        <p:spPr>
          <a:xfrm>
            <a:off x="5727700" y="6921500"/>
            <a:ext cx="1295400" cy="0"/>
          </a:xfrm>
          <a:prstGeom prst="line">
            <a:avLst/>
          </a:prstGeom>
          <a:noFill/>
          <a:ln w="6350">
            <a:solidFill>
              <a:srgbClr val="B7B0A4"/>
            </a:solidFill>
            <a:prstDash val="solid"/>
          </a:ln>
        </p:spPr>
      </p:sp>
      <p:sp>
        <p:nvSpPr>
          <p:cNvPr id="104" name="Shape 102"/>
          <p:cNvSpPr/>
          <p:nvPr/>
        </p:nvSpPr>
        <p:spPr>
          <a:xfrm>
            <a:off x="6686296" y="6921500"/>
            <a:ext cx="86360" cy="0"/>
          </a:xfrm>
          <a:prstGeom prst="line">
            <a:avLst/>
          </a:prstGeom>
          <a:noFill/>
          <a:ln w="25400">
            <a:solidFill>
              <a:srgbClr val="3E7568"/>
            </a:solidFill>
            <a:prstDash val="solid"/>
          </a:ln>
        </p:spPr>
      </p:sp>
      <p:sp>
        <p:nvSpPr>
          <p:cNvPr id="105" name="Shape 103"/>
          <p:cNvSpPr/>
          <p:nvPr/>
        </p:nvSpPr>
        <p:spPr>
          <a:xfrm>
            <a:off x="6747256" y="6896100"/>
            <a:ext cx="50800" cy="50800"/>
          </a:xfrm>
          <a:prstGeom prst="ellipse">
            <a:avLst/>
          </a:prstGeom>
          <a:solidFill>
            <a:srgbClr val="F4F0E7"/>
          </a:solidFill>
          <a:ln w="8890">
            <a:solidFill>
              <a:srgbClr val="252525"/>
            </a:solidFill>
            <a:prstDash val="solid"/>
          </a:ln>
        </p:spPr>
      </p:sp>
      <p:sp>
        <p:nvSpPr>
          <p:cNvPr id="106" name="Shape 104"/>
          <p:cNvSpPr/>
          <p:nvPr/>
        </p:nvSpPr>
        <p:spPr>
          <a:xfrm>
            <a:off x="6654546" y="6889750"/>
            <a:ext cx="63500" cy="63500"/>
          </a:xfrm>
          <a:prstGeom prst="hexagon">
            <a:avLst/>
          </a:prstGeom>
          <a:solidFill>
            <a:srgbClr val="3E7568"/>
          </a:solidFill>
          <a:ln w="7620">
            <a:solidFill>
              <a:srgbClr val="252525"/>
            </a:solidFill>
            <a:prstDash val="solid"/>
          </a:ln>
        </p:spPr>
      </p:sp>
      <p:sp>
        <p:nvSpPr>
          <p:cNvPr id="107" name="Text 105"/>
          <p:cNvSpPr/>
          <p:nvPr/>
        </p:nvSpPr>
        <p:spPr>
          <a:xfrm>
            <a:off x="5727700" y="7035800"/>
            <a:ext cx="13589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24.2 → 22.2</a:t>
            </a:r>
            <a:endParaRPr lang="en-US" sz="850" dirty="0"/>
          </a:p>
        </p:txBody>
      </p:sp>
      <p:sp>
        <p:nvSpPr>
          <p:cNvPr id="108" name="Shape 106"/>
          <p:cNvSpPr/>
          <p:nvPr/>
        </p:nvSpPr>
        <p:spPr>
          <a:xfrm>
            <a:off x="457200" y="7315200"/>
            <a:ext cx="6642100" cy="0"/>
          </a:xfrm>
          <a:prstGeom prst="line">
            <a:avLst/>
          </a:prstGeom>
          <a:noFill/>
          <a:ln w="7620">
            <a:solidFill>
              <a:srgbClr val="B7B0A4"/>
            </a:solidFill>
            <a:prstDash val="solid"/>
          </a:ln>
        </p:spPr>
      </p:sp>
      <p:sp>
        <p:nvSpPr>
          <p:cNvPr id="109" name="Shape 107"/>
          <p:cNvSpPr/>
          <p:nvPr/>
        </p:nvSpPr>
        <p:spPr>
          <a:xfrm>
            <a:off x="469900" y="7493000"/>
            <a:ext cx="101600" cy="0"/>
          </a:xfrm>
          <a:prstGeom prst="line">
            <a:avLst/>
          </a:prstGeom>
          <a:noFill/>
          <a:ln w="40640">
            <a:solidFill>
              <a:srgbClr val="252525"/>
            </a:solidFill>
            <a:prstDash val="solid"/>
          </a:ln>
        </p:spPr>
      </p:sp>
      <p:sp>
        <p:nvSpPr>
          <p:cNvPr id="110" name="Shape 108"/>
          <p:cNvSpPr/>
          <p:nvPr/>
        </p:nvSpPr>
        <p:spPr>
          <a:xfrm>
            <a:off x="520700" y="7442200"/>
            <a:ext cx="0" cy="101600"/>
          </a:xfrm>
          <a:prstGeom prst="line">
            <a:avLst/>
          </a:prstGeom>
          <a:noFill/>
          <a:ln w="40640">
            <a:solidFill>
              <a:srgbClr val="252525"/>
            </a:solidFill>
            <a:prstDash val="solid"/>
          </a:ln>
        </p:spPr>
      </p:sp>
      <p:sp>
        <p:nvSpPr>
          <p:cNvPr id="111" name="Shape 109"/>
          <p:cNvSpPr/>
          <p:nvPr/>
        </p:nvSpPr>
        <p:spPr>
          <a:xfrm>
            <a:off x="469900" y="7493000"/>
            <a:ext cx="101600" cy="0"/>
          </a:xfrm>
          <a:prstGeom prst="line">
            <a:avLst/>
          </a:prstGeom>
          <a:noFill/>
          <a:ln w="22860">
            <a:solidFill>
              <a:srgbClr val="A63A3A"/>
            </a:solidFill>
            <a:prstDash val="solid"/>
          </a:ln>
        </p:spPr>
      </p:sp>
      <p:sp>
        <p:nvSpPr>
          <p:cNvPr id="112" name="Shape 110"/>
          <p:cNvSpPr/>
          <p:nvPr/>
        </p:nvSpPr>
        <p:spPr>
          <a:xfrm>
            <a:off x="520700" y="7442200"/>
            <a:ext cx="0" cy="101600"/>
          </a:xfrm>
          <a:prstGeom prst="line">
            <a:avLst/>
          </a:prstGeom>
          <a:noFill/>
          <a:ln w="22860">
            <a:solidFill>
              <a:srgbClr val="A63A3A"/>
            </a:solidFill>
            <a:prstDash val="solid"/>
          </a:ln>
        </p:spPr>
      </p:sp>
      <p:sp>
        <p:nvSpPr>
          <p:cNvPr id="113" name="Text 111"/>
          <p:cNvSpPr/>
          <p:nvPr/>
        </p:nvSpPr>
        <p:spPr>
          <a:xfrm>
            <a:off x="685800" y="7391400"/>
            <a:ext cx="12573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Philippines</a:t>
            </a:r>
            <a:endParaRPr lang="en-US" sz="1100" dirty="0"/>
          </a:p>
        </p:txBody>
      </p:sp>
      <p:sp>
        <p:nvSpPr>
          <p:cNvPr id="114" name="Shape 112"/>
          <p:cNvSpPr/>
          <p:nvPr/>
        </p:nvSpPr>
        <p:spPr>
          <a:xfrm>
            <a:off x="2006600" y="7620000"/>
            <a:ext cx="1524000" cy="0"/>
          </a:xfrm>
          <a:prstGeom prst="line">
            <a:avLst/>
          </a:prstGeom>
          <a:noFill/>
          <a:ln w="6350">
            <a:solidFill>
              <a:srgbClr val="B7B0A4"/>
            </a:solidFill>
            <a:prstDash val="solid"/>
          </a:ln>
        </p:spPr>
      </p:sp>
      <p:sp>
        <p:nvSpPr>
          <p:cNvPr id="115" name="Shape 113"/>
          <p:cNvSpPr/>
          <p:nvPr/>
        </p:nvSpPr>
        <p:spPr>
          <a:xfrm>
            <a:off x="2055542" y="7620000"/>
            <a:ext cx="90351" cy="0"/>
          </a:xfrm>
          <a:prstGeom prst="line">
            <a:avLst/>
          </a:prstGeom>
          <a:noFill/>
          <a:ln w="25400">
            <a:solidFill>
              <a:srgbClr val="A63A3A"/>
            </a:solidFill>
            <a:prstDash val="solid"/>
          </a:ln>
        </p:spPr>
      </p:sp>
      <p:sp>
        <p:nvSpPr>
          <p:cNvPr id="116" name="Shape 114"/>
          <p:cNvSpPr/>
          <p:nvPr/>
        </p:nvSpPr>
        <p:spPr>
          <a:xfrm>
            <a:off x="2030142" y="7594600"/>
            <a:ext cx="50800" cy="50800"/>
          </a:xfrm>
          <a:prstGeom prst="ellipse">
            <a:avLst/>
          </a:prstGeom>
          <a:solidFill>
            <a:srgbClr val="F4F0E7"/>
          </a:solidFill>
          <a:ln w="8890">
            <a:solidFill>
              <a:srgbClr val="252525"/>
            </a:solidFill>
            <a:prstDash val="solid"/>
          </a:ln>
        </p:spPr>
      </p:sp>
      <p:sp>
        <p:nvSpPr>
          <p:cNvPr id="117" name="Shape 115"/>
          <p:cNvSpPr/>
          <p:nvPr/>
        </p:nvSpPr>
        <p:spPr>
          <a:xfrm>
            <a:off x="2114144" y="7620000"/>
            <a:ext cx="63500" cy="0"/>
          </a:xfrm>
          <a:prstGeom prst="line">
            <a:avLst/>
          </a:prstGeom>
          <a:noFill/>
          <a:ln w="40640">
            <a:solidFill>
              <a:srgbClr val="252525"/>
            </a:solidFill>
            <a:prstDash val="solid"/>
          </a:ln>
        </p:spPr>
      </p:sp>
      <p:sp>
        <p:nvSpPr>
          <p:cNvPr id="118" name="Shape 116"/>
          <p:cNvSpPr/>
          <p:nvPr/>
        </p:nvSpPr>
        <p:spPr>
          <a:xfrm>
            <a:off x="2145894" y="7588250"/>
            <a:ext cx="0" cy="63500"/>
          </a:xfrm>
          <a:prstGeom prst="line">
            <a:avLst/>
          </a:prstGeom>
          <a:noFill/>
          <a:ln w="40640">
            <a:solidFill>
              <a:srgbClr val="252525"/>
            </a:solidFill>
            <a:prstDash val="solid"/>
          </a:ln>
        </p:spPr>
      </p:sp>
      <p:sp>
        <p:nvSpPr>
          <p:cNvPr id="119" name="Shape 117"/>
          <p:cNvSpPr/>
          <p:nvPr/>
        </p:nvSpPr>
        <p:spPr>
          <a:xfrm>
            <a:off x="2114144" y="7620000"/>
            <a:ext cx="63500" cy="0"/>
          </a:xfrm>
          <a:prstGeom prst="line">
            <a:avLst/>
          </a:prstGeom>
          <a:noFill/>
          <a:ln w="22860">
            <a:solidFill>
              <a:srgbClr val="A63A3A"/>
            </a:solidFill>
            <a:prstDash val="solid"/>
          </a:ln>
        </p:spPr>
      </p:sp>
      <p:sp>
        <p:nvSpPr>
          <p:cNvPr id="120" name="Shape 118"/>
          <p:cNvSpPr/>
          <p:nvPr/>
        </p:nvSpPr>
        <p:spPr>
          <a:xfrm>
            <a:off x="2145894" y="7588250"/>
            <a:ext cx="0" cy="63500"/>
          </a:xfrm>
          <a:prstGeom prst="line">
            <a:avLst/>
          </a:prstGeom>
          <a:noFill/>
          <a:ln w="22860">
            <a:solidFill>
              <a:srgbClr val="A63A3A"/>
            </a:solidFill>
            <a:prstDash val="solid"/>
          </a:ln>
        </p:spPr>
      </p:sp>
      <p:sp>
        <p:nvSpPr>
          <p:cNvPr id="121" name="Text 119"/>
          <p:cNvSpPr/>
          <p:nvPr/>
        </p:nvSpPr>
        <p:spPr>
          <a:xfrm>
            <a:off x="2006600" y="7734300"/>
            <a:ext cx="15875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1,124 → 3,199</a:t>
            </a:r>
            <a:endParaRPr lang="en-US" sz="850" dirty="0"/>
          </a:p>
        </p:txBody>
      </p:sp>
      <p:sp>
        <p:nvSpPr>
          <p:cNvPr id="122" name="Shape 120"/>
          <p:cNvSpPr/>
          <p:nvPr/>
        </p:nvSpPr>
        <p:spPr>
          <a:xfrm>
            <a:off x="3911600" y="7620000"/>
            <a:ext cx="1473200" cy="0"/>
          </a:xfrm>
          <a:prstGeom prst="line">
            <a:avLst/>
          </a:prstGeom>
          <a:noFill/>
          <a:ln w="6350">
            <a:solidFill>
              <a:srgbClr val="B7B0A4"/>
            </a:solidFill>
            <a:prstDash val="solid"/>
          </a:ln>
        </p:spPr>
      </p:sp>
      <p:sp>
        <p:nvSpPr>
          <p:cNvPr id="123" name="Shape 121"/>
          <p:cNvSpPr/>
          <p:nvPr/>
        </p:nvSpPr>
        <p:spPr>
          <a:xfrm>
            <a:off x="4272534" y="7620000"/>
            <a:ext cx="288747" cy="0"/>
          </a:xfrm>
          <a:prstGeom prst="line">
            <a:avLst/>
          </a:prstGeom>
          <a:noFill/>
          <a:ln w="25400">
            <a:solidFill>
              <a:srgbClr val="A63A3A"/>
            </a:solidFill>
            <a:prstDash val="solid"/>
          </a:ln>
        </p:spPr>
      </p:sp>
      <p:sp>
        <p:nvSpPr>
          <p:cNvPr id="124" name="Shape 122"/>
          <p:cNvSpPr/>
          <p:nvPr/>
        </p:nvSpPr>
        <p:spPr>
          <a:xfrm>
            <a:off x="4535881" y="7594600"/>
            <a:ext cx="50800" cy="50800"/>
          </a:xfrm>
          <a:prstGeom prst="ellipse">
            <a:avLst/>
          </a:prstGeom>
          <a:solidFill>
            <a:srgbClr val="F4F0E7"/>
          </a:solidFill>
          <a:ln w="8890">
            <a:solidFill>
              <a:srgbClr val="252525"/>
            </a:solidFill>
            <a:prstDash val="solid"/>
          </a:ln>
        </p:spPr>
      </p:sp>
      <p:sp>
        <p:nvSpPr>
          <p:cNvPr id="125" name="Shape 123"/>
          <p:cNvSpPr/>
          <p:nvPr/>
        </p:nvSpPr>
        <p:spPr>
          <a:xfrm>
            <a:off x="4240784" y="7620000"/>
            <a:ext cx="63500" cy="0"/>
          </a:xfrm>
          <a:prstGeom prst="line">
            <a:avLst/>
          </a:prstGeom>
          <a:noFill/>
          <a:ln w="40640">
            <a:solidFill>
              <a:srgbClr val="252525"/>
            </a:solidFill>
            <a:prstDash val="solid"/>
          </a:ln>
        </p:spPr>
      </p:sp>
      <p:sp>
        <p:nvSpPr>
          <p:cNvPr id="126" name="Shape 124"/>
          <p:cNvSpPr/>
          <p:nvPr/>
        </p:nvSpPr>
        <p:spPr>
          <a:xfrm>
            <a:off x="4272534" y="7588250"/>
            <a:ext cx="0" cy="63500"/>
          </a:xfrm>
          <a:prstGeom prst="line">
            <a:avLst/>
          </a:prstGeom>
          <a:noFill/>
          <a:ln w="40640">
            <a:solidFill>
              <a:srgbClr val="252525"/>
            </a:solidFill>
            <a:prstDash val="solid"/>
          </a:ln>
        </p:spPr>
      </p:sp>
      <p:sp>
        <p:nvSpPr>
          <p:cNvPr id="127" name="Shape 125"/>
          <p:cNvSpPr/>
          <p:nvPr/>
        </p:nvSpPr>
        <p:spPr>
          <a:xfrm>
            <a:off x="4240784" y="7620000"/>
            <a:ext cx="63500" cy="0"/>
          </a:xfrm>
          <a:prstGeom prst="line">
            <a:avLst/>
          </a:prstGeom>
          <a:noFill/>
          <a:ln w="22860">
            <a:solidFill>
              <a:srgbClr val="A63A3A"/>
            </a:solidFill>
            <a:prstDash val="solid"/>
          </a:ln>
        </p:spPr>
      </p:sp>
      <p:sp>
        <p:nvSpPr>
          <p:cNvPr id="128" name="Shape 126"/>
          <p:cNvSpPr/>
          <p:nvPr/>
        </p:nvSpPr>
        <p:spPr>
          <a:xfrm>
            <a:off x="4272534" y="7588250"/>
            <a:ext cx="0" cy="63500"/>
          </a:xfrm>
          <a:prstGeom prst="line">
            <a:avLst/>
          </a:prstGeom>
          <a:noFill/>
          <a:ln w="22860">
            <a:solidFill>
              <a:srgbClr val="A63A3A"/>
            </a:solidFill>
            <a:prstDash val="solid"/>
          </a:ln>
        </p:spPr>
      </p:sp>
      <p:sp>
        <p:nvSpPr>
          <p:cNvPr id="129" name="Text 127"/>
          <p:cNvSpPr/>
          <p:nvPr/>
        </p:nvSpPr>
        <p:spPr>
          <a:xfrm>
            <a:off x="3911600" y="7734300"/>
            <a:ext cx="15367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44.1 → 24.5</a:t>
            </a:r>
            <a:endParaRPr lang="en-US" sz="850" dirty="0"/>
          </a:p>
        </p:txBody>
      </p:sp>
      <p:sp>
        <p:nvSpPr>
          <p:cNvPr id="130" name="Shape 128"/>
          <p:cNvSpPr/>
          <p:nvPr/>
        </p:nvSpPr>
        <p:spPr>
          <a:xfrm>
            <a:off x="5727700" y="7620000"/>
            <a:ext cx="1295400" cy="0"/>
          </a:xfrm>
          <a:prstGeom prst="line">
            <a:avLst/>
          </a:prstGeom>
          <a:noFill/>
          <a:ln w="6350">
            <a:solidFill>
              <a:srgbClr val="B7B0A4"/>
            </a:solidFill>
            <a:prstDash val="solid"/>
          </a:ln>
        </p:spPr>
      </p:sp>
      <p:sp>
        <p:nvSpPr>
          <p:cNvPr id="131" name="Shape 129"/>
          <p:cNvSpPr/>
          <p:nvPr/>
        </p:nvSpPr>
        <p:spPr>
          <a:xfrm>
            <a:off x="6460236" y="7620000"/>
            <a:ext cx="63500" cy="0"/>
          </a:xfrm>
          <a:prstGeom prst="line">
            <a:avLst/>
          </a:prstGeom>
          <a:noFill/>
          <a:ln w="40640">
            <a:solidFill>
              <a:srgbClr val="252525"/>
            </a:solidFill>
            <a:prstDash val="solid"/>
          </a:ln>
        </p:spPr>
      </p:sp>
      <p:sp>
        <p:nvSpPr>
          <p:cNvPr id="132" name="Shape 130"/>
          <p:cNvSpPr/>
          <p:nvPr/>
        </p:nvSpPr>
        <p:spPr>
          <a:xfrm>
            <a:off x="6491986" y="7588250"/>
            <a:ext cx="0" cy="63500"/>
          </a:xfrm>
          <a:prstGeom prst="line">
            <a:avLst/>
          </a:prstGeom>
          <a:noFill/>
          <a:ln w="40640">
            <a:solidFill>
              <a:srgbClr val="252525"/>
            </a:solidFill>
            <a:prstDash val="solid"/>
          </a:ln>
        </p:spPr>
      </p:sp>
      <p:sp>
        <p:nvSpPr>
          <p:cNvPr id="133" name="Shape 131"/>
          <p:cNvSpPr/>
          <p:nvPr/>
        </p:nvSpPr>
        <p:spPr>
          <a:xfrm>
            <a:off x="6460236" y="7620000"/>
            <a:ext cx="63500" cy="0"/>
          </a:xfrm>
          <a:prstGeom prst="line">
            <a:avLst/>
          </a:prstGeom>
          <a:noFill/>
          <a:ln w="22860">
            <a:solidFill>
              <a:srgbClr val="A63A3A"/>
            </a:solidFill>
            <a:prstDash val="solid"/>
          </a:ln>
        </p:spPr>
      </p:sp>
      <p:sp>
        <p:nvSpPr>
          <p:cNvPr id="134" name="Shape 132"/>
          <p:cNvSpPr/>
          <p:nvPr/>
        </p:nvSpPr>
        <p:spPr>
          <a:xfrm>
            <a:off x="6491986" y="7588250"/>
            <a:ext cx="0" cy="63500"/>
          </a:xfrm>
          <a:prstGeom prst="line">
            <a:avLst/>
          </a:prstGeom>
          <a:noFill/>
          <a:ln w="22860">
            <a:solidFill>
              <a:srgbClr val="A63A3A"/>
            </a:solidFill>
            <a:prstDash val="solid"/>
          </a:ln>
        </p:spPr>
      </p:sp>
      <p:sp>
        <p:nvSpPr>
          <p:cNvPr id="135" name="Text 133"/>
          <p:cNvSpPr/>
          <p:nvPr/>
        </p:nvSpPr>
        <p:spPr>
          <a:xfrm>
            <a:off x="5727700" y="7734300"/>
            <a:ext cx="1358900" cy="228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gap → 17.7</a:t>
            </a:r>
            <a:endParaRPr lang="en-US" sz="850" dirty="0"/>
          </a:p>
        </p:txBody>
      </p:sp>
      <p:sp>
        <p:nvSpPr>
          <p:cNvPr id="136" name="Shape 134"/>
          <p:cNvSpPr/>
          <p:nvPr/>
        </p:nvSpPr>
        <p:spPr>
          <a:xfrm>
            <a:off x="457200" y="8013700"/>
            <a:ext cx="6642100" cy="0"/>
          </a:xfrm>
          <a:prstGeom prst="line">
            <a:avLst/>
          </a:prstGeom>
          <a:noFill/>
          <a:ln w="7620">
            <a:solidFill>
              <a:srgbClr val="B7B0A4"/>
            </a:solidFill>
            <a:prstDash val="solid"/>
          </a:ln>
        </p:spPr>
      </p:sp>
      <p:sp>
        <p:nvSpPr>
          <p:cNvPr id="137" name="Text 135"/>
          <p:cNvSpPr/>
          <p:nvPr/>
        </p:nvSpPr>
        <p:spPr>
          <a:xfrm>
            <a:off x="457200" y="8229600"/>
            <a:ext cx="6642100" cy="5588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Open dot = earlier value; country marker = 2020. † 1991 explicitly proxies 1990; no 1960 ILO series. Philippines 1990 manufacturing is not comparable: gap retained. Malaysia 1960 is retrospective; 2020 is the pandemic year. Full three-anchor income comparison: p. 13 and frozen CSVs.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02 / THE STARTING LINE</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Colonialism changed the starting line</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Political transitions happened at different times—and did not erase inherited economic structures.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National Archives Department (n.d., “Independence”); Haggard et al. (1997, pp. 867–870); Asadullah et al. (2024, pp. 13–15); Dolan (1993), archival recheck pending.</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05</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A political date is not a comparable measure of state capacity. This timeline does not equate independence, state formation and territorial change.</a:t>
            </a:r>
            <a:endParaRPr lang="en-US" sz="900" dirty="0"/>
          </a:p>
        </p:txBody>
      </p:sp>
      <p:sp>
        <p:nvSpPr>
          <p:cNvPr id="12" name="Shape 10"/>
          <p:cNvSpPr/>
          <p:nvPr/>
        </p:nvSpPr>
        <p:spPr>
          <a:xfrm>
            <a:off x="457200" y="2921000"/>
            <a:ext cx="6642100" cy="2311400"/>
          </a:xfrm>
          <a:prstGeom prst="rect">
            <a:avLst/>
          </a:prstGeom>
          <a:solidFill>
            <a:srgbClr val="F4F0E7"/>
          </a:solidFill>
          <a:ln w="7620">
            <a:solidFill>
              <a:srgbClr val="B7B0A4"/>
            </a:solidFill>
            <a:prstDash val="solid"/>
          </a:ln>
        </p:spPr>
      </p:sp>
      <p:sp>
        <p:nvSpPr>
          <p:cNvPr id="13" name="Text 11"/>
          <p:cNvSpPr/>
          <p:nvPr/>
        </p:nvSpPr>
        <p:spPr>
          <a:xfrm>
            <a:off x="660400" y="3124200"/>
            <a:ext cx="6223000" cy="3048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1914 / HISTORICAL MAP</a:t>
            </a:r>
            <a:endParaRPr lang="en-US" sz="1300" dirty="0"/>
          </a:p>
        </p:txBody>
      </p:sp>
      <p:sp>
        <p:nvSpPr>
          <p:cNvPr id="14" name="Text 12"/>
          <p:cNvSpPr/>
          <p:nvPr/>
        </p:nvSpPr>
        <p:spPr>
          <a:xfrm>
            <a:off x="660400" y="3606800"/>
            <a:ext cx="6223000" cy="5334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EDITORIAL PLACEHOLDER —</a:t>
            </a:r>
            <a:endParaRPr lang="en-US" sz="1300" dirty="0"/>
          </a:p>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VERIFIED ASSET OR APPROVED COPY REQUIRED</a:t>
            </a:r>
            <a:endParaRPr lang="en-US" sz="1300" dirty="0"/>
          </a:p>
        </p:txBody>
      </p:sp>
      <p:sp>
        <p:nvSpPr>
          <p:cNvPr id="15" name="Text 13"/>
          <p:cNvSpPr/>
          <p:nvPr/>
        </p:nvSpPr>
        <p:spPr>
          <a:xfrm>
            <a:off x="660400" y="4356100"/>
            <a:ext cx="6223000" cy="711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ASSET-H1-LOC1914 · Linde; Wagner &amp; Debes · Africa (1914)</a:t>
            </a:r>
            <a:endParaRPr lang="en-US" sz="900" dirty="0"/>
          </a:p>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Library of Congress item 2021668660. Item-level reuse statement checked; actual raster and original legend remain unverified. No invented boundary geometry.</a:t>
            </a:r>
            <a:endParaRPr lang="en-US" sz="900" dirty="0"/>
          </a:p>
        </p:txBody>
      </p:sp>
      <p:sp>
        <p:nvSpPr>
          <p:cNvPr id="16" name="Shape 14"/>
          <p:cNvSpPr/>
          <p:nvPr/>
        </p:nvSpPr>
        <p:spPr>
          <a:xfrm>
            <a:off x="457200" y="5575300"/>
            <a:ext cx="6642100" cy="0"/>
          </a:xfrm>
          <a:prstGeom prst="line">
            <a:avLst/>
          </a:prstGeom>
          <a:noFill/>
          <a:ln w="7620">
            <a:solidFill>
              <a:srgbClr val="B7B0A4"/>
            </a:solidFill>
            <a:prstDash val="solid"/>
          </a:ln>
        </p:spPr>
      </p:sp>
      <p:sp>
        <p:nvSpPr>
          <p:cNvPr id="17" name="Text 15"/>
          <p:cNvSpPr/>
          <p:nvPr/>
        </p:nvSpPr>
        <p:spPr>
          <a:xfrm>
            <a:off x="457200" y="5676900"/>
            <a:ext cx="1168400" cy="317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1945 / 1948</a:t>
            </a:r>
            <a:endParaRPr lang="en-US" sz="1100" dirty="0"/>
          </a:p>
        </p:txBody>
      </p:sp>
      <p:sp>
        <p:nvSpPr>
          <p:cNvPr id="18" name="Text 16"/>
          <p:cNvSpPr/>
          <p:nvPr/>
        </p:nvSpPr>
        <p:spPr>
          <a:xfrm>
            <a:off x="1778000" y="5676900"/>
            <a:ext cx="1574800" cy="3556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South Korea</a:t>
            </a:r>
            <a:endParaRPr lang="en-US" sz="1000" dirty="0"/>
          </a:p>
        </p:txBody>
      </p:sp>
      <p:sp>
        <p:nvSpPr>
          <p:cNvPr id="19" name="Text 17"/>
          <p:cNvSpPr/>
          <p:nvPr/>
        </p:nvSpPr>
        <p:spPr>
          <a:xfrm>
            <a:off x="3517900" y="5676900"/>
            <a:ext cx="3581400" cy="3810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Japanese rule ends / Republic of Korea established</a:t>
            </a:r>
            <a:endParaRPr lang="en-US" sz="900" dirty="0"/>
          </a:p>
        </p:txBody>
      </p:sp>
      <p:sp>
        <p:nvSpPr>
          <p:cNvPr id="20" name="Shape 18"/>
          <p:cNvSpPr/>
          <p:nvPr/>
        </p:nvSpPr>
        <p:spPr>
          <a:xfrm>
            <a:off x="457200" y="6083300"/>
            <a:ext cx="6642100" cy="0"/>
          </a:xfrm>
          <a:prstGeom prst="line">
            <a:avLst/>
          </a:prstGeom>
          <a:noFill/>
          <a:ln w="7620">
            <a:solidFill>
              <a:srgbClr val="B7B0A4"/>
            </a:solidFill>
            <a:prstDash val="solid"/>
          </a:ln>
        </p:spPr>
      </p:sp>
      <p:sp>
        <p:nvSpPr>
          <p:cNvPr id="21" name="Text 19"/>
          <p:cNvSpPr/>
          <p:nvPr/>
        </p:nvSpPr>
        <p:spPr>
          <a:xfrm>
            <a:off x="457200" y="6184900"/>
            <a:ext cx="1168400" cy="317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1946</a:t>
            </a:r>
            <a:endParaRPr lang="en-US" sz="1100" dirty="0"/>
          </a:p>
        </p:txBody>
      </p:sp>
      <p:sp>
        <p:nvSpPr>
          <p:cNvPr id="22" name="Text 20"/>
          <p:cNvSpPr/>
          <p:nvPr/>
        </p:nvSpPr>
        <p:spPr>
          <a:xfrm>
            <a:off x="1778000" y="6184900"/>
            <a:ext cx="1574800" cy="3556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Philippines</a:t>
            </a:r>
            <a:endParaRPr lang="en-US" sz="1000" dirty="0"/>
          </a:p>
        </p:txBody>
      </p:sp>
      <p:sp>
        <p:nvSpPr>
          <p:cNvPr id="23" name="Text 21"/>
          <p:cNvSpPr/>
          <p:nvPr/>
        </p:nvSpPr>
        <p:spPr>
          <a:xfrm>
            <a:off x="3517900" y="6184900"/>
            <a:ext cx="3581400" cy="3810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Independence; preceding Spanish and US rule</a:t>
            </a:r>
            <a:endParaRPr lang="en-US" sz="900" dirty="0"/>
          </a:p>
        </p:txBody>
      </p:sp>
      <p:sp>
        <p:nvSpPr>
          <p:cNvPr id="24" name="Shape 22"/>
          <p:cNvSpPr/>
          <p:nvPr/>
        </p:nvSpPr>
        <p:spPr>
          <a:xfrm>
            <a:off x="457200" y="6591300"/>
            <a:ext cx="6642100" cy="0"/>
          </a:xfrm>
          <a:prstGeom prst="line">
            <a:avLst/>
          </a:prstGeom>
          <a:noFill/>
          <a:ln w="7620">
            <a:solidFill>
              <a:srgbClr val="B7B0A4"/>
            </a:solidFill>
            <a:prstDash val="solid"/>
          </a:ln>
        </p:spPr>
      </p:sp>
      <p:sp>
        <p:nvSpPr>
          <p:cNvPr id="25" name="Text 23"/>
          <p:cNvSpPr/>
          <p:nvPr/>
        </p:nvSpPr>
        <p:spPr>
          <a:xfrm>
            <a:off x="457200" y="6692900"/>
            <a:ext cx="1168400" cy="317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1957</a:t>
            </a:r>
            <a:endParaRPr lang="en-US" sz="1100" dirty="0"/>
          </a:p>
        </p:txBody>
      </p:sp>
      <p:sp>
        <p:nvSpPr>
          <p:cNvPr id="26" name="Text 24"/>
          <p:cNvSpPr/>
          <p:nvPr/>
        </p:nvSpPr>
        <p:spPr>
          <a:xfrm>
            <a:off x="1778000" y="6692900"/>
            <a:ext cx="1574800" cy="3556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Ghana</a:t>
            </a:r>
            <a:endParaRPr lang="en-US" sz="1000" dirty="0"/>
          </a:p>
        </p:txBody>
      </p:sp>
      <p:sp>
        <p:nvSpPr>
          <p:cNvPr id="27" name="Text 25"/>
          <p:cNvSpPr/>
          <p:nvPr/>
        </p:nvSpPr>
        <p:spPr>
          <a:xfrm>
            <a:off x="3517900" y="6692900"/>
            <a:ext cx="3581400" cy="3810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Independence</a:t>
            </a:r>
            <a:endParaRPr lang="en-US" sz="900" dirty="0"/>
          </a:p>
        </p:txBody>
      </p:sp>
      <p:sp>
        <p:nvSpPr>
          <p:cNvPr id="28" name="Shape 26"/>
          <p:cNvSpPr/>
          <p:nvPr/>
        </p:nvSpPr>
        <p:spPr>
          <a:xfrm>
            <a:off x="457200" y="7099300"/>
            <a:ext cx="6642100" cy="0"/>
          </a:xfrm>
          <a:prstGeom prst="line">
            <a:avLst/>
          </a:prstGeom>
          <a:noFill/>
          <a:ln w="7620">
            <a:solidFill>
              <a:srgbClr val="B7B0A4"/>
            </a:solidFill>
            <a:prstDash val="solid"/>
          </a:ln>
        </p:spPr>
      </p:sp>
      <p:sp>
        <p:nvSpPr>
          <p:cNvPr id="29" name="Text 27"/>
          <p:cNvSpPr/>
          <p:nvPr/>
        </p:nvSpPr>
        <p:spPr>
          <a:xfrm>
            <a:off x="457200" y="7200900"/>
            <a:ext cx="1168400" cy="317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1957 / 1963</a:t>
            </a:r>
            <a:endParaRPr lang="en-US" sz="1100" dirty="0"/>
          </a:p>
        </p:txBody>
      </p:sp>
      <p:sp>
        <p:nvSpPr>
          <p:cNvPr id="30" name="Text 28"/>
          <p:cNvSpPr/>
          <p:nvPr/>
        </p:nvSpPr>
        <p:spPr>
          <a:xfrm>
            <a:off x="1778000" y="7200900"/>
            <a:ext cx="1574800" cy="3556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Malaysia</a:t>
            </a:r>
            <a:endParaRPr lang="en-US" sz="1000" dirty="0"/>
          </a:p>
        </p:txBody>
      </p:sp>
      <p:sp>
        <p:nvSpPr>
          <p:cNvPr id="31" name="Text 29"/>
          <p:cNvSpPr/>
          <p:nvPr/>
        </p:nvSpPr>
        <p:spPr>
          <a:xfrm>
            <a:off x="3517900" y="7200900"/>
            <a:ext cx="3581400" cy="3810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Malaya independence / federation formed</a:t>
            </a:r>
            <a:endParaRPr lang="en-US" sz="900" dirty="0"/>
          </a:p>
        </p:txBody>
      </p:sp>
      <p:sp>
        <p:nvSpPr>
          <p:cNvPr id="32" name="Shape 30"/>
          <p:cNvSpPr/>
          <p:nvPr/>
        </p:nvSpPr>
        <p:spPr>
          <a:xfrm>
            <a:off x="457200" y="7607300"/>
            <a:ext cx="6642100" cy="0"/>
          </a:xfrm>
          <a:prstGeom prst="line">
            <a:avLst/>
          </a:prstGeom>
          <a:noFill/>
          <a:ln w="7620">
            <a:solidFill>
              <a:srgbClr val="B7B0A4"/>
            </a:solidFill>
            <a:prstDash val="solid"/>
          </a:ln>
        </p:spPr>
      </p:sp>
      <p:sp>
        <p:nvSpPr>
          <p:cNvPr id="33" name="Text 31"/>
          <p:cNvSpPr/>
          <p:nvPr/>
        </p:nvSpPr>
        <p:spPr>
          <a:xfrm>
            <a:off x="457200" y="7708900"/>
            <a:ext cx="1168400" cy="317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1966</a:t>
            </a:r>
            <a:endParaRPr lang="en-US" sz="1100" dirty="0"/>
          </a:p>
        </p:txBody>
      </p:sp>
      <p:sp>
        <p:nvSpPr>
          <p:cNvPr id="34" name="Text 32"/>
          <p:cNvSpPr/>
          <p:nvPr/>
        </p:nvSpPr>
        <p:spPr>
          <a:xfrm>
            <a:off x="1778000" y="7708900"/>
            <a:ext cx="1574800" cy="3556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Botswana</a:t>
            </a:r>
            <a:endParaRPr lang="en-US" sz="1000" dirty="0"/>
          </a:p>
        </p:txBody>
      </p:sp>
      <p:sp>
        <p:nvSpPr>
          <p:cNvPr id="35" name="Text 33"/>
          <p:cNvSpPr/>
          <p:nvPr/>
        </p:nvSpPr>
        <p:spPr>
          <a:xfrm>
            <a:off x="3517900" y="7708900"/>
            <a:ext cx="3581400" cy="3810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Independence from British protectorate</a:t>
            </a:r>
            <a:endParaRPr lang="en-US" sz="900" dirty="0"/>
          </a:p>
        </p:txBody>
      </p:sp>
      <p:sp>
        <p:nvSpPr>
          <p:cNvPr id="36" name="Shape 34"/>
          <p:cNvSpPr/>
          <p:nvPr/>
        </p:nvSpPr>
        <p:spPr>
          <a:xfrm>
            <a:off x="457200" y="8115300"/>
            <a:ext cx="6642100" cy="0"/>
          </a:xfrm>
          <a:prstGeom prst="line">
            <a:avLst/>
          </a:prstGeom>
          <a:noFill/>
          <a:ln w="7620">
            <a:solidFill>
              <a:srgbClr val="B7B0A4"/>
            </a:solidFill>
            <a:prstDash val="solid"/>
          </a:ln>
        </p:spPr>
      </p:sp>
      <p:sp>
        <p:nvSpPr>
          <p:cNvPr id="37" name="Text 35"/>
          <p:cNvSpPr/>
          <p:nvPr/>
        </p:nvSpPr>
        <p:spPr>
          <a:xfrm>
            <a:off x="457200" y="8216900"/>
            <a:ext cx="1168400" cy="317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1968</a:t>
            </a:r>
            <a:endParaRPr lang="en-US" sz="1100" dirty="0"/>
          </a:p>
        </p:txBody>
      </p:sp>
      <p:sp>
        <p:nvSpPr>
          <p:cNvPr id="38" name="Text 36"/>
          <p:cNvSpPr/>
          <p:nvPr/>
        </p:nvSpPr>
        <p:spPr>
          <a:xfrm>
            <a:off x="1778000" y="8216900"/>
            <a:ext cx="1574800" cy="3556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Mauritius</a:t>
            </a:r>
            <a:endParaRPr lang="en-US" sz="1000" dirty="0"/>
          </a:p>
        </p:txBody>
      </p:sp>
      <p:sp>
        <p:nvSpPr>
          <p:cNvPr id="39" name="Text 37"/>
          <p:cNvSpPr/>
          <p:nvPr/>
        </p:nvSpPr>
        <p:spPr>
          <a:xfrm>
            <a:off x="3517900" y="8216900"/>
            <a:ext cx="3581400" cy="3810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Independence; earlier French and British rule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02 / MECHANISMS</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Different systems of rule</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The useful comparison is what rule organised, extracted and left behind—not an empire label treated as destiny.</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Bolt et al. (2025, pp. 1–6, 18–20); Cogneau et al. (2018, pp. 5–7, 17–20); Huillery (2009, pp. 176–180, 203–208); Kohli (1994, pp. 1277–1284); Haggard et al. (1997, pp. 867–881); Dolan (1993), source caveat below.</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06</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Different mechanisms may coexist. None of these studies supplies a causal ranking of the six cases or demonstrates that colonial rule was beneficial overall.</a:t>
            </a:r>
            <a:endParaRPr lang="en-US" sz="900" dirty="0"/>
          </a:p>
        </p:txBody>
      </p:sp>
      <p:sp>
        <p:nvSpPr>
          <p:cNvPr id="12" name="Shape 10"/>
          <p:cNvSpPr/>
          <p:nvPr/>
        </p:nvSpPr>
        <p:spPr>
          <a:xfrm>
            <a:off x="457200" y="2908300"/>
            <a:ext cx="6642100" cy="0"/>
          </a:xfrm>
          <a:prstGeom prst="line">
            <a:avLst/>
          </a:prstGeom>
          <a:noFill/>
          <a:ln w="8890">
            <a:solidFill>
              <a:srgbClr val="252525"/>
            </a:solidFill>
            <a:prstDash val="solid"/>
          </a:ln>
        </p:spPr>
      </p:sp>
      <p:sp>
        <p:nvSpPr>
          <p:cNvPr id="13" name="Text 11"/>
          <p:cNvSpPr/>
          <p:nvPr/>
        </p:nvSpPr>
        <p:spPr>
          <a:xfrm>
            <a:off x="457200" y="3098800"/>
            <a:ext cx="1308100" cy="2794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CLAIM</a:t>
            </a:r>
            <a:endParaRPr lang="en-US" sz="900" dirty="0"/>
          </a:p>
        </p:txBody>
      </p:sp>
      <p:sp>
        <p:nvSpPr>
          <p:cNvPr id="14" name="Text 12"/>
          <p:cNvSpPr/>
          <p:nvPr/>
        </p:nvSpPr>
        <p:spPr>
          <a:xfrm>
            <a:off x="1981200" y="3073400"/>
            <a:ext cx="5118100" cy="4064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Administrative labels hide variation.</a:t>
            </a:r>
            <a:endParaRPr lang="en-US" sz="1500" dirty="0"/>
          </a:p>
        </p:txBody>
      </p:sp>
      <p:sp>
        <p:nvSpPr>
          <p:cNvPr id="15" name="Text 13"/>
          <p:cNvSpPr/>
          <p:nvPr/>
        </p:nvSpPr>
        <p:spPr>
          <a:xfrm>
            <a:off x="1981200" y="3606800"/>
            <a:ext cx="5118100" cy="1130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Evidence: British African councils differed in composition and operation; French West African investments also varied within an empire.</a:t>
            </a:r>
            <a:endParaRPr lang="en-US" sz="1050" dirty="0"/>
          </a:p>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Limit: councils are not synonymous with democracy (Bolt et al., 2025; Huillery, 2009).</a:t>
            </a:r>
            <a:endParaRPr lang="en-US" sz="1050" dirty="0"/>
          </a:p>
        </p:txBody>
      </p:sp>
      <p:sp>
        <p:nvSpPr>
          <p:cNvPr id="16" name="Shape 14"/>
          <p:cNvSpPr/>
          <p:nvPr/>
        </p:nvSpPr>
        <p:spPr>
          <a:xfrm>
            <a:off x="457200" y="4800600"/>
            <a:ext cx="6642100" cy="0"/>
          </a:xfrm>
          <a:prstGeom prst="line">
            <a:avLst/>
          </a:prstGeom>
          <a:noFill/>
          <a:ln w="8890">
            <a:solidFill>
              <a:srgbClr val="252525"/>
            </a:solidFill>
            <a:prstDash val="solid"/>
          </a:ln>
        </p:spPr>
      </p:sp>
      <p:sp>
        <p:nvSpPr>
          <p:cNvPr id="17" name="Text 15"/>
          <p:cNvSpPr/>
          <p:nvPr/>
        </p:nvSpPr>
        <p:spPr>
          <a:xfrm>
            <a:off x="457200" y="4991100"/>
            <a:ext cx="1308100" cy="2794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EVIDENCE</a:t>
            </a:r>
            <a:endParaRPr lang="en-US" sz="900" dirty="0"/>
          </a:p>
        </p:txBody>
      </p:sp>
      <p:sp>
        <p:nvSpPr>
          <p:cNvPr id="18" name="Text 16"/>
          <p:cNvSpPr/>
          <p:nvPr/>
        </p:nvSpPr>
        <p:spPr>
          <a:xfrm>
            <a:off x="1981200" y="4965700"/>
            <a:ext cx="5118100" cy="4064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Korea is a disputed inheritance.</a:t>
            </a:r>
            <a:endParaRPr lang="en-US" sz="1500" dirty="0"/>
          </a:p>
        </p:txBody>
      </p:sp>
      <p:sp>
        <p:nvSpPr>
          <p:cNvPr id="19" name="Text 17"/>
          <p:cNvSpPr/>
          <p:nvPr/>
        </p:nvSpPr>
        <p:spPr>
          <a:xfrm>
            <a:off x="1981200" y="5499100"/>
            <a:ext cx="5118100" cy="1130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Kohli (1994) stresses organisational lineage under Japanese rule. Haggard et al. (1997) stress coercion, unequal ownership, division, war and post-1961 change.</a:t>
            </a:r>
            <a:endParaRPr lang="en-US" sz="1050" dirty="0"/>
          </a:p>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Limit: continuity is not an uncontested causal finding.</a:t>
            </a:r>
            <a:endParaRPr lang="en-US" sz="1050" dirty="0"/>
          </a:p>
        </p:txBody>
      </p:sp>
      <p:sp>
        <p:nvSpPr>
          <p:cNvPr id="20" name="Shape 18"/>
          <p:cNvSpPr/>
          <p:nvPr/>
        </p:nvSpPr>
        <p:spPr>
          <a:xfrm>
            <a:off x="457200" y="6692900"/>
            <a:ext cx="6642100" cy="0"/>
          </a:xfrm>
          <a:prstGeom prst="line">
            <a:avLst/>
          </a:prstGeom>
          <a:noFill/>
          <a:ln w="8890">
            <a:solidFill>
              <a:srgbClr val="252525"/>
            </a:solidFill>
            <a:prstDash val="solid"/>
          </a:ln>
        </p:spPr>
      </p:sp>
      <p:sp>
        <p:nvSpPr>
          <p:cNvPr id="21" name="Text 19"/>
          <p:cNvSpPr/>
          <p:nvPr/>
        </p:nvSpPr>
        <p:spPr>
          <a:xfrm>
            <a:off x="457200" y="6883400"/>
            <a:ext cx="1308100" cy="2794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LIMIT</a:t>
            </a:r>
            <a:endParaRPr lang="en-US" sz="900" dirty="0"/>
          </a:p>
        </p:txBody>
      </p:sp>
      <p:sp>
        <p:nvSpPr>
          <p:cNvPr id="22" name="Text 20"/>
          <p:cNvSpPr/>
          <p:nvPr/>
        </p:nvSpPr>
        <p:spPr>
          <a:xfrm>
            <a:off x="1981200" y="6858000"/>
            <a:ext cx="5118100" cy="4064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Institutions on paper are not inclusion.</a:t>
            </a:r>
            <a:endParaRPr lang="en-US" sz="1500" dirty="0"/>
          </a:p>
        </p:txBody>
      </p:sp>
      <p:sp>
        <p:nvSpPr>
          <p:cNvPr id="23" name="Text 21"/>
          <p:cNvSpPr/>
          <p:nvPr/>
        </p:nvSpPr>
        <p:spPr>
          <a:xfrm>
            <a:off x="1981200" y="7391400"/>
            <a:ext cx="5118100" cy="1130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Philippines’ Spanish and US legacies combine formal institutions and education with concentrated power (Dolan, 1993). Exact archival passages still need a clean-file recheck.</a:t>
            </a:r>
            <a:endParaRPr lang="en-US" sz="1050" dirty="0"/>
          </a:p>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A British–French contrast cannot explain these experiences.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02 / CONNECTED DEVELOPMENT</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What did infrastructure connect?</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Ghana’s railway case shifts the question from “How much track?” to “Which people, firms and markets became connected?”</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Jedwab and Moradi (2012, pp. 1–4, 6–10; SRC-JEDWAB-MORADI12-001). Original editorial schematic based on cited facts. No source map is reproduced or traced.</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07</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A railway case cannot prove an Africa-wide mechanism, the net benefit of colonial rule, or that infrastructure alone caused subsequent growth.</a:t>
            </a:r>
            <a:endParaRPr lang="en-US" sz="900" dirty="0"/>
          </a:p>
        </p:txBody>
      </p:sp>
      <p:sp>
        <p:nvSpPr>
          <p:cNvPr id="12" name="Text 10"/>
          <p:cNvSpPr/>
          <p:nvPr/>
        </p:nvSpPr>
        <p:spPr>
          <a:xfrm>
            <a:off x="457200" y="2921000"/>
            <a:ext cx="6642100" cy="2921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1898–1918  /  COLONIAL RAILWAY EXPANSION</a:t>
            </a:r>
            <a:endParaRPr lang="en-US" sz="1000" dirty="0"/>
          </a:p>
        </p:txBody>
      </p:sp>
      <p:sp>
        <p:nvSpPr>
          <p:cNvPr id="13" name="Shape 11"/>
          <p:cNvSpPr/>
          <p:nvPr/>
        </p:nvSpPr>
        <p:spPr>
          <a:xfrm>
            <a:off x="647700" y="3594100"/>
            <a:ext cx="2527300" cy="736600"/>
          </a:xfrm>
          <a:prstGeom prst="rect">
            <a:avLst/>
          </a:prstGeom>
          <a:solidFill>
            <a:srgbClr val="F4F0E7"/>
          </a:solidFill>
          <a:ln w="7620">
            <a:solidFill>
              <a:srgbClr val="252525"/>
            </a:solidFill>
            <a:prstDash val="solid"/>
          </a:ln>
        </p:spPr>
      </p:sp>
      <p:sp>
        <p:nvSpPr>
          <p:cNvPr id="14" name="Text 12"/>
          <p:cNvSpPr/>
          <p:nvPr/>
        </p:nvSpPr>
        <p:spPr>
          <a:xfrm>
            <a:off x="800100" y="3746500"/>
            <a:ext cx="2222500" cy="5334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Coast / ports</a:t>
            </a:r>
            <a:endParaRPr lang="en-US" sz="1200" dirty="0"/>
          </a:p>
        </p:txBody>
      </p:sp>
      <p:sp>
        <p:nvSpPr>
          <p:cNvPr id="15" name="Shape 13"/>
          <p:cNvSpPr/>
          <p:nvPr/>
        </p:nvSpPr>
        <p:spPr>
          <a:xfrm>
            <a:off x="4241800" y="3594100"/>
            <a:ext cx="2527300" cy="736600"/>
          </a:xfrm>
          <a:prstGeom prst="rect">
            <a:avLst/>
          </a:prstGeom>
          <a:solidFill>
            <a:srgbClr val="F4F0E7"/>
          </a:solidFill>
          <a:ln w="7620">
            <a:solidFill>
              <a:srgbClr val="252525"/>
            </a:solidFill>
            <a:prstDash val="solid"/>
          </a:ln>
        </p:spPr>
      </p:sp>
      <p:sp>
        <p:nvSpPr>
          <p:cNvPr id="16" name="Text 14"/>
          <p:cNvSpPr/>
          <p:nvPr/>
        </p:nvSpPr>
        <p:spPr>
          <a:xfrm>
            <a:off x="4394200" y="3746500"/>
            <a:ext cx="2222500" cy="5334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Mining areas</a:t>
            </a:r>
            <a:endParaRPr lang="en-US" sz="1200" dirty="0"/>
          </a:p>
        </p:txBody>
      </p:sp>
      <p:sp>
        <p:nvSpPr>
          <p:cNvPr id="17" name="Shape 15"/>
          <p:cNvSpPr/>
          <p:nvPr/>
        </p:nvSpPr>
        <p:spPr>
          <a:xfrm>
            <a:off x="4241800" y="4864100"/>
            <a:ext cx="2527300" cy="736600"/>
          </a:xfrm>
          <a:prstGeom prst="rect">
            <a:avLst/>
          </a:prstGeom>
          <a:solidFill>
            <a:srgbClr val="F4F0E7"/>
          </a:solidFill>
          <a:ln w="7620">
            <a:solidFill>
              <a:srgbClr val="252525"/>
            </a:solidFill>
            <a:prstDash val="solid"/>
          </a:ln>
        </p:spPr>
      </p:sp>
      <p:sp>
        <p:nvSpPr>
          <p:cNvPr id="18" name="Text 16"/>
          <p:cNvSpPr/>
          <p:nvPr/>
        </p:nvSpPr>
        <p:spPr>
          <a:xfrm>
            <a:off x="4394200" y="5016500"/>
            <a:ext cx="2222500" cy="5334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Kumasi / interior</a:t>
            </a:r>
            <a:endParaRPr lang="en-US" sz="1200" dirty="0"/>
          </a:p>
        </p:txBody>
      </p:sp>
      <p:sp>
        <p:nvSpPr>
          <p:cNvPr id="19" name="Shape 17"/>
          <p:cNvSpPr/>
          <p:nvPr/>
        </p:nvSpPr>
        <p:spPr>
          <a:xfrm>
            <a:off x="647700" y="4864100"/>
            <a:ext cx="2527300" cy="736600"/>
          </a:xfrm>
          <a:prstGeom prst="rect">
            <a:avLst/>
          </a:prstGeom>
          <a:solidFill>
            <a:srgbClr val="F4F0E7"/>
          </a:solidFill>
          <a:ln w="7620">
            <a:solidFill>
              <a:srgbClr val="252525"/>
            </a:solidFill>
            <a:prstDash val="solid"/>
          </a:ln>
        </p:spPr>
      </p:sp>
      <p:sp>
        <p:nvSpPr>
          <p:cNvPr id="20" name="Text 18"/>
          <p:cNvSpPr/>
          <p:nvPr/>
        </p:nvSpPr>
        <p:spPr>
          <a:xfrm>
            <a:off x="800100" y="5016500"/>
            <a:ext cx="2222500" cy="5334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Cocoa producers</a:t>
            </a:r>
            <a:endParaRPr lang="en-US" sz="1200" dirty="0"/>
          </a:p>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and urban markets</a:t>
            </a:r>
            <a:endParaRPr lang="en-US" sz="1200" dirty="0"/>
          </a:p>
        </p:txBody>
      </p:sp>
      <p:sp>
        <p:nvSpPr>
          <p:cNvPr id="21" name="Shape 19"/>
          <p:cNvSpPr/>
          <p:nvPr/>
        </p:nvSpPr>
        <p:spPr>
          <a:xfrm>
            <a:off x="3175000" y="3962400"/>
            <a:ext cx="1066800" cy="0"/>
          </a:xfrm>
          <a:prstGeom prst="line">
            <a:avLst/>
          </a:prstGeom>
          <a:noFill/>
          <a:ln w="19050">
            <a:solidFill>
              <a:srgbClr val="252525"/>
            </a:solidFill>
            <a:prstDash val="solid"/>
          </a:ln>
        </p:spPr>
      </p:sp>
      <p:sp>
        <p:nvSpPr>
          <p:cNvPr id="22" name="Shape 20"/>
          <p:cNvSpPr/>
          <p:nvPr/>
        </p:nvSpPr>
        <p:spPr>
          <a:xfrm>
            <a:off x="5499100" y="4330700"/>
            <a:ext cx="0" cy="533400"/>
          </a:xfrm>
          <a:prstGeom prst="line">
            <a:avLst/>
          </a:prstGeom>
          <a:noFill/>
          <a:ln w="19050">
            <a:solidFill>
              <a:srgbClr val="252525"/>
            </a:solidFill>
            <a:prstDash val="solid"/>
          </a:ln>
        </p:spPr>
      </p:sp>
      <p:sp>
        <p:nvSpPr>
          <p:cNvPr id="23" name="Shape 21"/>
          <p:cNvSpPr/>
          <p:nvPr/>
        </p:nvSpPr>
        <p:spPr>
          <a:xfrm>
            <a:off x="3175000" y="5232400"/>
            <a:ext cx="1066800" cy="0"/>
          </a:xfrm>
          <a:prstGeom prst="line">
            <a:avLst/>
          </a:prstGeom>
          <a:noFill/>
          <a:ln w="19050">
            <a:solidFill>
              <a:srgbClr val="252525"/>
            </a:solidFill>
            <a:prstDash val="dash"/>
          </a:ln>
        </p:spPr>
      </p:sp>
      <p:sp>
        <p:nvSpPr>
          <p:cNvPr id="24" name="Shape 22"/>
          <p:cNvSpPr/>
          <p:nvPr/>
        </p:nvSpPr>
        <p:spPr>
          <a:xfrm flipV="1">
            <a:off x="1917700" y="4330700"/>
            <a:ext cx="0" cy="533400"/>
          </a:xfrm>
          <a:prstGeom prst="line">
            <a:avLst/>
          </a:prstGeom>
          <a:noFill/>
          <a:ln w="19050">
            <a:solidFill>
              <a:srgbClr val="252525"/>
            </a:solidFill>
            <a:prstDash val="dash"/>
          </a:ln>
        </p:spPr>
      </p:sp>
      <p:sp>
        <p:nvSpPr>
          <p:cNvPr id="25" name="Text 23"/>
          <p:cNvSpPr/>
          <p:nvPr/>
        </p:nvSpPr>
        <p:spPr>
          <a:xfrm>
            <a:off x="457200" y="5905500"/>
            <a:ext cx="6642100" cy="520700"/>
          </a:xfrm>
          <a:prstGeom prst="rect">
            <a:avLst/>
          </a:prstGeom>
          <a:noFill/>
          <a:ln/>
        </p:spPr>
        <p:txBody>
          <a:bodyPr wrap="square" lIns="0" tIns="0" rIns="0" bIns="0" rtlCol="0" anchor="t"/>
          <a:lstStyle/>
          <a:p>
            <a:pPr indent="0" marL="0">
              <a:lnSpc>
                <a:spcPct val="112000"/>
              </a:lnSpc>
              <a:buNone/>
            </a:pPr>
            <a:r>
              <a:rPr lang="en-US" sz="850" b="1" dirty="0">
                <a:solidFill>
                  <a:srgbClr val="514E48"/>
                </a:solidFill>
                <a:latin typeface="Montserrat" pitchFamily="34" charset="0"/>
                <a:ea typeface="Montserrat" pitchFamily="34" charset="-122"/>
                <a:cs typeface="Montserrat" pitchFamily="34" charset="-120"/>
              </a:rPr>
              <a:t>SCHEMATIC, NOT SURVEY GEOMETRY</a:t>
            </a:r>
            <a:endParaRPr lang="en-US" sz="850" dirty="0"/>
          </a:p>
          <a:p>
            <a:pPr indent="0" marL="0">
              <a:lnSpc>
                <a:spcPct val="112000"/>
              </a:lnSpc>
              <a:buNone/>
            </a:pPr>
            <a:r>
              <a:rPr lang="en-US" sz="850" b="1" dirty="0">
                <a:solidFill>
                  <a:srgbClr val="514E48"/>
                </a:solidFill>
                <a:latin typeface="Montserrat" pitchFamily="34" charset="0"/>
                <a:ea typeface="Montserrat" pitchFamily="34" charset="-122"/>
                <a:cs typeface="Montserrat" pitchFamily="34" charset="-120"/>
              </a:rPr>
              <a:t>Solid: stated connection purpose. Dashed: later economic linkages, not a mapped railway route.</a:t>
            </a:r>
            <a:endParaRPr lang="en-US" sz="850" dirty="0"/>
          </a:p>
        </p:txBody>
      </p:sp>
      <p:sp>
        <p:nvSpPr>
          <p:cNvPr id="26" name="Text 24"/>
          <p:cNvSpPr/>
          <p:nvPr/>
        </p:nvSpPr>
        <p:spPr>
          <a:xfrm>
            <a:off x="457200" y="6692900"/>
            <a:ext cx="31115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Original purpose</a:t>
            </a:r>
            <a:endParaRPr lang="en-US" sz="1400" dirty="0"/>
          </a:p>
        </p:txBody>
      </p:sp>
      <p:sp>
        <p:nvSpPr>
          <p:cNvPr id="27" name="Text 25"/>
          <p:cNvSpPr/>
          <p:nvPr/>
        </p:nvSpPr>
        <p:spPr>
          <a:xfrm>
            <a:off x="457200" y="7137400"/>
            <a:ext cx="3111500" cy="12319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Connect the coast with mining areas and Kumasi; transport priorities were not designed as a universal social network.</a:t>
            </a:r>
            <a:endParaRPr lang="en-US" sz="1050" dirty="0"/>
          </a:p>
        </p:txBody>
      </p:sp>
      <p:sp>
        <p:nvSpPr>
          <p:cNvPr id="28" name="Text 26"/>
          <p:cNvSpPr/>
          <p:nvPr/>
        </p:nvSpPr>
        <p:spPr>
          <a:xfrm>
            <a:off x="3937000" y="6692900"/>
            <a:ext cx="31623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Later uses and effects</a:t>
            </a:r>
            <a:endParaRPr lang="en-US" sz="1400" dirty="0"/>
          </a:p>
        </p:txBody>
      </p:sp>
      <p:sp>
        <p:nvSpPr>
          <p:cNvPr id="29" name="Text 27"/>
          <p:cNvSpPr/>
          <p:nvPr/>
        </p:nvSpPr>
        <p:spPr>
          <a:xfrm>
            <a:off x="3937000" y="7137400"/>
            <a:ext cx="3162300" cy="12319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Lower transport costs supported cocoa production and urbanisation. The later users and effects were not identical to the original purpose.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02 / INHERITANCE</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Independence inventory</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Six dimensions, unequal evidence. Read each row as a dated context—not a score or a common-year ranking.</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Xenos (1970, p. 1); Svirydzenka and Petri (2014, pp. 5–8); Kohli (1994); Haggard et al. (1997); Asadullah et al. (2024, pp. 13–15); Dolan (1993), partial archival check.</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08</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 categories are not standardised indicators. “Not matched” means no comparable inventory is approved here—not that the capability or infrastructure was absent.</a:t>
            </a:r>
            <a:endParaRPr lang="en-US" sz="900" dirty="0"/>
          </a:p>
        </p:txBody>
      </p:sp>
      <p:sp>
        <p:nvSpPr>
          <p:cNvPr id="12" name="Shape 10"/>
          <p:cNvSpPr/>
          <p:nvPr/>
        </p:nvSpPr>
        <p:spPr>
          <a:xfrm>
            <a:off x="457200" y="2908300"/>
            <a:ext cx="6642100" cy="0"/>
          </a:xfrm>
          <a:prstGeom prst="line">
            <a:avLst/>
          </a:prstGeom>
          <a:noFill/>
          <a:ln w="7620">
            <a:solidFill>
              <a:srgbClr val="B7B0A4"/>
            </a:solidFill>
            <a:prstDash val="solid"/>
          </a:ln>
        </p:spPr>
      </p:sp>
      <p:sp>
        <p:nvSpPr>
          <p:cNvPr id="13" name="Shape 11"/>
          <p:cNvSpPr/>
          <p:nvPr/>
        </p:nvSpPr>
        <p:spPr>
          <a:xfrm>
            <a:off x="469900" y="3124200"/>
            <a:ext cx="101600" cy="101600"/>
          </a:xfrm>
          <a:prstGeom prst="ellipse">
            <a:avLst/>
          </a:prstGeom>
          <a:solidFill>
            <a:srgbClr val="B95332"/>
          </a:solidFill>
          <a:ln w="7620">
            <a:solidFill>
              <a:srgbClr val="252525"/>
            </a:solidFill>
            <a:prstDash val="solid"/>
          </a:ln>
        </p:spPr>
      </p:sp>
      <p:sp>
        <p:nvSpPr>
          <p:cNvPr id="14" name="Text 12"/>
          <p:cNvSpPr/>
          <p:nvPr/>
        </p:nvSpPr>
        <p:spPr>
          <a:xfrm>
            <a:off x="685800" y="3073400"/>
            <a:ext cx="1524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Ghana</a:t>
            </a:r>
            <a:endParaRPr lang="en-US" sz="1100" dirty="0"/>
          </a:p>
        </p:txBody>
      </p:sp>
      <p:sp>
        <p:nvSpPr>
          <p:cNvPr id="15" name="Text 13"/>
          <p:cNvSpPr/>
          <p:nvPr/>
        </p:nvSpPr>
        <p:spPr>
          <a:xfrm>
            <a:off x="685800" y="3390900"/>
            <a:ext cx="1460500" cy="317500"/>
          </a:xfrm>
          <a:prstGeom prst="rect">
            <a:avLst/>
          </a:prstGeom>
          <a:noFill/>
          <a:ln/>
        </p:spPr>
        <p:txBody>
          <a:bodyPr wrap="square" lIns="0" tIns="0" rIns="0" bIns="0" rtlCol="0" anchor="t"/>
          <a:lstStyle/>
          <a:p>
            <a:pP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1957</a:t>
            </a:r>
            <a:endParaRPr lang="en-US" sz="900" dirty="0"/>
          </a:p>
        </p:txBody>
      </p:sp>
      <p:sp>
        <p:nvSpPr>
          <p:cNvPr id="16" name="Text 14"/>
          <p:cNvSpPr/>
          <p:nvPr/>
        </p:nvSpPr>
        <p:spPr>
          <a:xfrm>
            <a:off x="2349500" y="3035300"/>
            <a:ext cx="4749800" cy="7747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Exports: cocoa dependence. Industry: import–export orientation. Skills: education base. Bureaucracy: not matched. Borders: independence territory, not a 1960 “culture” unit. Infrastructure: roads, rail; Tema under construction.</a:t>
            </a:r>
            <a:endParaRPr lang="en-US" sz="950" dirty="0"/>
          </a:p>
        </p:txBody>
      </p:sp>
      <p:sp>
        <p:nvSpPr>
          <p:cNvPr id="17" name="Shape 15"/>
          <p:cNvSpPr/>
          <p:nvPr/>
        </p:nvSpPr>
        <p:spPr>
          <a:xfrm>
            <a:off x="457200" y="3848100"/>
            <a:ext cx="6642100" cy="0"/>
          </a:xfrm>
          <a:prstGeom prst="line">
            <a:avLst/>
          </a:prstGeom>
          <a:noFill/>
          <a:ln w="7620">
            <a:solidFill>
              <a:srgbClr val="B7B0A4"/>
            </a:solidFill>
            <a:prstDash val="solid"/>
          </a:ln>
        </p:spPr>
      </p:sp>
      <p:sp>
        <p:nvSpPr>
          <p:cNvPr id="18" name="Shape 16"/>
          <p:cNvSpPr/>
          <p:nvPr/>
        </p:nvSpPr>
        <p:spPr>
          <a:xfrm>
            <a:off x="469900" y="4064000"/>
            <a:ext cx="101600" cy="101600"/>
          </a:xfrm>
          <a:prstGeom prst="rect">
            <a:avLst/>
          </a:prstGeom>
          <a:solidFill>
            <a:srgbClr val="3F684E"/>
          </a:solidFill>
          <a:ln w="7620">
            <a:solidFill>
              <a:srgbClr val="252525"/>
            </a:solidFill>
            <a:prstDash val="solid"/>
          </a:ln>
        </p:spPr>
      </p:sp>
      <p:sp>
        <p:nvSpPr>
          <p:cNvPr id="19" name="Text 17"/>
          <p:cNvSpPr/>
          <p:nvPr/>
        </p:nvSpPr>
        <p:spPr>
          <a:xfrm>
            <a:off x="685800" y="4013200"/>
            <a:ext cx="1524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Botswana</a:t>
            </a:r>
            <a:endParaRPr lang="en-US" sz="1100" dirty="0"/>
          </a:p>
        </p:txBody>
      </p:sp>
      <p:sp>
        <p:nvSpPr>
          <p:cNvPr id="20" name="Text 18"/>
          <p:cNvSpPr/>
          <p:nvPr/>
        </p:nvSpPr>
        <p:spPr>
          <a:xfrm>
            <a:off x="685800" y="4330700"/>
            <a:ext cx="1460500" cy="317500"/>
          </a:xfrm>
          <a:prstGeom prst="rect">
            <a:avLst/>
          </a:prstGeom>
          <a:noFill/>
          <a:ln/>
        </p:spPr>
        <p:txBody>
          <a:bodyPr wrap="square" lIns="0" tIns="0" rIns="0" bIns="0" rtlCol="0" anchor="t"/>
          <a:lstStyle/>
          <a:p>
            <a:pP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1966</a:t>
            </a:r>
            <a:endParaRPr lang="en-US" sz="900" dirty="0"/>
          </a:p>
        </p:txBody>
      </p:sp>
      <p:sp>
        <p:nvSpPr>
          <p:cNvPr id="21" name="Text 19"/>
          <p:cNvSpPr/>
          <p:nvPr/>
        </p:nvSpPr>
        <p:spPr>
          <a:xfrm>
            <a:off x="2349500" y="3975100"/>
            <a:ext cx="4749800" cy="7747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Exports: agriculture/cattle context; diamonds followed independence. Industry and infrastructure: very limited base. Skills: severe shortage. Bureaucracy: not matched. Borders: former protectorate.</a:t>
            </a:r>
            <a:endParaRPr lang="en-US" sz="950" dirty="0"/>
          </a:p>
        </p:txBody>
      </p:sp>
      <p:sp>
        <p:nvSpPr>
          <p:cNvPr id="22" name="Shape 20"/>
          <p:cNvSpPr/>
          <p:nvPr/>
        </p:nvSpPr>
        <p:spPr>
          <a:xfrm>
            <a:off x="457200" y="4787900"/>
            <a:ext cx="6642100" cy="0"/>
          </a:xfrm>
          <a:prstGeom prst="line">
            <a:avLst/>
          </a:prstGeom>
          <a:noFill/>
          <a:ln w="7620">
            <a:solidFill>
              <a:srgbClr val="B7B0A4"/>
            </a:solidFill>
            <a:prstDash val="solid"/>
          </a:ln>
        </p:spPr>
      </p:sp>
      <p:sp>
        <p:nvSpPr>
          <p:cNvPr id="23" name="Shape 21"/>
          <p:cNvSpPr/>
          <p:nvPr/>
        </p:nvSpPr>
        <p:spPr>
          <a:xfrm>
            <a:off x="469900" y="5003800"/>
            <a:ext cx="101600" cy="101600"/>
          </a:xfrm>
          <a:prstGeom prst="triangle">
            <a:avLst/>
          </a:prstGeom>
          <a:solidFill>
            <a:srgbClr val="D6A23A"/>
          </a:solidFill>
          <a:ln w="7620">
            <a:solidFill>
              <a:srgbClr val="252525"/>
            </a:solidFill>
            <a:prstDash val="solid"/>
          </a:ln>
        </p:spPr>
      </p:sp>
      <p:sp>
        <p:nvSpPr>
          <p:cNvPr id="24" name="Text 22"/>
          <p:cNvSpPr/>
          <p:nvPr/>
        </p:nvSpPr>
        <p:spPr>
          <a:xfrm>
            <a:off x="685800" y="4953000"/>
            <a:ext cx="1524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Mauritius</a:t>
            </a:r>
            <a:endParaRPr lang="en-US" sz="1100" dirty="0"/>
          </a:p>
        </p:txBody>
      </p:sp>
      <p:sp>
        <p:nvSpPr>
          <p:cNvPr id="25" name="Text 23"/>
          <p:cNvSpPr/>
          <p:nvPr/>
        </p:nvSpPr>
        <p:spPr>
          <a:xfrm>
            <a:off x="685800" y="5270500"/>
            <a:ext cx="1460500" cy="317500"/>
          </a:xfrm>
          <a:prstGeom prst="rect">
            <a:avLst/>
          </a:prstGeom>
          <a:noFill/>
          <a:ln/>
        </p:spPr>
        <p:txBody>
          <a:bodyPr wrap="square" lIns="0" tIns="0" rIns="0" bIns="0" rtlCol="0" anchor="t"/>
          <a:lstStyle/>
          <a:p>
            <a:pP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1968</a:t>
            </a:r>
            <a:endParaRPr lang="en-US" sz="900" dirty="0"/>
          </a:p>
        </p:txBody>
      </p:sp>
      <p:sp>
        <p:nvSpPr>
          <p:cNvPr id="26" name="Text 24"/>
          <p:cNvSpPr/>
          <p:nvPr/>
        </p:nvSpPr>
        <p:spPr>
          <a:xfrm>
            <a:off x="2349500" y="4914900"/>
            <a:ext cx="4749800" cy="7747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Exports: sugar dependence. Industry: sugar-centred. Skills and bureaucracy: no matched independence metric. Borders: island state. Infrastructure: no matched inventory. Later diversification is not an inherited condition.</a:t>
            </a:r>
            <a:endParaRPr lang="en-US" sz="950" dirty="0"/>
          </a:p>
        </p:txBody>
      </p:sp>
      <p:sp>
        <p:nvSpPr>
          <p:cNvPr id="27" name="Shape 25"/>
          <p:cNvSpPr/>
          <p:nvPr/>
        </p:nvSpPr>
        <p:spPr>
          <a:xfrm>
            <a:off x="457200" y="5727700"/>
            <a:ext cx="6642100" cy="0"/>
          </a:xfrm>
          <a:prstGeom prst="line">
            <a:avLst/>
          </a:prstGeom>
          <a:noFill/>
          <a:ln w="7620">
            <a:solidFill>
              <a:srgbClr val="B7B0A4"/>
            </a:solidFill>
            <a:prstDash val="solid"/>
          </a:ln>
        </p:spPr>
      </p:sp>
      <p:sp>
        <p:nvSpPr>
          <p:cNvPr id="28" name="Shape 26"/>
          <p:cNvSpPr/>
          <p:nvPr/>
        </p:nvSpPr>
        <p:spPr>
          <a:xfrm>
            <a:off x="469900" y="5943600"/>
            <a:ext cx="101600" cy="101600"/>
          </a:xfrm>
          <a:prstGeom prst="diamond">
            <a:avLst/>
          </a:prstGeom>
          <a:solidFill>
            <a:srgbClr val="315A78"/>
          </a:solidFill>
          <a:ln w="7620">
            <a:solidFill>
              <a:srgbClr val="252525"/>
            </a:solidFill>
            <a:prstDash val="solid"/>
          </a:ln>
        </p:spPr>
      </p:sp>
      <p:sp>
        <p:nvSpPr>
          <p:cNvPr id="29" name="Text 27"/>
          <p:cNvSpPr/>
          <p:nvPr/>
        </p:nvSpPr>
        <p:spPr>
          <a:xfrm>
            <a:off x="685800" y="5892800"/>
            <a:ext cx="1524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South Korea</a:t>
            </a:r>
            <a:endParaRPr lang="en-US" sz="1100" dirty="0"/>
          </a:p>
        </p:txBody>
      </p:sp>
      <p:sp>
        <p:nvSpPr>
          <p:cNvPr id="30" name="Text 28"/>
          <p:cNvSpPr/>
          <p:nvPr/>
        </p:nvSpPr>
        <p:spPr>
          <a:xfrm>
            <a:off x="685800" y="6210300"/>
            <a:ext cx="1460500" cy="317500"/>
          </a:xfrm>
          <a:prstGeom prst="rect">
            <a:avLst/>
          </a:prstGeom>
          <a:noFill/>
          <a:ln/>
        </p:spPr>
        <p:txBody>
          <a:bodyPr wrap="square" lIns="0" tIns="0" rIns="0" bIns="0" rtlCol="0" anchor="t"/>
          <a:lstStyle/>
          <a:p>
            <a:pP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1945–48</a:t>
            </a:r>
            <a:endParaRPr lang="en-US" sz="900" dirty="0"/>
          </a:p>
        </p:txBody>
      </p:sp>
      <p:sp>
        <p:nvSpPr>
          <p:cNvPr id="31" name="Text 29"/>
          <p:cNvSpPr/>
          <p:nvPr/>
        </p:nvSpPr>
        <p:spPr>
          <a:xfrm>
            <a:off x="2349500" y="5854700"/>
            <a:ext cx="4749800" cy="7747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Exports and industry: colonial inheritance disrupted by division and war. Skills and bureaucracy: contested continuity. Borders: division is fundamental. Infrastructure: disruption; no matched common-year stock.</a:t>
            </a:r>
            <a:endParaRPr lang="en-US" sz="950" dirty="0"/>
          </a:p>
        </p:txBody>
      </p:sp>
      <p:sp>
        <p:nvSpPr>
          <p:cNvPr id="32" name="Shape 30"/>
          <p:cNvSpPr/>
          <p:nvPr/>
        </p:nvSpPr>
        <p:spPr>
          <a:xfrm>
            <a:off x="457200" y="6667500"/>
            <a:ext cx="6642100" cy="0"/>
          </a:xfrm>
          <a:prstGeom prst="line">
            <a:avLst/>
          </a:prstGeom>
          <a:noFill/>
          <a:ln w="7620">
            <a:solidFill>
              <a:srgbClr val="B7B0A4"/>
            </a:solidFill>
            <a:prstDash val="solid"/>
          </a:ln>
        </p:spPr>
      </p:sp>
      <p:sp>
        <p:nvSpPr>
          <p:cNvPr id="33" name="Shape 31"/>
          <p:cNvSpPr/>
          <p:nvPr/>
        </p:nvSpPr>
        <p:spPr>
          <a:xfrm>
            <a:off x="469900" y="6883400"/>
            <a:ext cx="101600" cy="101600"/>
          </a:xfrm>
          <a:prstGeom prst="hexagon">
            <a:avLst/>
          </a:prstGeom>
          <a:solidFill>
            <a:srgbClr val="3E7568"/>
          </a:solidFill>
          <a:ln w="7620">
            <a:solidFill>
              <a:srgbClr val="252525"/>
            </a:solidFill>
            <a:prstDash val="solid"/>
          </a:ln>
        </p:spPr>
      </p:sp>
      <p:sp>
        <p:nvSpPr>
          <p:cNvPr id="34" name="Text 32"/>
          <p:cNvSpPr/>
          <p:nvPr/>
        </p:nvSpPr>
        <p:spPr>
          <a:xfrm>
            <a:off x="685800" y="6832600"/>
            <a:ext cx="1524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Malaysia</a:t>
            </a:r>
            <a:endParaRPr lang="en-US" sz="1100" dirty="0"/>
          </a:p>
        </p:txBody>
      </p:sp>
      <p:sp>
        <p:nvSpPr>
          <p:cNvPr id="35" name="Text 33"/>
          <p:cNvSpPr/>
          <p:nvPr/>
        </p:nvSpPr>
        <p:spPr>
          <a:xfrm>
            <a:off x="685800" y="7150100"/>
            <a:ext cx="1460500" cy="317500"/>
          </a:xfrm>
          <a:prstGeom prst="rect">
            <a:avLst/>
          </a:prstGeom>
          <a:noFill/>
          <a:ln/>
        </p:spPr>
        <p:txBody>
          <a:bodyPr wrap="square" lIns="0" tIns="0" rIns="0" bIns="0" rtlCol="0" anchor="t"/>
          <a:lstStyle/>
          <a:p>
            <a:pP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1957–63</a:t>
            </a:r>
            <a:endParaRPr lang="en-US" sz="900" dirty="0"/>
          </a:p>
        </p:txBody>
      </p:sp>
      <p:sp>
        <p:nvSpPr>
          <p:cNvPr id="36" name="Text 34"/>
          <p:cNvSpPr/>
          <p:nvPr/>
        </p:nvSpPr>
        <p:spPr>
          <a:xfrm>
            <a:off x="2349500" y="6794500"/>
            <a:ext cx="4749800" cy="7747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Exports: commodity-oriented inheritance. Industry: later electronics is not a starting asset. Skills: segmented opportunities. Bureaucracy: not matched. Borders: Malaya ≠ later federation. Infrastructure: no matched inventory.</a:t>
            </a:r>
            <a:endParaRPr lang="en-US" sz="950" dirty="0"/>
          </a:p>
        </p:txBody>
      </p:sp>
      <p:sp>
        <p:nvSpPr>
          <p:cNvPr id="37" name="Shape 35"/>
          <p:cNvSpPr/>
          <p:nvPr/>
        </p:nvSpPr>
        <p:spPr>
          <a:xfrm>
            <a:off x="457200" y="7607300"/>
            <a:ext cx="6642100" cy="0"/>
          </a:xfrm>
          <a:prstGeom prst="line">
            <a:avLst/>
          </a:prstGeom>
          <a:noFill/>
          <a:ln w="7620">
            <a:solidFill>
              <a:srgbClr val="B7B0A4"/>
            </a:solidFill>
            <a:prstDash val="solid"/>
          </a:ln>
        </p:spPr>
      </p:sp>
      <p:sp>
        <p:nvSpPr>
          <p:cNvPr id="38" name="Shape 36"/>
          <p:cNvSpPr/>
          <p:nvPr/>
        </p:nvSpPr>
        <p:spPr>
          <a:xfrm>
            <a:off x="469900" y="7874000"/>
            <a:ext cx="101600" cy="0"/>
          </a:xfrm>
          <a:prstGeom prst="line">
            <a:avLst/>
          </a:prstGeom>
          <a:noFill/>
          <a:ln w="40640">
            <a:solidFill>
              <a:srgbClr val="252525"/>
            </a:solidFill>
            <a:prstDash val="solid"/>
          </a:ln>
        </p:spPr>
      </p:sp>
      <p:sp>
        <p:nvSpPr>
          <p:cNvPr id="39" name="Shape 37"/>
          <p:cNvSpPr/>
          <p:nvPr/>
        </p:nvSpPr>
        <p:spPr>
          <a:xfrm>
            <a:off x="520700" y="7823200"/>
            <a:ext cx="0" cy="101600"/>
          </a:xfrm>
          <a:prstGeom prst="line">
            <a:avLst/>
          </a:prstGeom>
          <a:noFill/>
          <a:ln w="40640">
            <a:solidFill>
              <a:srgbClr val="252525"/>
            </a:solidFill>
            <a:prstDash val="solid"/>
          </a:ln>
        </p:spPr>
      </p:sp>
      <p:sp>
        <p:nvSpPr>
          <p:cNvPr id="40" name="Shape 38"/>
          <p:cNvSpPr/>
          <p:nvPr/>
        </p:nvSpPr>
        <p:spPr>
          <a:xfrm>
            <a:off x="469900" y="7874000"/>
            <a:ext cx="101600" cy="0"/>
          </a:xfrm>
          <a:prstGeom prst="line">
            <a:avLst/>
          </a:prstGeom>
          <a:noFill/>
          <a:ln w="22860">
            <a:solidFill>
              <a:srgbClr val="A63A3A"/>
            </a:solidFill>
            <a:prstDash val="solid"/>
          </a:ln>
        </p:spPr>
      </p:sp>
      <p:sp>
        <p:nvSpPr>
          <p:cNvPr id="41" name="Shape 39"/>
          <p:cNvSpPr/>
          <p:nvPr/>
        </p:nvSpPr>
        <p:spPr>
          <a:xfrm>
            <a:off x="520700" y="7823200"/>
            <a:ext cx="0" cy="101600"/>
          </a:xfrm>
          <a:prstGeom prst="line">
            <a:avLst/>
          </a:prstGeom>
          <a:noFill/>
          <a:ln w="22860">
            <a:solidFill>
              <a:srgbClr val="A63A3A"/>
            </a:solidFill>
            <a:prstDash val="solid"/>
          </a:ln>
        </p:spPr>
      </p:sp>
      <p:sp>
        <p:nvSpPr>
          <p:cNvPr id="42" name="Text 40"/>
          <p:cNvSpPr/>
          <p:nvPr/>
        </p:nvSpPr>
        <p:spPr>
          <a:xfrm>
            <a:off x="685800" y="7772400"/>
            <a:ext cx="1524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Philippines</a:t>
            </a:r>
            <a:endParaRPr lang="en-US" sz="1100" dirty="0"/>
          </a:p>
        </p:txBody>
      </p:sp>
      <p:sp>
        <p:nvSpPr>
          <p:cNvPr id="43" name="Text 41"/>
          <p:cNvSpPr/>
          <p:nvPr/>
        </p:nvSpPr>
        <p:spPr>
          <a:xfrm>
            <a:off x="685800" y="8089900"/>
            <a:ext cx="1460500" cy="317500"/>
          </a:xfrm>
          <a:prstGeom prst="rect">
            <a:avLst/>
          </a:prstGeom>
          <a:noFill/>
          <a:ln/>
        </p:spPr>
        <p:txBody>
          <a:bodyPr wrap="square" lIns="0" tIns="0" rIns="0" bIns="0" rtlCol="0" anchor="t"/>
          <a:lstStyle/>
          <a:p>
            <a:pP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1946</a:t>
            </a:r>
            <a:endParaRPr lang="en-US" sz="900" dirty="0"/>
          </a:p>
        </p:txBody>
      </p:sp>
      <p:sp>
        <p:nvSpPr>
          <p:cNvPr id="44" name="Text 42"/>
          <p:cNvSpPr/>
          <p:nvPr/>
        </p:nvSpPr>
        <p:spPr>
          <a:xfrm>
            <a:off x="2349500" y="7734300"/>
            <a:ext cx="4749800" cy="7747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Exports: agricultural orientation. Industry: no matched independence stock. Skills and bureaucracy: education and formal institutions alongside elite concentration. Borders/infrastructure: no matched inventory. Archival recheck pending.</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02 / MAKE A CHOICE</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You are president in 1960</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Allocate 100 points across schools, factories, roads, health, security and state capacity. Write the trade-off—not just the total.</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Classroom exercise: original group design, not a statistical model. Constraints derive from the approved historical inventory (p. 8) and World Bank (1993, pp. 4–7, 159–161). “1960” is the exercise anchor, not the independence date of every case.</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09</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This exercise exposes trade-offs. It does not reveal one universally correct allocation, predict growth, or simulate the six countries’ actual budgets.</a:t>
            </a:r>
            <a:endParaRPr lang="en-US" sz="900" dirty="0"/>
          </a:p>
        </p:txBody>
      </p:sp>
      <p:sp>
        <p:nvSpPr>
          <p:cNvPr id="12" name="Text 10"/>
          <p:cNvSpPr/>
          <p:nvPr/>
        </p:nvSpPr>
        <p:spPr>
          <a:xfrm>
            <a:off x="457200" y="3009900"/>
            <a:ext cx="33020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Schools</a:t>
            </a:r>
            <a:endParaRPr lang="en-US" sz="1600" dirty="0"/>
          </a:p>
        </p:txBody>
      </p:sp>
      <p:sp>
        <p:nvSpPr>
          <p:cNvPr id="13" name="Shape 11"/>
          <p:cNvSpPr/>
          <p:nvPr/>
        </p:nvSpPr>
        <p:spPr>
          <a:xfrm>
            <a:off x="4648200" y="3365500"/>
            <a:ext cx="1155700" cy="0"/>
          </a:xfrm>
          <a:prstGeom prst="line">
            <a:avLst/>
          </a:prstGeom>
          <a:noFill/>
          <a:ln w="12700">
            <a:solidFill>
              <a:srgbClr val="252525"/>
            </a:solidFill>
            <a:prstDash val="solid"/>
          </a:ln>
        </p:spPr>
      </p:sp>
      <p:sp>
        <p:nvSpPr>
          <p:cNvPr id="14" name="Text 12"/>
          <p:cNvSpPr/>
          <p:nvPr/>
        </p:nvSpPr>
        <p:spPr>
          <a:xfrm>
            <a:off x="6057900" y="3098800"/>
            <a:ext cx="1041400" cy="2667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 100</a:t>
            </a:r>
            <a:endParaRPr lang="en-US" sz="1000" dirty="0"/>
          </a:p>
        </p:txBody>
      </p:sp>
      <p:sp>
        <p:nvSpPr>
          <p:cNvPr id="15" name="Text 13"/>
          <p:cNvSpPr/>
          <p:nvPr/>
        </p:nvSpPr>
        <p:spPr>
          <a:xfrm>
            <a:off x="457200" y="3606800"/>
            <a:ext cx="33020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Factories</a:t>
            </a:r>
            <a:endParaRPr lang="en-US" sz="1600" dirty="0"/>
          </a:p>
        </p:txBody>
      </p:sp>
      <p:sp>
        <p:nvSpPr>
          <p:cNvPr id="16" name="Shape 14"/>
          <p:cNvSpPr/>
          <p:nvPr/>
        </p:nvSpPr>
        <p:spPr>
          <a:xfrm>
            <a:off x="4648200" y="3962400"/>
            <a:ext cx="1155700" cy="0"/>
          </a:xfrm>
          <a:prstGeom prst="line">
            <a:avLst/>
          </a:prstGeom>
          <a:noFill/>
          <a:ln w="12700">
            <a:solidFill>
              <a:srgbClr val="252525"/>
            </a:solidFill>
            <a:prstDash val="solid"/>
          </a:ln>
        </p:spPr>
      </p:sp>
      <p:sp>
        <p:nvSpPr>
          <p:cNvPr id="17" name="Text 15"/>
          <p:cNvSpPr/>
          <p:nvPr/>
        </p:nvSpPr>
        <p:spPr>
          <a:xfrm>
            <a:off x="6057900" y="3695700"/>
            <a:ext cx="1041400" cy="2667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 100</a:t>
            </a:r>
            <a:endParaRPr lang="en-US" sz="1000" dirty="0"/>
          </a:p>
        </p:txBody>
      </p:sp>
      <p:sp>
        <p:nvSpPr>
          <p:cNvPr id="18" name="Text 16"/>
          <p:cNvSpPr/>
          <p:nvPr/>
        </p:nvSpPr>
        <p:spPr>
          <a:xfrm>
            <a:off x="457200" y="4203700"/>
            <a:ext cx="33020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Roads</a:t>
            </a:r>
            <a:endParaRPr lang="en-US" sz="1600" dirty="0"/>
          </a:p>
        </p:txBody>
      </p:sp>
      <p:sp>
        <p:nvSpPr>
          <p:cNvPr id="19" name="Shape 17"/>
          <p:cNvSpPr/>
          <p:nvPr/>
        </p:nvSpPr>
        <p:spPr>
          <a:xfrm>
            <a:off x="4648200" y="4559300"/>
            <a:ext cx="1155700" cy="0"/>
          </a:xfrm>
          <a:prstGeom prst="line">
            <a:avLst/>
          </a:prstGeom>
          <a:noFill/>
          <a:ln w="12700">
            <a:solidFill>
              <a:srgbClr val="252525"/>
            </a:solidFill>
            <a:prstDash val="solid"/>
          </a:ln>
        </p:spPr>
      </p:sp>
      <p:sp>
        <p:nvSpPr>
          <p:cNvPr id="20" name="Text 18"/>
          <p:cNvSpPr/>
          <p:nvPr/>
        </p:nvSpPr>
        <p:spPr>
          <a:xfrm>
            <a:off x="6057900" y="4292600"/>
            <a:ext cx="1041400" cy="2667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 100</a:t>
            </a:r>
            <a:endParaRPr lang="en-US" sz="1000" dirty="0"/>
          </a:p>
        </p:txBody>
      </p:sp>
      <p:sp>
        <p:nvSpPr>
          <p:cNvPr id="21" name="Text 19"/>
          <p:cNvSpPr/>
          <p:nvPr/>
        </p:nvSpPr>
        <p:spPr>
          <a:xfrm>
            <a:off x="457200" y="4800600"/>
            <a:ext cx="33020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Health</a:t>
            </a:r>
            <a:endParaRPr lang="en-US" sz="1600" dirty="0"/>
          </a:p>
        </p:txBody>
      </p:sp>
      <p:sp>
        <p:nvSpPr>
          <p:cNvPr id="22" name="Shape 20"/>
          <p:cNvSpPr/>
          <p:nvPr/>
        </p:nvSpPr>
        <p:spPr>
          <a:xfrm>
            <a:off x="4648200" y="5156200"/>
            <a:ext cx="1155700" cy="0"/>
          </a:xfrm>
          <a:prstGeom prst="line">
            <a:avLst/>
          </a:prstGeom>
          <a:noFill/>
          <a:ln w="12700">
            <a:solidFill>
              <a:srgbClr val="252525"/>
            </a:solidFill>
            <a:prstDash val="solid"/>
          </a:ln>
        </p:spPr>
      </p:sp>
      <p:sp>
        <p:nvSpPr>
          <p:cNvPr id="23" name="Text 21"/>
          <p:cNvSpPr/>
          <p:nvPr/>
        </p:nvSpPr>
        <p:spPr>
          <a:xfrm>
            <a:off x="6057900" y="4889500"/>
            <a:ext cx="1041400" cy="2667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 100</a:t>
            </a:r>
            <a:endParaRPr lang="en-US" sz="1000" dirty="0"/>
          </a:p>
        </p:txBody>
      </p:sp>
      <p:sp>
        <p:nvSpPr>
          <p:cNvPr id="24" name="Text 22"/>
          <p:cNvSpPr/>
          <p:nvPr/>
        </p:nvSpPr>
        <p:spPr>
          <a:xfrm>
            <a:off x="457200" y="5397500"/>
            <a:ext cx="33020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Security</a:t>
            </a:r>
            <a:endParaRPr lang="en-US" sz="1600" dirty="0"/>
          </a:p>
        </p:txBody>
      </p:sp>
      <p:sp>
        <p:nvSpPr>
          <p:cNvPr id="25" name="Shape 23"/>
          <p:cNvSpPr/>
          <p:nvPr/>
        </p:nvSpPr>
        <p:spPr>
          <a:xfrm>
            <a:off x="4648200" y="5753100"/>
            <a:ext cx="1155700" cy="0"/>
          </a:xfrm>
          <a:prstGeom prst="line">
            <a:avLst/>
          </a:prstGeom>
          <a:noFill/>
          <a:ln w="12700">
            <a:solidFill>
              <a:srgbClr val="252525"/>
            </a:solidFill>
            <a:prstDash val="solid"/>
          </a:ln>
        </p:spPr>
      </p:sp>
      <p:sp>
        <p:nvSpPr>
          <p:cNvPr id="26" name="Text 24"/>
          <p:cNvSpPr/>
          <p:nvPr/>
        </p:nvSpPr>
        <p:spPr>
          <a:xfrm>
            <a:off x="6057900" y="5486400"/>
            <a:ext cx="1041400" cy="2667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 100</a:t>
            </a:r>
            <a:endParaRPr lang="en-US" sz="1000" dirty="0"/>
          </a:p>
        </p:txBody>
      </p:sp>
      <p:sp>
        <p:nvSpPr>
          <p:cNvPr id="27" name="Text 25"/>
          <p:cNvSpPr/>
          <p:nvPr/>
        </p:nvSpPr>
        <p:spPr>
          <a:xfrm>
            <a:off x="457200" y="5994400"/>
            <a:ext cx="33020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State capacity</a:t>
            </a:r>
            <a:endParaRPr lang="en-US" sz="1600" dirty="0"/>
          </a:p>
        </p:txBody>
      </p:sp>
      <p:sp>
        <p:nvSpPr>
          <p:cNvPr id="28" name="Shape 26"/>
          <p:cNvSpPr/>
          <p:nvPr/>
        </p:nvSpPr>
        <p:spPr>
          <a:xfrm>
            <a:off x="4648200" y="6350000"/>
            <a:ext cx="1155700" cy="0"/>
          </a:xfrm>
          <a:prstGeom prst="line">
            <a:avLst/>
          </a:prstGeom>
          <a:noFill/>
          <a:ln w="12700">
            <a:solidFill>
              <a:srgbClr val="252525"/>
            </a:solidFill>
            <a:prstDash val="solid"/>
          </a:ln>
        </p:spPr>
      </p:sp>
      <p:sp>
        <p:nvSpPr>
          <p:cNvPr id="29" name="Text 27"/>
          <p:cNvSpPr/>
          <p:nvPr/>
        </p:nvSpPr>
        <p:spPr>
          <a:xfrm>
            <a:off x="6057900" y="6083300"/>
            <a:ext cx="1041400" cy="2667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 100</a:t>
            </a:r>
            <a:endParaRPr lang="en-US" sz="1000" dirty="0"/>
          </a:p>
        </p:txBody>
      </p:sp>
      <p:sp>
        <p:nvSpPr>
          <p:cNvPr id="30" name="Text 28"/>
          <p:cNvSpPr/>
          <p:nvPr/>
        </p:nvSpPr>
        <p:spPr>
          <a:xfrm>
            <a:off x="457200" y="6680200"/>
            <a:ext cx="2794000" cy="3810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TOTAL</a:t>
            </a:r>
            <a:endParaRPr lang="en-US" sz="1300" dirty="0"/>
          </a:p>
        </p:txBody>
      </p:sp>
      <p:sp>
        <p:nvSpPr>
          <p:cNvPr id="31" name="Shape 29"/>
          <p:cNvSpPr/>
          <p:nvPr/>
        </p:nvSpPr>
        <p:spPr>
          <a:xfrm>
            <a:off x="4648200" y="6997700"/>
            <a:ext cx="1155700" cy="0"/>
          </a:xfrm>
          <a:prstGeom prst="line">
            <a:avLst/>
          </a:prstGeom>
          <a:noFill/>
          <a:ln w="19050">
            <a:solidFill>
              <a:srgbClr val="252525"/>
            </a:solidFill>
            <a:prstDash val="solid"/>
          </a:ln>
        </p:spPr>
      </p:sp>
      <p:sp>
        <p:nvSpPr>
          <p:cNvPr id="32" name="Text 30"/>
          <p:cNvSpPr/>
          <p:nvPr/>
        </p:nvSpPr>
        <p:spPr>
          <a:xfrm>
            <a:off x="6057900" y="6756400"/>
            <a:ext cx="1041400" cy="2667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 100</a:t>
            </a:r>
            <a:endParaRPr lang="en-US" sz="1100" dirty="0"/>
          </a:p>
        </p:txBody>
      </p:sp>
      <p:sp>
        <p:nvSpPr>
          <p:cNvPr id="33" name="Text 31"/>
          <p:cNvSpPr/>
          <p:nvPr/>
        </p:nvSpPr>
        <p:spPr>
          <a:xfrm>
            <a:off x="457200" y="7340600"/>
            <a:ext cx="3111500" cy="3683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Choose your constraint</a:t>
            </a:r>
            <a:endParaRPr lang="en-US" sz="1500" dirty="0"/>
          </a:p>
        </p:txBody>
      </p:sp>
      <p:sp>
        <p:nvSpPr>
          <p:cNvPr id="34" name="Text 32"/>
          <p:cNvSpPr/>
          <p:nvPr/>
        </p:nvSpPr>
        <p:spPr>
          <a:xfrm>
            <a:off x="457200" y="7797800"/>
            <a:ext cx="6642100" cy="698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Ghana: export dependence. Botswana: thin skills and infrastructure. Mauritius: sugar dependence. South Korea: recovery and security. Malaysia: uneven opportunities. Philippines: concentrated power.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03 / CAPABILITY</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How industrial capability compounds</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A conditional learning sequence—not an automatic cycle and not a recipe that travels unchanged.</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4–7, 20–26, 79–80, 127–130, 159–161); World Bank (2020, pp. 32–33, Box 2 pp. 44–47). Original editorial synthesis of approved mechanisms.</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10</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These links do not isolate a single cause. External access, distribution, resources, institutions and political choices change the sequence and its effects.</a:t>
            </a:r>
            <a:endParaRPr lang="en-US" sz="900" dirty="0"/>
          </a:p>
        </p:txBody>
      </p:sp>
      <p:sp>
        <p:nvSpPr>
          <p:cNvPr id="12" name="Text 10"/>
          <p:cNvSpPr/>
          <p:nvPr/>
        </p:nvSpPr>
        <p:spPr>
          <a:xfrm>
            <a:off x="457200" y="2933700"/>
            <a:ext cx="571500" cy="393700"/>
          </a:xfrm>
          <a:prstGeom prst="rect">
            <a:avLst/>
          </a:prstGeom>
          <a:noFill/>
          <a:ln/>
        </p:spPr>
        <p:txBody>
          <a:bodyPr wrap="square" lIns="0" tIns="0" rIns="0" bIns="0" rtlCol="0" anchor="t"/>
          <a:lstStyle/>
          <a:p>
            <a:pPr indent="0" marL="0">
              <a:lnSpc>
                <a:spcPct val="112000"/>
              </a:lnSpc>
              <a:buNone/>
            </a:pPr>
            <a:r>
              <a:rPr lang="en-US" sz="2000" b="1" dirty="0">
                <a:solidFill>
                  <a:srgbClr val="514E48"/>
                </a:solidFill>
                <a:latin typeface="Montserrat" pitchFamily="34" charset="0"/>
                <a:ea typeface="Montserrat" pitchFamily="34" charset="-122"/>
                <a:cs typeface="Montserrat" pitchFamily="34" charset="-120"/>
              </a:rPr>
              <a:t>01</a:t>
            </a:r>
            <a:endParaRPr lang="en-US" sz="2000" dirty="0"/>
          </a:p>
        </p:txBody>
      </p:sp>
      <p:sp>
        <p:nvSpPr>
          <p:cNvPr id="13" name="Text 11"/>
          <p:cNvSpPr/>
          <p:nvPr/>
        </p:nvSpPr>
        <p:spPr>
          <a:xfrm>
            <a:off x="1282700" y="2933700"/>
            <a:ext cx="58166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Education and skills</a:t>
            </a:r>
            <a:endParaRPr lang="en-US" sz="1500" dirty="0"/>
          </a:p>
        </p:txBody>
      </p:sp>
      <p:sp>
        <p:nvSpPr>
          <p:cNvPr id="14" name="Text 12"/>
          <p:cNvSpPr/>
          <p:nvPr/>
        </p:nvSpPr>
        <p:spPr>
          <a:xfrm>
            <a:off x="1282700" y="3314700"/>
            <a:ext cx="5715000" cy="330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People learn to absorb and improve production.</a:t>
            </a:r>
            <a:endParaRPr lang="en-US" sz="1050" dirty="0"/>
          </a:p>
        </p:txBody>
      </p:sp>
      <p:sp>
        <p:nvSpPr>
          <p:cNvPr id="15" name="Text 13"/>
          <p:cNvSpPr/>
          <p:nvPr/>
        </p:nvSpPr>
        <p:spPr>
          <a:xfrm>
            <a:off x="609600" y="3390900"/>
            <a:ext cx="304800" cy="342900"/>
          </a:xfrm>
          <a:prstGeom prst="rect">
            <a:avLst/>
          </a:prstGeom>
          <a:noFill/>
          <a:ln/>
        </p:spPr>
        <p:txBody>
          <a:bodyPr wrap="square" lIns="0" tIns="0" rIns="0" bIns="0" rtlCol="0" anchor="t"/>
          <a:lstStyle/>
          <a:p>
            <a:pPr indent="0" marL="0">
              <a:lnSpc>
                <a:spcPct val="112000"/>
              </a:lnSpc>
              <a:buNone/>
            </a:pPr>
            <a:r>
              <a:rPr lang="en-US" sz="1600" dirty="0">
                <a:solidFill>
                  <a:srgbClr val="252525"/>
                </a:solidFill>
                <a:latin typeface="Montserrat" pitchFamily="34" charset="0"/>
                <a:ea typeface="Montserrat" pitchFamily="34" charset="-122"/>
                <a:cs typeface="Montserrat" pitchFamily="34" charset="-120"/>
              </a:rPr>
              <a:t>↓</a:t>
            </a:r>
            <a:endParaRPr lang="en-US" sz="1600" dirty="0"/>
          </a:p>
        </p:txBody>
      </p:sp>
      <p:sp>
        <p:nvSpPr>
          <p:cNvPr id="16" name="Text 14"/>
          <p:cNvSpPr/>
          <p:nvPr/>
        </p:nvSpPr>
        <p:spPr>
          <a:xfrm>
            <a:off x="457200" y="3797300"/>
            <a:ext cx="571500" cy="393700"/>
          </a:xfrm>
          <a:prstGeom prst="rect">
            <a:avLst/>
          </a:prstGeom>
          <a:noFill/>
          <a:ln/>
        </p:spPr>
        <p:txBody>
          <a:bodyPr wrap="square" lIns="0" tIns="0" rIns="0" bIns="0" rtlCol="0" anchor="t"/>
          <a:lstStyle/>
          <a:p>
            <a:pPr indent="0" marL="0">
              <a:lnSpc>
                <a:spcPct val="112000"/>
              </a:lnSpc>
              <a:buNone/>
            </a:pPr>
            <a:r>
              <a:rPr lang="en-US" sz="2000" b="1" dirty="0">
                <a:solidFill>
                  <a:srgbClr val="514E48"/>
                </a:solidFill>
                <a:latin typeface="Montserrat" pitchFamily="34" charset="0"/>
                <a:ea typeface="Montserrat" pitchFamily="34" charset="-122"/>
                <a:cs typeface="Montserrat" pitchFamily="34" charset="-120"/>
              </a:rPr>
              <a:t>02</a:t>
            </a:r>
            <a:endParaRPr lang="en-US" sz="2000" dirty="0"/>
          </a:p>
        </p:txBody>
      </p:sp>
      <p:sp>
        <p:nvSpPr>
          <p:cNvPr id="17" name="Text 15"/>
          <p:cNvSpPr/>
          <p:nvPr/>
        </p:nvSpPr>
        <p:spPr>
          <a:xfrm>
            <a:off x="1282700" y="3797300"/>
            <a:ext cx="58166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Infrastructure</a:t>
            </a:r>
            <a:endParaRPr lang="en-US" sz="1500" dirty="0"/>
          </a:p>
        </p:txBody>
      </p:sp>
      <p:sp>
        <p:nvSpPr>
          <p:cNvPr id="18" name="Text 16"/>
          <p:cNvSpPr/>
          <p:nvPr/>
        </p:nvSpPr>
        <p:spPr>
          <a:xfrm>
            <a:off x="1282700" y="4178300"/>
            <a:ext cx="5715000" cy="330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Reliable connections reduce practical bottlenecks.</a:t>
            </a:r>
            <a:endParaRPr lang="en-US" sz="1050" dirty="0"/>
          </a:p>
        </p:txBody>
      </p:sp>
      <p:sp>
        <p:nvSpPr>
          <p:cNvPr id="19" name="Text 17"/>
          <p:cNvSpPr/>
          <p:nvPr/>
        </p:nvSpPr>
        <p:spPr>
          <a:xfrm>
            <a:off x="609600" y="4254500"/>
            <a:ext cx="304800" cy="342900"/>
          </a:xfrm>
          <a:prstGeom prst="rect">
            <a:avLst/>
          </a:prstGeom>
          <a:noFill/>
          <a:ln/>
        </p:spPr>
        <p:txBody>
          <a:bodyPr wrap="square" lIns="0" tIns="0" rIns="0" bIns="0" rtlCol="0" anchor="t"/>
          <a:lstStyle/>
          <a:p>
            <a:pPr indent="0" marL="0">
              <a:lnSpc>
                <a:spcPct val="112000"/>
              </a:lnSpc>
              <a:buNone/>
            </a:pPr>
            <a:r>
              <a:rPr lang="en-US" sz="1600" dirty="0">
                <a:solidFill>
                  <a:srgbClr val="252525"/>
                </a:solidFill>
                <a:latin typeface="Montserrat" pitchFamily="34" charset="0"/>
                <a:ea typeface="Montserrat" pitchFamily="34" charset="-122"/>
                <a:cs typeface="Montserrat" pitchFamily="34" charset="-120"/>
              </a:rPr>
              <a:t>↓</a:t>
            </a:r>
            <a:endParaRPr lang="en-US" sz="1600" dirty="0"/>
          </a:p>
        </p:txBody>
      </p:sp>
      <p:sp>
        <p:nvSpPr>
          <p:cNvPr id="20" name="Text 18"/>
          <p:cNvSpPr/>
          <p:nvPr/>
        </p:nvSpPr>
        <p:spPr>
          <a:xfrm>
            <a:off x="457200" y="4660900"/>
            <a:ext cx="571500" cy="393700"/>
          </a:xfrm>
          <a:prstGeom prst="rect">
            <a:avLst/>
          </a:prstGeom>
          <a:noFill/>
          <a:ln/>
        </p:spPr>
        <p:txBody>
          <a:bodyPr wrap="square" lIns="0" tIns="0" rIns="0" bIns="0" rtlCol="0" anchor="t"/>
          <a:lstStyle/>
          <a:p>
            <a:pPr indent="0" marL="0">
              <a:lnSpc>
                <a:spcPct val="112000"/>
              </a:lnSpc>
              <a:buNone/>
            </a:pPr>
            <a:r>
              <a:rPr lang="en-US" sz="2000" b="1" dirty="0">
                <a:solidFill>
                  <a:srgbClr val="514E48"/>
                </a:solidFill>
                <a:latin typeface="Montserrat" pitchFamily="34" charset="0"/>
                <a:ea typeface="Montserrat" pitchFamily="34" charset="-122"/>
                <a:cs typeface="Montserrat" pitchFamily="34" charset="-120"/>
              </a:rPr>
              <a:t>03</a:t>
            </a:r>
            <a:endParaRPr lang="en-US" sz="2000" dirty="0"/>
          </a:p>
        </p:txBody>
      </p:sp>
      <p:sp>
        <p:nvSpPr>
          <p:cNvPr id="21" name="Text 19"/>
          <p:cNvSpPr/>
          <p:nvPr/>
        </p:nvSpPr>
        <p:spPr>
          <a:xfrm>
            <a:off x="1282700" y="4660900"/>
            <a:ext cx="58166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Firms and suppliers</a:t>
            </a:r>
            <a:endParaRPr lang="en-US" sz="1500" dirty="0"/>
          </a:p>
        </p:txBody>
      </p:sp>
      <p:sp>
        <p:nvSpPr>
          <p:cNvPr id="22" name="Text 20"/>
          <p:cNvSpPr/>
          <p:nvPr/>
        </p:nvSpPr>
        <p:spPr>
          <a:xfrm>
            <a:off x="1282700" y="5041900"/>
            <a:ext cx="5715000" cy="330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Capabilities need organisations and domestic links.</a:t>
            </a:r>
            <a:endParaRPr lang="en-US" sz="1050" dirty="0"/>
          </a:p>
        </p:txBody>
      </p:sp>
      <p:sp>
        <p:nvSpPr>
          <p:cNvPr id="23" name="Text 21"/>
          <p:cNvSpPr/>
          <p:nvPr/>
        </p:nvSpPr>
        <p:spPr>
          <a:xfrm>
            <a:off x="609600" y="5118100"/>
            <a:ext cx="304800" cy="342900"/>
          </a:xfrm>
          <a:prstGeom prst="rect">
            <a:avLst/>
          </a:prstGeom>
          <a:noFill/>
          <a:ln/>
        </p:spPr>
        <p:txBody>
          <a:bodyPr wrap="square" lIns="0" tIns="0" rIns="0" bIns="0" rtlCol="0" anchor="t"/>
          <a:lstStyle/>
          <a:p>
            <a:pPr indent="0" marL="0">
              <a:lnSpc>
                <a:spcPct val="112000"/>
              </a:lnSpc>
              <a:buNone/>
            </a:pPr>
            <a:r>
              <a:rPr lang="en-US" sz="1600" dirty="0">
                <a:solidFill>
                  <a:srgbClr val="252525"/>
                </a:solidFill>
                <a:latin typeface="Montserrat" pitchFamily="34" charset="0"/>
                <a:ea typeface="Montserrat" pitchFamily="34" charset="-122"/>
                <a:cs typeface="Montserrat" pitchFamily="34" charset="-120"/>
              </a:rPr>
              <a:t>↓</a:t>
            </a:r>
            <a:endParaRPr lang="en-US" sz="1600" dirty="0"/>
          </a:p>
        </p:txBody>
      </p:sp>
      <p:sp>
        <p:nvSpPr>
          <p:cNvPr id="24" name="Text 22"/>
          <p:cNvSpPr/>
          <p:nvPr/>
        </p:nvSpPr>
        <p:spPr>
          <a:xfrm>
            <a:off x="457200" y="5524500"/>
            <a:ext cx="571500" cy="393700"/>
          </a:xfrm>
          <a:prstGeom prst="rect">
            <a:avLst/>
          </a:prstGeom>
          <a:noFill/>
          <a:ln/>
        </p:spPr>
        <p:txBody>
          <a:bodyPr wrap="square" lIns="0" tIns="0" rIns="0" bIns="0" rtlCol="0" anchor="t"/>
          <a:lstStyle/>
          <a:p>
            <a:pPr indent="0" marL="0">
              <a:lnSpc>
                <a:spcPct val="112000"/>
              </a:lnSpc>
              <a:buNone/>
            </a:pPr>
            <a:r>
              <a:rPr lang="en-US" sz="2000" b="1" dirty="0">
                <a:solidFill>
                  <a:srgbClr val="514E48"/>
                </a:solidFill>
                <a:latin typeface="Montserrat" pitchFamily="34" charset="0"/>
                <a:ea typeface="Montserrat" pitchFamily="34" charset="-122"/>
                <a:cs typeface="Montserrat" pitchFamily="34" charset="-120"/>
              </a:rPr>
              <a:t>04</a:t>
            </a:r>
            <a:endParaRPr lang="en-US" sz="2000" dirty="0"/>
          </a:p>
        </p:txBody>
      </p:sp>
      <p:sp>
        <p:nvSpPr>
          <p:cNvPr id="25" name="Text 23"/>
          <p:cNvSpPr/>
          <p:nvPr/>
        </p:nvSpPr>
        <p:spPr>
          <a:xfrm>
            <a:off x="1282700" y="5524500"/>
            <a:ext cx="58166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Production</a:t>
            </a:r>
            <a:endParaRPr lang="en-US" sz="1500" dirty="0"/>
          </a:p>
        </p:txBody>
      </p:sp>
      <p:sp>
        <p:nvSpPr>
          <p:cNvPr id="26" name="Text 24"/>
          <p:cNvSpPr/>
          <p:nvPr/>
        </p:nvSpPr>
        <p:spPr>
          <a:xfrm>
            <a:off x="1282700" y="5905500"/>
            <a:ext cx="5715000" cy="330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Standards, routines and coordination are tested.</a:t>
            </a:r>
            <a:endParaRPr lang="en-US" sz="1050" dirty="0"/>
          </a:p>
        </p:txBody>
      </p:sp>
      <p:sp>
        <p:nvSpPr>
          <p:cNvPr id="27" name="Text 25"/>
          <p:cNvSpPr/>
          <p:nvPr/>
        </p:nvSpPr>
        <p:spPr>
          <a:xfrm>
            <a:off x="609600" y="5981700"/>
            <a:ext cx="304800" cy="342900"/>
          </a:xfrm>
          <a:prstGeom prst="rect">
            <a:avLst/>
          </a:prstGeom>
          <a:noFill/>
          <a:ln/>
        </p:spPr>
        <p:txBody>
          <a:bodyPr wrap="square" lIns="0" tIns="0" rIns="0" bIns="0" rtlCol="0" anchor="t"/>
          <a:lstStyle/>
          <a:p>
            <a:pPr indent="0" marL="0">
              <a:lnSpc>
                <a:spcPct val="112000"/>
              </a:lnSpc>
              <a:buNone/>
            </a:pPr>
            <a:r>
              <a:rPr lang="en-US" sz="1600" dirty="0">
                <a:solidFill>
                  <a:srgbClr val="252525"/>
                </a:solidFill>
                <a:latin typeface="Montserrat" pitchFamily="34" charset="0"/>
                <a:ea typeface="Montserrat" pitchFamily="34" charset="-122"/>
                <a:cs typeface="Montserrat" pitchFamily="34" charset="-120"/>
              </a:rPr>
              <a:t>↓</a:t>
            </a:r>
            <a:endParaRPr lang="en-US" sz="1600" dirty="0"/>
          </a:p>
        </p:txBody>
      </p:sp>
      <p:sp>
        <p:nvSpPr>
          <p:cNvPr id="28" name="Text 26"/>
          <p:cNvSpPr/>
          <p:nvPr/>
        </p:nvSpPr>
        <p:spPr>
          <a:xfrm>
            <a:off x="457200" y="6388100"/>
            <a:ext cx="571500" cy="393700"/>
          </a:xfrm>
          <a:prstGeom prst="rect">
            <a:avLst/>
          </a:prstGeom>
          <a:noFill/>
          <a:ln/>
        </p:spPr>
        <p:txBody>
          <a:bodyPr wrap="square" lIns="0" tIns="0" rIns="0" bIns="0" rtlCol="0" anchor="t"/>
          <a:lstStyle/>
          <a:p>
            <a:pPr indent="0" marL="0">
              <a:lnSpc>
                <a:spcPct val="112000"/>
              </a:lnSpc>
              <a:buNone/>
            </a:pPr>
            <a:r>
              <a:rPr lang="en-US" sz="2000" b="1" dirty="0">
                <a:solidFill>
                  <a:srgbClr val="514E48"/>
                </a:solidFill>
                <a:latin typeface="Montserrat" pitchFamily="34" charset="0"/>
                <a:ea typeface="Montserrat" pitchFamily="34" charset="-122"/>
                <a:cs typeface="Montserrat" pitchFamily="34" charset="-120"/>
              </a:rPr>
              <a:t>05</a:t>
            </a:r>
            <a:endParaRPr lang="en-US" sz="2000" dirty="0"/>
          </a:p>
        </p:txBody>
      </p:sp>
      <p:sp>
        <p:nvSpPr>
          <p:cNvPr id="29" name="Text 27"/>
          <p:cNvSpPr/>
          <p:nvPr/>
        </p:nvSpPr>
        <p:spPr>
          <a:xfrm>
            <a:off x="1282700" y="6388100"/>
            <a:ext cx="58166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Exports and learning</a:t>
            </a:r>
            <a:endParaRPr lang="en-US" sz="1500" dirty="0"/>
          </a:p>
        </p:txBody>
      </p:sp>
      <p:sp>
        <p:nvSpPr>
          <p:cNvPr id="30" name="Text 28"/>
          <p:cNvSpPr/>
          <p:nvPr/>
        </p:nvSpPr>
        <p:spPr>
          <a:xfrm>
            <a:off x="1282700" y="6769100"/>
            <a:ext cx="5715000" cy="330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Markets can bring scale, technology and feedback.</a:t>
            </a:r>
            <a:endParaRPr lang="en-US" sz="1050" dirty="0"/>
          </a:p>
        </p:txBody>
      </p:sp>
      <p:sp>
        <p:nvSpPr>
          <p:cNvPr id="31" name="Text 29"/>
          <p:cNvSpPr/>
          <p:nvPr/>
        </p:nvSpPr>
        <p:spPr>
          <a:xfrm>
            <a:off x="609600" y="6845300"/>
            <a:ext cx="304800" cy="342900"/>
          </a:xfrm>
          <a:prstGeom prst="rect">
            <a:avLst/>
          </a:prstGeom>
          <a:noFill/>
          <a:ln/>
        </p:spPr>
        <p:txBody>
          <a:bodyPr wrap="square" lIns="0" tIns="0" rIns="0" bIns="0" rtlCol="0" anchor="t"/>
          <a:lstStyle/>
          <a:p>
            <a:pPr indent="0" marL="0">
              <a:lnSpc>
                <a:spcPct val="112000"/>
              </a:lnSpc>
              <a:buNone/>
            </a:pPr>
            <a:r>
              <a:rPr lang="en-US" sz="1600" dirty="0">
                <a:solidFill>
                  <a:srgbClr val="252525"/>
                </a:solidFill>
                <a:latin typeface="Montserrat" pitchFamily="34" charset="0"/>
                <a:ea typeface="Montserrat" pitchFamily="34" charset="-122"/>
                <a:cs typeface="Montserrat" pitchFamily="34" charset="-120"/>
              </a:rPr>
              <a:t>↓</a:t>
            </a:r>
            <a:endParaRPr lang="en-US" sz="1600" dirty="0"/>
          </a:p>
        </p:txBody>
      </p:sp>
      <p:sp>
        <p:nvSpPr>
          <p:cNvPr id="32" name="Text 30"/>
          <p:cNvSpPr/>
          <p:nvPr/>
        </p:nvSpPr>
        <p:spPr>
          <a:xfrm>
            <a:off x="457200" y="7251700"/>
            <a:ext cx="571500" cy="393700"/>
          </a:xfrm>
          <a:prstGeom prst="rect">
            <a:avLst/>
          </a:prstGeom>
          <a:noFill/>
          <a:ln/>
        </p:spPr>
        <p:txBody>
          <a:bodyPr wrap="square" lIns="0" tIns="0" rIns="0" bIns="0" rtlCol="0" anchor="t"/>
          <a:lstStyle/>
          <a:p>
            <a:pPr indent="0" marL="0">
              <a:lnSpc>
                <a:spcPct val="112000"/>
              </a:lnSpc>
              <a:buNone/>
            </a:pPr>
            <a:r>
              <a:rPr lang="en-US" sz="2000" b="1" dirty="0">
                <a:solidFill>
                  <a:srgbClr val="514E48"/>
                </a:solidFill>
                <a:latin typeface="Montserrat" pitchFamily="34" charset="0"/>
                <a:ea typeface="Montserrat" pitchFamily="34" charset="-122"/>
                <a:cs typeface="Montserrat" pitchFamily="34" charset="-120"/>
              </a:rPr>
              <a:t>06</a:t>
            </a:r>
            <a:endParaRPr lang="en-US" sz="2000" dirty="0"/>
          </a:p>
        </p:txBody>
      </p:sp>
      <p:sp>
        <p:nvSpPr>
          <p:cNvPr id="33" name="Text 31"/>
          <p:cNvSpPr/>
          <p:nvPr/>
        </p:nvSpPr>
        <p:spPr>
          <a:xfrm>
            <a:off x="1282700" y="7251700"/>
            <a:ext cx="58166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Reinvestment and upgrading</a:t>
            </a:r>
            <a:endParaRPr lang="en-US" sz="1500" dirty="0"/>
          </a:p>
        </p:txBody>
      </p:sp>
      <p:sp>
        <p:nvSpPr>
          <p:cNvPr id="34" name="Text 32"/>
          <p:cNvSpPr/>
          <p:nvPr/>
        </p:nvSpPr>
        <p:spPr>
          <a:xfrm>
            <a:off x="1282700" y="7632700"/>
            <a:ext cx="5715000" cy="330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Returns must build new skills—not just protect rents.</a:t>
            </a:r>
            <a:endParaRPr lang="en-US" sz="1050" dirty="0"/>
          </a:p>
        </p:txBody>
      </p:sp>
      <p:sp>
        <p:nvSpPr>
          <p:cNvPr id="35" name="Shape 33"/>
          <p:cNvSpPr/>
          <p:nvPr/>
        </p:nvSpPr>
        <p:spPr>
          <a:xfrm flipV="1">
            <a:off x="7010400" y="2870200"/>
            <a:ext cx="0" cy="5118100"/>
          </a:xfrm>
          <a:prstGeom prst="line">
            <a:avLst/>
          </a:prstGeom>
          <a:noFill/>
          <a:ln w="10160">
            <a:solidFill>
              <a:srgbClr val="514E48"/>
            </a:solidFill>
            <a:prstDash val="dash"/>
          </a:ln>
        </p:spPr>
      </p:sp>
      <p:sp>
        <p:nvSpPr>
          <p:cNvPr id="36" name="Text 34"/>
          <p:cNvSpPr/>
          <p:nvPr/>
        </p:nvSpPr>
        <p:spPr>
          <a:xfrm>
            <a:off x="6908800" y="2781300"/>
            <a:ext cx="215900" cy="2413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t>
            </a:r>
            <a:endParaRPr lang="en-US" sz="1200" dirty="0"/>
          </a:p>
        </p:txBody>
      </p:sp>
      <p:sp>
        <p:nvSpPr>
          <p:cNvPr id="37" name="Text 35"/>
          <p:cNvSpPr/>
          <p:nvPr/>
        </p:nvSpPr>
        <p:spPr>
          <a:xfrm>
            <a:off x="1282700" y="8102600"/>
            <a:ext cx="5524500" cy="2032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Learning feeds back; links can break.</a:t>
            </a:r>
            <a:endParaRPr lang="en-US" sz="800" dirty="0"/>
          </a:p>
        </p:txBody>
      </p:sp>
      <p:sp>
        <p:nvSpPr>
          <p:cNvPr id="38" name="Text 36"/>
          <p:cNvSpPr/>
          <p:nvPr/>
        </p:nvSpPr>
        <p:spPr>
          <a:xfrm>
            <a:off x="457200" y="8305800"/>
            <a:ext cx="6642100" cy="4826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BREAK POINTS: unreliable services · weak feedback · imported inputs without local learning · protected failure. External conditions shape every link.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03 / FOLLOW THE PRODUCT</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A product label does not reveal value added</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“Made here”, “exported from here” and “capability retained here” answer different questions.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(2020, Box 2, pp. 44–47); Nasution (2000, pp. 19–20, Table 9); World Bank (1993, pp. 20–26). Journey is a conceptual diagram, not measured product shares or a six-country export series.</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11</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A photograph or gross export total cannot identify domestic value captured, supplier depth, ownership, wages, technological capability or causality.</a:t>
            </a:r>
            <a:endParaRPr lang="en-US" sz="900" dirty="0"/>
          </a:p>
        </p:txBody>
      </p:sp>
      <p:sp>
        <p:nvSpPr>
          <p:cNvPr id="12" name="Shape 10"/>
          <p:cNvSpPr/>
          <p:nvPr/>
        </p:nvSpPr>
        <p:spPr>
          <a:xfrm>
            <a:off x="457200" y="3009900"/>
            <a:ext cx="3975100" cy="0"/>
          </a:xfrm>
          <a:prstGeom prst="line">
            <a:avLst/>
          </a:prstGeom>
          <a:noFill/>
          <a:ln w="7620">
            <a:solidFill>
              <a:srgbClr val="B7B0A4"/>
            </a:solidFill>
            <a:prstDash val="solid"/>
          </a:ln>
        </p:spPr>
      </p:sp>
      <p:sp>
        <p:nvSpPr>
          <p:cNvPr id="13" name="Text 11"/>
          <p:cNvSpPr/>
          <p:nvPr/>
        </p:nvSpPr>
        <p:spPr>
          <a:xfrm>
            <a:off x="457200" y="3162300"/>
            <a:ext cx="381000" cy="3556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1</a:t>
            </a:r>
            <a:endParaRPr lang="en-US" sz="1800" dirty="0"/>
          </a:p>
        </p:txBody>
      </p:sp>
      <p:sp>
        <p:nvSpPr>
          <p:cNvPr id="14" name="Text 12"/>
          <p:cNvSpPr/>
          <p:nvPr/>
        </p:nvSpPr>
        <p:spPr>
          <a:xfrm>
            <a:off x="990600" y="3111500"/>
            <a:ext cx="34290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Imported inputs</a:t>
            </a:r>
            <a:endParaRPr lang="en-US" sz="1200" dirty="0"/>
          </a:p>
        </p:txBody>
      </p:sp>
      <p:sp>
        <p:nvSpPr>
          <p:cNvPr id="15" name="Text 13"/>
          <p:cNvSpPr/>
          <p:nvPr/>
        </p:nvSpPr>
        <p:spPr>
          <a:xfrm>
            <a:off x="990600" y="3441700"/>
            <a:ext cx="3429000" cy="4064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Value may originate abroad.</a:t>
            </a:r>
            <a:endParaRPr lang="en-US" sz="1000" dirty="0"/>
          </a:p>
        </p:txBody>
      </p:sp>
      <p:sp>
        <p:nvSpPr>
          <p:cNvPr id="16" name="Shape 14"/>
          <p:cNvSpPr/>
          <p:nvPr/>
        </p:nvSpPr>
        <p:spPr>
          <a:xfrm>
            <a:off x="457200" y="3848100"/>
            <a:ext cx="3975100" cy="0"/>
          </a:xfrm>
          <a:prstGeom prst="line">
            <a:avLst/>
          </a:prstGeom>
          <a:noFill/>
          <a:ln w="7620">
            <a:solidFill>
              <a:srgbClr val="B7B0A4"/>
            </a:solidFill>
            <a:prstDash val="solid"/>
          </a:ln>
        </p:spPr>
      </p:sp>
      <p:sp>
        <p:nvSpPr>
          <p:cNvPr id="17" name="Text 15"/>
          <p:cNvSpPr/>
          <p:nvPr/>
        </p:nvSpPr>
        <p:spPr>
          <a:xfrm>
            <a:off x="457200" y="4000500"/>
            <a:ext cx="381000" cy="3556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2</a:t>
            </a:r>
            <a:endParaRPr lang="en-US" sz="1800" dirty="0"/>
          </a:p>
        </p:txBody>
      </p:sp>
      <p:sp>
        <p:nvSpPr>
          <p:cNvPr id="18" name="Text 16"/>
          <p:cNvSpPr/>
          <p:nvPr/>
        </p:nvSpPr>
        <p:spPr>
          <a:xfrm>
            <a:off x="990600" y="3949700"/>
            <a:ext cx="34290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Assembly</a:t>
            </a:r>
            <a:endParaRPr lang="en-US" sz="1200" dirty="0"/>
          </a:p>
        </p:txBody>
      </p:sp>
      <p:sp>
        <p:nvSpPr>
          <p:cNvPr id="19" name="Text 17"/>
          <p:cNvSpPr/>
          <p:nvPr/>
        </p:nvSpPr>
        <p:spPr>
          <a:xfrm>
            <a:off x="990600" y="4279900"/>
            <a:ext cx="3429000" cy="4064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Domestic activity, but not the whole product value.</a:t>
            </a:r>
            <a:endParaRPr lang="en-US" sz="1000" dirty="0"/>
          </a:p>
        </p:txBody>
      </p:sp>
      <p:sp>
        <p:nvSpPr>
          <p:cNvPr id="20" name="Shape 18"/>
          <p:cNvSpPr/>
          <p:nvPr/>
        </p:nvSpPr>
        <p:spPr>
          <a:xfrm>
            <a:off x="457200" y="4686300"/>
            <a:ext cx="3975100" cy="0"/>
          </a:xfrm>
          <a:prstGeom prst="line">
            <a:avLst/>
          </a:prstGeom>
          <a:noFill/>
          <a:ln w="7620">
            <a:solidFill>
              <a:srgbClr val="B7B0A4"/>
            </a:solidFill>
            <a:prstDash val="solid"/>
          </a:ln>
        </p:spPr>
      </p:sp>
      <p:sp>
        <p:nvSpPr>
          <p:cNvPr id="21" name="Text 19"/>
          <p:cNvSpPr/>
          <p:nvPr/>
        </p:nvSpPr>
        <p:spPr>
          <a:xfrm>
            <a:off x="457200" y="4838700"/>
            <a:ext cx="381000" cy="3556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3</a:t>
            </a:r>
            <a:endParaRPr lang="en-US" sz="1800" dirty="0"/>
          </a:p>
        </p:txBody>
      </p:sp>
      <p:sp>
        <p:nvSpPr>
          <p:cNvPr id="22" name="Text 20"/>
          <p:cNvSpPr/>
          <p:nvPr/>
        </p:nvSpPr>
        <p:spPr>
          <a:xfrm>
            <a:off x="990600" y="4787900"/>
            <a:ext cx="34290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Logistics and services</a:t>
            </a:r>
            <a:endParaRPr lang="en-US" sz="1200" dirty="0"/>
          </a:p>
        </p:txBody>
      </p:sp>
      <p:sp>
        <p:nvSpPr>
          <p:cNvPr id="23" name="Text 21"/>
          <p:cNvSpPr/>
          <p:nvPr/>
        </p:nvSpPr>
        <p:spPr>
          <a:xfrm>
            <a:off x="990600" y="5118100"/>
            <a:ext cx="3429000" cy="4064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Transport, design and business services also matter.</a:t>
            </a:r>
            <a:endParaRPr lang="en-US" sz="1000" dirty="0"/>
          </a:p>
        </p:txBody>
      </p:sp>
      <p:sp>
        <p:nvSpPr>
          <p:cNvPr id="24" name="Shape 22"/>
          <p:cNvSpPr/>
          <p:nvPr/>
        </p:nvSpPr>
        <p:spPr>
          <a:xfrm>
            <a:off x="457200" y="5524500"/>
            <a:ext cx="3975100" cy="0"/>
          </a:xfrm>
          <a:prstGeom prst="line">
            <a:avLst/>
          </a:prstGeom>
          <a:noFill/>
          <a:ln w="7620">
            <a:solidFill>
              <a:srgbClr val="B7B0A4"/>
            </a:solidFill>
            <a:prstDash val="solid"/>
          </a:ln>
        </p:spPr>
      </p:sp>
      <p:sp>
        <p:nvSpPr>
          <p:cNvPr id="25" name="Text 23"/>
          <p:cNvSpPr/>
          <p:nvPr/>
        </p:nvSpPr>
        <p:spPr>
          <a:xfrm>
            <a:off x="457200" y="5676900"/>
            <a:ext cx="381000" cy="3556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4</a:t>
            </a:r>
            <a:endParaRPr lang="en-US" sz="1800" dirty="0"/>
          </a:p>
        </p:txBody>
      </p:sp>
      <p:sp>
        <p:nvSpPr>
          <p:cNvPr id="26" name="Text 24"/>
          <p:cNvSpPr/>
          <p:nvPr/>
        </p:nvSpPr>
        <p:spPr>
          <a:xfrm>
            <a:off x="990600" y="5626100"/>
            <a:ext cx="34290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Local suppliers</a:t>
            </a:r>
            <a:endParaRPr lang="en-US" sz="1200" dirty="0"/>
          </a:p>
        </p:txBody>
      </p:sp>
      <p:sp>
        <p:nvSpPr>
          <p:cNvPr id="27" name="Text 25"/>
          <p:cNvSpPr/>
          <p:nvPr/>
        </p:nvSpPr>
        <p:spPr>
          <a:xfrm>
            <a:off x="990600" y="5956300"/>
            <a:ext cx="3429000" cy="4064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Domestic linkages can deepen—or remain thin.</a:t>
            </a:r>
            <a:endParaRPr lang="en-US" sz="1000" dirty="0"/>
          </a:p>
        </p:txBody>
      </p:sp>
      <p:sp>
        <p:nvSpPr>
          <p:cNvPr id="28" name="Shape 26"/>
          <p:cNvSpPr/>
          <p:nvPr/>
        </p:nvSpPr>
        <p:spPr>
          <a:xfrm>
            <a:off x="457200" y="6362700"/>
            <a:ext cx="3975100" cy="0"/>
          </a:xfrm>
          <a:prstGeom prst="line">
            <a:avLst/>
          </a:prstGeom>
          <a:noFill/>
          <a:ln w="7620">
            <a:solidFill>
              <a:srgbClr val="B7B0A4"/>
            </a:solidFill>
            <a:prstDash val="solid"/>
          </a:ln>
        </p:spPr>
      </p:sp>
      <p:sp>
        <p:nvSpPr>
          <p:cNvPr id="29" name="Text 27"/>
          <p:cNvSpPr/>
          <p:nvPr/>
        </p:nvSpPr>
        <p:spPr>
          <a:xfrm>
            <a:off x="457200" y="6515100"/>
            <a:ext cx="381000" cy="3556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5</a:t>
            </a:r>
            <a:endParaRPr lang="en-US" sz="1800" dirty="0"/>
          </a:p>
        </p:txBody>
      </p:sp>
      <p:sp>
        <p:nvSpPr>
          <p:cNvPr id="30" name="Text 28"/>
          <p:cNvSpPr/>
          <p:nvPr/>
        </p:nvSpPr>
        <p:spPr>
          <a:xfrm>
            <a:off x="990600" y="6464300"/>
            <a:ext cx="34290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Retained value and learning</a:t>
            </a:r>
            <a:endParaRPr lang="en-US" sz="1200" dirty="0"/>
          </a:p>
        </p:txBody>
      </p:sp>
      <p:sp>
        <p:nvSpPr>
          <p:cNvPr id="31" name="Text 29"/>
          <p:cNvSpPr/>
          <p:nvPr/>
        </p:nvSpPr>
        <p:spPr>
          <a:xfrm>
            <a:off x="990600" y="6794500"/>
            <a:ext cx="3429000" cy="4064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Ask what remains, who receives it and what improves.</a:t>
            </a:r>
            <a:endParaRPr lang="en-US" sz="1000" dirty="0"/>
          </a:p>
        </p:txBody>
      </p:sp>
      <p:pic>
        <p:nvPicPr>
          <p:cNvPr id="32" name="Image 0" descr="/Users/marcusgrude-grodem/Documents/GitHub/USIL/africa-asia-development-magazine/design/canva_editorial_draft/assets/print/malaysia_perai.jpg">    </p:cNvPr>
          <p:cNvPicPr>
            <a:picLocks noChangeAspect="1"/>
          </p:cNvPicPr>
          <p:nvPr/>
        </p:nvPicPr>
        <p:blipFill>
          <a:blip r:embed="rId1"/>
          <a:stretch>
            <a:fillRect/>
          </a:stretch>
        </p:blipFill>
        <p:spPr>
          <a:xfrm>
            <a:off x="4828117" y="3009900"/>
            <a:ext cx="2269067" cy="1701800"/>
          </a:xfrm>
          <a:prstGeom prst="rect">
            <a:avLst/>
          </a:prstGeom>
        </p:spPr>
      </p:pic>
      <p:sp>
        <p:nvSpPr>
          <p:cNvPr id="33" name="Text 30"/>
          <p:cNvSpPr/>
          <p:nvPr/>
        </p:nvSpPr>
        <p:spPr>
          <a:xfrm>
            <a:off x="4826000" y="4813300"/>
            <a:ext cx="2273300" cy="8509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Perai, Malaysia · 2024</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Industrial setting; not evidence of local value captured. HundenvonPenang; CC BY-SA 4.0.</a:t>
            </a:r>
            <a:endParaRPr lang="en-US" sz="800" dirty="0"/>
          </a:p>
        </p:txBody>
      </p:sp>
      <p:pic>
        <p:nvPicPr>
          <p:cNvPr id="34" name="Image 1" descr="/Users/marcusgrude-grodem/Documents/GitHub/USIL/africa-asia-development-magazine/design/canva_editorial_draft/assets/print/philippines_manila.jpg">    </p:cNvPr>
          <p:cNvPicPr>
            <a:picLocks noChangeAspect="1"/>
          </p:cNvPicPr>
          <p:nvPr/>
        </p:nvPicPr>
        <p:blipFill>
          <a:blip r:embed="rId2"/>
          <a:stretch>
            <a:fillRect/>
          </a:stretch>
        </p:blipFill>
        <p:spPr>
          <a:xfrm>
            <a:off x="4826000" y="5753690"/>
            <a:ext cx="2273300" cy="1510121"/>
          </a:xfrm>
          <a:prstGeom prst="rect">
            <a:avLst/>
          </a:prstGeom>
        </p:spPr>
      </p:pic>
      <p:sp>
        <p:nvSpPr>
          <p:cNvPr id="35" name="Text 31"/>
          <p:cNvSpPr/>
          <p:nvPr/>
        </p:nvSpPr>
        <p:spPr>
          <a:xfrm>
            <a:off x="4826000" y="7366000"/>
            <a:ext cx="2273300" cy="7620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Manila, Philippines · 2009</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A port does not reveal cargo origin. Theurbanhistorian; CC BY-SA 3.0.</a:t>
            </a:r>
            <a:endParaRPr lang="en-US" sz="800" dirty="0"/>
          </a:p>
        </p:txBody>
      </p:sp>
      <p:sp>
        <p:nvSpPr>
          <p:cNvPr id="36" name="Text 32"/>
          <p:cNvSpPr/>
          <p:nvPr/>
        </p:nvSpPr>
        <p:spPr>
          <a:xfrm>
            <a:off x="457200" y="7493000"/>
            <a:ext cx="4076700" cy="9271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Manufactured exports ≠</a:t>
            </a:r>
            <a:endParaRPr lang="en-US" sz="1600" dirty="0"/>
          </a:p>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manufacturing value added ≠</a:t>
            </a:r>
            <a:endParaRPr lang="en-US" sz="1600" dirty="0"/>
          </a:p>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domestic technological capability.</a:t>
            </a:r>
            <a:endParaRPr lang="en-US" sz="1600" dirty="0"/>
          </a:p>
        </p:txBody>
      </p:sp>
      <p:sp>
        <p:nvSpPr>
          <p:cNvPr id="37" name="Text 33"/>
          <p:cNvSpPr/>
          <p:nvPr/>
        </p:nvSpPr>
        <p:spPr>
          <a:xfrm>
            <a:off x="457200" y="8458200"/>
            <a:ext cx="6642100" cy="3556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Malaysia and the Philippines show why assembly connections must be examined alongside imported inputs and domestic suppliers.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03 / SOUTH KOREA</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Capability built over time</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South Korea’s sequence combined recovery, coordinated investment, performance pressure and learning. It also contained costly mistakes.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20–26, 127–130, 159–161, 242). Interpretive dispute: Rodrik (1995), investment-coordination argument (registered working-paper abstract, not a page-specific causal estimate).</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12</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 sequence is multi-causal. It does not establish culture as the cause or mean that another country can copy the same national model or international setting.</a:t>
            </a:r>
            <a:endParaRPr lang="en-US" sz="900" dirty="0"/>
          </a:p>
        </p:txBody>
      </p:sp>
      <p:sp>
        <p:nvSpPr>
          <p:cNvPr id="12" name="Shape 10"/>
          <p:cNvSpPr/>
          <p:nvPr/>
        </p:nvSpPr>
        <p:spPr>
          <a:xfrm>
            <a:off x="914400" y="3098800"/>
            <a:ext cx="0" cy="1130300"/>
          </a:xfrm>
          <a:prstGeom prst="line">
            <a:avLst/>
          </a:prstGeom>
          <a:noFill/>
          <a:ln w="20320">
            <a:solidFill>
              <a:srgbClr val="315A78"/>
            </a:solidFill>
            <a:prstDash val="solid"/>
          </a:ln>
        </p:spPr>
      </p:sp>
      <p:sp>
        <p:nvSpPr>
          <p:cNvPr id="13" name="Shape 11"/>
          <p:cNvSpPr/>
          <p:nvPr/>
        </p:nvSpPr>
        <p:spPr>
          <a:xfrm>
            <a:off x="850900" y="3035300"/>
            <a:ext cx="127000" cy="127000"/>
          </a:xfrm>
          <a:prstGeom prst="diamond">
            <a:avLst/>
          </a:prstGeom>
          <a:solidFill>
            <a:srgbClr val="315A78"/>
          </a:solidFill>
          <a:ln w="7620">
            <a:solidFill>
              <a:srgbClr val="252525"/>
            </a:solidFill>
            <a:prstDash val="solid"/>
          </a:ln>
        </p:spPr>
      </p:sp>
      <p:sp>
        <p:nvSpPr>
          <p:cNvPr id="14" name="Text 12"/>
          <p:cNvSpPr/>
          <p:nvPr/>
        </p:nvSpPr>
        <p:spPr>
          <a:xfrm>
            <a:off x="1257300" y="2946400"/>
            <a:ext cx="1778000" cy="3556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1950s</a:t>
            </a:r>
            <a:endParaRPr lang="en-US" sz="2100" dirty="0"/>
          </a:p>
        </p:txBody>
      </p:sp>
      <p:sp>
        <p:nvSpPr>
          <p:cNvPr id="15" name="Text 13"/>
          <p:cNvSpPr/>
          <p:nvPr/>
        </p:nvSpPr>
        <p:spPr>
          <a:xfrm>
            <a:off x="3175000" y="2946400"/>
            <a:ext cx="39243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Recovery and foundations</a:t>
            </a:r>
            <a:endParaRPr lang="en-US" sz="1400" dirty="0"/>
          </a:p>
        </p:txBody>
      </p:sp>
      <p:sp>
        <p:nvSpPr>
          <p:cNvPr id="16" name="Text 14"/>
          <p:cNvSpPr/>
          <p:nvPr/>
        </p:nvSpPr>
        <p:spPr>
          <a:xfrm>
            <a:off x="3175000" y="3390900"/>
            <a:ext cx="3924300" cy="825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Recovery, agricultural change, education and infrastructure shaped the capacity to industrialise.</a:t>
            </a:r>
            <a:endParaRPr lang="en-US" sz="1050" dirty="0"/>
          </a:p>
        </p:txBody>
      </p:sp>
      <p:sp>
        <p:nvSpPr>
          <p:cNvPr id="17" name="Shape 15"/>
          <p:cNvSpPr/>
          <p:nvPr/>
        </p:nvSpPr>
        <p:spPr>
          <a:xfrm>
            <a:off x="914400" y="4419600"/>
            <a:ext cx="0" cy="1130300"/>
          </a:xfrm>
          <a:prstGeom prst="line">
            <a:avLst/>
          </a:prstGeom>
          <a:noFill/>
          <a:ln w="20320">
            <a:solidFill>
              <a:srgbClr val="315A78"/>
            </a:solidFill>
            <a:prstDash val="solid"/>
          </a:ln>
        </p:spPr>
      </p:sp>
      <p:sp>
        <p:nvSpPr>
          <p:cNvPr id="18" name="Shape 16"/>
          <p:cNvSpPr/>
          <p:nvPr/>
        </p:nvSpPr>
        <p:spPr>
          <a:xfrm>
            <a:off x="850900" y="4356100"/>
            <a:ext cx="127000" cy="127000"/>
          </a:xfrm>
          <a:prstGeom prst="diamond">
            <a:avLst/>
          </a:prstGeom>
          <a:solidFill>
            <a:srgbClr val="315A78"/>
          </a:solidFill>
          <a:ln w="7620">
            <a:solidFill>
              <a:srgbClr val="252525"/>
            </a:solidFill>
            <a:prstDash val="solid"/>
          </a:ln>
        </p:spPr>
      </p:sp>
      <p:sp>
        <p:nvSpPr>
          <p:cNvPr id="19" name="Text 17"/>
          <p:cNvSpPr/>
          <p:nvPr/>
        </p:nvSpPr>
        <p:spPr>
          <a:xfrm>
            <a:off x="1257300" y="4267200"/>
            <a:ext cx="1778000" cy="3556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1960s</a:t>
            </a:r>
            <a:endParaRPr lang="en-US" sz="2100" dirty="0"/>
          </a:p>
        </p:txBody>
      </p:sp>
      <p:sp>
        <p:nvSpPr>
          <p:cNvPr id="20" name="Text 18"/>
          <p:cNvSpPr/>
          <p:nvPr/>
        </p:nvSpPr>
        <p:spPr>
          <a:xfrm>
            <a:off x="3175000" y="4267200"/>
            <a:ext cx="39243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Coordination and discipline</a:t>
            </a:r>
            <a:endParaRPr lang="en-US" sz="1400" dirty="0"/>
          </a:p>
        </p:txBody>
      </p:sp>
      <p:sp>
        <p:nvSpPr>
          <p:cNvPr id="21" name="Text 19"/>
          <p:cNvSpPr/>
          <p:nvPr/>
        </p:nvSpPr>
        <p:spPr>
          <a:xfrm>
            <a:off x="3175000" y="4711700"/>
            <a:ext cx="3924300" cy="825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Credit and investment coordination accompanied export incentives and performance pressure.</a:t>
            </a:r>
            <a:endParaRPr lang="en-US" sz="1050" dirty="0"/>
          </a:p>
        </p:txBody>
      </p:sp>
      <p:sp>
        <p:nvSpPr>
          <p:cNvPr id="22" name="Shape 20"/>
          <p:cNvSpPr/>
          <p:nvPr/>
        </p:nvSpPr>
        <p:spPr>
          <a:xfrm>
            <a:off x="914400" y="5740400"/>
            <a:ext cx="0" cy="1130300"/>
          </a:xfrm>
          <a:prstGeom prst="line">
            <a:avLst/>
          </a:prstGeom>
          <a:noFill/>
          <a:ln w="20320">
            <a:solidFill>
              <a:srgbClr val="315A78"/>
            </a:solidFill>
            <a:prstDash val="solid"/>
          </a:ln>
        </p:spPr>
      </p:sp>
      <p:sp>
        <p:nvSpPr>
          <p:cNvPr id="23" name="Shape 21"/>
          <p:cNvSpPr/>
          <p:nvPr/>
        </p:nvSpPr>
        <p:spPr>
          <a:xfrm>
            <a:off x="850900" y="5676900"/>
            <a:ext cx="127000" cy="127000"/>
          </a:xfrm>
          <a:prstGeom prst="diamond">
            <a:avLst/>
          </a:prstGeom>
          <a:solidFill>
            <a:srgbClr val="315A78"/>
          </a:solidFill>
          <a:ln w="7620">
            <a:solidFill>
              <a:srgbClr val="252525"/>
            </a:solidFill>
            <a:prstDash val="solid"/>
          </a:ln>
        </p:spPr>
      </p:sp>
      <p:sp>
        <p:nvSpPr>
          <p:cNvPr id="24" name="Text 22"/>
          <p:cNvSpPr/>
          <p:nvPr/>
        </p:nvSpPr>
        <p:spPr>
          <a:xfrm>
            <a:off x="1257300" y="5588000"/>
            <a:ext cx="1778000" cy="3556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1970s</a:t>
            </a:r>
            <a:endParaRPr lang="en-US" sz="2100" dirty="0"/>
          </a:p>
        </p:txBody>
      </p:sp>
      <p:sp>
        <p:nvSpPr>
          <p:cNvPr id="25" name="Text 23"/>
          <p:cNvSpPr/>
          <p:nvPr/>
        </p:nvSpPr>
        <p:spPr>
          <a:xfrm>
            <a:off x="3175000" y="5588000"/>
            <a:ext cx="39243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Heavy industry—and costs</a:t>
            </a:r>
            <a:endParaRPr lang="en-US" sz="1400" dirty="0"/>
          </a:p>
        </p:txBody>
      </p:sp>
      <p:sp>
        <p:nvSpPr>
          <p:cNvPr id="26" name="Text 24"/>
          <p:cNvSpPr/>
          <p:nvPr/>
        </p:nvSpPr>
        <p:spPr>
          <a:xfrm>
            <a:off x="3175000" y="6032500"/>
            <a:ext cx="3924300" cy="825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Heavy and chemical industry expanded; policy also generated pressures, debt and bottlenecks.</a:t>
            </a:r>
            <a:endParaRPr lang="en-US" sz="1050" dirty="0"/>
          </a:p>
        </p:txBody>
      </p:sp>
      <p:sp>
        <p:nvSpPr>
          <p:cNvPr id="27" name="Shape 25"/>
          <p:cNvSpPr/>
          <p:nvPr/>
        </p:nvSpPr>
        <p:spPr>
          <a:xfrm>
            <a:off x="914400" y="7061200"/>
            <a:ext cx="0" cy="1130300"/>
          </a:xfrm>
          <a:prstGeom prst="line">
            <a:avLst/>
          </a:prstGeom>
          <a:noFill/>
          <a:ln w="20320">
            <a:solidFill>
              <a:srgbClr val="315A78"/>
            </a:solidFill>
            <a:prstDash val="solid"/>
          </a:ln>
        </p:spPr>
      </p:sp>
      <p:sp>
        <p:nvSpPr>
          <p:cNvPr id="28" name="Shape 26"/>
          <p:cNvSpPr/>
          <p:nvPr/>
        </p:nvSpPr>
        <p:spPr>
          <a:xfrm>
            <a:off x="850900" y="6997700"/>
            <a:ext cx="127000" cy="127000"/>
          </a:xfrm>
          <a:prstGeom prst="diamond">
            <a:avLst/>
          </a:prstGeom>
          <a:solidFill>
            <a:srgbClr val="315A78"/>
          </a:solidFill>
          <a:ln w="7620">
            <a:solidFill>
              <a:srgbClr val="252525"/>
            </a:solidFill>
            <a:prstDash val="solid"/>
          </a:ln>
        </p:spPr>
      </p:sp>
      <p:sp>
        <p:nvSpPr>
          <p:cNvPr id="29" name="Text 27"/>
          <p:cNvSpPr/>
          <p:nvPr/>
        </p:nvSpPr>
        <p:spPr>
          <a:xfrm>
            <a:off x="1257300" y="6908800"/>
            <a:ext cx="1778000" cy="3556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1980s</a:t>
            </a:r>
            <a:endParaRPr lang="en-US" sz="2100" dirty="0"/>
          </a:p>
        </p:txBody>
      </p:sp>
      <p:sp>
        <p:nvSpPr>
          <p:cNvPr id="30" name="Text 28"/>
          <p:cNvSpPr/>
          <p:nvPr/>
        </p:nvSpPr>
        <p:spPr>
          <a:xfrm>
            <a:off x="3175000" y="6908800"/>
            <a:ext cx="3924300" cy="3175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Correction and upgrading</a:t>
            </a:r>
            <a:endParaRPr lang="en-US" sz="1400" dirty="0"/>
          </a:p>
        </p:txBody>
      </p:sp>
      <p:sp>
        <p:nvSpPr>
          <p:cNvPr id="31" name="Text 29"/>
          <p:cNvSpPr/>
          <p:nvPr/>
        </p:nvSpPr>
        <p:spPr>
          <a:xfrm>
            <a:off x="3175000" y="7353300"/>
            <a:ext cx="3924300" cy="825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Adjustment and liberalisation accompanied deeper firm learning and technological upgrading.</a:t>
            </a:r>
            <a:endParaRPr lang="en-US" sz="1050" dirty="0"/>
          </a:p>
        </p:txBody>
      </p:sp>
      <p:sp>
        <p:nvSpPr>
          <p:cNvPr id="32" name="Text 30"/>
          <p:cNvSpPr/>
          <p:nvPr/>
        </p:nvSpPr>
        <p:spPr>
          <a:xfrm>
            <a:off x="457200" y="8394700"/>
            <a:ext cx="6642100" cy="469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Durable direction mattered only if institutions could</a:t>
            </a:r>
            <a:endParaRPr lang="en-US" sz="1200" dirty="0"/>
          </a:p>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learn from failure and change what was not working.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03 / THE CENTRAL COMPARISON</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Ghana and South Korea: comparison, not experiment</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GDP per capita · constant 2015 US dollars per person · three observed anchors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(SRC-WDI-001). Frozen release: 13 July 2026; retrieved 6 October 2026. Data and locators: project CSVs; reference p. 26. NY.GDP.PCAP.KD; pair CSV retrieved 4 October 2026. Straight connectors guide the eye only; no annual values are estimated. 2020 is the COVID-19 year.</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13</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A two-country trajectory cannot isolate culture, colonial rule, policy, institutions or any single cause.</a:t>
            </a:r>
            <a:endParaRPr lang="en-US" sz="900" dirty="0"/>
          </a:p>
        </p:txBody>
      </p:sp>
      <p:sp>
        <p:nvSpPr>
          <p:cNvPr id="12" name="Shape 10"/>
          <p:cNvSpPr/>
          <p:nvPr/>
        </p:nvSpPr>
        <p:spPr>
          <a:xfrm>
            <a:off x="1054100" y="7264400"/>
            <a:ext cx="5372100" cy="0"/>
          </a:xfrm>
          <a:prstGeom prst="line">
            <a:avLst/>
          </a:prstGeom>
          <a:noFill/>
          <a:ln w="7620">
            <a:solidFill>
              <a:srgbClr val="B7B0A4"/>
            </a:solidFill>
            <a:prstDash val="solid"/>
          </a:ln>
        </p:spPr>
      </p:sp>
      <p:sp>
        <p:nvSpPr>
          <p:cNvPr id="13" name="Text 11"/>
          <p:cNvSpPr/>
          <p:nvPr/>
        </p:nvSpPr>
        <p:spPr>
          <a:xfrm>
            <a:off x="457200" y="7200900"/>
            <a:ext cx="520700" cy="1905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0</a:t>
            </a:r>
            <a:endParaRPr lang="en-US" sz="800" dirty="0"/>
          </a:p>
        </p:txBody>
      </p:sp>
      <p:sp>
        <p:nvSpPr>
          <p:cNvPr id="14" name="Shape 12"/>
          <p:cNvSpPr/>
          <p:nvPr/>
        </p:nvSpPr>
        <p:spPr>
          <a:xfrm>
            <a:off x="1054100" y="6154057"/>
            <a:ext cx="5372100" cy="0"/>
          </a:xfrm>
          <a:prstGeom prst="line">
            <a:avLst/>
          </a:prstGeom>
          <a:noFill/>
          <a:ln w="7620">
            <a:solidFill>
              <a:srgbClr val="B7B0A4"/>
            </a:solidFill>
            <a:prstDash val="solid"/>
          </a:ln>
        </p:spPr>
      </p:sp>
      <p:sp>
        <p:nvSpPr>
          <p:cNvPr id="15" name="Text 13"/>
          <p:cNvSpPr/>
          <p:nvPr/>
        </p:nvSpPr>
        <p:spPr>
          <a:xfrm>
            <a:off x="457200" y="6090557"/>
            <a:ext cx="520700" cy="1905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10,000</a:t>
            </a:r>
            <a:endParaRPr lang="en-US" sz="800" dirty="0"/>
          </a:p>
        </p:txBody>
      </p:sp>
      <p:sp>
        <p:nvSpPr>
          <p:cNvPr id="16" name="Shape 14"/>
          <p:cNvSpPr/>
          <p:nvPr/>
        </p:nvSpPr>
        <p:spPr>
          <a:xfrm>
            <a:off x="1054100" y="5043714"/>
            <a:ext cx="5372100" cy="0"/>
          </a:xfrm>
          <a:prstGeom prst="line">
            <a:avLst/>
          </a:prstGeom>
          <a:noFill/>
          <a:ln w="7620">
            <a:solidFill>
              <a:srgbClr val="B7B0A4"/>
            </a:solidFill>
            <a:prstDash val="solid"/>
          </a:ln>
        </p:spPr>
      </p:sp>
      <p:sp>
        <p:nvSpPr>
          <p:cNvPr id="17" name="Text 15"/>
          <p:cNvSpPr/>
          <p:nvPr/>
        </p:nvSpPr>
        <p:spPr>
          <a:xfrm>
            <a:off x="457200" y="4980214"/>
            <a:ext cx="520700" cy="1905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20,000</a:t>
            </a:r>
            <a:endParaRPr lang="en-US" sz="800" dirty="0"/>
          </a:p>
        </p:txBody>
      </p:sp>
      <p:sp>
        <p:nvSpPr>
          <p:cNvPr id="18" name="Shape 16"/>
          <p:cNvSpPr/>
          <p:nvPr/>
        </p:nvSpPr>
        <p:spPr>
          <a:xfrm>
            <a:off x="1054100" y="3933371"/>
            <a:ext cx="5372100" cy="0"/>
          </a:xfrm>
          <a:prstGeom prst="line">
            <a:avLst/>
          </a:prstGeom>
          <a:noFill/>
          <a:ln w="7620">
            <a:solidFill>
              <a:srgbClr val="B7B0A4"/>
            </a:solidFill>
            <a:prstDash val="solid"/>
          </a:ln>
        </p:spPr>
      </p:sp>
      <p:sp>
        <p:nvSpPr>
          <p:cNvPr id="19" name="Text 17"/>
          <p:cNvSpPr/>
          <p:nvPr/>
        </p:nvSpPr>
        <p:spPr>
          <a:xfrm>
            <a:off x="457200" y="3869871"/>
            <a:ext cx="520700" cy="1905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30,000</a:t>
            </a:r>
            <a:endParaRPr lang="en-US" sz="800" dirty="0"/>
          </a:p>
        </p:txBody>
      </p:sp>
      <p:sp>
        <p:nvSpPr>
          <p:cNvPr id="20" name="Shape 18"/>
          <p:cNvSpPr/>
          <p:nvPr/>
        </p:nvSpPr>
        <p:spPr>
          <a:xfrm>
            <a:off x="1054100" y="3378200"/>
            <a:ext cx="5372100" cy="0"/>
          </a:xfrm>
          <a:prstGeom prst="line">
            <a:avLst/>
          </a:prstGeom>
          <a:noFill/>
          <a:ln w="7620">
            <a:solidFill>
              <a:srgbClr val="B7B0A4"/>
            </a:solidFill>
            <a:prstDash val="solid"/>
          </a:ln>
        </p:spPr>
      </p:sp>
      <p:sp>
        <p:nvSpPr>
          <p:cNvPr id="21" name="Text 19"/>
          <p:cNvSpPr/>
          <p:nvPr/>
        </p:nvSpPr>
        <p:spPr>
          <a:xfrm>
            <a:off x="457200" y="3314700"/>
            <a:ext cx="520700" cy="1905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35,000</a:t>
            </a:r>
            <a:endParaRPr lang="en-US" sz="800" dirty="0"/>
          </a:p>
        </p:txBody>
      </p:sp>
      <p:sp>
        <p:nvSpPr>
          <p:cNvPr id="22" name="Shape 20"/>
          <p:cNvSpPr/>
          <p:nvPr/>
        </p:nvSpPr>
        <p:spPr>
          <a:xfrm>
            <a:off x="1104900" y="7142178"/>
            <a:ext cx="2628900" cy="27193"/>
          </a:xfrm>
          <a:prstGeom prst="line">
            <a:avLst/>
          </a:prstGeom>
          <a:noFill/>
          <a:ln w="25400">
            <a:solidFill>
              <a:srgbClr val="B95332"/>
            </a:solidFill>
            <a:prstDash val="solid"/>
          </a:ln>
        </p:spPr>
      </p:sp>
      <p:sp>
        <p:nvSpPr>
          <p:cNvPr id="23" name="Shape 21"/>
          <p:cNvSpPr/>
          <p:nvPr/>
        </p:nvSpPr>
        <p:spPr>
          <a:xfrm flipV="1">
            <a:off x="3733800" y="7045641"/>
            <a:ext cx="2628900" cy="123730"/>
          </a:xfrm>
          <a:prstGeom prst="line">
            <a:avLst/>
          </a:prstGeom>
          <a:noFill/>
          <a:ln w="25400">
            <a:solidFill>
              <a:srgbClr val="B95332"/>
            </a:solidFill>
            <a:prstDash val="solid"/>
          </a:ln>
        </p:spPr>
      </p:sp>
      <p:sp>
        <p:nvSpPr>
          <p:cNvPr id="24" name="Shape 22"/>
          <p:cNvSpPr/>
          <p:nvPr/>
        </p:nvSpPr>
        <p:spPr>
          <a:xfrm>
            <a:off x="1054100" y="7091378"/>
            <a:ext cx="101600" cy="101600"/>
          </a:xfrm>
          <a:prstGeom prst="ellipse">
            <a:avLst/>
          </a:prstGeom>
          <a:solidFill>
            <a:srgbClr val="B95332"/>
          </a:solidFill>
          <a:ln w="7620">
            <a:solidFill>
              <a:srgbClr val="252525"/>
            </a:solidFill>
            <a:prstDash val="solid"/>
          </a:ln>
        </p:spPr>
      </p:sp>
      <p:sp>
        <p:nvSpPr>
          <p:cNvPr id="25" name="Shape 23"/>
          <p:cNvSpPr/>
          <p:nvPr/>
        </p:nvSpPr>
        <p:spPr>
          <a:xfrm>
            <a:off x="3683000" y="7118571"/>
            <a:ext cx="101600" cy="101600"/>
          </a:xfrm>
          <a:prstGeom prst="ellipse">
            <a:avLst/>
          </a:prstGeom>
          <a:solidFill>
            <a:srgbClr val="B95332"/>
          </a:solidFill>
          <a:ln w="7620">
            <a:solidFill>
              <a:srgbClr val="252525"/>
            </a:solidFill>
            <a:prstDash val="solid"/>
          </a:ln>
        </p:spPr>
      </p:sp>
      <p:sp>
        <p:nvSpPr>
          <p:cNvPr id="26" name="Shape 24"/>
          <p:cNvSpPr/>
          <p:nvPr/>
        </p:nvSpPr>
        <p:spPr>
          <a:xfrm>
            <a:off x="6311900" y="6994841"/>
            <a:ext cx="101600" cy="101600"/>
          </a:xfrm>
          <a:prstGeom prst="ellipse">
            <a:avLst/>
          </a:prstGeom>
          <a:solidFill>
            <a:srgbClr val="B95332"/>
          </a:solidFill>
          <a:ln w="7620">
            <a:solidFill>
              <a:srgbClr val="252525"/>
            </a:solidFill>
            <a:prstDash val="solid"/>
          </a:ln>
        </p:spPr>
      </p:sp>
      <p:sp>
        <p:nvSpPr>
          <p:cNvPr id="27" name="Shape 25"/>
          <p:cNvSpPr/>
          <p:nvPr/>
        </p:nvSpPr>
        <p:spPr>
          <a:xfrm flipV="1">
            <a:off x="1104900" y="6190412"/>
            <a:ext cx="2628900" cy="958764"/>
          </a:xfrm>
          <a:prstGeom prst="line">
            <a:avLst/>
          </a:prstGeom>
          <a:noFill/>
          <a:ln w="25400">
            <a:solidFill>
              <a:srgbClr val="315A78"/>
            </a:solidFill>
            <a:prstDash val="dash"/>
          </a:ln>
        </p:spPr>
      </p:sp>
      <p:sp>
        <p:nvSpPr>
          <p:cNvPr id="28" name="Shape 26"/>
          <p:cNvSpPr/>
          <p:nvPr/>
        </p:nvSpPr>
        <p:spPr>
          <a:xfrm flipV="1">
            <a:off x="3733800" y="3576293"/>
            <a:ext cx="2628900" cy="2614119"/>
          </a:xfrm>
          <a:prstGeom prst="line">
            <a:avLst/>
          </a:prstGeom>
          <a:noFill/>
          <a:ln w="25400">
            <a:solidFill>
              <a:srgbClr val="315A78"/>
            </a:solidFill>
            <a:prstDash val="dash"/>
          </a:ln>
        </p:spPr>
      </p:sp>
      <p:sp>
        <p:nvSpPr>
          <p:cNvPr id="29" name="Shape 27"/>
          <p:cNvSpPr/>
          <p:nvPr/>
        </p:nvSpPr>
        <p:spPr>
          <a:xfrm>
            <a:off x="1054100" y="7098377"/>
            <a:ext cx="101600" cy="101600"/>
          </a:xfrm>
          <a:prstGeom prst="diamond">
            <a:avLst/>
          </a:prstGeom>
          <a:solidFill>
            <a:srgbClr val="315A78"/>
          </a:solidFill>
          <a:ln w="7620">
            <a:solidFill>
              <a:srgbClr val="252525"/>
            </a:solidFill>
            <a:prstDash val="solid"/>
          </a:ln>
        </p:spPr>
      </p:sp>
      <p:sp>
        <p:nvSpPr>
          <p:cNvPr id="30" name="Shape 28"/>
          <p:cNvSpPr/>
          <p:nvPr/>
        </p:nvSpPr>
        <p:spPr>
          <a:xfrm>
            <a:off x="3683000" y="6139612"/>
            <a:ext cx="101600" cy="101600"/>
          </a:xfrm>
          <a:prstGeom prst="diamond">
            <a:avLst/>
          </a:prstGeom>
          <a:solidFill>
            <a:srgbClr val="315A78"/>
          </a:solidFill>
          <a:ln w="7620">
            <a:solidFill>
              <a:srgbClr val="252525"/>
            </a:solidFill>
            <a:prstDash val="solid"/>
          </a:ln>
        </p:spPr>
      </p:sp>
      <p:sp>
        <p:nvSpPr>
          <p:cNvPr id="31" name="Shape 29"/>
          <p:cNvSpPr/>
          <p:nvPr/>
        </p:nvSpPr>
        <p:spPr>
          <a:xfrm>
            <a:off x="6311900" y="3525493"/>
            <a:ext cx="101600" cy="101600"/>
          </a:xfrm>
          <a:prstGeom prst="diamond">
            <a:avLst/>
          </a:prstGeom>
          <a:solidFill>
            <a:srgbClr val="315A78"/>
          </a:solidFill>
          <a:ln w="7620">
            <a:solidFill>
              <a:srgbClr val="252525"/>
            </a:solidFill>
            <a:prstDash val="solid"/>
          </a:ln>
        </p:spPr>
      </p:sp>
      <p:sp>
        <p:nvSpPr>
          <p:cNvPr id="32" name="Text 30"/>
          <p:cNvSpPr/>
          <p:nvPr/>
        </p:nvSpPr>
        <p:spPr>
          <a:xfrm>
            <a:off x="800100" y="7467600"/>
            <a:ext cx="609600" cy="2667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1960</a:t>
            </a:r>
            <a:endParaRPr lang="en-US" sz="1000" dirty="0"/>
          </a:p>
        </p:txBody>
      </p:sp>
      <p:sp>
        <p:nvSpPr>
          <p:cNvPr id="33" name="Text 31"/>
          <p:cNvSpPr/>
          <p:nvPr/>
        </p:nvSpPr>
        <p:spPr>
          <a:xfrm>
            <a:off x="3429000" y="7467600"/>
            <a:ext cx="609600" cy="2667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1990</a:t>
            </a:r>
            <a:endParaRPr lang="en-US" sz="1000" dirty="0"/>
          </a:p>
        </p:txBody>
      </p:sp>
      <p:sp>
        <p:nvSpPr>
          <p:cNvPr id="34" name="Text 32"/>
          <p:cNvSpPr/>
          <p:nvPr/>
        </p:nvSpPr>
        <p:spPr>
          <a:xfrm>
            <a:off x="6057900" y="7467600"/>
            <a:ext cx="609600" cy="2667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2020</a:t>
            </a:r>
            <a:endParaRPr lang="en-US" sz="1000" dirty="0"/>
          </a:p>
        </p:txBody>
      </p:sp>
      <p:sp>
        <p:nvSpPr>
          <p:cNvPr id="35" name="Text 33"/>
          <p:cNvSpPr/>
          <p:nvPr/>
        </p:nvSpPr>
        <p:spPr>
          <a:xfrm>
            <a:off x="1104900" y="6159500"/>
            <a:ext cx="1485900" cy="5715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Ghana</a:t>
            </a:r>
            <a:endParaRPr lang="en-US" sz="1000" dirty="0"/>
          </a:p>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US$1,101</a:t>
            </a:r>
            <a:endParaRPr lang="en-US" sz="1000" dirty="0"/>
          </a:p>
        </p:txBody>
      </p:sp>
      <p:sp>
        <p:nvSpPr>
          <p:cNvPr id="36" name="Text 34"/>
          <p:cNvSpPr/>
          <p:nvPr/>
        </p:nvSpPr>
        <p:spPr>
          <a:xfrm>
            <a:off x="1104900" y="7797800"/>
            <a:ext cx="1828800" cy="5461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South Korea</a:t>
            </a:r>
            <a:endParaRPr lang="en-US" sz="1000" dirty="0"/>
          </a:p>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US$1,038</a:t>
            </a:r>
            <a:endParaRPr lang="en-US" sz="1000" dirty="0"/>
          </a:p>
        </p:txBody>
      </p:sp>
      <p:sp>
        <p:nvSpPr>
          <p:cNvPr id="37" name="Text 35"/>
          <p:cNvSpPr/>
          <p:nvPr/>
        </p:nvSpPr>
        <p:spPr>
          <a:xfrm>
            <a:off x="3581400" y="5758565"/>
            <a:ext cx="1676400" cy="3048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US$9,673</a:t>
            </a:r>
            <a:endParaRPr lang="en-US" sz="1100" dirty="0"/>
          </a:p>
        </p:txBody>
      </p:sp>
      <p:sp>
        <p:nvSpPr>
          <p:cNvPr id="38" name="Text 36"/>
          <p:cNvSpPr/>
          <p:nvPr/>
        </p:nvSpPr>
        <p:spPr>
          <a:xfrm>
            <a:off x="3340100" y="6788355"/>
            <a:ext cx="1371600" cy="2794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US$856</a:t>
            </a:r>
            <a:endParaRPr lang="en-US" sz="1000" dirty="0"/>
          </a:p>
        </p:txBody>
      </p:sp>
      <p:sp>
        <p:nvSpPr>
          <p:cNvPr id="39" name="Text 37"/>
          <p:cNvSpPr/>
          <p:nvPr/>
        </p:nvSpPr>
        <p:spPr>
          <a:xfrm>
            <a:off x="4762500" y="2857500"/>
            <a:ext cx="2324100" cy="5207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US$33,216</a:t>
            </a:r>
            <a:endParaRPr lang="en-US" sz="1200" dirty="0"/>
          </a:p>
        </p:txBody>
      </p:sp>
      <p:sp>
        <p:nvSpPr>
          <p:cNvPr id="40" name="Text 38"/>
          <p:cNvSpPr/>
          <p:nvPr/>
        </p:nvSpPr>
        <p:spPr>
          <a:xfrm>
            <a:off x="5257800" y="6502400"/>
            <a:ext cx="1816100" cy="5461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Ghana</a:t>
            </a:r>
            <a:endParaRPr lang="en-US" sz="1100" dirty="0"/>
          </a:p>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US$1,970</a:t>
            </a:r>
            <a:endParaRPr lang="en-US" sz="1100" dirty="0"/>
          </a:p>
        </p:txBody>
      </p:sp>
      <p:sp>
        <p:nvSpPr>
          <p:cNvPr id="41" name="Text 39"/>
          <p:cNvSpPr/>
          <p:nvPr/>
        </p:nvSpPr>
        <p:spPr>
          <a:xfrm>
            <a:off x="3733800" y="7861300"/>
            <a:ext cx="3365500" cy="5842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pitchFamily="34" charset="0"/>
                <a:ea typeface="Montserrat" pitchFamily="34" charset="-122"/>
                <a:cs typeface="Montserrat" pitchFamily="34" charset="-120"/>
              </a:rPr>
              <a:t>16.9 : 1</a:t>
            </a:r>
            <a:endParaRPr lang="en-US" sz="3200" dirty="0"/>
          </a:p>
        </p:txBody>
      </p:sp>
      <p:sp>
        <p:nvSpPr>
          <p:cNvPr id="42" name="Text 40"/>
          <p:cNvSpPr/>
          <p:nvPr/>
        </p:nvSpPr>
        <p:spPr>
          <a:xfrm>
            <a:off x="3733800" y="8458200"/>
            <a:ext cx="3365500" cy="292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Approximate 2020 ratio—not a causal estimate.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04 / CULTURE UNDER EXAMINATION</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Six dimensions, one warning label</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National averages are historical, country-level lenses—not individual personalities, timeless truths or causal scores.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and 9–16); McSweeney (2002, pp. 93–107). Definitions paraphrased, not reproduced. No country scores invented; missing country rows are not replaced with regional averages.</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14</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Country-level averages cannot describe every individual. Associations between national indices and income do not establish cultural causation.</a:t>
            </a:r>
            <a:endParaRPr lang="en-US" sz="900" dirty="0"/>
          </a:p>
        </p:txBody>
      </p:sp>
      <p:sp>
        <p:nvSpPr>
          <p:cNvPr id="12" name="Shape 10"/>
          <p:cNvSpPr/>
          <p:nvPr/>
        </p:nvSpPr>
        <p:spPr>
          <a:xfrm>
            <a:off x="457200" y="3022600"/>
            <a:ext cx="6642100" cy="0"/>
          </a:xfrm>
          <a:prstGeom prst="line">
            <a:avLst/>
          </a:prstGeom>
          <a:noFill/>
          <a:ln w="7620">
            <a:solidFill>
              <a:srgbClr val="B7B0A4"/>
            </a:solidFill>
            <a:prstDash val="solid"/>
          </a:ln>
        </p:spPr>
      </p:sp>
      <p:sp>
        <p:nvSpPr>
          <p:cNvPr id="13" name="Text 11"/>
          <p:cNvSpPr/>
          <p:nvPr/>
        </p:nvSpPr>
        <p:spPr>
          <a:xfrm>
            <a:off x="457200" y="3175000"/>
            <a:ext cx="444500" cy="317500"/>
          </a:xfrm>
          <a:prstGeom prst="rect">
            <a:avLst/>
          </a:prstGeom>
          <a:noFill/>
          <a:ln/>
        </p:spPr>
        <p:txBody>
          <a:bodyPr wrap="square" lIns="0" tIns="0" rIns="0" bIns="0" rtlCol="0" anchor="t"/>
          <a:lstStyle/>
          <a:p>
            <a:pPr indent="0" marL="0">
              <a:lnSpc>
                <a:spcPct val="112000"/>
              </a:lnSpc>
              <a:buNone/>
            </a:pPr>
            <a:r>
              <a:rPr lang="en-US" sz="1400" b="1" dirty="0">
                <a:solidFill>
                  <a:srgbClr val="514E48"/>
                </a:solidFill>
                <a:latin typeface="Montserrat" pitchFamily="34" charset="0"/>
                <a:ea typeface="Montserrat" pitchFamily="34" charset="-122"/>
                <a:cs typeface="Montserrat" pitchFamily="34" charset="-120"/>
              </a:rPr>
              <a:t>01</a:t>
            </a:r>
            <a:endParaRPr lang="en-US" sz="1400" dirty="0"/>
          </a:p>
        </p:txBody>
      </p:sp>
      <p:sp>
        <p:nvSpPr>
          <p:cNvPr id="14" name="Text 12"/>
          <p:cNvSpPr/>
          <p:nvPr/>
        </p:nvSpPr>
        <p:spPr>
          <a:xfrm>
            <a:off x="1155700" y="3149600"/>
            <a:ext cx="2730500" cy="6731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Power distance</a:t>
            </a:r>
            <a:endParaRPr lang="en-US" sz="1300" dirty="0"/>
          </a:p>
        </p:txBody>
      </p:sp>
      <p:sp>
        <p:nvSpPr>
          <p:cNvPr id="15" name="Text 13"/>
          <p:cNvSpPr/>
          <p:nvPr/>
        </p:nvSpPr>
        <p:spPr>
          <a:xfrm>
            <a:off x="4076700" y="3149600"/>
            <a:ext cx="3022600" cy="7366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Acceptance of unequal power. Tested only as a conditional mechanism.</a:t>
            </a:r>
            <a:endParaRPr lang="en-US" sz="1000" dirty="0"/>
          </a:p>
        </p:txBody>
      </p:sp>
      <p:sp>
        <p:nvSpPr>
          <p:cNvPr id="16" name="Shape 14"/>
          <p:cNvSpPr/>
          <p:nvPr/>
        </p:nvSpPr>
        <p:spPr>
          <a:xfrm>
            <a:off x="457200" y="3937000"/>
            <a:ext cx="6642100" cy="0"/>
          </a:xfrm>
          <a:prstGeom prst="line">
            <a:avLst/>
          </a:prstGeom>
          <a:noFill/>
          <a:ln w="7620">
            <a:solidFill>
              <a:srgbClr val="B7B0A4"/>
            </a:solidFill>
            <a:prstDash val="solid"/>
          </a:ln>
        </p:spPr>
      </p:sp>
      <p:sp>
        <p:nvSpPr>
          <p:cNvPr id="17" name="Text 15"/>
          <p:cNvSpPr/>
          <p:nvPr/>
        </p:nvSpPr>
        <p:spPr>
          <a:xfrm>
            <a:off x="457200" y="4089400"/>
            <a:ext cx="444500" cy="317500"/>
          </a:xfrm>
          <a:prstGeom prst="rect">
            <a:avLst/>
          </a:prstGeom>
          <a:noFill/>
          <a:ln/>
        </p:spPr>
        <p:txBody>
          <a:bodyPr wrap="square" lIns="0" tIns="0" rIns="0" bIns="0" rtlCol="0" anchor="t"/>
          <a:lstStyle/>
          <a:p>
            <a:pPr indent="0" marL="0">
              <a:lnSpc>
                <a:spcPct val="112000"/>
              </a:lnSpc>
              <a:buNone/>
            </a:pPr>
            <a:r>
              <a:rPr lang="en-US" sz="1400" b="1" dirty="0">
                <a:solidFill>
                  <a:srgbClr val="514E48"/>
                </a:solidFill>
                <a:latin typeface="Montserrat" pitchFamily="34" charset="0"/>
                <a:ea typeface="Montserrat" pitchFamily="34" charset="-122"/>
                <a:cs typeface="Montserrat" pitchFamily="34" charset="-120"/>
              </a:rPr>
              <a:t>02</a:t>
            </a:r>
            <a:endParaRPr lang="en-US" sz="1400" dirty="0"/>
          </a:p>
        </p:txBody>
      </p:sp>
      <p:sp>
        <p:nvSpPr>
          <p:cNvPr id="18" name="Text 16"/>
          <p:cNvSpPr/>
          <p:nvPr/>
        </p:nvSpPr>
        <p:spPr>
          <a:xfrm>
            <a:off x="1155700" y="4064000"/>
            <a:ext cx="2730500" cy="6731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Individualism / collectivism</a:t>
            </a:r>
            <a:endParaRPr lang="en-US" sz="1300" dirty="0"/>
          </a:p>
        </p:txBody>
      </p:sp>
      <p:sp>
        <p:nvSpPr>
          <p:cNvPr id="19" name="Text 17"/>
          <p:cNvSpPr/>
          <p:nvPr/>
        </p:nvSpPr>
        <p:spPr>
          <a:xfrm>
            <a:off x="4076700" y="4064000"/>
            <a:ext cx="3022600" cy="7366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Integration into groups and obligations to them. Not a trust score. Conditional lens.</a:t>
            </a:r>
            <a:endParaRPr lang="en-US" sz="1000" dirty="0"/>
          </a:p>
        </p:txBody>
      </p:sp>
      <p:sp>
        <p:nvSpPr>
          <p:cNvPr id="20" name="Shape 18"/>
          <p:cNvSpPr/>
          <p:nvPr/>
        </p:nvSpPr>
        <p:spPr>
          <a:xfrm>
            <a:off x="457200" y="4851400"/>
            <a:ext cx="6642100" cy="0"/>
          </a:xfrm>
          <a:prstGeom prst="line">
            <a:avLst/>
          </a:prstGeom>
          <a:noFill/>
          <a:ln w="7620">
            <a:solidFill>
              <a:srgbClr val="B7B0A4"/>
            </a:solidFill>
            <a:prstDash val="solid"/>
          </a:ln>
        </p:spPr>
      </p:sp>
      <p:sp>
        <p:nvSpPr>
          <p:cNvPr id="21" name="Text 19"/>
          <p:cNvSpPr/>
          <p:nvPr/>
        </p:nvSpPr>
        <p:spPr>
          <a:xfrm>
            <a:off x="457200" y="5003800"/>
            <a:ext cx="444500" cy="317500"/>
          </a:xfrm>
          <a:prstGeom prst="rect">
            <a:avLst/>
          </a:prstGeom>
          <a:noFill/>
          <a:ln/>
        </p:spPr>
        <p:txBody>
          <a:bodyPr wrap="square" lIns="0" tIns="0" rIns="0" bIns="0" rtlCol="0" anchor="t"/>
          <a:lstStyle/>
          <a:p>
            <a:pPr indent="0" marL="0">
              <a:lnSpc>
                <a:spcPct val="112000"/>
              </a:lnSpc>
              <a:buNone/>
            </a:pPr>
            <a:r>
              <a:rPr lang="en-US" sz="1400" b="1" dirty="0">
                <a:solidFill>
                  <a:srgbClr val="514E48"/>
                </a:solidFill>
                <a:latin typeface="Montserrat" pitchFamily="34" charset="0"/>
                <a:ea typeface="Montserrat" pitchFamily="34" charset="-122"/>
                <a:cs typeface="Montserrat" pitchFamily="34" charset="-120"/>
              </a:rPr>
              <a:t>03</a:t>
            </a:r>
            <a:endParaRPr lang="en-US" sz="1400" dirty="0"/>
          </a:p>
        </p:txBody>
      </p:sp>
      <p:sp>
        <p:nvSpPr>
          <p:cNvPr id="22" name="Text 20"/>
          <p:cNvSpPr/>
          <p:nvPr/>
        </p:nvSpPr>
        <p:spPr>
          <a:xfrm>
            <a:off x="1155700" y="4978400"/>
            <a:ext cx="2730500" cy="6731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Masculinity / femininity</a:t>
            </a:r>
            <a:endParaRPr lang="en-US" sz="1300" dirty="0"/>
          </a:p>
        </p:txBody>
      </p:sp>
      <p:sp>
        <p:nvSpPr>
          <p:cNvPr id="23" name="Text 21"/>
          <p:cNvSpPr/>
          <p:nvPr/>
        </p:nvSpPr>
        <p:spPr>
          <a:xfrm>
            <a:off x="4076700" y="4978400"/>
            <a:ext cx="3022600" cy="7366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Achievement and competition versus care and quality of life; historically gendered labels. Context only.</a:t>
            </a:r>
            <a:endParaRPr lang="en-US" sz="1000" dirty="0"/>
          </a:p>
        </p:txBody>
      </p:sp>
      <p:sp>
        <p:nvSpPr>
          <p:cNvPr id="24" name="Shape 22"/>
          <p:cNvSpPr/>
          <p:nvPr/>
        </p:nvSpPr>
        <p:spPr>
          <a:xfrm>
            <a:off x="457200" y="5765800"/>
            <a:ext cx="6642100" cy="0"/>
          </a:xfrm>
          <a:prstGeom prst="line">
            <a:avLst/>
          </a:prstGeom>
          <a:noFill/>
          <a:ln w="7620">
            <a:solidFill>
              <a:srgbClr val="B7B0A4"/>
            </a:solidFill>
            <a:prstDash val="solid"/>
          </a:ln>
        </p:spPr>
      </p:sp>
      <p:sp>
        <p:nvSpPr>
          <p:cNvPr id="25" name="Text 23"/>
          <p:cNvSpPr/>
          <p:nvPr/>
        </p:nvSpPr>
        <p:spPr>
          <a:xfrm>
            <a:off x="457200" y="5918200"/>
            <a:ext cx="444500" cy="317500"/>
          </a:xfrm>
          <a:prstGeom prst="rect">
            <a:avLst/>
          </a:prstGeom>
          <a:noFill/>
          <a:ln/>
        </p:spPr>
        <p:txBody>
          <a:bodyPr wrap="square" lIns="0" tIns="0" rIns="0" bIns="0" rtlCol="0" anchor="t"/>
          <a:lstStyle/>
          <a:p>
            <a:pPr indent="0" marL="0">
              <a:lnSpc>
                <a:spcPct val="112000"/>
              </a:lnSpc>
              <a:buNone/>
            </a:pPr>
            <a:r>
              <a:rPr lang="en-US" sz="1400" b="1" dirty="0">
                <a:solidFill>
                  <a:srgbClr val="514E48"/>
                </a:solidFill>
                <a:latin typeface="Montserrat" pitchFamily="34" charset="0"/>
                <a:ea typeface="Montserrat" pitchFamily="34" charset="-122"/>
                <a:cs typeface="Montserrat" pitchFamily="34" charset="-120"/>
              </a:rPr>
              <a:t>04</a:t>
            </a:r>
            <a:endParaRPr lang="en-US" sz="1400" dirty="0"/>
          </a:p>
        </p:txBody>
      </p:sp>
      <p:sp>
        <p:nvSpPr>
          <p:cNvPr id="26" name="Text 24"/>
          <p:cNvSpPr/>
          <p:nvPr/>
        </p:nvSpPr>
        <p:spPr>
          <a:xfrm>
            <a:off x="1155700" y="5892800"/>
            <a:ext cx="2730500" cy="6731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Uncertainty avoidance</a:t>
            </a:r>
            <a:endParaRPr lang="en-US" sz="1300" dirty="0"/>
          </a:p>
        </p:txBody>
      </p:sp>
      <p:sp>
        <p:nvSpPr>
          <p:cNvPr id="27" name="Text 25"/>
          <p:cNvSpPr/>
          <p:nvPr/>
        </p:nvSpPr>
        <p:spPr>
          <a:xfrm>
            <a:off x="4076700" y="5892800"/>
            <a:ext cx="3022600" cy="7366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Responses to ambiguity and uncertainty—not simply willingness to take risks. Context only.</a:t>
            </a:r>
            <a:endParaRPr lang="en-US" sz="1000" dirty="0"/>
          </a:p>
        </p:txBody>
      </p:sp>
      <p:sp>
        <p:nvSpPr>
          <p:cNvPr id="28" name="Shape 26"/>
          <p:cNvSpPr/>
          <p:nvPr/>
        </p:nvSpPr>
        <p:spPr>
          <a:xfrm>
            <a:off x="457200" y="6680200"/>
            <a:ext cx="6642100" cy="0"/>
          </a:xfrm>
          <a:prstGeom prst="line">
            <a:avLst/>
          </a:prstGeom>
          <a:noFill/>
          <a:ln w="7620">
            <a:solidFill>
              <a:srgbClr val="B7B0A4"/>
            </a:solidFill>
            <a:prstDash val="solid"/>
          </a:ln>
        </p:spPr>
      </p:sp>
      <p:sp>
        <p:nvSpPr>
          <p:cNvPr id="29" name="Text 27"/>
          <p:cNvSpPr/>
          <p:nvPr/>
        </p:nvSpPr>
        <p:spPr>
          <a:xfrm>
            <a:off x="457200" y="6832600"/>
            <a:ext cx="444500" cy="317500"/>
          </a:xfrm>
          <a:prstGeom prst="rect">
            <a:avLst/>
          </a:prstGeom>
          <a:noFill/>
          <a:ln/>
        </p:spPr>
        <p:txBody>
          <a:bodyPr wrap="square" lIns="0" tIns="0" rIns="0" bIns="0" rtlCol="0" anchor="t"/>
          <a:lstStyle/>
          <a:p>
            <a:pPr indent="0" marL="0">
              <a:lnSpc>
                <a:spcPct val="112000"/>
              </a:lnSpc>
              <a:buNone/>
            </a:pPr>
            <a:r>
              <a:rPr lang="en-US" sz="1400" b="1" dirty="0">
                <a:solidFill>
                  <a:srgbClr val="514E48"/>
                </a:solidFill>
                <a:latin typeface="Montserrat" pitchFamily="34" charset="0"/>
                <a:ea typeface="Montserrat" pitchFamily="34" charset="-122"/>
                <a:cs typeface="Montserrat" pitchFamily="34" charset="-120"/>
              </a:rPr>
              <a:t>05</a:t>
            </a:r>
            <a:endParaRPr lang="en-US" sz="1400" dirty="0"/>
          </a:p>
        </p:txBody>
      </p:sp>
      <p:sp>
        <p:nvSpPr>
          <p:cNvPr id="30" name="Text 28"/>
          <p:cNvSpPr/>
          <p:nvPr/>
        </p:nvSpPr>
        <p:spPr>
          <a:xfrm>
            <a:off x="1155700" y="6807200"/>
            <a:ext cx="2730500" cy="6731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Long-term orientation</a:t>
            </a:r>
            <a:endParaRPr lang="en-US" sz="1300" dirty="0"/>
          </a:p>
        </p:txBody>
      </p:sp>
      <p:sp>
        <p:nvSpPr>
          <p:cNvPr id="31" name="Text 29"/>
          <p:cNvSpPr/>
          <p:nvPr/>
        </p:nvSpPr>
        <p:spPr>
          <a:xfrm>
            <a:off x="4076700" y="6807200"/>
            <a:ext cx="3022600" cy="7366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Future-oriented adaptation and perseverance versus present/past obligations. Not policy duration. Conditional lens.</a:t>
            </a:r>
            <a:endParaRPr lang="en-US" sz="1000" dirty="0"/>
          </a:p>
        </p:txBody>
      </p:sp>
      <p:sp>
        <p:nvSpPr>
          <p:cNvPr id="32" name="Shape 30"/>
          <p:cNvSpPr/>
          <p:nvPr/>
        </p:nvSpPr>
        <p:spPr>
          <a:xfrm>
            <a:off x="457200" y="7594600"/>
            <a:ext cx="6642100" cy="0"/>
          </a:xfrm>
          <a:prstGeom prst="line">
            <a:avLst/>
          </a:prstGeom>
          <a:noFill/>
          <a:ln w="7620">
            <a:solidFill>
              <a:srgbClr val="B7B0A4"/>
            </a:solidFill>
            <a:prstDash val="solid"/>
          </a:ln>
        </p:spPr>
      </p:sp>
      <p:sp>
        <p:nvSpPr>
          <p:cNvPr id="33" name="Text 31"/>
          <p:cNvSpPr/>
          <p:nvPr/>
        </p:nvSpPr>
        <p:spPr>
          <a:xfrm>
            <a:off x="457200" y="7747000"/>
            <a:ext cx="444500" cy="317500"/>
          </a:xfrm>
          <a:prstGeom prst="rect">
            <a:avLst/>
          </a:prstGeom>
          <a:noFill/>
          <a:ln/>
        </p:spPr>
        <p:txBody>
          <a:bodyPr wrap="square" lIns="0" tIns="0" rIns="0" bIns="0" rtlCol="0" anchor="t"/>
          <a:lstStyle/>
          <a:p>
            <a:pPr indent="0" marL="0">
              <a:lnSpc>
                <a:spcPct val="112000"/>
              </a:lnSpc>
              <a:buNone/>
            </a:pPr>
            <a:r>
              <a:rPr lang="en-US" sz="1400" b="1" dirty="0">
                <a:solidFill>
                  <a:srgbClr val="514E48"/>
                </a:solidFill>
                <a:latin typeface="Montserrat" pitchFamily="34" charset="0"/>
                <a:ea typeface="Montserrat" pitchFamily="34" charset="-122"/>
                <a:cs typeface="Montserrat" pitchFamily="34" charset="-120"/>
              </a:rPr>
              <a:t>06</a:t>
            </a:r>
            <a:endParaRPr lang="en-US" sz="1400" dirty="0"/>
          </a:p>
        </p:txBody>
      </p:sp>
      <p:sp>
        <p:nvSpPr>
          <p:cNvPr id="34" name="Text 32"/>
          <p:cNvSpPr/>
          <p:nvPr/>
        </p:nvSpPr>
        <p:spPr>
          <a:xfrm>
            <a:off x="1155700" y="7721600"/>
            <a:ext cx="2730500" cy="6731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Indulgence / restraint</a:t>
            </a:r>
            <a:endParaRPr lang="en-US" sz="1300" dirty="0"/>
          </a:p>
        </p:txBody>
      </p:sp>
      <p:sp>
        <p:nvSpPr>
          <p:cNvPr id="35" name="Text 33"/>
          <p:cNvSpPr/>
          <p:nvPr/>
        </p:nvSpPr>
        <p:spPr>
          <a:xfrm>
            <a:off x="4076700" y="7721600"/>
            <a:ext cx="3022600" cy="7366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Social regulation of gratification. Not a measure of work ethic. Context only.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04 / MEASURE BEFORE COMPARING</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How far can trust travel?</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The target matters. A response about a bank, a neighbour or “most people” is not the same observation.</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Organisation for Economic Co-operation and Development [OECD] (2017, pp. 41–44, 62–79); World Bank (2026), WGI methodological distinction; approved trust evidence pack and Radius of Trust matrix.</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15</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There is no approved common six-country trust scale here. Contemporary responses cannot be back-cast to 1960 or used alone to explain national growth.</a:t>
            </a:r>
            <a:endParaRPr lang="en-US" sz="900" dirty="0"/>
          </a:p>
        </p:txBody>
      </p:sp>
      <p:sp>
        <p:nvSpPr>
          <p:cNvPr id="12" name="Shape 10"/>
          <p:cNvSpPr/>
          <p:nvPr/>
        </p:nvSpPr>
        <p:spPr>
          <a:xfrm>
            <a:off x="457200" y="2984500"/>
            <a:ext cx="6642100" cy="0"/>
          </a:xfrm>
          <a:prstGeom prst="line">
            <a:avLst/>
          </a:prstGeom>
          <a:noFill/>
          <a:ln w="10160">
            <a:solidFill>
              <a:srgbClr val="252525"/>
            </a:solidFill>
            <a:prstDash val="solid"/>
          </a:ln>
        </p:spPr>
      </p:sp>
      <p:sp>
        <p:nvSpPr>
          <p:cNvPr id="13" name="Text 11"/>
          <p:cNvSpPr/>
          <p:nvPr/>
        </p:nvSpPr>
        <p:spPr>
          <a:xfrm>
            <a:off x="457200" y="3136900"/>
            <a:ext cx="1778000" cy="825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Personal / generalized</a:t>
            </a:r>
            <a:endParaRPr lang="en-US" sz="1100" dirty="0"/>
          </a:p>
        </p:txBody>
      </p:sp>
      <p:sp>
        <p:nvSpPr>
          <p:cNvPr id="14" name="Text 12"/>
          <p:cNvSpPr/>
          <p:nvPr/>
        </p:nvSpPr>
        <p:spPr>
          <a:xfrm>
            <a:off x="2425700" y="3124200"/>
            <a:ext cx="46736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A judgement about other people; a familiar person and “most people” are different targets.</a:t>
            </a:r>
            <a:endParaRPr lang="en-US" sz="1050" dirty="0"/>
          </a:p>
        </p:txBody>
      </p:sp>
      <p:sp>
        <p:nvSpPr>
          <p:cNvPr id="15" name="Shape 13"/>
          <p:cNvSpPr/>
          <p:nvPr/>
        </p:nvSpPr>
        <p:spPr>
          <a:xfrm>
            <a:off x="457200" y="4051300"/>
            <a:ext cx="6642100" cy="0"/>
          </a:xfrm>
          <a:prstGeom prst="line">
            <a:avLst/>
          </a:prstGeom>
          <a:noFill/>
          <a:ln w="10160">
            <a:solidFill>
              <a:srgbClr val="252525"/>
            </a:solidFill>
            <a:prstDash val="solid"/>
          </a:ln>
        </p:spPr>
      </p:sp>
      <p:sp>
        <p:nvSpPr>
          <p:cNvPr id="16" name="Text 14"/>
          <p:cNvSpPr/>
          <p:nvPr/>
        </p:nvSpPr>
        <p:spPr>
          <a:xfrm>
            <a:off x="457200" y="4203700"/>
            <a:ext cx="1778000" cy="825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Family / close network</a:t>
            </a:r>
            <a:endParaRPr lang="en-US" sz="1100" dirty="0"/>
          </a:p>
        </p:txBody>
      </p:sp>
      <p:sp>
        <p:nvSpPr>
          <p:cNvPr id="17" name="Text 15"/>
          <p:cNvSpPr/>
          <p:nvPr/>
        </p:nvSpPr>
        <p:spPr>
          <a:xfrm>
            <a:off x="2425700" y="4191000"/>
            <a:ext cx="46736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Cooperation with known ties; not automatically the opposite of wider cooperation.</a:t>
            </a:r>
            <a:endParaRPr lang="en-US" sz="1050" dirty="0"/>
          </a:p>
        </p:txBody>
      </p:sp>
      <p:sp>
        <p:nvSpPr>
          <p:cNvPr id="18" name="Shape 16"/>
          <p:cNvSpPr/>
          <p:nvPr/>
        </p:nvSpPr>
        <p:spPr>
          <a:xfrm>
            <a:off x="457200" y="5118100"/>
            <a:ext cx="6642100" cy="0"/>
          </a:xfrm>
          <a:prstGeom prst="line">
            <a:avLst/>
          </a:prstGeom>
          <a:noFill/>
          <a:ln w="10160">
            <a:solidFill>
              <a:srgbClr val="252525"/>
            </a:solidFill>
            <a:prstDash val="solid"/>
          </a:ln>
        </p:spPr>
      </p:sp>
      <p:sp>
        <p:nvSpPr>
          <p:cNvPr id="19" name="Text 17"/>
          <p:cNvSpPr/>
          <p:nvPr/>
        </p:nvSpPr>
        <p:spPr>
          <a:xfrm>
            <a:off x="457200" y="5270500"/>
            <a:ext cx="1778000" cy="825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Named institutions</a:t>
            </a:r>
            <a:endParaRPr lang="en-US" sz="1100" dirty="0"/>
          </a:p>
        </p:txBody>
      </p:sp>
      <p:sp>
        <p:nvSpPr>
          <p:cNvPr id="20" name="Text 18"/>
          <p:cNvSpPr/>
          <p:nvPr/>
        </p:nvSpPr>
        <p:spPr>
          <a:xfrm>
            <a:off x="2425700" y="5257800"/>
            <a:ext cx="46736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Trust in courts, banks or government must name the institution and the question.</a:t>
            </a:r>
            <a:endParaRPr lang="en-US" sz="1050" dirty="0"/>
          </a:p>
        </p:txBody>
      </p:sp>
      <p:sp>
        <p:nvSpPr>
          <p:cNvPr id="21" name="Shape 19"/>
          <p:cNvSpPr/>
          <p:nvPr/>
        </p:nvSpPr>
        <p:spPr>
          <a:xfrm>
            <a:off x="457200" y="6184900"/>
            <a:ext cx="6642100" cy="0"/>
          </a:xfrm>
          <a:prstGeom prst="line">
            <a:avLst/>
          </a:prstGeom>
          <a:noFill/>
          <a:ln w="10160">
            <a:solidFill>
              <a:srgbClr val="252525"/>
            </a:solidFill>
            <a:prstDash val="solid"/>
          </a:ln>
        </p:spPr>
      </p:sp>
      <p:sp>
        <p:nvSpPr>
          <p:cNvPr id="22" name="Text 20"/>
          <p:cNvSpPr/>
          <p:nvPr/>
        </p:nvSpPr>
        <p:spPr>
          <a:xfrm>
            <a:off x="457200" y="6337300"/>
            <a:ext cx="1778000" cy="825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Governance perceptions</a:t>
            </a:r>
            <a:endParaRPr lang="en-US" sz="1100" dirty="0"/>
          </a:p>
        </p:txBody>
      </p:sp>
      <p:sp>
        <p:nvSpPr>
          <p:cNvPr id="23" name="Text 21"/>
          <p:cNvSpPr/>
          <p:nvPr/>
        </p:nvSpPr>
        <p:spPr>
          <a:xfrm>
            <a:off x="2425700" y="6324600"/>
            <a:ext cx="46736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Institutional-performance indicators are not measures of interpersonal trust.</a:t>
            </a:r>
            <a:endParaRPr lang="en-US" sz="1050" dirty="0"/>
          </a:p>
        </p:txBody>
      </p:sp>
      <p:sp>
        <p:nvSpPr>
          <p:cNvPr id="24" name="Shape 22"/>
          <p:cNvSpPr/>
          <p:nvPr/>
        </p:nvSpPr>
        <p:spPr>
          <a:xfrm>
            <a:off x="457200" y="7251700"/>
            <a:ext cx="6642100" cy="0"/>
          </a:xfrm>
          <a:prstGeom prst="line">
            <a:avLst/>
          </a:prstGeom>
          <a:noFill/>
          <a:ln w="10160">
            <a:solidFill>
              <a:srgbClr val="252525"/>
            </a:solidFill>
            <a:prstDash val="solid"/>
          </a:ln>
        </p:spPr>
      </p:sp>
      <p:sp>
        <p:nvSpPr>
          <p:cNvPr id="25" name="Text 23"/>
          <p:cNvSpPr/>
          <p:nvPr/>
        </p:nvSpPr>
        <p:spPr>
          <a:xfrm>
            <a:off x="457200" y="7404100"/>
            <a:ext cx="1778000" cy="825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Survey responses</a:t>
            </a:r>
            <a:endParaRPr lang="en-US" sz="1100" dirty="0"/>
          </a:p>
        </p:txBody>
      </p:sp>
      <p:sp>
        <p:nvSpPr>
          <p:cNvPr id="26" name="Text 24"/>
          <p:cNvSpPr/>
          <p:nvPr/>
        </p:nvSpPr>
        <p:spPr>
          <a:xfrm>
            <a:off x="2425700" y="7391400"/>
            <a:ext cx="46736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Question wording, year, population, weights and context shape the reported measure.</a:t>
            </a:r>
            <a:endParaRPr lang="en-US" sz="1050" dirty="0"/>
          </a:p>
        </p:txBody>
      </p:sp>
      <p:sp>
        <p:nvSpPr>
          <p:cNvPr id="27" name="Text 25"/>
          <p:cNvSpPr/>
          <p:nvPr/>
        </p:nvSpPr>
        <p:spPr>
          <a:xfrm>
            <a:off x="457200" y="8432800"/>
            <a:ext cx="6642100" cy="4318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Radius of Trust asks about cooperation beyond close ties.</a:t>
            </a:r>
            <a:endParaRPr lang="en-US" sz="1050" dirty="0"/>
          </a:p>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The present evidence cannot establish its strong causal form.</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04 / A CONDITIONAL MECHANISM</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Close networks: strength, boundary—or both?</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A network can be a source of resilience and a boundary on cooperation. Neither outcome follows automatically from “collectivism”.</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 11); OECD (2017, pp. 41–44); Svirydzenka and Petri (2014, pp. 5–8, 12). Approved theory matrix: Radius of Trust. The classroom question is discussion material, not national evidence.</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16</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 diagram is a conditional hypothesis. It does not rank national cultures, equate family loyalty with corruption, or measure trust in any country.</a:t>
            </a:r>
            <a:endParaRPr lang="en-US" sz="900" dirty="0"/>
          </a:p>
        </p:txBody>
      </p:sp>
      <p:sp>
        <p:nvSpPr>
          <p:cNvPr id="12" name="Text 10"/>
          <p:cNvSpPr/>
          <p:nvPr/>
        </p:nvSpPr>
        <p:spPr>
          <a:xfrm>
            <a:off x="457200" y="2984500"/>
            <a:ext cx="30480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What close ties can provide</a:t>
            </a:r>
            <a:endParaRPr lang="en-US" sz="1400" dirty="0"/>
          </a:p>
        </p:txBody>
      </p:sp>
      <p:sp>
        <p:nvSpPr>
          <p:cNvPr id="13" name="Text 11"/>
          <p:cNvSpPr/>
          <p:nvPr/>
        </p:nvSpPr>
        <p:spPr>
          <a:xfrm>
            <a:off x="457200" y="3429000"/>
            <a:ext cx="3048000" cy="1206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Credit, labour, mutual help, survival and resilience when formal systems are absent or costly.</a:t>
            </a:r>
            <a:endParaRPr lang="en-US" sz="1050" dirty="0"/>
          </a:p>
        </p:txBody>
      </p:sp>
      <p:sp>
        <p:nvSpPr>
          <p:cNvPr id="14" name="Text 12"/>
          <p:cNvSpPr/>
          <p:nvPr/>
        </p:nvSpPr>
        <p:spPr>
          <a:xfrm>
            <a:off x="3962400" y="2984500"/>
            <a:ext cx="31369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Where a boundary may appear</a:t>
            </a:r>
            <a:endParaRPr lang="en-US" sz="1400" dirty="0"/>
          </a:p>
        </p:txBody>
      </p:sp>
      <p:sp>
        <p:nvSpPr>
          <p:cNvPr id="15" name="Text 13"/>
          <p:cNvSpPr/>
          <p:nvPr/>
        </p:nvSpPr>
        <p:spPr>
          <a:xfrm>
            <a:off x="3962400" y="3429000"/>
            <a:ext cx="3136900" cy="1206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Delegation to unfamiliar people and impersonal scaling may become harder—depending on organisations and enforcement.</a:t>
            </a:r>
            <a:endParaRPr lang="en-US" sz="1050" dirty="0"/>
          </a:p>
        </p:txBody>
      </p:sp>
      <p:sp>
        <p:nvSpPr>
          <p:cNvPr id="16" name="Shape 14"/>
          <p:cNvSpPr/>
          <p:nvPr/>
        </p:nvSpPr>
        <p:spPr>
          <a:xfrm>
            <a:off x="457200" y="5054600"/>
            <a:ext cx="6642100" cy="0"/>
          </a:xfrm>
          <a:prstGeom prst="line">
            <a:avLst/>
          </a:prstGeom>
          <a:noFill/>
          <a:ln w="7620">
            <a:solidFill>
              <a:srgbClr val="B7B0A4"/>
            </a:solidFill>
            <a:prstDash val="solid"/>
          </a:ln>
        </p:spPr>
      </p:sp>
      <p:sp>
        <p:nvSpPr>
          <p:cNvPr id="17" name="Text 15"/>
          <p:cNvSpPr/>
          <p:nvPr/>
        </p:nvSpPr>
        <p:spPr>
          <a:xfrm>
            <a:off x="457200" y="5346700"/>
            <a:ext cx="6604000" cy="1130300"/>
          </a:xfrm>
          <a:prstGeom prst="rect">
            <a:avLst/>
          </a:prstGeom>
          <a:noFill/>
          <a:ln/>
        </p:spPr>
        <p:txBody>
          <a:bodyPr wrap="square" lIns="0" tIns="0" rIns="0" bIns="0" rtlCol="0" anchor="t"/>
          <a:lstStyle/>
          <a:p>
            <a:pPr indent="0" marL="0">
              <a:lnSpc>
                <a:spcPct val="112000"/>
              </a:lnSpc>
              <a:buNone/>
            </a:pPr>
            <a:r>
              <a:rPr lang="en-US" sz="3100" b="1" dirty="0">
                <a:solidFill>
                  <a:srgbClr val="252525"/>
                </a:solidFill>
                <a:latin typeface="Montserrat" pitchFamily="34" charset="0"/>
                <a:ea typeface="Montserrat" pitchFamily="34" charset="-122"/>
                <a:cs typeface="Montserrat" pitchFamily="34" charset="-120"/>
              </a:rPr>
              <a:t>Who would you trust</a:t>
            </a:r>
            <a:endParaRPr lang="en-US" sz="3100" dirty="0"/>
          </a:p>
          <a:p>
            <a:pPr indent="0" marL="0">
              <a:lnSpc>
                <a:spcPct val="112000"/>
              </a:lnSpc>
              <a:buNone/>
            </a:pPr>
            <a:r>
              <a:rPr lang="en-US" sz="3100" b="1" dirty="0">
                <a:solidFill>
                  <a:srgbClr val="252525"/>
                </a:solidFill>
                <a:latin typeface="Montserrat" pitchFamily="34" charset="0"/>
                <a:ea typeface="Montserrat" pitchFamily="34" charset="-122"/>
                <a:cs typeface="Montserrat" pitchFamily="34" charset="-120"/>
              </a:rPr>
              <a:t>with money?</a:t>
            </a:r>
            <a:endParaRPr lang="en-US" sz="3100" dirty="0"/>
          </a:p>
        </p:txBody>
      </p:sp>
      <p:sp>
        <p:nvSpPr>
          <p:cNvPr id="18" name="Text 16"/>
          <p:cNvSpPr/>
          <p:nvPr/>
        </p:nvSpPr>
        <p:spPr>
          <a:xfrm>
            <a:off x="457200" y="6794500"/>
            <a:ext cx="6604000" cy="698500"/>
          </a:xfrm>
          <a:prstGeom prst="rect">
            <a:avLst/>
          </a:prstGeom>
          <a:noFill/>
          <a:ln/>
        </p:spPr>
        <p:txBody>
          <a:bodyPr wrap="square" lIns="0" tIns="0" rIns="0" bIns="0" rtlCol="0" anchor="t"/>
          <a:lstStyle/>
          <a:p>
            <a:pPr indent="0" marL="0">
              <a:lnSpc>
                <a:spcPct val="112000"/>
              </a:lnSpc>
              <a:buNone/>
            </a:pPr>
            <a:r>
              <a:rPr lang="en-US" sz="1500" dirty="0">
                <a:solidFill>
                  <a:srgbClr val="252525"/>
                </a:solidFill>
                <a:latin typeface="Montserrat" pitchFamily="34" charset="0"/>
                <a:ea typeface="Montserrat" pitchFamily="34" charset="-122"/>
                <a:cs typeface="Montserrat" pitchFamily="34" charset="-120"/>
              </a:rPr>
              <a:t>Family · a friend · a bank · a court-enforced contract</a:t>
            </a:r>
            <a:endParaRPr lang="en-US" sz="1500" dirty="0"/>
          </a:p>
          <a:p>
            <a:pPr indent="0" marL="0">
              <a:lnSpc>
                <a:spcPct val="112000"/>
              </a:lnSpc>
              <a:buNone/>
            </a:pPr>
            <a:r>
              <a:rPr lang="en-US" sz="1500" dirty="0">
                <a:solidFill>
                  <a:srgbClr val="252525"/>
                </a:solidFill>
                <a:latin typeface="Montserrat" pitchFamily="34" charset="0"/>
                <a:ea typeface="Montserrat" pitchFamily="34" charset="-122"/>
                <a:cs typeface="Montserrat" pitchFamily="34" charset="-120"/>
              </a:rPr>
              <a:t>or an unfamiliar business partner?</a:t>
            </a:r>
            <a:endParaRPr lang="en-US" sz="1500" dirty="0"/>
          </a:p>
        </p:txBody>
      </p:sp>
      <p:sp>
        <p:nvSpPr>
          <p:cNvPr id="19" name="Text 17"/>
          <p:cNvSpPr/>
          <p:nvPr/>
        </p:nvSpPr>
        <p:spPr>
          <a:xfrm>
            <a:off x="457200" y="7823200"/>
            <a:ext cx="6642100" cy="2413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DISCUSS, THEN CHANGE ONE CONDITION</a:t>
            </a:r>
            <a:endParaRPr lang="en-US" sz="800" dirty="0"/>
          </a:p>
        </p:txBody>
      </p:sp>
      <p:sp>
        <p:nvSpPr>
          <p:cNvPr id="20" name="Text 18"/>
          <p:cNvSpPr/>
          <p:nvPr/>
        </p:nvSpPr>
        <p:spPr>
          <a:xfrm>
            <a:off x="457200" y="8178800"/>
            <a:ext cx="6642100" cy="5969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Would your answer change with a reliable court, a guarantee, a long trading relationship or a different amount at risk?</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04 / THE EVIDENCE BOUNDARY</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Authority, time horizons and missing evidence</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Test power distance and long-term orientation as conditional mechanisms. Keep unsupported growth stories closed.</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9–16); McSweeney (2002, pp. 101–107); approved Hofstede critique pack and THEORY_EVIDENCE_MATRIX.md. No dimension is treated as a causal score.</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17</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National cultural measures cannot substitute for observed organisational behaviour, policy duration, investment or feedback. Mechanisms need their own evidence.</a:t>
            </a:r>
            <a:endParaRPr lang="en-US" sz="900" dirty="0"/>
          </a:p>
        </p:txBody>
      </p:sp>
      <p:sp>
        <p:nvSpPr>
          <p:cNvPr id="12" name="Text 10"/>
          <p:cNvSpPr/>
          <p:nvPr/>
        </p:nvSpPr>
        <p:spPr>
          <a:xfrm>
            <a:off x="457200" y="2933700"/>
            <a:ext cx="31242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Authority: coordination or silence?</a:t>
            </a:r>
            <a:endParaRPr lang="en-US" sz="1400" dirty="0"/>
          </a:p>
        </p:txBody>
      </p:sp>
      <p:sp>
        <p:nvSpPr>
          <p:cNvPr id="13" name="Text 11"/>
          <p:cNvSpPr/>
          <p:nvPr/>
        </p:nvSpPr>
        <p:spPr>
          <a:xfrm>
            <a:off x="457200" y="3378200"/>
            <a:ext cx="3124200" cy="13208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Hierarchy may organise action, but it may also weaken feedback. Test who can challenge decisions and whether errors are corrected.</a:t>
            </a:r>
            <a:endParaRPr lang="en-US" sz="1050" dirty="0"/>
          </a:p>
        </p:txBody>
      </p:sp>
      <p:sp>
        <p:nvSpPr>
          <p:cNvPr id="14" name="Text 12"/>
          <p:cNvSpPr/>
          <p:nvPr/>
        </p:nvSpPr>
        <p:spPr>
          <a:xfrm>
            <a:off x="3975100" y="2933700"/>
            <a:ext cx="31242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Time horizons: whose horizon?</a:t>
            </a:r>
            <a:endParaRPr lang="en-US" sz="1400" dirty="0"/>
          </a:p>
        </p:txBody>
      </p:sp>
      <p:sp>
        <p:nvSpPr>
          <p:cNvPr id="15" name="Text 13"/>
          <p:cNvSpPr/>
          <p:nvPr/>
        </p:nvSpPr>
        <p:spPr>
          <a:xfrm>
            <a:off x="3975100" y="3378200"/>
            <a:ext cx="3124200" cy="13208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Long-term orientation is not a policy-duration measure. Test observed investment, learning and correction over time.</a:t>
            </a:r>
            <a:endParaRPr lang="en-US" sz="1050" dirty="0"/>
          </a:p>
        </p:txBody>
      </p:sp>
      <p:sp>
        <p:nvSpPr>
          <p:cNvPr id="16" name="Shape 14"/>
          <p:cNvSpPr/>
          <p:nvPr/>
        </p:nvSpPr>
        <p:spPr>
          <a:xfrm>
            <a:off x="457200" y="5003800"/>
            <a:ext cx="6642100" cy="0"/>
          </a:xfrm>
          <a:prstGeom prst="line">
            <a:avLst/>
          </a:prstGeom>
          <a:noFill/>
          <a:ln w="7620">
            <a:solidFill>
              <a:srgbClr val="B7B0A4"/>
            </a:solidFill>
            <a:prstDash val="solid"/>
          </a:ln>
        </p:spPr>
      </p:sp>
      <p:sp>
        <p:nvSpPr>
          <p:cNvPr id="17" name="Text 15"/>
          <p:cNvSpPr/>
          <p:nvPr/>
        </p:nvSpPr>
        <p:spPr>
          <a:xfrm>
            <a:off x="457200" y="5156200"/>
            <a:ext cx="29464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Uncertainty avoidance</a:t>
            </a:r>
            <a:endParaRPr lang="en-US" sz="1200" dirty="0"/>
          </a:p>
        </p:txBody>
      </p:sp>
      <p:sp>
        <p:nvSpPr>
          <p:cNvPr id="18" name="Text 16"/>
          <p:cNvSpPr/>
          <p:nvPr/>
        </p:nvSpPr>
        <p:spPr>
          <a:xfrm>
            <a:off x="3886200" y="5181600"/>
            <a:ext cx="3213100" cy="2540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INSUFFICIENT</a:t>
            </a:r>
            <a:endParaRPr lang="en-US" sz="800" dirty="0"/>
          </a:p>
        </p:txBody>
      </p:sp>
      <p:sp>
        <p:nvSpPr>
          <p:cNvPr id="19" name="Text 17"/>
          <p:cNvSpPr/>
          <p:nvPr/>
        </p:nvSpPr>
        <p:spPr>
          <a:xfrm>
            <a:off x="457200" y="5600700"/>
            <a:ext cx="6642100" cy="5080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Reopen with a specified direction, observed behaviour and matched timing—not a generic risk-taking story.</a:t>
            </a:r>
            <a:endParaRPr lang="en-US" sz="1000" dirty="0"/>
          </a:p>
        </p:txBody>
      </p:sp>
      <p:sp>
        <p:nvSpPr>
          <p:cNvPr id="20" name="Shape 18"/>
          <p:cNvSpPr/>
          <p:nvPr/>
        </p:nvSpPr>
        <p:spPr>
          <a:xfrm>
            <a:off x="457200" y="6184900"/>
            <a:ext cx="6642100" cy="0"/>
          </a:xfrm>
          <a:prstGeom prst="line">
            <a:avLst/>
          </a:prstGeom>
          <a:noFill/>
          <a:ln w="7620">
            <a:solidFill>
              <a:srgbClr val="B7B0A4"/>
            </a:solidFill>
            <a:prstDash val="solid"/>
          </a:ln>
        </p:spPr>
      </p:sp>
      <p:sp>
        <p:nvSpPr>
          <p:cNvPr id="21" name="Text 19"/>
          <p:cNvSpPr/>
          <p:nvPr/>
        </p:nvSpPr>
        <p:spPr>
          <a:xfrm>
            <a:off x="457200" y="6337300"/>
            <a:ext cx="29464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Masculinity / femininity</a:t>
            </a:r>
            <a:endParaRPr lang="en-US" sz="1200" dirty="0"/>
          </a:p>
        </p:txBody>
      </p:sp>
      <p:sp>
        <p:nvSpPr>
          <p:cNvPr id="22" name="Text 20"/>
          <p:cNvSpPr/>
          <p:nvPr/>
        </p:nvSpPr>
        <p:spPr>
          <a:xfrm>
            <a:off x="3886200" y="6362700"/>
            <a:ext cx="3213100" cy="2540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INSUFFICIENT</a:t>
            </a:r>
            <a:endParaRPr lang="en-US" sz="800" dirty="0"/>
          </a:p>
        </p:txBody>
      </p:sp>
      <p:sp>
        <p:nvSpPr>
          <p:cNvPr id="23" name="Text 21"/>
          <p:cNvSpPr/>
          <p:nvPr/>
        </p:nvSpPr>
        <p:spPr>
          <a:xfrm>
            <a:off x="457200" y="6781800"/>
            <a:ext cx="6642100" cy="5080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Reopen with a valid contemporary measure, a clear mechanism and tests against institutional and economic alternatives.</a:t>
            </a:r>
            <a:endParaRPr lang="en-US" sz="1000" dirty="0"/>
          </a:p>
        </p:txBody>
      </p:sp>
      <p:sp>
        <p:nvSpPr>
          <p:cNvPr id="24" name="Shape 22"/>
          <p:cNvSpPr/>
          <p:nvPr/>
        </p:nvSpPr>
        <p:spPr>
          <a:xfrm>
            <a:off x="457200" y="7366000"/>
            <a:ext cx="6642100" cy="0"/>
          </a:xfrm>
          <a:prstGeom prst="line">
            <a:avLst/>
          </a:prstGeom>
          <a:noFill/>
          <a:ln w="7620">
            <a:solidFill>
              <a:srgbClr val="B7B0A4"/>
            </a:solidFill>
            <a:prstDash val="solid"/>
          </a:ln>
        </p:spPr>
      </p:sp>
      <p:sp>
        <p:nvSpPr>
          <p:cNvPr id="25" name="Text 23"/>
          <p:cNvSpPr/>
          <p:nvPr/>
        </p:nvSpPr>
        <p:spPr>
          <a:xfrm>
            <a:off x="457200" y="7518400"/>
            <a:ext cx="29464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Indulgence / restraint</a:t>
            </a:r>
            <a:endParaRPr lang="en-US" sz="1200" dirty="0"/>
          </a:p>
        </p:txBody>
      </p:sp>
      <p:sp>
        <p:nvSpPr>
          <p:cNvPr id="26" name="Text 24"/>
          <p:cNvSpPr/>
          <p:nvPr/>
        </p:nvSpPr>
        <p:spPr>
          <a:xfrm>
            <a:off x="3886200" y="7543800"/>
            <a:ext cx="3213100" cy="2540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INSUFFICIENT</a:t>
            </a:r>
            <a:endParaRPr lang="en-US" sz="800" dirty="0"/>
          </a:p>
        </p:txBody>
      </p:sp>
      <p:sp>
        <p:nvSpPr>
          <p:cNvPr id="27" name="Text 25"/>
          <p:cNvSpPr/>
          <p:nvPr/>
        </p:nvSpPr>
        <p:spPr>
          <a:xfrm>
            <a:off x="457200" y="7962900"/>
            <a:ext cx="6642100" cy="5080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Reopen with a direct, timed link to saving or investment. Do not infer work ethic from income outcomes.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05 / THREE IDEAS ON TRIAL</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Can our three ideas survive the evidence?</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Original group hypotheses—not established academic theories, national scores or causal estimates.</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Approved research/THEORY_EVIDENCE_MATRIX.md; data/charts/theory_evidence_matrix.csv; claim and source registries. Evidence includes World Bank (1993, 2020), Maipose (2008), Svirydzenka and Petri (2014), and OECD (2017).</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18</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Qualitative consistency is not causal identification. A supporting case can fit several competing explanations; an unresolved cell must remain unresolved.</a:t>
            </a:r>
            <a:endParaRPr lang="en-US" sz="900" dirty="0"/>
          </a:p>
        </p:txBody>
      </p:sp>
      <p:sp>
        <p:nvSpPr>
          <p:cNvPr id="12" name="Text 10"/>
          <p:cNvSpPr/>
          <p:nvPr/>
        </p:nvSpPr>
        <p:spPr>
          <a:xfrm>
            <a:off x="457200" y="2946400"/>
            <a:ext cx="6642100" cy="2540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THE TEST STANDARD</a:t>
            </a:r>
            <a:endParaRPr lang="en-US" sz="900" dirty="0"/>
          </a:p>
        </p:txBody>
      </p:sp>
      <p:sp>
        <p:nvSpPr>
          <p:cNvPr id="13" name="Text 11"/>
          <p:cNvSpPr/>
          <p:nvPr/>
        </p:nvSpPr>
        <p:spPr>
          <a:xfrm>
            <a:off x="457200" y="3390900"/>
            <a:ext cx="6642100" cy="10795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Mechanism → prediction → supporting evidence →</a:t>
            </a:r>
            <a:endParaRPr lang="en-US" sz="1800" dirty="0"/>
          </a:p>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challenging case → alternative explanation →</a:t>
            </a:r>
            <a:endParaRPr lang="en-US" sz="1800" dirty="0"/>
          </a:p>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limitation → revision condition</a:t>
            </a:r>
            <a:endParaRPr lang="en-US" sz="1800" dirty="0"/>
          </a:p>
        </p:txBody>
      </p:sp>
      <p:sp>
        <p:nvSpPr>
          <p:cNvPr id="14" name="Text 12"/>
          <p:cNvSpPr/>
          <p:nvPr/>
        </p:nvSpPr>
        <p:spPr>
          <a:xfrm>
            <a:off x="457200" y="4991100"/>
            <a:ext cx="1384300" cy="317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COUNTRY</a:t>
            </a:r>
            <a:endParaRPr lang="en-US" sz="800" dirty="0"/>
          </a:p>
        </p:txBody>
      </p:sp>
      <p:sp>
        <p:nvSpPr>
          <p:cNvPr id="15" name="Text 13"/>
          <p:cNvSpPr/>
          <p:nvPr/>
        </p:nvSpPr>
        <p:spPr>
          <a:xfrm>
            <a:off x="2006600" y="4991100"/>
            <a:ext cx="1536700" cy="317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CONNECTED</a:t>
            </a:r>
            <a:endParaRPr lang="en-US" sz="800" dirty="0"/>
          </a:p>
        </p:txBody>
      </p:sp>
      <p:sp>
        <p:nvSpPr>
          <p:cNvPr id="16" name="Text 14"/>
          <p:cNvSpPr/>
          <p:nvPr/>
        </p:nvSpPr>
        <p:spPr>
          <a:xfrm>
            <a:off x="3771900" y="4991100"/>
            <a:ext cx="1549400" cy="317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TRUST</a:t>
            </a:r>
            <a:endParaRPr lang="en-US" sz="800" dirty="0"/>
          </a:p>
        </p:txBody>
      </p:sp>
      <p:sp>
        <p:nvSpPr>
          <p:cNvPr id="17" name="Text 15"/>
          <p:cNvSpPr/>
          <p:nvPr/>
        </p:nvSpPr>
        <p:spPr>
          <a:xfrm>
            <a:off x="5524500" y="4991100"/>
            <a:ext cx="1574800" cy="317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CONTINUITY</a:t>
            </a:r>
            <a:endParaRPr lang="en-US" sz="800" dirty="0"/>
          </a:p>
        </p:txBody>
      </p:sp>
      <p:sp>
        <p:nvSpPr>
          <p:cNvPr id="18" name="Shape 16"/>
          <p:cNvSpPr/>
          <p:nvPr/>
        </p:nvSpPr>
        <p:spPr>
          <a:xfrm>
            <a:off x="457200" y="5346700"/>
            <a:ext cx="6642100" cy="0"/>
          </a:xfrm>
          <a:prstGeom prst="line">
            <a:avLst/>
          </a:prstGeom>
          <a:noFill/>
          <a:ln w="7620">
            <a:solidFill>
              <a:srgbClr val="B7B0A4"/>
            </a:solidFill>
            <a:prstDash val="solid"/>
          </a:ln>
        </p:spPr>
      </p:sp>
      <p:sp>
        <p:nvSpPr>
          <p:cNvPr id="19" name="Shape 17"/>
          <p:cNvSpPr/>
          <p:nvPr/>
        </p:nvSpPr>
        <p:spPr>
          <a:xfrm>
            <a:off x="469900" y="5486400"/>
            <a:ext cx="101600" cy="101600"/>
          </a:xfrm>
          <a:prstGeom prst="ellipse">
            <a:avLst/>
          </a:prstGeom>
          <a:solidFill>
            <a:srgbClr val="B95332"/>
          </a:solidFill>
          <a:ln w="7620">
            <a:solidFill>
              <a:srgbClr val="252525"/>
            </a:solidFill>
            <a:prstDash val="solid"/>
          </a:ln>
        </p:spPr>
      </p:sp>
      <p:sp>
        <p:nvSpPr>
          <p:cNvPr id="20" name="Text 18"/>
          <p:cNvSpPr/>
          <p:nvPr/>
        </p:nvSpPr>
        <p:spPr>
          <a:xfrm>
            <a:off x="685800" y="5435600"/>
            <a:ext cx="1270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Ghana</a:t>
            </a:r>
            <a:endParaRPr lang="en-US" sz="1100" dirty="0"/>
          </a:p>
        </p:txBody>
      </p:sp>
      <p:sp>
        <p:nvSpPr>
          <p:cNvPr id="21" name="Text 19"/>
          <p:cNvSpPr/>
          <p:nvPr/>
        </p:nvSpPr>
        <p:spPr>
          <a:xfrm>
            <a:off x="2006600" y="54356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Consistent; not causal</a:t>
            </a:r>
            <a:endParaRPr lang="en-US" sz="850" dirty="0"/>
          </a:p>
        </p:txBody>
      </p:sp>
      <p:sp>
        <p:nvSpPr>
          <p:cNvPr id="22" name="Text 20"/>
          <p:cNvSpPr/>
          <p:nvPr/>
        </p:nvSpPr>
        <p:spPr>
          <a:xfrm>
            <a:off x="3771900" y="54356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Unresolved</a:t>
            </a:r>
            <a:endParaRPr lang="en-US" sz="850" dirty="0"/>
          </a:p>
        </p:txBody>
      </p:sp>
      <p:sp>
        <p:nvSpPr>
          <p:cNvPr id="23" name="Text 21"/>
          <p:cNvSpPr/>
          <p:nvPr/>
        </p:nvSpPr>
        <p:spPr>
          <a:xfrm>
            <a:off x="5524500" y="5435600"/>
            <a:ext cx="15748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Unresolved</a:t>
            </a:r>
            <a:endParaRPr lang="en-US" sz="850" dirty="0"/>
          </a:p>
        </p:txBody>
      </p:sp>
      <p:sp>
        <p:nvSpPr>
          <p:cNvPr id="24" name="Shape 22"/>
          <p:cNvSpPr/>
          <p:nvPr/>
        </p:nvSpPr>
        <p:spPr>
          <a:xfrm>
            <a:off x="457200" y="5829300"/>
            <a:ext cx="6642100" cy="0"/>
          </a:xfrm>
          <a:prstGeom prst="line">
            <a:avLst/>
          </a:prstGeom>
          <a:noFill/>
          <a:ln w="7620">
            <a:solidFill>
              <a:srgbClr val="B7B0A4"/>
            </a:solidFill>
            <a:prstDash val="solid"/>
          </a:ln>
        </p:spPr>
      </p:sp>
      <p:sp>
        <p:nvSpPr>
          <p:cNvPr id="25" name="Shape 23"/>
          <p:cNvSpPr/>
          <p:nvPr/>
        </p:nvSpPr>
        <p:spPr>
          <a:xfrm>
            <a:off x="469900" y="5969000"/>
            <a:ext cx="101600" cy="101600"/>
          </a:xfrm>
          <a:prstGeom prst="rect">
            <a:avLst/>
          </a:prstGeom>
          <a:solidFill>
            <a:srgbClr val="3F684E"/>
          </a:solidFill>
          <a:ln w="7620">
            <a:solidFill>
              <a:srgbClr val="252525"/>
            </a:solidFill>
            <a:prstDash val="solid"/>
          </a:ln>
        </p:spPr>
      </p:sp>
      <p:sp>
        <p:nvSpPr>
          <p:cNvPr id="26" name="Text 24"/>
          <p:cNvSpPr/>
          <p:nvPr/>
        </p:nvSpPr>
        <p:spPr>
          <a:xfrm>
            <a:off x="685800" y="5918200"/>
            <a:ext cx="1270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Botswana</a:t>
            </a:r>
            <a:endParaRPr lang="en-US" sz="1100" dirty="0"/>
          </a:p>
        </p:txBody>
      </p:sp>
      <p:sp>
        <p:nvSpPr>
          <p:cNvPr id="27" name="Text 25"/>
          <p:cNvSpPr/>
          <p:nvPr/>
        </p:nvSpPr>
        <p:spPr>
          <a:xfrm>
            <a:off x="2006600" y="59182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Strong exception</a:t>
            </a:r>
            <a:endParaRPr lang="en-US" sz="850" dirty="0"/>
          </a:p>
        </p:txBody>
      </p:sp>
      <p:sp>
        <p:nvSpPr>
          <p:cNvPr id="28" name="Text 26"/>
          <p:cNvSpPr/>
          <p:nvPr/>
        </p:nvSpPr>
        <p:spPr>
          <a:xfrm>
            <a:off x="3771900" y="59182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Plausible mechanism</a:t>
            </a:r>
            <a:endParaRPr lang="en-US" sz="850" dirty="0"/>
          </a:p>
        </p:txBody>
      </p:sp>
      <p:sp>
        <p:nvSpPr>
          <p:cNvPr id="29" name="Text 27"/>
          <p:cNvSpPr/>
          <p:nvPr/>
        </p:nvSpPr>
        <p:spPr>
          <a:xfrm>
            <a:off x="5524500" y="5918200"/>
            <a:ext cx="15748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Accumulation warning</a:t>
            </a:r>
            <a:endParaRPr lang="en-US" sz="850" dirty="0"/>
          </a:p>
        </p:txBody>
      </p:sp>
      <p:sp>
        <p:nvSpPr>
          <p:cNvPr id="30" name="Shape 28"/>
          <p:cNvSpPr/>
          <p:nvPr/>
        </p:nvSpPr>
        <p:spPr>
          <a:xfrm>
            <a:off x="457200" y="6311900"/>
            <a:ext cx="6642100" cy="0"/>
          </a:xfrm>
          <a:prstGeom prst="line">
            <a:avLst/>
          </a:prstGeom>
          <a:noFill/>
          <a:ln w="7620">
            <a:solidFill>
              <a:srgbClr val="B7B0A4"/>
            </a:solidFill>
            <a:prstDash val="solid"/>
          </a:ln>
        </p:spPr>
      </p:sp>
      <p:sp>
        <p:nvSpPr>
          <p:cNvPr id="31" name="Shape 29"/>
          <p:cNvSpPr/>
          <p:nvPr/>
        </p:nvSpPr>
        <p:spPr>
          <a:xfrm>
            <a:off x="469900" y="6451600"/>
            <a:ext cx="101600" cy="101600"/>
          </a:xfrm>
          <a:prstGeom prst="triangle">
            <a:avLst/>
          </a:prstGeom>
          <a:solidFill>
            <a:srgbClr val="D6A23A"/>
          </a:solidFill>
          <a:ln w="7620">
            <a:solidFill>
              <a:srgbClr val="252525"/>
            </a:solidFill>
            <a:prstDash val="solid"/>
          </a:ln>
        </p:spPr>
      </p:sp>
      <p:sp>
        <p:nvSpPr>
          <p:cNvPr id="32" name="Text 30"/>
          <p:cNvSpPr/>
          <p:nvPr/>
        </p:nvSpPr>
        <p:spPr>
          <a:xfrm>
            <a:off x="685800" y="6400800"/>
            <a:ext cx="1270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Mauritius</a:t>
            </a:r>
            <a:endParaRPr lang="en-US" sz="1100" dirty="0"/>
          </a:p>
        </p:txBody>
      </p:sp>
      <p:sp>
        <p:nvSpPr>
          <p:cNvPr id="33" name="Text 31"/>
          <p:cNvSpPr/>
          <p:nvPr/>
        </p:nvSpPr>
        <p:spPr>
          <a:xfrm>
            <a:off x="2006600" y="64008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Conditional support</a:t>
            </a:r>
            <a:endParaRPr lang="en-US" sz="850" dirty="0"/>
          </a:p>
        </p:txBody>
      </p:sp>
      <p:sp>
        <p:nvSpPr>
          <p:cNvPr id="34" name="Text 32"/>
          <p:cNvSpPr/>
          <p:nvPr/>
        </p:nvSpPr>
        <p:spPr>
          <a:xfrm>
            <a:off x="3771900" y="64008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Substitutes qualified</a:t>
            </a:r>
            <a:endParaRPr lang="en-US" sz="850" dirty="0"/>
          </a:p>
        </p:txBody>
      </p:sp>
      <p:sp>
        <p:nvSpPr>
          <p:cNvPr id="35" name="Text 33"/>
          <p:cNvSpPr/>
          <p:nvPr/>
        </p:nvSpPr>
        <p:spPr>
          <a:xfrm>
            <a:off x="5524500" y="6400800"/>
            <a:ext cx="15748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Strong qualified support</a:t>
            </a:r>
            <a:endParaRPr lang="en-US" sz="850" dirty="0"/>
          </a:p>
        </p:txBody>
      </p:sp>
      <p:sp>
        <p:nvSpPr>
          <p:cNvPr id="36" name="Shape 34"/>
          <p:cNvSpPr/>
          <p:nvPr/>
        </p:nvSpPr>
        <p:spPr>
          <a:xfrm>
            <a:off x="457200" y="6794500"/>
            <a:ext cx="6642100" cy="0"/>
          </a:xfrm>
          <a:prstGeom prst="line">
            <a:avLst/>
          </a:prstGeom>
          <a:noFill/>
          <a:ln w="7620">
            <a:solidFill>
              <a:srgbClr val="B7B0A4"/>
            </a:solidFill>
            <a:prstDash val="solid"/>
          </a:ln>
        </p:spPr>
      </p:sp>
      <p:sp>
        <p:nvSpPr>
          <p:cNvPr id="37" name="Shape 35"/>
          <p:cNvSpPr/>
          <p:nvPr/>
        </p:nvSpPr>
        <p:spPr>
          <a:xfrm>
            <a:off x="469900" y="6934200"/>
            <a:ext cx="101600" cy="101600"/>
          </a:xfrm>
          <a:prstGeom prst="diamond">
            <a:avLst/>
          </a:prstGeom>
          <a:solidFill>
            <a:srgbClr val="315A78"/>
          </a:solidFill>
          <a:ln w="7620">
            <a:solidFill>
              <a:srgbClr val="252525"/>
            </a:solidFill>
            <a:prstDash val="solid"/>
          </a:ln>
        </p:spPr>
      </p:sp>
      <p:sp>
        <p:nvSpPr>
          <p:cNvPr id="38" name="Text 36"/>
          <p:cNvSpPr/>
          <p:nvPr/>
        </p:nvSpPr>
        <p:spPr>
          <a:xfrm>
            <a:off x="685800" y="6883400"/>
            <a:ext cx="1270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South Korea</a:t>
            </a:r>
            <a:endParaRPr lang="en-US" sz="1100" dirty="0"/>
          </a:p>
        </p:txBody>
      </p:sp>
      <p:sp>
        <p:nvSpPr>
          <p:cNvPr id="39" name="Text 37"/>
          <p:cNvSpPr/>
          <p:nvPr/>
        </p:nvSpPr>
        <p:spPr>
          <a:xfrm>
            <a:off x="2006600" y="68834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Multi-causal support</a:t>
            </a:r>
            <a:endParaRPr lang="en-US" sz="850" dirty="0"/>
          </a:p>
        </p:txBody>
      </p:sp>
      <p:sp>
        <p:nvSpPr>
          <p:cNvPr id="40" name="Text 38"/>
          <p:cNvSpPr/>
          <p:nvPr/>
        </p:nvSpPr>
        <p:spPr>
          <a:xfrm>
            <a:off x="3771900" y="68834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Unresolved channel</a:t>
            </a:r>
            <a:endParaRPr lang="en-US" sz="850" dirty="0"/>
          </a:p>
        </p:txBody>
      </p:sp>
      <p:sp>
        <p:nvSpPr>
          <p:cNvPr id="41" name="Text 39"/>
          <p:cNvSpPr/>
          <p:nvPr/>
        </p:nvSpPr>
        <p:spPr>
          <a:xfrm>
            <a:off x="5524500" y="6883400"/>
            <a:ext cx="15748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Duration + correction</a:t>
            </a:r>
            <a:endParaRPr lang="en-US" sz="850" dirty="0"/>
          </a:p>
        </p:txBody>
      </p:sp>
      <p:sp>
        <p:nvSpPr>
          <p:cNvPr id="42" name="Shape 40"/>
          <p:cNvSpPr/>
          <p:nvPr/>
        </p:nvSpPr>
        <p:spPr>
          <a:xfrm>
            <a:off x="457200" y="7277100"/>
            <a:ext cx="6642100" cy="0"/>
          </a:xfrm>
          <a:prstGeom prst="line">
            <a:avLst/>
          </a:prstGeom>
          <a:noFill/>
          <a:ln w="7620">
            <a:solidFill>
              <a:srgbClr val="B7B0A4"/>
            </a:solidFill>
            <a:prstDash val="solid"/>
          </a:ln>
        </p:spPr>
      </p:sp>
      <p:sp>
        <p:nvSpPr>
          <p:cNvPr id="43" name="Shape 41"/>
          <p:cNvSpPr/>
          <p:nvPr/>
        </p:nvSpPr>
        <p:spPr>
          <a:xfrm>
            <a:off x="469900" y="7416800"/>
            <a:ext cx="101600" cy="101600"/>
          </a:xfrm>
          <a:prstGeom prst="hexagon">
            <a:avLst/>
          </a:prstGeom>
          <a:solidFill>
            <a:srgbClr val="3E7568"/>
          </a:solidFill>
          <a:ln w="7620">
            <a:solidFill>
              <a:srgbClr val="252525"/>
            </a:solidFill>
            <a:prstDash val="solid"/>
          </a:ln>
        </p:spPr>
      </p:sp>
      <p:sp>
        <p:nvSpPr>
          <p:cNvPr id="44" name="Text 42"/>
          <p:cNvSpPr/>
          <p:nvPr/>
        </p:nvSpPr>
        <p:spPr>
          <a:xfrm>
            <a:off x="685800" y="7366000"/>
            <a:ext cx="1270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Malaysia</a:t>
            </a:r>
            <a:endParaRPr lang="en-US" sz="1100" dirty="0"/>
          </a:p>
        </p:txBody>
      </p:sp>
      <p:sp>
        <p:nvSpPr>
          <p:cNvPr id="45" name="Text 43"/>
          <p:cNvSpPr/>
          <p:nvPr/>
        </p:nvSpPr>
        <p:spPr>
          <a:xfrm>
            <a:off x="2006600" y="73660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Qualified support</a:t>
            </a:r>
            <a:endParaRPr lang="en-US" sz="850" dirty="0"/>
          </a:p>
        </p:txBody>
      </p:sp>
      <p:sp>
        <p:nvSpPr>
          <p:cNvPr id="46" name="Text 44"/>
          <p:cNvSpPr/>
          <p:nvPr/>
        </p:nvSpPr>
        <p:spPr>
          <a:xfrm>
            <a:off x="3771900" y="73660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Plausible substitutes</a:t>
            </a:r>
            <a:endParaRPr lang="en-US" sz="850" dirty="0"/>
          </a:p>
        </p:txBody>
      </p:sp>
      <p:sp>
        <p:nvSpPr>
          <p:cNvPr id="47" name="Text 45"/>
          <p:cNvSpPr/>
          <p:nvPr/>
        </p:nvSpPr>
        <p:spPr>
          <a:xfrm>
            <a:off x="5524500" y="7366000"/>
            <a:ext cx="15748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Qualified support</a:t>
            </a:r>
            <a:endParaRPr lang="en-US" sz="850" dirty="0"/>
          </a:p>
        </p:txBody>
      </p:sp>
      <p:sp>
        <p:nvSpPr>
          <p:cNvPr id="48" name="Shape 46"/>
          <p:cNvSpPr/>
          <p:nvPr/>
        </p:nvSpPr>
        <p:spPr>
          <a:xfrm>
            <a:off x="457200" y="7759700"/>
            <a:ext cx="6642100" cy="0"/>
          </a:xfrm>
          <a:prstGeom prst="line">
            <a:avLst/>
          </a:prstGeom>
          <a:noFill/>
          <a:ln w="7620">
            <a:solidFill>
              <a:srgbClr val="B7B0A4"/>
            </a:solidFill>
            <a:prstDash val="solid"/>
          </a:ln>
        </p:spPr>
      </p:sp>
      <p:sp>
        <p:nvSpPr>
          <p:cNvPr id="49" name="Shape 47"/>
          <p:cNvSpPr/>
          <p:nvPr/>
        </p:nvSpPr>
        <p:spPr>
          <a:xfrm>
            <a:off x="469900" y="7950200"/>
            <a:ext cx="101600" cy="0"/>
          </a:xfrm>
          <a:prstGeom prst="line">
            <a:avLst/>
          </a:prstGeom>
          <a:noFill/>
          <a:ln w="40640">
            <a:solidFill>
              <a:srgbClr val="252525"/>
            </a:solidFill>
            <a:prstDash val="solid"/>
          </a:ln>
        </p:spPr>
      </p:sp>
      <p:sp>
        <p:nvSpPr>
          <p:cNvPr id="50" name="Shape 48"/>
          <p:cNvSpPr/>
          <p:nvPr/>
        </p:nvSpPr>
        <p:spPr>
          <a:xfrm>
            <a:off x="520700" y="7899400"/>
            <a:ext cx="0" cy="101600"/>
          </a:xfrm>
          <a:prstGeom prst="line">
            <a:avLst/>
          </a:prstGeom>
          <a:noFill/>
          <a:ln w="40640">
            <a:solidFill>
              <a:srgbClr val="252525"/>
            </a:solidFill>
            <a:prstDash val="solid"/>
          </a:ln>
        </p:spPr>
      </p:sp>
      <p:sp>
        <p:nvSpPr>
          <p:cNvPr id="51" name="Shape 49"/>
          <p:cNvSpPr/>
          <p:nvPr/>
        </p:nvSpPr>
        <p:spPr>
          <a:xfrm>
            <a:off x="469900" y="7950200"/>
            <a:ext cx="101600" cy="0"/>
          </a:xfrm>
          <a:prstGeom prst="line">
            <a:avLst/>
          </a:prstGeom>
          <a:noFill/>
          <a:ln w="22860">
            <a:solidFill>
              <a:srgbClr val="A63A3A"/>
            </a:solidFill>
            <a:prstDash val="solid"/>
          </a:ln>
        </p:spPr>
      </p:sp>
      <p:sp>
        <p:nvSpPr>
          <p:cNvPr id="52" name="Shape 50"/>
          <p:cNvSpPr/>
          <p:nvPr/>
        </p:nvSpPr>
        <p:spPr>
          <a:xfrm>
            <a:off x="520700" y="7899400"/>
            <a:ext cx="0" cy="101600"/>
          </a:xfrm>
          <a:prstGeom prst="line">
            <a:avLst/>
          </a:prstGeom>
          <a:noFill/>
          <a:ln w="22860">
            <a:solidFill>
              <a:srgbClr val="A63A3A"/>
            </a:solidFill>
            <a:prstDash val="solid"/>
          </a:ln>
        </p:spPr>
      </p:sp>
      <p:sp>
        <p:nvSpPr>
          <p:cNvPr id="53" name="Text 51"/>
          <p:cNvSpPr/>
          <p:nvPr/>
        </p:nvSpPr>
        <p:spPr>
          <a:xfrm>
            <a:off x="685800" y="7848600"/>
            <a:ext cx="1270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Philippines</a:t>
            </a:r>
            <a:endParaRPr lang="en-US" sz="1100" dirty="0"/>
          </a:p>
        </p:txBody>
      </p:sp>
      <p:sp>
        <p:nvSpPr>
          <p:cNvPr id="54" name="Text 52"/>
          <p:cNvSpPr/>
          <p:nvPr/>
        </p:nvSpPr>
        <p:spPr>
          <a:xfrm>
            <a:off x="2006600" y="78486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Not sufficient</a:t>
            </a:r>
            <a:endParaRPr lang="en-US" sz="850" dirty="0"/>
          </a:p>
        </p:txBody>
      </p:sp>
      <p:sp>
        <p:nvSpPr>
          <p:cNvPr id="55" name="Text 53"/>
          <p:cNvSpPr/>
          <p:nvPr/>
        </p:nvSpPr>
        <p:spPr>
          <a:xfrm>
            <a:off x="3771900" y="7848600"/>
            <a:ext cx="15621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Challenges strong form</a:t>
            </a:r>
            <a:endParaRPr lang="en-US" sz="850" dirty="0"/>
          </a:p>
        </p:txBody>
      </p:sp>
      <p:sp>
        <p:nvSpPr>
          <p:cNvPr id="56" name="Text 54"/>
          <p:cNvSpPr/>
          <p:nvPr/>
        </p:nvSpPr>
        <p:spPr>
          <a:xfrm>
            <a:off x="5524500" y="7848600"/>
            <a:ext cx="1574800" cy="4064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Support with warning</a:t>
            </a:r>
            <a:endParaRPr lang="en-US" sz="850" dirty="0"/>
          </a:p>
        </p:txBody>
      </p:sp>
      <p:sp>
        <p:nvSpPr>
          <p:cNvPr id="57" name="Text 55"/>
          <p:cNvSpPr/>
          <p:nvPr/>
        </p:nvSpPr>
        <p:spPr>
          <a:xfrm>
            <a:off x="457200" y="8521700"/>
            <a:ext cx="66421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Next: inspect the strongest challenge—not only the best fit.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05 / TEST 1</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Connected Development</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What if the decisive difference was not how much infrastructure existed, but whom it connected?</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20–26); World Bank (2020, Box 2, pp. 44–47); Svirydzenka and Petri (2014, pp. 5–8); Maipose (2008, pp. 3–5, 8–11); Nasution (2000, pp. 19–20). Original group hypothesis.</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19</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Connection alone neither establishes causality nor guarantees diversification. Investment, skills, institutions, resources and market access are bundled alternatives.</a:t>
            </a:r>
            <a:endParaRPr lang="en-US" sz="900" dirty="0"/>
          </a:p>
        </p:txBody>
      </p:sp>
      <p:sp>
        <p:nvSpPr>
          <p:cNvPr id="12" name="Text 10"/>
          <p:cNvSpPr/>
          <p:nvPr/>
        </p:nvSpPr>
        <p:spPr>
          <a:xfrm>
            <a:off x="457200" y="2946400"/>
            <a:ext cx="6642100" cy="1028700"/>
          </a:xfrm>
          <a:prstGeom prst="rect">
            <a:avLst/>
          </a:prstGeom>
          <a:noFill/>
          <a:ln/>
        </p:spPr>
        <p:txBody>
          <a:bodyPr wrap="square" lIns="0" tIns="0" rIns="0" bIns="0" rtlCol="0" anchor="t"/>
          <a:lstStyle/>
          <a:p>
            <a:pPr indent="0" marL="0">
              <a:lnSpc>
                <a:spcPct val="112000"/>
              </a:lnSpc>
              <a:buNone/>
            </a:pPr>
            <a:r>
              <a:rPr lang="en-US" sz="2900" b="1" dirty="0">
                <a:solidFill>
                  <a:srgbClr val="252525"/>
                </a:solidFill>
                <a:latin typeface="Montserrat" pitchFamily="34" charset="0"/>
                <a:ea typeface="Montserrat" pitchFamily="34" charset="-122"/>
                <a:cs typeface="Montserrat" pitchFamily="34" charset="-120"/>
              </a:rPr>
              <a:t>SUPPORTED</a:t>
            </a:r>
            <a:endParaRPr lang="en-US" sz="2900" dirty="0"/>
          </a:p>
          <a:p>
            <a:pPr indent="0" marL="0">
              <a:lnSpc>
                <a:spcPct val="112000"/>
              </a:lnSpc>
              <a:buNone/>
            </a:pPr>
            <a:r>
              <a:rPr lang="en-US" sz="2900" b="1" dirty="0">
                <a:solidFill>
                  <a:srgbClr val="252525"/>
                </a:solidFill>
                <a:latin typeface="Montserrat" pitchFamily="34" charset="0"/>
                <a:ea typeface="Montserrat" pitchFamily="34" charset="-122"/>
                <a:cs typeface="Montserrat" pitchFamily="34" charset="-120"/>
              </a:rPr>
              <a:t>WITH EXCEPTIONS</a:t>
            </a:r>
            <a:endParaRPr lang="en-US" sz="2900" dirty="0"/>
          </a:p>
        </p:txBody>
      </p:sp>
      <p:sp>
        <p:nvSpPr>
          <p:cNvPr id="13" name="Shape 11"/>
          <p:cNvSpPr/>
          <p:nvPr/>
        </p:nvSpPr>
        <p:spPr>
          <a:xfrm>
            <a:off x="457200" y="4368800"/>
            <a:ext cx="6642100" cy="0"/>
          </a:xfrm>
          <a:prstGeom prst="line">
            <a:avLst/>
          </a:prstGeom>
          <a:noFill/>
          <a:ln w="10160">
            <a:solidFill>
              <a:srgbClr val="252525"/>
            </a:solidFill>
            <a:prstDash val="solid"/>
          </a:ln>
        </p:spPr>
      </p:sp>
      <p:sp>
        <p:nvSpPr>
          <p:cNvPr id="14" name="Text 12"/>
          <p:cNvSpPr/>
          <p:nvPr/>
        </p:nvSpPr>
        <p:spPr>
          <a:xfrm>
            <a:off x="457200" y="4521200"/>
            <a:ext cx="1778000" cy="8890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Consistent evidence</a:t>
            </a:r>
            <a:endParaRPr lang="en-US" sz="1100" dirty="0"/>
          </a:p>
        </p:txBody>
      </p:sp>
      <p:sp>
        <p:nvSpPr>
          <p:cNvPr id="15" name="Text 13"/>
          <p:cNvSpPr/>
          <p:nvPr/>
        </p:nvSpPr>
        <p:spPr>
          <a:xfrm>
            <a:off x="2425700" y="4508500"/>
            <a:ext cx="4673600" cy="901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South Korea, Malaysia and Mauritius fit a productive-network account: skills, firms, infrastructure and market access worked together.</a:t>
            </a:r>
            <a:endParaRPr lang="en-US" sz="1050" dirty="0"/>
          </a:p>
        </p:txBody>
      </p:sp>
      <p:sp>
        <p:nvSpPr>
          <p:cNvPr id="16" name="Shape 14"/>
          <p:cNvSpPr/>
          <p:nvPr/>
        </p:nvSpPr>
        <p:spPr>
          <a:xfrm>
            <a:off x="457200" y="5549900"/>
            <a:ext cx="6642100" cy="0"/>
          </a:xfrm>
          <a:prstGeom prst="line">
            <a:avLst/>
          </a:prstGeom>
          <a:noFill/>
          <a:ln w="10160">
            <a:solidFill>
              <a:srgbClr val="252525"/>
            </a:solidFill>
            <a:prstDash val="solid"/>
          </a:ln>
        </p:spPr>
      </p:sp>
      <p:sp>
        <p:nvSpPr>
          <p:cNvPr id="17" name="Text 15"/>
          <p:cNvSpPr/>
          <p:nvPr/>
        </p:nvSpPr>
        <p:spPr>
          <a:xfrm>
            <a:off x="457200" y="5702300"/>
            <a:ext cx="1778000" cy="8890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Challenging case</a:t>
            </a:r>
            <a:endParaRPr lang="en-US" sz="1100" dirty="0"/>
          </a:p>
        </p:txBody>
      </p:sp>
      <p:sp>
        <p:nvSpPr>
          <p:cNvPr id="18" name="Text 16"/>
          <p:cNvSpPr/>
          <p:nvPr/>
        </p:nvSpPr>
        <p:spPr>
          <a:xfrm>
            <a:off x="2425700" y="5689600"/>
            <a:ext cx="4673600" cy="901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Botswana’s income gains challenge inherited infrastructure as a prerequisite. Mineral rents and institutions complicate the network story.</a:t>
            </a:r>
            <a:endParaRPr lang="en-US" sz="1050" dirty="0"/>
          </a:p>
        </p:txBody>
      </p:sp>
      <p:sp>
        <p:nvSpPr>
          <p:cNvPr id="19" name="Shape 17"/>
          <p:cNvSpPr/>
          <p:nvPr/>
        </p:nvSpPr>
        <p:spPr>
          <a:xfrm>
            <a:off x="457200" y="6731000"/>
            <a:ext cx="6642100" cy="0"/>
          </a:xfrm>
          <a:prstGeom prst="line">
            <a:avLst/>
          </a:prstGeom>
          <a:noFill/>
          <a:ln w="10160">
            <a:solidFill>
              <a:srgbClr val="252525"/>
            </a:solidFill>
            <a:prstDash val="solid"/>
          </a:ln>
        </p:spPr>
      </p:sp>
      <p:sp>
        <p:nvSpPr>
          <p:cNvPr id="20" name="Text 18"/>
          <p:cNvSpPr/>
          <p:nvPr/>
        </p:nvSpPr>
        <p:spPr>
          <a:xfrm>
            <a:off x="457200" y="6883400"/>
            <a:ext cx="1778000" cy="8890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Sufficiency fails</a:t>
            </a:r>
            <a:endParaRPr lang="en-US" sz="1100" dirty="0"/>
          </a:p>
        </p:txBody>
      </p:sp>
      <p:sp>
        <p:nvSpPr>
          <p:cNvPr id="21" name="Text 19"/>
          <p:cNvSpPr/>
          <p:nvPr/>
        </p:nvSpPr>
        <p:spPr>
          <a:xfrm>
            <a:off x="2425700" y="6870700"/>
            <a:ext cx="4673600" cy="901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Philippines shows that global connection can coexist with shallow domestic linkages. Export access is not the same as domestic learning.</a:t>
            </a:r>
            <a:endParaRPr lang="en-US" sz="1050" dirty="0"/>
          </a:p>
        </p:txBody>
      </p:sp>
      <p:sp>
        <p:nvSpPr>
          <p:cNvPr id="22" name="Text 20"/>
          <p:cNvSpPr/>
          <p:nvPr/>
        </p:nvSpPr>
        <p:spPr>
          <a:xfrm>
            <a:off x="457200" y="8178800"/>
            <a:ext cx="6642100" cy="2286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REVISE / REJECT IF</a:t>
            </a:r>
            <a:endParaRPr lang="en-US" sz="800" dirty="0"/>
          </a:p>
        </p:txBody>
      </p:sp>
      <p:sp>
        <p:nvSpPr>
          <p:cNvPr id="23" name="Text 21"/>
          <p:cNvSpPr/>
          <p:nvPr/>
        </p:nvSpPr>
        <p:spPr>
          <a:xfrm>
            <a:off x="457200" y="8483600"/>
            <a:ext cx="6642100" cy="342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Revise to the measured channel. Reject the causal ordering if deeper networks followed upgrading rather than preceding it.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05 / TEST 2</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Radius of Trust</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How far beyond family and close networks can economic cooperation scale?</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approved trust evidence pack and six-country theory matrix. WGI is retained only as governance context.</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20</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 project cannot show that generalized trust caused firm scale or national growth. Governance indicators cannot close direct-trust gaps.</a:t>
            </a:r>
            <a:endParaRPr lang="en-US" sz="900" dirty="0"/>
          </a:p>
        </p:txBody>
      </p:sp>
      <p:sp>
        <p:nvSpPr>
          <p:cNvPr id="12" name="Text 10"/>
          <p:cNvSpPr/>
          <p:nvPr/>
        </p:nvSpPr>
        <p:spPr>
          <a:xfrm>
            <a:off x="457200" y="3009900"/>
            <a:ext cx="6642100" cy="825500"/>
          </a:xfrm>
          <a:prstGeom prst="rect">
            <a:avLst/>
          </a:prstGeom>
          <a:noFill/>
          <a:ln/>
        </p:spPr>
        <p:txBody>
          <a:bodyPr wrap="square" lIns="0" tIns="0" rIns="0" bIns="0" rtlCol="0" anchor="t"/>
          <a:lstStyle/>
          <a:p>
            <a:pPr indent="0" marL="0">
              <a:lnSpc>
                <a:spcPct val="112000"/>
              </a:lnSpc>
              <a:buNone/>
            </a:pPr>
            <a:r>
              <a:rPr lang="en-US" sz="3800" b="1" dirty="0">
                <a:solidFill>
                  <a:srgbClr val="252525"/>
                </a:solidFill>
                <a:latin typeface="Montserrat" pitchFamily="34" charset="0"/>
                <a:ea typeface="Montserrat" pitchFamily="34" charset="-122"/>
                <a:cs typeface="Montserrat" pitchFamily="34" charset="-120"/>
              </a:rPr>
              <a:t>INCONCLUSIVE</a:t>
            </a:r>
            <a:endParaRPr lang="en-US" sz="3800" dirty="0"/>
          </a:p>
        </p:txBody>
      </p:sp>
      <p:sp>
        <p:nvSpPr>
          <p:cNvPr id="13" name="Text 11"/>
          <p:cNvSpPr/>
          <p:nvPr/>
        </p:nvSpPr>
        <p:spPr>
          <a:xfrm>
            <a:off x="457200" y="4279900"/>
            <a:ext cx="31115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What remains plausible</a:t>
            </a:r>
            <a:endParaRPr lang="en-US" sz="1400" dirty="0"/>
          </a:p>
        </p:txBody>
      </p:sp>
      <p:sp>
        <p:nvSpPr>
          <p:cNvPr id="14" name="Text 12"/>
          <p:cNvSpPr/>
          <p:nvPr/>
        </p:nvSpPr>
        <p:spPr>
          <a:xfrm>
            <a:off x="457200" y="4724400"/>
            <a:ext cx="3111500" cy="18288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Institutions and organisations may extend cooperation beyond close networks. Contracts, firms and other arrangements may substitute for personal familiarity.</a:t>
            </a:r>
            <a:endParaRPr lang="en-US" sz="1050" dirty="0"/>
          </a:p>
        </p:txBody>
      </p:sp>
      <p:sp>
        <p:nvSpPr>
          <p:cNvPr id="15" name="Text 13"/>
          <p:cNvSpPr/>
          <p:nvPr/>
        </p:nvSpPr>
        <p:spPr>
          <a:xfrm>
            <a:off x="3937000" y="4279900"/>
            <a:ext cx="3162300" cy="3683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What remains missing</a:t>
            </a:r>
            <a:endParaRPr lang="en-US" sz="1400" dirty="0"/>
          </a:p>
        </p:txBody>
      </p:sp>
      <p:sp>
        <p:nvSpPr>
          <p:cNvPr id="16" name="Text 14"/>
          <p:cNvSpPr/>
          <p:nvPr/>
        </p:nvSpPr>
        <p:spPr>
          <a:xfrm>
            <a:off x="3937000" y="4724400"/>
            <a:ext cx="3162300" cy="18288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Direct trust measures differ by target, question and year. Ghana and South Korea remain direct-trust gaps. There is no harmonised historical six-country test.</a:t>
            </a:r>
            <a:endParaRPr lang="en-US" sz="1050" dirty="0"/>
          </a:p>
        </p:txBody>
      </p:sp>
      <p:sp>
        <p:nvSpPr>
          <p:cNvPr id="17" name="Shape 15"/>
          <p:cNvSpPr/>
          <p:nvPr/>
        </p:nvSpPr>
        <p:spPr>
          <a:xfrm>
            <a:off x="457200" y="6794500"/>
            <a:ext cx="6642100" cy="0"/>
          </a:xfrm>
          <a:prstGeom prst="line">
            <a:avLst/>
          </a:prstGeom>
          <a:noFill/>
          <a:ln w="7620">
            <a:solidFill>
              <a:srgbClr val="B7B0A4"/>
            </a:solidFill>
            <a:prstDash val="solid"/>
          </a:ln>
        </p:spPr>
      </p:sp>
      <p:sp>
        <p:nvSpPr>
          <p:cNvPr id="18" name="Text 16"/>
          <p:cNvSpPr/>
          <p:nvPr/>
        </p:nvSpPr>
        <p:spPr>
          <a:xfrm>
            <a:off x="457200" y="7112000"/>
            <a:ext cx="6642100" cy="9906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Montserrat" pitchFamily="34" charset="0"/>
                <a:ea typeface="Montserrat" pitchFamily="34" charset="-122"/>
                <a:cs typeface="Montserrat" pitchFamily="34" charset="-120"/>
              </a:rPr>
              <a:t>Do not turn an evidence gap</a:t>
            </a:r>
            <a:endParaRPr lang="en-US" sz="2700" dirty="0"/>
          </a:p>
          <a:p>
            <a:pPr indent="0" marL="0">
              <a:lnSpc>
                <a:spcPct val="112000"/>
              </a:lnSpc>
              <a:buNone/>
            </a:pPr>
            <a:r>
              <a:rPr lang="en-US" sz="2700" b="1" dirty="0">
                <a:solidFill>
                  <a:srgbClr val="252525"/>
                </a:solidFill>
                <a:latin typeface="Montserrat" pitchFamily="34" charset="0"/>
                <a:ea typeface="Montserrat" pitchFamily="34" charset="-122"/>
                <a:cs typeface="Montserrat" pitchFamily="34" charset="-120"/>
              </a:rPr>
              <a:t>into a cultural verdict.</a:t>
            </a:r>
            <a:endParaRPr lang="en-US" sz="2700" dirty="0"/>
          </a:p>
        </p:txBody>
      </p:sp>
      <p:sp>
        <p:nvSpPr>
          <p:cNvPr id="19" name="Text 17"/>
          <p:cNvSpPr/>
          <p:nvPr/>
        </p:nvSpPr>
        <p:spPr>
          <a:xfrm>
            <a:off x="457200" y="8318500"/>
            <a:ext cx="6642100" cy="5080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REOPEN ONLY WITH comparable, weighted trust measures linked in time to firm-scale outcomes—and tests net of institutional substitutes.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05 / TEST 3</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Continuity + Adaptation</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Can a country learn industrially if direction changes every few years—and can continuity correct failure?</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127–130, 159–161, 242); Svirydzenka and Petri (2014, pp. 5–8, 17); World Bank (2020, Box 2); approved theory matrix for Malaysia and the Philippines. Maipose (2008, pp. 8–11).</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21</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Cases cannot isolate duration from state capacity, mineral rents, FDI, market access, shocks or prior success. Hofstede long-term orientation is not a duration measure.</a:t>
            </a:r>
            <a:endParaRPr lang="en-US" sz="900" dirty="0"/>
          </a:p>
        </p:txBody>
      </p:sp>
      <p:sp>
        <p:nvSpPr>
          <p:cNvPr id="12" name="Text 10"/>
          <p:cNvSpPr/>
          <p:nvPr/>
        </p:nvSpPr>
        <p:spPr>
          <a:xfrm>
            <a:off x="457200" y="2946400"/>
            <a:ext cx="6642100" cy="1028700"/>
          </a:xfrm>
          <a:prstGeom prst="rect">
            <a:avLst/>
          </a:prstGeom>
          <a:noFill/>
          <a:ln/>
        </p:spPr>
        <p:txBody>
          <a:bodyPr wrap="square" lIns="0" tIns="0" rIns="0" bIns="0" rtlCol="0" anchor="t"/>
          <a:lstStyle/>
          <a:p>
            <a:pPr indent="0" marL="0">
              <a:lnSpc>
                <a:spcPct val="112000"/>
              </a:lnSpc>
              <a:buNone/>
            </a:pPr>
            <a:r>
              <a:rPr lang="en-US" sz="2900" b="1" dirty="0">
                <a:solidFill>
                  <a:srgbClr val="252525"/>
                </a:solidFill>
                <a:latin typeface="Montserrat" pitchFamily="34" charset="0"/>
                <a:ea typeface="Montserrat" pitchFamily="34" charset="-122"/>
                <a:cs typeface="Montserrat" pitchFamily="34" charset="-120"/>
              </a:rPr>
              <a:t>SUPPORTED</a:t>
            </a:r>
            <a:endParaRPr lang="en-US" sz="2900" dirty="0"/>
          </a:p>
          <a:p>
            <a:pPr indent="0" marL="0">
              <a:lnSpc>
                <a:spcPct val="112000"/>
              </a:lnSpc>
              <a:buNone/>
            </a:pPr>
            <a:r>
              <a:rPr lang="en-US" sz="2900" b="1" dirty="0">
                <a:solidFill>
                  <a:srgbClr val="252525"/>
                </a:solidFill>
                <a:latin typeface="Montserrat" pitchFamily="34" charset="0"/>
                <a:ea typeface="Montserrat" pitchFamily="34" charset="-122"/>
                <a:cs typeface="Montserrat" pitchFamily="34" charset="-120"/>
              </a:rPr>
              <a:t>WITH EXCEPTIONS</a:t>
            </a:r>
            <a:endParaRPr lang="en-US" sz="2900" dirty="0"/>
          </a:p>
        </p:txBody>
      </p:sp>
      <p:sp>
        <p:nvSpPr>
          <p:cNvPr id="13" name="Shape 11"/>
          <p:cNvSpPr/>
          <p:nvPr/>
        </p:nvSpPr>
        <p:spPr>
          <a:xfrm>
            <a:off x="457200" y="4356100"/>
            <a:ext cx="6642100" cy="0"/>
          </a:xfrm>
          <a:prstGeom prst="line">
            <a:avLst/>
          </a:prstGeom>
          <a:noFill/>
          <a:ln w="10160">
            <a:solidFill>
              <a:srgbClr val="252525"/>
            </a:solidFill>
            <a:prstDash val="solid"/>
          </a:ln>
        </p:spPr>
      </p:sp>
      <p:sp>
        <p:nvSpPr>
          <p:cNvPr id="14" name="Text 12"/>
          <p:cNvSpPr/>
          <p:nvPr/>
        </p:nvSpPr>
        <p:spPr>
          <a:xfrm>
            <a:off x="457200" y="4508500"/>
            <a:ext cx="1778000" cy="8890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Duration + correction</a:t>
            </a:r>
            <a:endParaRPr lang="en-US" sz="1100" dirty="0"/>
          </a:p>
        </p:txBody>
      </p:sp>
      <p:sp>
        <p:nvSpPr>
          <p:cNvPr id="15" name="Text 13"/>
          <p:cNvSpPr/>
          <p:nvPr/>
        </p:nvSpPr>
        <p:spPr>
          <a:xfrm>
            <a:off x="2425700" y="4495800"/>
            <a:ext cx="4673600" cy="901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South Korea, Mauritius, Malaysia and the Philippines are consistent with durable direction plus feedback, learning and adaptation.</a:t>
            </a:r>
            <a:endParaRPr lang="en-US" sz="1050" dirty="0"/>
          </a:p>
        </p:txBody>
      </p:sp>
      <p:sp>
        <p:nvSpPr>
          <p:cNvPr id="16" name="Shape 14"/>
          <p:cNvSpPr/>
          <p:nvPr/>
        </p:nvSpPr>
        <p:spPr>
          <a:xfrm>
            <a:off x="457200" y="5588000"/>
            <a:ext cx="6642100" cy="0"/>
          </a:xfrm>
          <a:prstGeom prst="line">
            <a:avLst/>
          </a:prstGeom>
          <a:noFill/>
          <a:ln w="10160">
            <a:solidFill>
              <a:srgbClr val="252525"/>
            </a:solidFill>
            <a:prstDash val="solid"/>
          </a:ln>
        </p:spPr>
      </p:sp>
      <p:sp>
        <p:nvSpPr>
          <p:cNvPr id="17" name="Text 15"/>
          <p:cNvSpPr/>
          <p:nvPr/>
        </p:nvSpPr>
        <p:spPr>
          <a:xfrm>
            <a:off x="457200" y="5740400"/>
            <a:ext cx="1778000" cy="8255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Continuity can fail</a:t>
            </a:r>
            <a:endParaRPr lang="en-US" sz="1100" dirty="0"/>
          </a:p>
        </p:txBody>
      </p:sp>
      <p:sp>
        <p:nvSpPr>
          <p:cNvPr id="18" name="Text 16"/>
          <p:cNvSpPr/>
          <p:nvPr/>
        </p:nvSpPr>
        <p:spPr>
          <a:xfrm>
            <a:off x="2425700" y="5727700"/>
            <a:ext cx="46736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Stable policy may protect weak firms or ineffective programmes. Continuing the same failure is not industrial learning.</a:t>
            </a:r>
            <a:endParaRPr lang="en-US" sz="1050" dirty="0"/>
          </a:p>
        </p:txBody>
      </p:sp>
      <p:sp>
        <p:nvSpPr>
          <p:cNvPr id="19" name="Shape 17"/>
          <p:cNvSpPr/>
          <p:nvPr/>
        </p:nvSpPr>
        <p:spPr>
          <a:xfrm>
            <a:off x="457200" y="6769100"/>
            <a:ext cx="6642100" cy="0"/>
          </a:xfrm>
          <a:prstGeom prst="line">
            <a:avLst/>
          </a:prstGeom>
          <a:noFill/>
          <a:ln w="10160">
            <a:solidFill>
              <a:srgbClr val="252525"/>
            </a:solidFill>
            <a:prstDash val="solid"/>
          </a:ln>
        </p:spPr>
      </p:sp>
      <p:sp>
        <p:nvSpPr>
          <p:cNvPr id="20" name="Text 18"/>
          <p:cNvSpPr/>
          <p:nvPr/>
        </p:nvSpPr>
        <p:spPr>
          <a:xfrm>
            <a:off x="457200" y="6921500"/>
            <a:ext cx="1778000" cy="8890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Botswana’s warning</a:t>
            </a:r>
            <a:endParaRPr lang="en-US" sz="1100" dirty="0"/>
          </a:p>
        </p:txBody>
      </p:sp>
      <p:sp>
        <p:nvSpPr>
          <p:cNvPr id="21" name="Text 19"/>
          <p:cNvSpPr/>
          <p:nvPr/>
        </p:nvSpPr>
        <p:spPr>
          <a:xfrm>
            <a:off x="2425700" y="6908800"/>
            <a:ext cx="4673600" cy="901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Accumulation without broad diversification is a warning—not a direct policy-duration test. Resources and institutional choices remain central.</a:t>
            </a:r>
            <a:endParaRPr lang="en-US" sz="1050" dirty="0"/>
          </a:p>
        </p:txBody>
      </p:sp>
      <p:sp>
        <p:nvSpPr>
          <p:cNvPr id="22" name="Text 20"/>
          <p:cNvSpPr/>
          <p:nvPr/>
        </p:nvSpPr>
        <p:spPr>
          <a:xfrm>
            <a:off x="457200" y="8191500"/>
            <a:ext cx="6642100" cy="2286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REVISE / REJECT IF</a:t>
            </a:r>
            <a:endParaRPr lang="en-US" sz="800" dirty="0"/>
          </a:p>
        </p:txBody>
      </p:sp>
      <p:sp>
        <p:nvSpPr>
          <p:cNvPr id="23" name="Text 21"/>
          <p:cNvSpPr/>
          <p:nvPr/>
        </p:nvSpPr>
        <p:spPr>
          <a:xfrm>
            <a:off x="457200" y="8483600"/>
            <a:ext cx="6642100" cy="342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Revise if continuity yields accumulation without variety; reject a strong claim when durable direction repeatedly preserves failure.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05 / THE EXCEPTIONS MATTER</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The counterexamples change the answer</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Four cases make a uniform continental story untenable. Each challenges a different shortcut.</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approved theory matrix. Photographs: credits p. 27.</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22</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These cases do not isolate culture or a universal growth formula. An exception changes the scope of a claim; it does not automatically establish its rival.</a:t>
            </a:r>
            <a:endParaRPr lang="en-US" sz="900" dirty="0"/>
          </a:p>
        </p:txBody>
      </p:sp>
      <p:sp>
        <p:nvSpPr>
          <p:cNvPr id="12" name="Shape 10"/>
          <p:cNvSpPr/>
          <p:nvPr/>
        </p:nvSpPr>
        <p:spPr>
          <a:xfrm>
            <a:off x="469900" y="2971800"/>
            <a:ext cx="101600" cy="101600"/>
          </a:xfrm>
          <a:prstGeom prst="rect">
            <a:avLst/>
          </a:prstGeom>
          <a:solidFill>
            <a:srgbClr val="3F684E"/>
          </a:solidFill>
          <a:ln w="7620">
            <a:solidFill>
              <a:srgbClr val="252525"/>
            </a:solidFill>
            <a:prstDash val="solid"/>
          </a:ln>
        </p:spPr>
      </p:sp>
      <p:sp>
        <p:nvSpPr>
          <p:cNvPr id="13" name="Text 11"/>
          <p:cNvSpPr/>
          <p:nvPr/>
        </p:nvSpPr>
        <p:spPr>
          <a:xfrm>
            <a:off x="685800" y="2921000"/>
            <a:ext cx="2438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Botswana</a:t>
            </a:r>
            <a:endParaRPr lang="en-US" sz="1100" dirty="0"/>
          </a:p>
        </p:txBody>
      </p:sp>
      <p:pic>
        <p:nvPicPr>
          <p:cNvPr id="14" name="Image 0" descr="/Users/marcusgrude-grodem/Documents/GitHub/USIL/africa-asia-development-magazine/design/canva_editorial_draft/assets/print/botswana_gaborone.jpg">    </p:cNvPr>
          <p:cNvPicPr>
            <a:picLocks noChangeAspect="1"/>
          </p:cNvPicPr>
          <p:nvPr/>
        </p:nvPicPr>
        <p:blipFill>
          <a:blip r:embed="rId1"/>
          <a:stretch>
            <a:fillRect/>
          </a:stretch>
        </p:blipFill>
        <p:spPr>
          <a:xfrm>
            <a:off x="645583" y="3390900"/>
            <a:ext cx="1693333" cy="1270000"/>
          </a:xfrm>
          <a:prstGeom prst="rect">
            <a:avLst/>
          </a:prstGeom>
        </p:spPr>
      </p:pic>
      <p:sp>
        <p:nvSpPr>
          <p:cNvPr id="15" name="Text 12"/>
          <p:cNvSpPr/>
          <p:nvPr/>
        </p:nvSpPr>
        <p:spPr>
          <a:xfrm>
            <a:off x="457200" y="4711700"/>
            <a:ext cx="2235200" cy="2921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Gaborone Bus Rank · 2015</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Everyday mobility, not a growth measure.</a:t>
            </a:r>
            <a:endParaRPr lang="en-US" sz="800" dirty="0"/>
          </a:p>
        </p:txBody>
      </p:sp>
      <p:sp>
        <p:nvSpPr>
          <p:cNvPr id="16" name="Text 13"/>
          <p:cNvSpPr/>
          <p:nvPr/>
        </p:nvSpPr>
        <p:spPr>
          <a:xfrm>
            <a:off x="2781300" y="3352800"/>
            <a:ext cx="4318000" cy="1270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Supports: resource management and investment.</a:t>
            </a:r>
            <a:endParaRPr lang="en-US" sz="1050" dirty="0"/>
          </a:p>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Challenges: inherited infrastructure as a prerequisite.</a:t>
            </a:r>
            <a:endParaRPr lang="en-US" sz="1050" dirty="0"/>
          </a:p>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Cannot prove: broad diversification or a cultural cause.</a:t>
            </a:r>
            <a:endParaRPr lang="en-US" sz="1050" dirty="0"/>
          </a:p>
        </p:txBody>
      </p:sp>
      <p:sp>
        <p:nvSpPr>
          <p:cNvPr id="17" name="Shape 14"/>
          <p:cNvSpPr/>
          <p:nvPr/>
        </p:nvSpPr>
        <p:spPr>
          <a:xfrm>
            <a:off x="457200" y="5029200"/>
            <a:ext cx="6642100" cy="0"/>
          </a:xfrm>
          <a:prstGeom prst="line">
            <a:avLst/>
          </a:prstGeom>
          <a:noFill/>
          <a:ln w="7620">
            <a:solidFill>
              <a:srgbClr val="B7B0A4"/>
            </a:solidFill>
            <a:prstDash val="solid"/>
          </a:ln>
        </p:spPr>
      </p:sp>
      <p:sp>
        <p:nvSpPr>
          <p:cNvPr id="18" name="Shape 15"/>
          <p:cNvSpPr/>
          <p:nvPr/>
        </p:nvSpPr>
        <p:spPr>
          <a:xfrm>
            <a:off x="469900" y="5257800"/>
            <a:ext cx="101600" cy="101600"/>
          </a:xfrm>
          <a:prstGeom prst="triangle">
            <a:avLst/>
          </a:prstGeom>
          <a:solidFill>
            <a:srgbClr val="D6A23A"/>
          </a:solidFill>
          <a:ln w="7620">
            <a:solidFill>
              <a:srgbClr val="252525"/>
            </a:solidFill>
            <a:prstDash val="solid"/>
          </a:ln>
        </p:spPr>
      </p:sp>
      <p:sp>
        <p:nvSpPr>
          <p:cNvPr id="19" name="Text 16"/>
          <p:cNvSpPr/>
          <p:nvPr/>
        </p:nvSpPr>
        <p:spPr>
          <a:xfrm>
            <a:off x="685800" y="5207000"/>
            <a:ext cx="2438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Mauritius</a:t>
            </a:r>
            <a:endParaRPr lang="en-US" sz="1100" dirty="0"/>
          </a:p>
        </p:txBody>
      </p:sp>
      <p:sp>
        <p:nvSpPr>
          <p:cNvPr id="20" name="Text 17"/>
          <p:cNvSpPr/>
          <p:nvPr/>
        </p:nvSpPr>
        <p:spPr>
          <a:xfrm>
            <a:off x="457200" y="5689600"/>
            <a:ext cx="3949700" cy="11811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Supports: adaptation and diversification.</a:t>
            </a:r>
            <a:endParaRPr lang="en-US" sz="1050" dirty="0"/>
          </a:p>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Challenges: fixed cultural destiny.</a:t>
            </a:r>
            <a:endParaRPr lang="en-US" sz="1050" dirty="0"/>
          </a:p>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Cannot prove: continuity alone caused growth.</a:t>
            </a:r>
            <a:endParaRPr lang="en-US" sz="1050" dirty="0"/>
          </a:p>
        </p:txBody>
      </p:sp>
      <p:pic>
        <p:nvPicPr>
          <p:cNvPr id="21" name="Image 1" descr="/Users/marcusgrude-grodem/Documents/GitHub/USIL/africa-asia-development-magazine/design/canva_editorial_draft/assets/print/mauritius_market.jpg">    </p:cNvPr>
          <p:cNvPicPr>
            <a:picLocks noChangeAspect="1"/>
          </p:cNvPicPr>
          <p:nvPr/>
        </p:nvPicPr>
        <p:blipFill>
          <a:blip r:embed="rId2"/>
          <a:stretch>
            <a:fillRect/>
          </a:stretch>
        </p:blipFill>
        <p:spPr>
          <a:xfrm>
            <a:off x="5595836" y="5219700"/>
            <a:ext cx="949528" cy="1422400"/>
          </a:xfrm>
          <a:prstGeom prst="rect">
            <a:avLst/>
          </a:prstGeom>
        </p:spPr>
      </p:pic>
      <p:sp>
        <p:nvSpPr>
          <p:cNvPr id="22" name="Text 18"/>
          <p:cNvSpPr/>
          <p:nvPr/>
        </p:nvSpPr>
        <p:spPr>
          <a:xfrm>
            <a:off x="5041900" y="6705600"/>
            <a:ext cx="2057400" cy="2921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Port Louis market · 2015</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Commerce, not measured trust.</a:t>
            </a:r>
            <a:endParaRPr lang="en-US" sz="800" dirty="0"/>
          </a:p>
        </p:txBody>
      </p:sp>
      <p:sp>
        <p:nvSpPr>
          <p:cNvPr id="23" name="Shape 19"/>
          <p:cNvSpPr/>
          <p:nvPr/>
        </p:nvSpPr>
        <p:spPr>
          <a:xfrm>
            <a:off x="457200" y="7023100"/>
            <a:ext cx="6642100" cy="0"/>
          </a:xfrm>
          <a:prstGeom prst="line">
            <a:avLst/>
          </a:prstGeom>
          <a:noFill/>
          <a:ln w="7620">
            <a:solidFill>
              <a:srgbClr val="B7B0A4"/>
            </a:solidFill>
            <a:prstDash val="solid"/>
          </a:ln>
        </p:spPr>
      </p:sp>
      <p:sp>
        <p:nvSpPr>
          <p:cNvPr id="24" name="Shape 20"/>
          <p:cNvSpPr/>
          <p:nvPr/>
        </p:nvSpPr>
        <p:spPr>
          <a:xfrm>
            <a:off x="469900" y="7264400"/>
            <a:ext cx="101600" cy="101600"/>
          </a:xfrm>
          <a:prstGeom prst="hexagon">
            <a:avLst/>
          </a:prstGeom>
          <a:solidFill>
            <a:srgbClr val="3E7568"/>
          </a:solidFill>
          <a:ln w="7620">
            <a:solidFill>
              <a:srgbClr val="252525"/>
            </a:solidFill>
            <a:prstDash val="solid"/>
          </a:ln>
        </p:spPr>
      </p:sp>
      <p:sp>
        <p:nvSpPr>
          <p:cNvPr id="25" name="Text 21"/>
          <p:cNvSpPr/>
          <p:nvPr/>
        </p:nvSpPr>
        <p:spPr>
          <a:xfrm>
            <a:off x="685800" y="7213600"/>
            <a:ext cx="28956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Malaysia</a:t>
            </a:r>
            <a:endParaRPr lang="en-US" sz="1100" dirty="0"/>
          </a:p>
        </p:txBody>
      </p:sp>
      <p:sp>
        <p:nvSpPr>
          <p:cNvPr id="26" name="Shape 22"/>
          <p:cNvSpPr/>
          <p:nvPr/>
        </p:nvSpPr>
        <p:spPr>
          <a:xfrm>
            <a:off x="3987800" y="7315200"/>
            <a:ext cx="101600" cy="0"/>
          </a:xfrm>
          <a:prstGeom prst="line">
            <a:avLst/>
          </a:prstGeom>
          <a:noFill/>
          <a:ln w="40640">
            <a:solidFill>
              <a:srgbClr val="252525"/>
            </a:solidFill>
            <a:prstDash val="solid"/>
          </a:ln>
        </p:spPr>
      </p:sp>
      <p:sp>
        <p:nvSpPr>
          <p:cNvPr id="27" name="Shape 23"/>
          <p:cNvSpPr/>
          <p:nvPr/>
        </p:nvSpPr>
        <p:spPr>
          <a:xfrm>
            <a:off x="4038600" y="7264400"/>
            <a:ext cx="0" cy="101600"/>
          </a:xfrm>
          <a:prstGeom prst="line">
            <a:avLst/>
          </a:prstGeom>
          <a:noFill/>
          <a:ln w="40640">
            <a:solidFill>
              <a:srgbClr val="252525"/>
            </a:solidFill>
            <a:prstDash val="solid"/>
          </a:ln>
        </p:spPr>
      </p:sp>
      <p:sp>
        <p:nvSpPr>
          <p:cNvPr id="28" name="Shape 24"/>
          <p:cNvSpPr/>
          <p:nvPr/>
        </p:nvSpPr>
        <p:spPr>
          <a:xfrm>
            <a:off x="3987800" y="7315200"/>
            <a:ext cx="101600" cy="0"/>
          </a:xfrm>
          <a:prstGeom prst="line">
            <a:avLst/>
          </a:prstGeom>
          <a:noFill/>
          <a:ln w="22860">
            <a:solidFill>
              <a:srgbClr val="A63A3A"/>
            </a:solidFill>
            <a:prstDash val="solid"/>
          </a:ln>
        </p:spPr>
      </p:sp>
      <p:sp>
        <p:nvSpPr>
          <p:cNvPr id="29" name="Shape 25"/>
          <p:cNvSpPr/>
          <p:nvPr/>
        </p:nvSpPr>
        <p:spPr>
          <a:xfrm>
            <a:off x="4038600" y="7264400"/>
            <a:ext cx="0" cy="101600"/>
          </a:xfrm>
          <a:prstGeom prst="line">
            <a:avLst/>
          </a:prstGeom>
          <a:noFill/>
          <a:ln w="22860">
            <a:solidFill>
              <a:srgbClr val="A63A3A"/>
            </a:solidFill>
            <a:prstDash val="solid"/>
          </a:ln>
        </p:spPr>
      </p:sp>
      <p:sp>
        <p:nvSpPr>
          <p:cNvPr id="30" name="Text 26"/>
          <p:cNvSpPr/>
          <p:nvPr/>
        </p:nvSpPr>
        <p:spPr>
          <a:xfrm>
            <a:off x="4203700" y="7213600"/>
            <a:ext cx="28956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Philippines</a:t>
            </a:r>
            <a:endParaRPr lang="en-US" sz="1100" dirty="0"/>
          </a:p>
        </p:txBody>
      </p:sp>
      <p:sp>
        <p:nvSpPr>
          <p:cNvPr id="31" name="Text 27"/>
          <p:cNvSpPr/>
          <p:nvPr/>
        </p:nvSpPr>
        <p:spPr>
          <a:xfrm>
            <a:off x="457200" y="7721600"/>
            <a:ext cx="3124200" cy="9652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Supports: coordinated productive links.</a:t>
            </a:r>
            <a:endParaRPr lang="en-US" sz="950" dirty="0"/>
          </a:p>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Challenges: exports = local capability.</a:t>
            </a:r>
            <a:endParaRPr lang="en-US" sz="950" dirty="0"/>
          </a:p>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Cannot prove: FDI guarantees upgrading.</a:t>
            </a:r>
            <a:endParaRPr lang="en-US" sz="950" dirty="0"/>
          </a:p>
        </p:txBody>
      </p:sp>
      <p:sp>
        <p:nvSpPr>
          <p:cNvPr id="32" name="Text 28"/>
          <p:cNvSpPr/>
          <p:nvPr/>
        </p:nvSpPr>
        <p:spPr>
          <a:xfrm>
            <a:off x="3975100" y="7721600"/>
            <a:ext cx="3124200" cy="9652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Supports: the need for deeper linkages.</a:t>
            </a:r>
            <a:endParaRPr lang="en-US" sz="950" dirty="0"/>
          </a:p>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Challenges: one successful “Asia” model.</a:t>
            </a:r>
            <a:endParaRPr lang="en-US" sz="950" dirty="0"/>
          </a:p>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Cannot prove: culture caused interruption.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06 / SYNTHESIS</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What the combined evidence says</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The strongest bounded explanation centres on productive capability—not fixed regional culture.</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Original group synthesis of approved theory matrix and evidence packs. World Bank (1993, pp. 4–7, 20–26, 79–80); World Bank (2020); Maipose (2008); Svirydzenka and Petri (2014); Hofstede (2011).</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23</a:t>
            </a:r>
            <a:endParaRPr lang="en-US" sz="1100" dirty="0"/>
          </a:p>
        </p:txBody>
      </p:sp>
      <p:sp>
        <p:nvSpPr>
          <p:cNvPr id="10" name="Text 8"/>
          <p:cNvSpPr/>
          <p:nvPr/>
        </p:nvSpPr>
        <p:spPr>
          <a:xfrm>
            <a:off x="457200" y="88646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WHAT THIS CANNOT PROVE</a:t>
            </a:r>
            <a:endParaRPr lang="en-US" sz="800" dirty="0"/>
          </a:p>
        </p:txBody>
      </p:sp>
      <p:sp>
        <p:nvSpPr>
          <p:cNvPr id="11" name="Text 9"/>
          <p:cNvSpPr/>
          <p:nvPr/>
        </p:nvSpPr>
        <p:spPr>
          <a:xfrm>
            <a:off x="457200" y="9080500"/>
            <a:ext cx="6642100" cy="4318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This is a bounded comparative interpretation, not an estimated causal decomposition. The six cases cannot represent every African or Asian economy.</a:t>
            </a:r>
            <a:endParaRPr lang="en-US" sz="900" dirty="0"/>
          </a:p>
        </p:txBody>
      </p:sp>
      <p:sp>
        <p:nvSpPr>
          <p:cNvPr id="12" name="Text 10"/>
          <p:cNvSpPr/>
          <p:nvPr/>
        </p:nvSpPr>
        <p:spPr>
          <a:xfrm>
            <a:off x="457200" y="3009900"/>
            <a:ext cx="6642100" cy="1168400"/>
          </a:xfrm>
          <a:prstGeom prst="rect">
            <a:avLst/>
          </a:prstGeom>
          <a:noFill/>
          <a:ln/>
        </p:spPr>
        <p:txBody>
          <a:bodyPr wrap="square" lIns="0" tIns="0" rIns="0" bIns="0" rtlCol="0" anchor="t"/>
          <a:lstStyle/>
          <a:p>
            <a:pPr indent="0" marL="0">
              <a:lnSpc>
                <a:spcPct val="112000"/>
              </a:lnSpc>
              <a:buNone/>
            </a:pPr>
            <a:r>
              <a:rPr lang="en-US" sz="3800" b="1" dirty="0">
                <a:solidFill>
                  <a:srgbClr val="252525"/>
                </a:solidFill>
                <a:latin typeface="Montserrat" pitchFamily="34" charset="0"/>
                <a:ea typeface="Montserrat" pitchFamily="34" charset="-122"/>
                <a:cs typeface="Montserrat" pitchFamily="34" charset="-120"/>
              </a:rPr>
              <a:t>PRODUCTIVE</a:t>
            </a:r>
            <a:endParaRPr lang="en-US" sz="3800" dirty="0"/>
          </a:p>
          <a:p>
            <a:pPr indent="0" marL="0">
              <a:lnSpc>
                <a:spcPct val="112000"/>
              </a:lnSpc>
              <a:buNone/>
            </a:pPr>
            <a:r>
              <a:rPr lang="en-US" sz="3800" b="1" dirty="0">
                <a:solidFill>
                  <a:srgbClr val="252525"/>
                </a:solidFill>
                <a:latin typeface="Montserrat" pitchFamily="34" charset="0"/>
                <a:ea typeface="Montserrat" pitchFamily="34" charset="-122"/>
                <a:cs typeface="Montserrat" pitchFamily="34" charset="-120"/>
              </a:rPr>
              <a:t>CAPABILITY</a:t>
            </a:r>
            <a:endParaRPr lang="en-US" sz="3800" dirty="0"/>
          </a:p>
        </p:txBody>
      </p:sp>
      <p:sp>
        <p:nvSpPr>
          <p:cNvPr id="13" name="Text 11"/>
          <p:cNvSpPr/>
          <p:nvPr/>
        </p:nvSpPr>
        <p:spPr>
          <a:xfrm>
            <a:off x="457200" y="4394200"/>
            <a:ext cx="6642100" cy="5969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History · institutions · resources · markets · policy</a:t>
            </a:r>
            <a:endParaRPr lang="en-US" sz="1400" dirty="0"/>
          </a:p>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external conditions · culture</a:t>
            </a:r>
            <a:endParaRPr lang="en-US" sz="1400" dirty="0"/>
          </a:p>
        </p:txBody>
      </p:sp>
      <p:sp>
        <p:nvSpPr>
          <p:cNvPr id="14" name="Text 12"/>
          <p:cNvSpPr/>
          <p:nvPr/>
        </p:nvSpPr>
        <p:spPr>
          <a:xfrm>
            <a:off x="457200" y="5384800"/>
            <a:ext cx="6642100" cy="19431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Divergence depended less on fixed regional culture than on whether states, firms, workers and external partners built and disciplined productive capabilities over time. Education, agricultural change, infrastructure, investment coordination, technology access and exports mattered in different sequences. Their effects depended on institutions, resources, distribution, history and international conditions. Culture may influence coordination, legitimacy and organisational practice, but it is not a stand-alone explanation.</a:t>
            </a:r>
            <a:endParaRPr lang="en-US" sz="1200" dirty="0"/>
          </a:p>
        </p:txBody>
      </p:sp>
      <p:sp>
        <p:nvSpPr>
          <p:cNvPr id="15" name="Shape 13"/>
          <p:cNvSpPr/>
          <p:nvPr/>
        </p:nvSpPr>
        <p:spPr>
          <a:xfrm>
            <a:off x="457200" y="7543800"/>
            <a:ext cx="6642100" cy="0"/>
          </a:xfrm>
          <a:prstGeom prst="line">
            <a:avLst/>
          </a:prstGeom>
          <a:noFill/>
          <a:ln w="7620">
            <a:solidFill>
              <a:srgbClr val="B7B0A4"/>
            </a:solidFill>
            <a:prstDash val="solid"/>
          </a:ln>
        </p:spPr>
      </p:sp>
      <p:sp>
        <p:nvSpPr>
          <p:cNvPr id="16" name="Text 14"/>
          <p:cNvSpPr/>
          <p:nvPr/>
        </p:nvSpPr>
        <p:spPr>
          <a:xfrm>
            <a:off x="457200" y="7620000"/>
            <a:ext cx="33274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Connected Development</a:t>
            </a:r>
            <a:endParaRPr lang="en-US" sz="1050" dirty="0"/>
          </a:p>
        </p:txBody>
      </p:sp>
      <p:sp>
        <p:nvSpPr>
          <p:cNvPr id="17" name="Text 15"/>
          <p:cNvSpPr/>
          <p:nvPr/>
        </p:nvSpPr>
        <p:spPr>
          <a:xfrm>
            <a:off x="3937000" y="7620000"/>
            <a:ext cx="3162300" cy="279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Supported with exceptions</a:t>
            </a:r>
            <a:endParaRPr lang="en-US" sz="1050" dirty="0"/>
          </a:p>
        </p:txBody>
      </p:sp>
      <p:sp>
        <p:nvSpPr>
          <p:cNvPr id="18" name="Shape 16"/>
          <p:cNvSpPr/>
          <p:nvPr/>
        </p:nvSpPr>
        <p:spPr>
          <a:xfrm>
            <a:off x="457200" y="7924800"/>
            <a:ext cx="6642100" cy="0"/>
          </a:xfrm>
          <a:prstGeom prst="line">
            <a:avLst/>
          </a:prstGeom>
          <a:noFill/>
          <a:ln w="7620">
            <a:solidFill>
              <a:srgbClr val="B7B0A4"/>
            </a:solidFill>
            <a:prstDash val="solid"/>
          </a:ln>
        </p:spPr>
      </p:sp>
      <p:sp>
        <p:nvSpPr>
          <p:cNvPr id="19" name="Text 17"/>
          <p:cNvSpPr/>
          <p:nvPr/>
        </p:nvSpPr>
        <p:spPr>
          <a:xfrm>
            <a:off x="457200" y="8001000"/>
            <a:ext cx="33274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Radius of Trust</a:t>
            </a:r>
            <a:endParaRPr lang="en-US" sz="1050" dirty="0"/>
          </a:p>
        </p:txBody>
      </p:sp>
      <p:sp>
        <p:nvSpPr>
          <p:cNvPr id="20" name="Text 18"/>
          <p:cNvSpPr/>
          <p:nvPr/>
        </p:nvSpPr>
        <p:spPr>
          <a:xfrm>
            <a:off x="3937000" y="8001000"/>
            <a:ext cx="3162300" cy="279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Inconclusive</a:t>
            </a:r>
            <a:endParaRPr lang="en-US" sz="1050" dirty="0"/>
          </a:p>
        </p:txBody>
      </p:sp>
      <p:sp>
        <p:nvSpPr>
          <p:cNvPr id="21" name="Shape 19"/>
          <p:cNvSpPr/>
          <p:nvPr/>
        </p:nvSpPr>
        <p:spPr>
          <a:xfrm>
            <a:off x="457200" y="8305800"/>
            <a:ext cx="6642100" cy="0"/>
          </a:xfrm>
          <a:prstGeom prst="line">
            <a:avLst/>
          </a:prstGeom>
          <a:noFill/>
          <a:ln w="7620">
            <a:solidFill>
              <a:srgbClr val="B7B0A4"/>
            </a:solidFill>
            <a:prstDash val="solid"/>
          </a:ln>
        </p:spPr>
      </p:sp>
      <p:sp>
        <p:nvSpPr>
          <p:cNvPr id="22" name="Text 20"/>
          <p:cNvSpPr/>
          <p:nvPr/>
        </p:nvSpPr>
        <p:spPr>
          <a:xfrm>
            <a:off x="457200" y="8382000"/>
            <a:ext cx="33274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Continuity + Adaptation</a:t>
            </a:r>
            <a:endParaRPr lang="en-US" sz="1050" dirty="0"/>
          </a:p>
        </p:txBody>
      </p:sp>
      <p:sp>
        <p:nvSpPr>
          <p:cNvPr id="23" name="Text 21"/>
          <p:cNvSpPr/>
          <p:nvPr/>
        </p:nvSpPr>
        <p:spPr>
          <a:xfrm>
            <a:off x="3937000" y="8382000"/>
            <a:ext cx="3162300" cy="279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Supported with exceptions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06 / TRANSFER MECHANISMS</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What can travel—and what must adapt?</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Lessons are conditional mechanisms to examine, not national models to transplant.</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Original group conclusions grounded in the approved theory matrix: World Bank (1993, 2020); Maipose (2008); Svirydzenka and Petri (2014); OECD (2017). These are reasoned implications, not independently identified causal effects.</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24</a:t>
            </a:r>
            <a:endParaRPr lang="en-US" sz="1100" dirty="0"/>
          </a:p>
        </p:txBody>
      </p:sp>
      <p:sp>
        <p:nvSpPr>
          <p:cNvPr id="10" name="Text 8"/>
          <p:cNvSpPr/>
          <p:nvPr/>
        </p:nvSpPr>
        <p:spPr>
          <a:xfrm>
            <a:off x="457200" y="2908300"/>
            <a:ext cx="647700" cy="444500"/>
          </a:xfrm>
          <a:prstGeom prst="rect">
            <a:avLst/>
          </a:prstGeom>
          <a:noFill/>
          <a:ln/>
        </p:spPr>
        <p:txBody>
          <a:bodyPr wrap="square" lIns="0" tIns="0" rIns="0" bIns="0" rtlCol="0" anchor="t"/>
          <a:lstStyle/>
          <a:p>
            <a:pPr indent="0" marL="0">
              <a:lnSpc>
                <a:spcPct val="112000"/>
              </a:lnSpc>
              <a:buNone/>
            </a:pPr>
            <a:r>
              <a:rPr lang="en-US" sz="2400" b="1" dirty="0">
                <a:solidFill>
                  <a:srgbClr val="514E48"/>
                </a:solidFill>
                <a:latin typeface="Montserrat" pitchFamily="34" charset="0"/>
                <a:ea typeface="Montserrat" pitchFamily="34" charset="-122"/>
                <a:cs typeface="Montserrat" pitchFamily="34" charset="-120"/>
              </a:rPr>
              <a:t>01</a:t>
            </a:r>
            <a:endParaRPr lang="en-US" sz="2400" dirty="0"/>
          </a:p>
        </p:txBody>
      </p:sp>
      <p:sp>
        <p:nvSpPr>
          <p:cNvPr id="11" name="Text 9"/>
          <p:cNvSpPr/>
          <p:nvPr/>
        </p:nvSpPr>
        <p:spPr>
          <a:xfrm>
            <a:off x="1320800" y="2908300"/>
            <a:ext cx="5778500" cy="3683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Build productive capabilities</a:t>
            </a:r>
            <a:endParaRPr lang="en-US" sz="1500" dirty="0"/>
          </a:p>
        </p:txBody>
      </p:sp>
      <p:sp>
        <p:nvSpPr>
          <p:cNvPr id="12" name="Text 10"/>
          <p:cNvSpPr/>
          <p:nvPr/>
        </p:nvSpPr>
        <p:spPr>
          <a:xfrm>
            <a:off x="1320800" y="3378200"/>
            <a:ext cx="5778500" cy="520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Not only visible infrastructure. Ask whether people and firms can use it reliably and learn.</a:t>
            </a:r>
            <a:endParaRPr lang="en-US" sz="1050" dirty="0"/>
          </a:p>
        </p:txBody>
      </p:sp>
      <p:sp>
        <p:nvSpPr>
          <p:cNvPr id="13" name="Text 11"/>
          <p:cNvSpPr/>
          <p:nvPr/>
        </p:nvSpPr>
        <p:spPr>
          <a:xfrm>
            <a:off x="457200" y="3975100"/>
            <a:ext cx="647700" cy="444500"/>
          </a:xfrm>
          <a:prstGeom prst="rect">
            <a:avLst/>
          </a:prstGeom>
          <a:noFill/>
          <a:ln/>
        </p:spPr>
        <p:txBody>
          <a:bodyPr wrap="square" lIns="0" tIns="0" rIns="0" bIns="0" rtlCol="0" anchor="t"/>
          <a:lstStyle/>
          <a:p>
            <a:pPr indent="0" marL="0">
              <a:lnSpc>
                <a:spcPct val="112000"/>
              </a:lnSpc>
              <a:buNone/>
            </a:pPr>
            <a:r>
              <a:rPr lang="en-US" sz="2400" b="1" dirty="0">
                <a:solidFill>
                  <a:srgbClr val="514E48"/>
                </a:solidFill>
                <a:latin typeface="Montserrat" pitchFamily="34" charset="0"/>
                <a:ea typeface="Montserrat" pitchFamily="34" charset="-122"/>
                <a:cs typeface="Montserrat" pitchFamily="34" charset="-120"/>
              </a:rPr>
              <a:t>02</a:t>
            </a:r>
            <a:endParaRPr lang="en-US" sz="2400" dirty="0"/>
          </a:p>
        </p:txBody>
      </p:sp>
      <p:sp>
        <p:nvSpPr>
          <p:cNvPr id="14" name="Text 12"/>
          <p:cNvSpPr/>
          <p:nvPr/>
        </p:nvSpPr>
        <p:spPr>
          <a:xfrm>
            <a:off x="1320800" y="3975100"/>
            <a:ext cx="5778500" cy="3683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Connect the domestic economy</a:t>
            </a:r>
            <a:endParaRPr lang="en-US" sz="1500" dirty="0"/>
          </a:p>
        </p:txBody>
      </p:sp>
      <p:sp>
        <p:nvSpPr>
          <p:cNvPr id="15" name="Text 13"/>
          <p:cNvSpPr/>
          <p:nvPr/>
        </p:nvSpPr>
        <p:spPr>
          <a:xfrm>
            <a:off x="1320800" y="4445000"/>
            <a:ext cx="5778500" cy="520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Link suppliers, workers, skills and markets—not just a port to the world.</a:t>
            </a:r>
            <a:endParaRPr lang="en-US" sz="1050" dirty="0"/>
          </a:p>
        </p:txBody>
      </p:sp>
      <p:sp>
        <p:nvSpPr>
          <p:cNvPr id="16" name="Text 14"/>
          <p:cNvSpPr/>
          <p:nvPr/>
        </p:nvSpPr>
        <p:spPr>
          <a:xfrm>
            <a:off x="457200" y="5041900"/>
            <a:ext cx="647700" cy="444500"/>
          </a:xfrm>
          <a:prstGeom prst="rect">
            <a:avLst/>
          </a:prstGeom>
          <a:noFill/>
          <a:ln/>
        </p:spPr>
        <p:txBody>
          <a:bodyPr wrap="square" lIns="0" tIns="0" rIns="0" bIns="0" rtlCol="0" anchor="t"/>
          <a:lstStyle/>
          <a:p>
            <a:pPr indent="0" marL="0">
              <a:lnSpc>
                <a:spcPct val="112000"/>
              </a:lnSpc>
              <a:buNone/>
            </a:pPr>
            <a:r>
              <a:rPr lang="en-US" sz="2400" b="1" dirty="0">
                <a:solidFill>
                  <a:srgbClr val="514E48"/>
                </a:solidFill>
                <a:latin typeface="Montserrat" pitchFamily="34" charset="0"/>
                <a:ea typeface="Montserrat" pitchFamily="34" charset="-122"/>
                <a:cs typeface="Montserrat" pitchFamily="34" charset="-120"/>
              </a:rPr>
              <a:t>03</a:t>
            </a:r>
            <a:endParaRPr lang="en-US" sz="2400" dirty="0"/>
          </a:p>
        </p:txBody>
      </p:sp>
      <p:sp>
        <p:nvSpPr>
          <p:cNvPr id="17" name="Text 15"/>
          <p:cNvSpPr/>
          <p:nvPr/>
        </p:nvSpPr>
        <p:spPr>
          <a:xfrm>
            <a:off x="1320800" y="5041900"/>
            <a:ext cx="5778500" cy="3683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Combine continuity with correction</a:t>
            </a:r>
            <a:endParaRPr lang="en-US" sz="1500" dirty="0"/>
          </a:p>
        </p:txBody>
      </p:sp>
      <p:sp>
        <p:nvSpPr>
          <p:cNvPr id="18" name="Text 16"/>
          <p:cNvSpPr/>
          <p:nvPr/>
        </p:nvSpPr>
        <p:spPr>
          <a:xfrm>
            <a:off x="1320800" y="5511800"/>
            <a:ext cx="5778500" cy="520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Keep a direction long enough to learn; change policies that protect failure.</a:t>
            </a:r>
            <a:endParaRPr lang="en-US" sz="1050" dirty="0"/>
          </a:p>
        </p:txBody>
      </p:sp>
      <p:sp>
        <p:nvSpPr>
          <p:cNvPr id="19" name="Text 17"/>
          <p:cNvSpPr/>
          <p:nvPr/>
        </p:nvSpPr>
        <p:spPr>
          <a:xfrm>
            <a:off x="457200" y="6108700"/>
            <a:ext cx="647700" cy="444500"/>
          </a:xfrm>
          <a:prstGeom prst="rect">
            <a:avLst/>
          </a:prstGeom>
          <a:noFill/>
          <a:ln/>
        </p:spPr>
        <p:txBody>
          <a:bodyPr wrap="square" lIns="0" tIns="0" rIns="0" bIns="0" rtlCol="0" anchor="t"/>
          <a:lstStyle/>
          <a:p>
            <a:pPr indent="0" marL="0">
              <a:lnSpc>
                <a:spcPct val="112000"/>
              </a:lnSpc>
              <a:buNone/>
            </a:pPr>
            <a:r>
              <a:rPr lang="en-US" sz="2400" b="1" dirty="0">
                <a:solidFill>
                  <a:srgbClr val="514E48"/>
                </a:solidFill>
                <a:latin typeface="Montserrat" pitchFamily="34" charset="0"/>
                <a:ea typeface="Montserrat" pitchFamily="34" charset="-122"/>
                <a:cs typeface="Montserrat" pitchFamily="34" charset="-120"/>
              </a:rPr>
              <a:t>04</a:t>
            </a:r>
            <a:endParaRPr lang="en-US" sz="2400" dirty="0"/>
          </a:p>
        </p:txBody>
      </p:sp>
      <p:sp>
        <p:nvSpPr>
          <p:cNvPr id="20" name="Text 18"/>
          <p:cNvSpPr/>
          <p:nvPr/>
        </p:nvSpPr>
        <p:spPr>
          <a:xfrm>
            <a:off x="1320800" y="6108700"/>
            <a:ext cx="5778500" cy="3683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Support cooperation beyond close ties</a:t>
            </a:r>
            <a:endParaRPr lang="en-US" sz="1500" dirty="0"/>
          </a:p>
        </p:txBody>
      </p:sp>
      <p:sp>
        <p:nvSpPr>
          <p:cNvPr id="21" name="Text 19"/>
          <p:cNvSpPr/>
          <p:nvPr/>
        </p:nvSpPr>
        <p:spPr>
          <a:xfrm>
            <a:off x="1320800" y="6578600"/>
            <a:ext cx="5778500" cy="520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Use institutions and organisations; do not assume national trust scores explain growth.</a:t>
            </a:r>
            <a:endParaRPr lang="en-US" sz="1050" dirty="0"/>
          </a:p>
        </p:txBody>
      </p:sp>
      <p:sp>
        <p:nvSpPr>
          <p:cNvPr id="22" name="Text 20"/>
          <p:cNvSpPr/>
          <p:nvPr/>
        </p:nvSpPr>
        <p:spPr>
          <a:xfrm>
            <a:off x="457200" y="7175500"/>
            <a:ext cx="647700" cy="444500"/>
          </a:xfrm>
          <a:prstGeom prst="rect">
            <a:avLst/>
          </a:prstGeom>
          <a:noFill/>
          <a:ln/>
        </p:spPr>
        <p:txBody>
          <a:bodyPr wrap="square" lIns="0" tIns="0" rIns="0" bIns="0" rtlCol="0" anchor="t"/>
          <a:lstStyle/>
          <a:p>
            <a:pPr indent="0" marL="0">
              <a:lnSpc>
                <a:spcPct val="112000"/>
              </a:lnSpc>
              <a:buNone/>
            </a:pPr>
            <a:r>
              <a:rPr lang="en-US" sz="2400" b="1" dirty="0">
                <a:solidFill>
                  <a:srgbClr val="514E48"/>
                </a:solidFill>
                <a:latin typeface="Montserrat" pitchFamily="34" charset="0"/>
                <a:ea typeface="Montserrat" pitchFamily="34" charset="-122"/>
                <a:cs typeface="Montserrat" pitchFamily="34" charset="-120"/>
              </a:rPr>
              <a:t>05</a:t>
            </a:r>
            <a:endParaRPr lang="en-US" sz="2400" dirty="0"/>
          </a:p>
        </p:txBody>
      </p:sp>
      <p:sp>
        <p:nvSpPr>
          <p:cNvPr id="23" name="Text 21"/>
          <p:cNvSpPr/>
          <p:nvPr/>
        </p:nvSpPr>
        <p:spPr>
          <a:xfrm>
            <a:off x="1320800" y="7175500"/>
            <a:ext cx="5778500" cy="3683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Adapt to the starting conditions</a:t>
            </a:r>
            <a:endParaRPr lang="en-US" sz="1500" dirty="0"/>
          </a:p>
        </p:txBody>
      </p:sp>
      <p:sp>
        <p:nvSpPr>
          <p:cNvPr id="24" name="Text 22"/>
          <p:cNvSpPr/>
          <p:nvPr/>
        </p:nvSpPr>
        <p:spPr>
          <a:xfrm>
            <a:off x="1320800" y="7645400"/>
            <a:ext cx="5778500" cy="5207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Resources, history, scale and international conditions shape what is feasible.</a:t>
            </a:r>
            <a:endParaRPr lang="en-US" sz="1050" dirty="0"/>
          </a:p>
        </p:txBody>
      </p:sp>
      <p:sp>
        <p:nvSpPr>
          <p:cNvPr id="25" name="Text 23"/>
          <p:cNvSpPr/>
          <p:nvPr/>
        </p:nvSpPr>
        <p:spPr>
          <a:xfrm>
            <a:off x="457200" y="8636000"/>
            <a:ext cx="6642100" cy="7747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Transfer mechanisms, not myths.</a:t>
            </a:r>
            <a:endParaRPr lang="en-US" sz="2100" dirty="0"/>
          </a:p>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Adapt lessons, not entire national models.</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06 / THE OPEN QUESTION</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If culture matters, can culture change?</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The final question returns us to the first: culture may shape economic organisation—and also change with institutions, opportunities and experience.</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16); Beugelsdijk and Welzel (2018, pp. 1469–1475, Figures 7–9). Essential references continue on p. 26; image credits on p. 27.</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25</a:t>
            </a:r>
            <a:endParaRPr lang="en-US" sz="1100" dirty="0"/>
          </a:p>
        </p:txBody>
      </p:sp>
      <p:sp>
        <p:nvSpPr>
          <p:cNvPr id="10" name="Text 8"/>
          <p:cNvSpPr/>
          <p:nvPr/>
        </p:nvSpPr>
        <p:spPr>
          <a:xfrm>
            <a:off x="457200" y="3035300"/>
            <a:ext cx="6642100" cy="2070100"/>
          </a:xfrm>
          <a:prstGeom prst="rect">
            <a:avLst/>
          </a:prstGeom>
          <a:noFill/>
          <a:ln/>
        </p:spPr>
        <p:txBody>
          <a:bodyPr wrap="square" lIns="0" tIns="0" rIns="0" bIns="0" rtlCol="0" anchor="t"/>
          <a:lstStyle/>
          <a:p>
            <a:pPr indent="0" marL="0">
              <a:lnSpc>
                <a:spcPct val="112000"/>
              </a:lnSpc>
              <a:buNone/>
            </a:pPr>
            <a:r>
              <a:rPr lang="en-US" sz="3100" b="1" dirty="0">
                <a:solidFill>
                  <a:srgbClr val="252525"/>
                </a:solidFill>
                <a:latin typeface="Montserrat" pitchFamily="34" charset="0"/>
                <a:ea typeface="Montserrat" pitchFamily="34" charset="-122"/>
                <a:cs typeface="Montserrat" pitchFamily="34" charset="-120"/>
              </a:rPr>
              <a:t>Do not confuse a</a:t>
            </a:r>
            <a:endParaRPr lang="en-US" sz="3100" dirty="0"/>
          </a:p>
          <a:p>
            <a:pPr indent="0" marL="0">
              <a:lnSpc>
                <a:spcPct val="112000"/>
              </a:lnSpc>
              <a:buNone/>
            </a:pPr>
            <a:r>
              <a:rPr lang="en-US" sz="3100" b="1" dirty="0">
                <a:solidFill>
                  <a:srgbClr val="252525"/>
                </a:solidFill>
                <a:latin typeface="Montserrat" pitchFamily="34" charset="0"/>
                <a:ea typeface="Montserrat" pitchFamily="34" charset="-122"/>
                <a:cs typeface="Montserrat" pitchFamily="34" charset="-120"/>
              </a:rPr>
              <a:t>historical pattern</a:t>
            </a:r>
            <a:endParaRPr lang="en-US" sz="3100" dirty="0"/>
          </a:p>
          <a:p>
            <a:pPr indent="0" marL="0">
              <a:lnSpc>
                <a:spcPct val="112000"/>
              </a:lnSpc>
              <a:buNone/>
            </a:pPr>
            <a:r>
              <a:rPr lang="en-US" sz="3100" b="1" dirty="0">
                <a:solidFill>
                  <a:srgbClr val="252525"/>
                </a:solidFill>
                <a:latin typeface="Montserrat" pitchFamily="34" charset="0"/>
                <a:ea typeface="Montserrat" pitchFamily="34" charset="-122"/>
                <a:cs typeface="Montserrat" pitchFamily="34" charset="-120"/>
              </a:rPr>
              <a:t>with a permanent</a:t>
            </a:r>
            <a:endParaRPr lang="en-US" sz="3100" dirty="0"/>
          </a:p>
          <a:p>
            <a:pPr indent="0" marL="0">
              <a:lnSpc>
                <a:spcPct val="112000"/>
              </a:lnSpc>
              <a:buNone/>
            </a:pPr>
            <a:r>
              <a:rPr lang="en-US" sz="3100" b="1" dirty="0">
                <a:solidFill>
                  <a:srgbClr val="252525"/>
                </a:solidFill>
                <a:latin typeface="Montserrat" pitchFamily="34" charset="0"/>
                <a:ea typeface="Montserrat" pitchFamily="34" charset="-122"/>
                <a:cs typeface="Montserrat" pitchFamily="34" charset="-120"/>
              </a:rPr>
              <a:t>national personality.</a:t>
            </a:r>
            <a:endParaRPr lang="en-US" sz="3100" dirty="0"/>
          </a:p>
        </p:txBody>
      </p:sp>
      <p:sp>
        <p:nvSpPr>
          <p:cNvPr id="11" name="Text 9"/>
          <p:cNvSpPr/>
          <p:nvPr/>
        </p:nvSpPr>
        <p:spPr>
          <a:xfrm>
            <a:off x="457200" y="5499100"/>
            <a:ext cx="6642100" cy="11303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Culture is neither irrelevant nor sufficient. Cohort and historical change challenge a timeless reading of national averages (Beugelsdijk &amp; Welzel, 2018). Our next question should name a mechanism, a context and evidence that could change our minds.</a:t>
            </a:r>
            <a:endParaRPr lang="en-US" sz="1200" dirty="0"/>
          </a:p>
        </p:txBody>
      </p:sp>
      <p:sp>
        <p:nvSpPr>
          <p:cNvPr id="12" name="Shape 10"/>
          <p:cNvSpPr/>
          <p:nvPr/>
        </p:nvSpPr>
        <p:spPr>
          <a:xfrm>
            <a:off x="457200" y="7035800"/>
            <a:ext cx="6642100" cy="0"/>
          </a:xfrm>
          <a:prstGeom prst="line">
            <a:avLst/>
          </a:prstGeom>
          <a:noFill/>
          <a:ln w="10160">
            <a:solidFill>
              <a:srgbClr val="252525"/>
            </a:solidFill>
            <a:prstDash val="solid"/>
          </a:ln>
        </p:spPr>
      </p:sp>
      <p:sp>
        <p:nvSpPr>
          <p:cNvPr id="13" name="Text 11"/>
          <p:cNvSpPr/>
          <p:nvPr/>
        </p:nvSpPr>
        <p:spPr>
          <a:xfrm>
            <a:off x="457200" y="7188200"/>
            <a:ext cx="1778000" cy="7239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Draft status</a:t>
            </a:r>
            <a:endParaRPr lang="en-US" sz="1100" dirty="0"/>
          </a:p>
        </p:txBody>
      </p:sp>
      <p:sp>
        <p:nvSpPr>
          <p:cNvPr id="14" name="Text 12"/>
          <p:cNvSpPr/>
          <p:nvPr/>
        </p:nvSpPr>
        <p:spPr>
          <a:xfrm>
            <a:off x="2425700" y="7175500"/>
            <a:ext cx="4673600" cy="736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Complete editorial draft — final evidence, rights and physical-print checks pending.</a:t>
            </a:r>
            <a:endParaRPr lang="en-US" sz="1050" dirty="0"/>
          </a:p>
        </p:txBody>
      </p:sp>
      <p:sp>
        <p:nvSpPr>
          <p:cNvPr id="15" name="Text 13"/>
          <p:cNvSpPr/>
          <p:nvPr/>
        </p:nvSpPr>
        <p:spPr>
          <a:xfrm>
            <a:off x="457200" y="8267700"/>
            <a:ext cx="66421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TEAM NAME: [TO BE CONFIRMED]</a:t>
            </a:r>
            <a:endParaRPr lang="en-US" sz="1100" dirty="0"/>
          </a:p>
        </p:txBody>
      </p:sp>
      <p:sp>
        <p:nvSpPr>
          <p:cNvPr id="16" name="Text 14"/>
          <p:cNvSpPr/>
          <p:nvPr/>
        </p:nvSpPr>
        <p:spPr>
          <a:xfrm>
            <a:off x="457200" y="8763000"/>
            <a:ext cx="6642100" cy="6985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Complete source appendix: [LINK / QR PLACEHOLDER]</a:t>
            </a:r>
            <a:endParaRPr lang="en-US" sz="900" dirty="0"/>
          </a:p>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No live appendix address is approved. The local source registry, claim registry and chart CSVs remain the traceable master records.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SOURCE APPENDIX</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Essential references</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APA references for the evidence spine. Exact locators are in page source bands and the approved source registry.</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Reference text is copied from research/source_registry.csv, not generated by Canva. Additional supporting sources and verification status remain in the complete local registry.</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26</a:t>
            </a:r>
            <a:endParaRPr lang="en-US" sz="1100" dirty="0"/>
          </a:p>
        </p:txBody>
      </p:sp>
      <p:sp>
        <p:nvSpPr>
          <p:cNvPr id="10" name="Text 8"/>
          <p:cNvSpPr/>
          <p:nvPr/>
        </p:nvSpPr>
        <p:spPr>
          <a:xfrm>
            <a:off x="457200" y="2959100"/>
            <a:ext cx="6642100" cy="3429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(2026). World Development Indicators [Data set]. Retrieved October 6, 2026, from</a:t>
            </a:r>
            <a:endParaRPr lang="en-US" sz="900" dirty="0"/>
          </a:p>
        </p:txBody>
      </p:sp>
      <p:sp>
        <p:nvSpPr>
          <p:cNvPr id="11" name="Text 9">
            <a:hlinkClick r:id="rId1" tooltip=""/>
          </p:cNvPr>
          <p:cNvSpPr/>
          <p:nvPr/>
        </p:nvSpPr>
        <p:spPr>
          <a:xfrm>
            <a:off x="457200" y="31496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2" name="Text 10"/>
          <p:cNvSpPr/>
          <p:nvPr/>
        </p:nvSpPr>
        <p:spPr>
          <a:xfrm>
            <a:off x="457200" y="3340100"/>
            <a:ext cx="6642100" cy="3429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(1993). The East Asian miracle: Economic growth and public policy. Oxford University Press.</a:t>
            </a:r>
            <a:endParaRPr lang="en-US" sz="900" dirty="0"/>
          </a:p>
        </p:txBody>
      </p:sp>
      <p:sp>
        <p:nvSpPr>
          <p:cNvPr id="13" name="Text 11">
            <a:hlinkClick r:id="rId2" tooltip=""/>
          </p:cNvPr>
          <p:cNvSpPr/>
          <p:nvPr/>
        </p:nvSpPr>
        <p:spPr>
          <a:xfrm>
            <a:off x="457200" y="35306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4" name="Text 12"/>
          <p:cNvSpPr/>
          <p:nvPr/>
        </p:nvSpPr>
        <p:spPr>
          <a:xfrm>
            <a:off x="457200" y="3721100"/>
            <a:ext cx="6642100" cy="3429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(2020). Structural transformation and labor market performance in Ghana.</a:t>
            </a:r>
            <a:endParaRPr lang="en-US" sz="900" dirty="0"/>
          </a:p>
        </p:txBody>
      </p:sp>
      <p:sp>
        <p:nvSpPr>
          <p:cNvPr id="15" name="Text 13">
            <a:hlinkClick r:id="rId3" tooltip=""/>
          </p:cNvPr>
          <p:cNvSpPr/>
          <p:nvPr/>
        </p:nvSpPr>
        <p:spPr>
          <a:xfrm>
            <a:off x="457200" y="39116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6" name="Text 14"/>
          <p:cNvSpPr/>
          <p:nvPr/>
        </p:nvSpPr>
        <p:spPr>
          <a:xfrm>
            <a:off x="457200" y="4102100"/>
            <a:ext cx="6642100" cy="3429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(1985). Ghana: Industrial policy, performance and recovery (Report No. 5716-GH).</a:t>
            </a:r>
            <a:endParaRPr lang="en-US" sz="900" dirty="0"/>
          </a:p>
        </p:txBody>
      </p:sp>
      <p:sp>
        <p:nvSpPr>
          <p:cNvPr id="17" name="Text 15">
            <a:hlinkClick r:id="rId4" tooltip=""/>
          </p:cNvPr>
          <p:cNvSpPr/>
          <p:nvPr/>
        </p:nvSpPr>
        <p:spPr>
          <a:xfrm>
            <a:off x="457200" y="42926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8" name="Text 16"/>
          <p:cNvSpPr/>
          <p:nvPr/>
        </p:nvSpPr>
        <p:spPr>
          <a:xfrm>
            <a:off x="457200" y="4483100"/>
            <a:ext cx="6642100" cy="482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Maipose, G. S. (2008). Policy and institutional dynamics of sustained development in Botswana (Commission on Growth and Development Working Paper No. 35). World Bank.</a:t>
            </a:r>
            <a:endParaRPr lang="en-US" sz="900" dirty="0"/>
          </a:p>
        </p:txBody>
      </p:sp>
      <p:sp>
        <p:nvSpPr>
          <p:cNvPr id="19" name="Text 17">
            <a:hlinkClick r:id="rId5" tooltip=""/>
          </p:cNvPr>
          <p:cNvSpPr/>
          <p:nvPr/>
        </p:nvSpPr>
        <p:spPr>
          <a:xfrm>
            <a:off x="457200" y="48133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0" name="Text 18"/>
          <p:cNvSpPr/>
          <p:nvPr/>
        </p:nvSpPr>
        <p:spPr>
          <a:xfrm>
            <a:off x="457200" y="5003800"/>
            <a:ext cx="6642100" cy="482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Svirydzenka, K., &amp; Petri, M. (2014). Mauritius: The drivers of growth-Can the past be extended? (IMF Working Paper No. 14/134). International Monetary Fund.</a:t>
            </a:r>
            <a:endParaRPr lang="en-US" sz="900" dirty="0"/>
          </a:p>
        </p:txBody>
      </p:sp>
      <p:sp>
        <p:nvSpPr>
          <p:cNvPr id="21" name="Text 19">
            <a:hlinkClick r:id="rId6" tooltip=""/>
          </p:cNvPr>
          <p:cNvSpPr/>
          <p:nvPr/>
        </p:nvSpPr>
        <p:spPr>
          <a:xfrm>
            <a:off x="457200" y="53340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2" name="Text 20"/>
          <p:cNvSpPr/>
          <p:nvPr/>
        </p:nvSpPr>
        <p:spPr>
          <a:xfrm>
            <a:off x="457200" y="5524500"/>
            <a:ext cx="6642100" cy="482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Jedwab, R., &amp; Moradi, A. (2012). Colonial investments and long-term development in Africa: Evidence from Ghanaian railways [Working paper]. Northeast Universities Development Consortium.</a:t>
            </a:r>
            <a:endParaRPr lang="en-US" sz="900" dirty="0"/>
          </a:p>
        </p:txBody>
      </p:sp>
      <p:sp>
        <p:nvSpPr>
          <p:cNvPr id="23" name="Text 21">
            <a:hlinkClick r:id="rId7" tooltip=""/>
          </p:cNvPr>
          <p:cNvSpPr/>
          <p:nvPr/>
        </p:nvSpPr>
        <p:spPr>
          <a:xfrm>
            <a:off x="457200" y="58547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4" name="Text 22"/>
          <p:cNvSpPr/>
          <p:nvPr/>
        </p:nvSpPr>
        <p:spPr>
          <a:xfrm>
            <a:off x="457200" y="6045200"/>
            <a:ext cx="6642100" cy="482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Hofstede, G. (2011). Dimensionalizing cultures: The Hofstede model in context. Online Readings in Psychology and Culture, 2(1), Article 8.</a:t>
            </a:r>
            <a:endParaRPr lang="en-US" sz="900" dirty="0"/>
          </a:p>
        </p:txBody>
      </p:sp>
      <p:sp>
        <p:nvSpPr>
          <p:cNvPr id="25" name="Text 23">
            <a:hlinkClick r:id="rId8" tooltip=""/>
          </p:cNvPr>
          <p:cNvSpPr/>
          <p:nvPr/>
        </p:nvSpPr>
        <p:spPr>
          <a:xfrm>
            <a:off x="457200" y="63754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6" name="Text 24"/>
          <p:cNvSpPr/>
          <p:nvPr/>
        </p:nvSpPr>
        <p:spPr>
          <a:xfrm>
            <a:off x="457200" y="6565900"/>
            <a:ext cx="6642100" cy="482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McSweeney, B. (2002). Hofstede's model of national cultural differences and their consequences: A triumph of faith—a failure of analysis. Human Relations, 55(1), 89–118.</a:t>
            </a:r>
            <a:endParaRPr lang="en-US" sz="900" dirty="0"/>
          </a:p>
        </p:txBody>
      </p:sp>
      <p:sp>
        <p:nvSpPr>
          <p:cNvPr id="27" name="Text 25">
            <a:hlinkClick r:id="rId9" tooltip=""/>
          </p:cNvPr>
          <p:cNvSpPr/>
          <p:nvPr/>
        </p:nvSpPr>
        <p:spPr>
          <a:xfrm>
            <a:off x="457200" y="68961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8" name="Text 26"/>
          <p:cNvSpPr/>
          <p:nvPr/>
        </p:nvSpPr>
        <p:spPr>
          <a:xfrm>
            <a:off x="457200" y="7086600"/>
            <a:ext cx="6642100" cy="482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Organisation for Economic Co-operation and Development. (2017). OECD guidelines on measuring trust. OECD Publishing.</a:t>
            </a:r>
            <a:endParaRPr lang="en-US" sz="900" dirty="0"/>
          </a:p>
        </p:txBody>
      </p:sp>
      <p:sp>
        <p:nvSpPr>
          <p:cNvPr id="29" name="Text 27">
            <a:hlinkClick r:id="rId10" tooltip=""/>
          </p:cNvPr>
          <p:cNvSpPr/>
          <p:nvPr/>
        </p:nvSpPr>
        <p:spPr>
          <a:xfrm>
            <a:off x="457200" y="74168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30" name="Text 28"/>
          <p:cNvSpPr/>
          <p:nvPr/>
        </p:nvSpPr>
        <p:spPr>
          <a:xfrm>
            <a:off x="457200" y="8445500"/>
            <a:ext cx="6642100" cy="1003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Further cited works: Bolt et al. (2025); Cogneau et al. (2018); Huillery (2009); Kohli (1994); Haggard et al. (1997); Dolan (1993); Asadullah et al. (2024); Xenos (1970); Nasution (2000); McMillan et al. (2014); Beugelsdijk and Welzel (2018); National Archives Department (n.d.). Full registered APA entries accompany the production master; see appendix placeholder p. 25.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CREDITS / COLOPHON</a:t>
            </a:r>
            <a:endParaRPr lang="en-US" sz="800" dirty="0"/>
          </a:p>
        </p:txBody>
      </p:sp>
      <p:sp>
        <p:nvSpPr>
          <p:cNvPr id="3" name="Shape 1"/>
          <p:cNvSpPr/>
          <p:nvPr/>
        </p:nvSpPr>
        <p:spPr>
          <a:xfrm>
            <a:off x="457200" y="571500"/>
            <a:ext cx="6642100" cy="0"/>
          </a:xfrm>
          <a:prstGeom prst="line">
            <a:avLst/>
          </a:prstGeom>
          <a:noFill/>
          <a:ln w="12700">
            <a:solidFill>
              <a:srgbClr val="252525"/>
            </a:solidFill>
            <a:prstDash val="solid"/>
          </a:ln>
        </p:spPr>
      </p:sp>
      <p:sp>
        <p:nvSpPr>
          <p:cNvPr id="4" name="Text 2"/>
          <p:cNvSpPr/>
          <p:nvPr/>
        </p:nvSpPr>
        <p:spPr>
          <a:xfrm>
            <a:off x="457200" y="812800"/>
            <a:ext cx="6642100" cy="12700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Montserrat Black" pitchFamily="34" charset="0"/>
                <a:ea typeface="Montserrat Black" pitchFamily="34" charset="-122"/>
                <a:cs typeface="Montserrat Black" pitchFamily="34" charset="-120"/>
              </a:rPr>
              <a:t>Images, data and open gates</a:t>
            </a:r>
            <a:endParaRPr lang="en-US" sz="3200" dirty="0"/>
          </a:p>
        </p:txBody>
      </p:sp>
      <p:sp>
        <p:nvSpPr>
          <p:cNvPr id="5" name="Text 3"/>
          <p:cNvSpPr/>
          <p:nvPr/>
        </p:nvSpPr>
        <p:spPr>
          <a:xfrm>
            <a:off x="457200" y="2133600"/>
            <a:ext cx="6413500" cy="698500"/>
          </a:xfrm>
          <a:prstGeom prst="rect">
            <a:avLst/>
          </a:prstGeom>
          <a:noFill/>
          <a:ln/>
        </p:spPr>
        <p:txBody>
          <a:bodyPr wrap="square" lIns="0" tIns="0" rIns="0" bIns="0" rtlCol="0" anchor="t"/>
          <a:lstStyle/>
          <a:p>
            <a:pPr indent="0" marL="0">
              <a:lnSpc>
                <a:spcPct val="112000"/>
              </a:lnSpc>
              <a:buNone/>
            </a:pPr>
            <a:r>
              <a:rPr lang="en-US" sz="1100" dirty="0">
                <a:solidFill>
                  <a:srgbClr val="514E48"/>
                </a:solidFill>
                <a:latin typeface="Montserrat" pitchFamily="34" charset="0"/>
                <a:ea typeface="Montserrat" pitchFamily="34" charset="-122"/>
                <a:cs typeface="Montserrat" pitchFamily="34" charset="-120"/>
              </a:rPr>
              <a:t>Every photograph has a country, place and date. Images provide context and human scale—not proof of culture, trust, productivity or causality.</a:t>
            </a:r>
            <a:endParaRPr lang="en-US" sz="1100" dirty="0"/>
          </a:p>
        </p:txBody>
      </p:sp>
      <p:sp>
        <p:nvSpPr>
          <p:cNvPr id="6" name="Shape 4"/>
          <p:cNvSpPr/>
          <p:nvPr/>
        </p:nvSpPr>
        <p:spPr>
          <a:xfrm>
            <a:off x="457200" y="9575800"/>
            <a:ext cx="6642100" cy="0"/>
          </a:xfrm>
          <a:prstGeom prst="line">
            <a:avLst/>
          </a:prstGeom>
          <a:noFill/>
          <a:ln w="7620">
            <a:solidFill>
              <a:srgbClr val="B7B0A4"/>
            </a:solidFill>
            <a:prstDash val="solid"/>
          </a:ln>
        </p:spPr>
      </p:sp>
      <p:sp>
        <p:nvSpPr>
          <p:cNvPr id="7" name="Text 5"/>
          <p:cNvSpPr/>
          <p:nvPr/>
        </p:nvSpPr>
        <p:spPr>
          <a:xfrm>
            <a:off x="457200" y="9690100"/>
            <a:ext cx="6642100" cy="596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Rights records: research/asset_rights_register.csv and country_photography_audit.md, verified 8 October 2026. All images are placed uncropped and resized only. Recheck final asset use and licence compliance before publication.</a:t>
            </a:r>
            <a:endParaRPr lang="en-US" sz="800" dirty="0"/>
          </a:p>
        </p:txBody>
      </p:sp>
      <p:sp>
        <p:nvSpPr>
          <p:cNvPr id="8" name="Text 6"/>
          <p:cNvSpPr/>
          <p:nvPr/>
        </p:nvSpPr>
        <p:spPr>
          <a:xfrm>
            <a:off x="457200" y="103886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EVIDENCE LEDGER  ·  EDITORIAL DRAFT</a:t>
            </a:r>
            <a:endParaRPr lang="en-US" sz="800" dirty="0"/>
          </a:p>
        </p:txBody>
      </p:sp>
      <p:sp>
        <p:nvSpPr>
          <p:cNvPr id="9" name="Text 7"/>
          <p:cNvSpPr/>
          <p:nvPr/>
        </p:nvSpPr>
        <p:spPr>
          <a:xfrm>
            <a:off x="6642100" y="10337800"/>
            <a:ext cx="457200" cy="241300"/>
          </a:xfrm>
          <a:prstGeom prst="rect">
            <a:avLst/>
          </a:prstGeom>
          <a:noFill/>
          <a:ln/>
        </p:spPr>
        <p:txBody>
          <a:bodyPr wrap="square" lIns="0" tIns="0" rIns="0" bIns="0" rtlCol="0" anchor="t"/>
          <a:lstStyle/>
          <a:p>
            <a:pPr algn="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27</a:t>
            </a:r>
            <a:endParaRPr lang="en-US" sz="1100" dirty="0"/>
          </a:p>
        </p:txBody>
      </p:sp>
      <p:sp>
        <p:nvSpPr>
          <p:cNvPr id="10" name="Text 8"/>
          <p:cNvSpPr/>
          <p:nvPr/>
        </p:nvSpPr>
        <p:spPr>
          <a:xfrm>
            <a:off x="457200" y="2921000"/>
            <a:ext cx="6642100" cy="495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JulianGrayscales (2020-02-08). Tema port. CC BY-SA 4.0. Wikimedia Commons.</a:t>
            </a:r>
            <a:endParaRPr lang="en-US" sz="850" dirty="0"/>
          </a:p>
        </p:txBody>
      </p:sp>
      <p:sp>
        <p:nvSpPr>
          <p:cNvPr id="11" name="Text 9">
            <a:hlinkClick r:id="rId1" tooltip=""/>
          </p:cNvPr>
          <p:cNvSpPr/>
          <p:nvPr/>
        </p:nvSpPr>
        <p:spPr>
          <a:xfrm>
            <a:off x="457200" y="3429000"/>
            <a:ext cx="11811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2" name="Text 10">
            <a:hlinkClick r:id="rId2" tooltip=""/>
          </p:cNvPr>
          <p:cNvSpPr/>
          <p:nvPr/>
        </p:nvSpPr>
        <p:spPr>
          <a:xfrm>
            <a:off x="1854200" y="3429000"/>
            <a:ext cx="16510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CC BY-SA 4.0 ↗</a:t>
            </a:r>
            <a:endParaRPr lang="en-US" sz="800" dirty="0"/>
          </a:p>
        </p:txBody>
      </p:sp>
      <p:sp>
        <p:nvSpPr>
          <p:cNvPr id="13" name="Shape 11"/>
          <p:cNvSpPr/>
          <p:nvPr/>
        </p:nvSpPr>
        <p:spPr>
          <a:xfrm>
            <a:off x="457200" y="3644900"/>
            <a:ext cx="6642100" cy="0"/>
          </a:xfrm>
          <a:prstGeom prst="line">
            <a:avLst/>
          </a:prstGeom>
          <a:noFill/>
          <a:ln w="7620">
            <a:solidFill>
              <a:srgbClr val="B7B0A4"/>
            </a:solidFill>
            <a:prstDash val="solid"/>
          </a:ln>
        </p:spPr>
      </p:sp>
      <p:sp>
        <p:nvSpPr>
          <p:cNvPr id="14" name="Text 12"/>
          <p:cNvSpPr/>
          <p:nvPr/>
        </p:nvSpPr>
        <p:spPr>
          <a:xfrm>
            <a:off x="457200" y="3683000"/>
            <a:ext cx="6642100" cy="495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Svwmal (2012-04-08). South Korea Busan harbour. CC BY-SA 3.0. Wikimedia Commons.</a:t>
            </a:r>
            <a:endParaRPr lang="en-US" sz="850" dirty="0"/>
          </a:p>
        </p:txBody>
      </p:sp>
      <p:sp>
        <p:nvSpPr>
          <p:cNvPr id="15" name="Text 13">
            <a:hlinkClick r:id="rId3" tooltip=""/>
          </p:cNvPr>
          <p:cNvSpPr/>
          <p:nvPr/>
        </p:nvSpPr>
        <p:spPr>
          <a:xfrm>
            <a:off x="457200" y="4191000"/>
            <a:ext cx="11811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6" name="Text 14">
            <a:hlinkClick r:id="rId4" tooltip=""/>
          </p:cNvPr>
          <p:cNvSpPr/>
          <p:nvPr/>
        </p:nvSpPr>
        <p:spPr>
          <a:xfrm>
            <a:off x="1854200" y="4191000"/>
            <a:ext cx="16510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CC BY-SA 3.0 ↗</a:t>
            </a:r>
            <a:endParaRPr lang="en-US" sz="800" dirty="0"/>
          </a:p>
        </p:txBody>
      </p:sp>
      <p:sp>
        <p:nvSpPr>
          <p:cNvPr id="17" name="Shape 15"/>
          <p:cNvSpPr/>
          <p:nvPr/>
        </p:nvSpPr>
        <p:spPr>
          <a:xfrm>
            <a:off x="457200" y="4406900"/>
            <a:ext cx="6642100" cy="0"/>
          </a:xfrm>
          <a:prstGeom prst="line">
            <a:avLst/>
          </a:prstGeom>
          <a:noFill/>
          <a:ln w="7620">
            <a:solidFill>
              <a:srgbClr val="B7B0A4"/>
            </a:solidFill>
            <a:prstDash val="solid"/>
          </a:ln>
        </p:spPr>
      </p:sp>
      <p:sp>
        <p:nvSpPr>
          <p:cNvPr id="18" name="Text 16"/>
          <p:cNvSpPr/>
          <p:nvPr/>
        </p:nvSpPr>
        <p:spPr>
          <a:xfrm>
            <a:off x="457200" y="4445000"/>
            <a:ext cx="6642100" cy="495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Sarvesh Lutchmun (2015-08-06). Bus Terminal in Gaborone, Botswana. CC BY-SA 4.0. Wikimedia Commons.</a:t>
            </a:r>
            <a:endParaRPr lang="en-US" sz="850" dirty="0"/>
          </a:p>
        </p:txBody>
      </p:sp>
      <p:sp>
        <p:nvSpPr>
          <p:cNvPr id="19" name="Text 17">
            <a:hlinkClick r:id="rId5" tooltip=""/>
          </p:cNvPr>
          <p:cNvSpPr/>
          <p:nvPr/>
        </p:nvSpPr>
        <p:spPr>
          <a:xfrm>
            <a:off x="457200" y="4953000"/>
            <a:ext cx="11811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0" name="Text 18">
            <a:hlinkClick r:id="rId6" tooltip=""/>
          </p:cNvPr>
          <p:cNvSpPr/>
          <p:nvPr/>
        </p:nvSpPr>
        <p:spPr>
          <a:xfrm>
            <a:off x="1854200" y="4953000"/>
            <a:ext cx="16510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CC BY-SA 4.0 ↗</a:t>
            </a:r>
            <a:endParaRPr lang="en-US" sz="800" dirty="0"/>
          </a:p>
        </p:txBody>
      </p:sp>
      <p:sp>
        <p:nvSpPr>
          <p:cNvPr id="21" name="Shape 19"/>
          <p:cNvSpPr/>
          <p:nvPr/>
        </p:nvSpPr>
        <p:spPr>
          <a:xfrm>
            <a:off x="457200" y="5168900"/>
            <a:ext cx="6642100" cy="0"/>
          </a:xfrm>
          <a:prstGeom prst="line">
            <a:avLst/>
          </a:prstGeom>
          <a:noFill/>
          <a:ln w="7620">
            <a:solidFill>
              <a:srgbClr val="B7B0A4"/>
            </a:solidFill>
            <a:prstDash val="solid"/>
          </a:ln>
        </p:spPr>
      </p:sp>
      <p:sp>
        <p:nvSpPr>
          <p:cNvPr id="22" name="Text 20"/>
          <p:cNvSpPr/>
          <p:nvPr/>
        </p:nvSpPr>
        <p:spPr>
          <a:xfrm>
            <a:off x="457200" y="5207000"/>
            <a:ext cx="6642100" cy="495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Didier Baertschiger (2015-03-09). Mauritius - Port Louis (Central Market). CC BY-SA 2.0. Wikimedia Commons.</a:t>
            </a:r>
            <a:endParaRPr lang="en-US" sz="850" dirty="0"/>
          </a:p>
        </p:txBody>
      </p:sp>
      <p:sp>
        <p:nvSpPr>
          <p:cNvPr id="23" name="Text 21">
            <a:hlinkClick r:id="rId7" tooltip=""/>
          </p:cNvPr>
          <p:cNvSpPr/>
          <p:nvPr/>
        </p:nvSpPr>
        <p:spPr>
          <a:xfrm>
            <a:off x="457200" y="5715000"/>
            <a:ext cx="11811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4" name="Text 22">
            <a:hlinkClick r:id="rId8" tooltip=""/>
          </p:cNvPr>
          <p:cNvSpPr/>
          <p:nvPr/>
        </p:nvSpPr>
        <p:spPr>
          <a:xfrm>
            <a:off x="1854200" y="5715000"/>
            <a:ext cx="16510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CC BY-SA 2.0 ↗</a:t>
            </a:r>
            <a:endParaRPr lang="en-US" sz="800" dirty="0"/>
          </a:p>
        </p:txBody>
      </p:sp>
      <p:sp>
        <p:nvSpPr>
          <p:cNvPr id="25" name="Shape 23"/>
          <p:cNvSpPr/>
          <p:nvPr/>
        </p:nvSpPr>
        <p:spPr>
          <a:xfrm>
            <a:off x="457200" y="5930900"/>
            <a:ext cx="6642100" cy="0"/>
          </a:xfrm>
          <a:prstGeom prst="line">
            <a:avLst/>
          </a:prstGeom>
          <a:noFill/>
          <a:ln w="7620">
            <a:solidFill>
              <a:srgbClr val="B7B0A4"/>
            </a:solidFill>
            <a:prstDash val="solid"/>
          </a:ln>
        </p:spPr>
      </p:sp>
      <p:sp>
        <p:nvSpPr>
          <p:cNvPr id="26" name="Text 24"/>
          <p:cNvSpPr/>
          <p:nvPr/>
        </p:nvSpPr>
        <p:spPr>
          <a:xfrm>
            <a:off x="457200" y="5969000"/>
            <a:ext cx="6642100" cy="495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HundenvonPenang (2024-01-27). Perai Industrial Zone, Seberang Perai, Penang. CC BY-SA 4.0. Wikimedia Commons.</a:t>
            </a:r>
            <a:endParaRPr lang="en-US" sz="850" dirty="0"/>
          </a:p>
        </p:txBody>
      </p:sp>
      <p:sp>
        <p:nvSpPr>
          <p:cNvPr id="27" name="Text 25">
            <a:hlinkClick r:id="rId9" tooltip=""/>
          </p:cNvPr>
          <p:cNvSpPr/>
          <p:nvPr/>
        </p:nvSpPr>
        <p:spPr>
          <a:xfrm>
            <a:off x="457200" y="6477000"/>
            <a:ext cx="11811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8" name="Text 26">
            <a:hlinkClick r:id="rId10" tooltip=""/>
          </p:cNvPr>
          <p:cNvSpPr/>
          <p:nvPr/>
        </p:nvSpPr>
        <p:spPr>
          <a:xfrm>
            <a:off x="1854200" y="6477000"/>
            <a:ext cx="16510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CC BY-SA 4.0 ↗</a:t>
            </a:r>
            <a:endParaRPr lang="en-US" sz="800" dirty="0"/>
          </a:p>
        </p:txBody>
      </p:sp>
      <p:sp>
        <p:nvSpPr>
          <p:cNvPr id="29" name="Shape 27"/>
          <p:cNvSpPr/>
          <p:nvPr/>
        </p:nvSpPr>
        <p:spPr>
          <a:xfrm>
            <a:off x="457200" y="6692900"/>
            <a:ext cx="6642100" cy="0"/>
          </a:xfrm>
          <a:prstGeom prst="line">
            <a:avLst/>
          </a:prstGeom>
          <a:noFill/>
          <a:ln w="7620">
            <a:solidFill>
              <a:srgbClr val="B7B0A4"/>
            </a:solidFill>
            <a:prstDash val="solid"/>
          </a:ln>
        </p:spPr>
      </p:sp>
      <p:sp>
        <p:nvSpPr>
          <p:cNvPr id="30" name="Text 28"/>
          <p:cNvSpPr/>
          <p:nvPr/>
        </p:nvSpPr>
        <p:spPr>
          <a:xfrm>
            <a:off x="457200" y="6731000"/>
            <a:ext cx="6642100" cy="495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Theurbanhistorian (2009-07-18). Port of Manila. CC BY-SA 3.0. Wikimedia Commons.</a:t>
            </a:r>
            <a:endParaRPr lang="en-US" sz="850" dirty="0"/>
          </a:p>
        </p:txBody>
      </p:sp>
      <p:sp>
        <p:nvSpPr>
          <p:cNvPr id="31" name="Text 29">
            <a:hlinkClick r:id="rId11" tooltip=""/>
          </p:cNvPr>
          <p:cNvSpPr/>
          <p:nvPr/>
        </p:nvSpPr>
        <p:spPr>
          <a:xfrm>
            <a:off x="457200" y="7239000"/>
            <a:ext cx="11811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32" name="Text 30">
            <a:hlinkClick r:id="rId12" tooltip=""/>
          </p:cNvPr>
          <p:cNvSpPr/>
          <p:nvPr/>
        </p:nvSpPr>
        <p:spPr>
          <a:xfrm>
            <a:off x="1854200" y="7239000"/>
            <a:ext cx="1651000" cy="1905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CC BY-SA 3.0 ↗</a:t>
            </a:r>
            <a:endParaRPr lang="en-US" sz="800" dirty="0"/>
          </a:p>
        </p:txBody>
      </p:sp>
      <p:sp>
        <p:nvSpPr>
          <p:cNvPr id="33" name="Shape 31"/>
          <p:cNvSpPr/>
          <p:nvPr/>
        </p:nvSpPr>
        <p:spPr>
          <a:xfrm>
            <a:off x="457200" y="7454900"/>
            <a:ext cx="6642100" cy="0"/>
          </a:xfrm>
          <a:prstGeom prst="line">
            <a:avLst/>
          </a:prstGeom>
          <a:noFill/>
          <a:ln w="7620">
            <a:solidFill>
              <a:srgbClr val="B7B0A4"/>
            </a:solidFill>
            <a:prstDash val="solid"/>
          </a:ln>
        </p:spPr>
      </p:sp>
      <p:sp>
        <p:nvSpPr>
          <p:cNvPr id="34" name="Text 32"/>
          <p:cNvSpPr/>
          <p:nvPr/>
        </p:nvSpPr>
        <p:spPr>
          <a:xfrm>
            <a:off x="457200" y="7670800"/>
            <a:ext cx="6642100" cy="2921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Data &amp; figure credits</a:t>
            </a:r>
            <a:endParaRPr lang="en-US" sz="1200" dirty="0"/>
          </a:p>
        </p:txBody>
      </p:sp>
      <p:sp>
        <p:nvSpPr>
          <p:cNvPr id="35" name="Text 33"/>
          <p:cNvSpPr/>
          <p:nvPr/>
        </p:nvSpPr>
        <p:spPr>
          <a:xfrm>
            <a:off x="457200" y="8051800"/>
            <a:ext cx="6642100" cy="622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WDI / ILO modelled employment. Editable charts recreate approved frozen CSV values; original SVGs remain preserved. Native text and geometry are not flattened images. No annual interpolation or composite trust score.</a:t>
            </a:r>
            <a:endParaRPr lang="en-US" sz="900" dirty="0"/>
          </a:p>
        </p:txBody>
      </p:sp>
      <p:sp>
        <p:nvSpPr>
          <p:cNvPr id="36" name="Text 34"/>
          <p:cNvSpPr/>
          <p:nvPr/>
        </p:nvSpPr>
        <p:spPr>
          <a:xfrm>
            <a:off x="457200" y="8877300"/>
            <a:ext cx="6642100" cy="5715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OPEN GATES: 1914 map raster/legend; final source and rights review; physical A4 print, colour and classroom-screen tests. Team and appendix links remain placeholders. No publication-ready claim is made.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University classroom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&amp; Asia: Why Did Their Economic Paths Diverge?</dc:title>
  <dc:subject>Six-country evidence-led comparison</dc:subject>
  <dc:creator>University project team — editorial draft</dc:creator>
  <cp:lastModifiedBy>University project team — editorial draft</cp:lastModifiedBy>
  <cp:revision>1</cp:revision>
  <dcterms:created xsi:type="dcterms:W3CDTF">2026-10-12T20:54:05Z</dcterms:created>
  <dcterms:modified xsi:type="dcterms:W3CDTF">2026-10-12T20:54:05Z</dcterms:modified>
</cp:coreProperties>
</file>