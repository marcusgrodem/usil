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7560005" cy="10692003"/>
  <p:notesSz cx="10692003" cy="756000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databank.worldbank.org/source/world-development-indicators" TargetMode="External"/><Relationship Id="rId2" Type="http://schemas.openxmlformats.org/officeDocument/2006/relationships/hyperlink" Target="https://documents.worldbank.org/en/publication/documents-reports/documentdetail/975081468244550798/the-east-asian-miracle-economic-growth-and-public-policy" TargetMode="External"/><Relationship Id="rId3" Type="http://schemas.openxmlformats.org/officeDocument/2006/relationships/hyperlink" Target="https://documents1.worldbank.org/curated/en/755321606255985947/pdf/Structural-Transformation-and-Labor-Market-Performance-in-Ghana.pdf" TargetMode="External"/><Relationship Id="rId4" Type="http://schemas.openxmlformats.org/officeDocument/2006/relationships/hyperlink" Target="https://documents.worldbank.org/curated/en/832361468032174119/pdf/multi0page.pdf" TargetMode="External"/><Relationship Id="rId5" Type="http://schemas.openxmlformats.org/officeDocument/2006/relationships/hyperlink" Target="https://documents.worldbank.org/curated/en/364701468330906042/pdf/577340NWP0Box353767B01PUBLIC10gcwp035web.pdf" TargetMode="External"/><Relationship Id="rId6" Type="http://schemas.openxmlformats.org/officeDocument/2006/relationships/hyperlink" Target="https://www.imf.org/external/pubs/ft/wp/2014/wp14134.pdf" TargetMode="External"/><Relationship Id="rId7" Type="http://schemas.openxmlformats.org/officeDocument/2006/relationships/hyperlink" Target="https://www.dartmouth.edu/neudc2012/docs/paper_34.pdf" TargetMode="External"/><Relationship Id="rId8" Type="http://schemas.openxmlformats.org/officeDocument/2006/relationships/hyperlink" Target="https://doi.org/10.9707/2307-0919.1014" TargetMode="External"/><Relationship Id="rId9" Type="http://schemas.openxmlformats.org/officeDocument/2006/relationships/hyperlink" Target="https://doi.org/10.1177/0018726702551004" TargetMode="External"/><Relationship Id="rId10" Type="http://schemas.openxmlformats.org/officeDocument/2006/relationships/hyperlink" Target="https://doi.org/10.1787/9789264278219-en" TargetMode="External"/><Relationship Id="rId11" Type="http://schemas.openxmlformats.org/officeDocument/2006/relationships/slideLayout" Target="../slideLayouts/slideLayout1.xml"/><Relationship Id="rId1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commons.wikimedia.org/wiki/File:Tema_port.jpg" TargetMode="External"/><Relationship Id="rId2" Type="http://schemas.openxmlformats.org/officeDocument/2006/relationships/hyperlink" Target="https://creativecommons.org/licenses/by-sa/4.0/" TargetMode="External"/><Relationship Id="rId3" Type="http://schemas.openxmlformats.org/officeDocument/2006/relationships/hyperlink" Target="https://commons.wikimedia.org/wiki/File:Market_Accra.jpg" TargetMode="External"/><Relationship Id="rId4" Type="http://schemas.openxmlformats.org/officeDocument/2006/relationships/hyperlink" Target="https://creativecommons.org/licenses/by-sa/4.0/" TargetMode="External"/><Relationship Id="rId5" Type="http://schemas.openxmlformats.org/officeDocument/2006/relationships/hyperlink" Target="https://commons.wikimedia.org/wiki/File:Sarvesh_Lutchmun_-_Bus_Terminal_in_Gaborone,_Botswana.jpg" TargetMode="External"/><Relationship Id="rId6" Type="http://schemas.openxmlformats.org/officeDocument/2006/relationships/hyperlink" Target="https://creativecommons.org/licenses/by-sa/4.0/" TargetMode="External"/><Relationship Id="rId7" Type="http://schemas.openxmlformats.org/officeDocument/2006/relationships/hyperlink" Target="https://commons.wikimedia.org/wiki/File:MochudiBotswanaSolarPanel.jpg" TargetMode="External"/><Relationship Id="rId8" Type="http://schemas.openxmlformats.org/officeDocument/2006/relationships/hyperlink" Target="https://creativecommons.org/licenses/by-sa/4.0/" TargetMode="External"/><Relationship Id="rId9" Type="http://schemas.openxmlformats.org/officeDocument/2006/relationships/hyperlink" Target="https://commons.wikimedia.org/wiki/File:Mauritius_-_Port_Louis_(Central_Market)_(17118303459).jpg" TargetMode="External"/><Relationship Id="rId10" Type="http://schemas.openxmlformats.org/officeDocument/2006/relationships/hyperlink" Target="https://creativecommons.org/licenses/by-sa/2.0/" TargetMode="External"/><Relationship Id="rId11" Type="http://schemas.openxmlformats.org/officeDocument/2006/relationships/hyperlink" Target="https://commons.wikimedia.org/wiki/File:Port_Louis,_Mauritius,_Bulk_Sugar_Terminal_Quay.jpg" TargetMode="External"/><Relationship Id="rId12" Type="http://schemas.openxmlformats.org/officeDocument/2006/relationships/hyperlink" Target="https://creativecommons.org/licenses/by/4.0/" TargetMode="External"/><Relationship Id="rId13" Type="http://schemas.openxmlformats.org/officeDocument/2006/relationships/hyperlink" Target="https://commons.wikimedia.org/wiki/File:South_Korea_Busan_harbour.jpg" TargetMode="External"/><Relationship Id="rId14" Type="http://schemas.openxmlformats.org/officeDocument/2006/relationships/hyperlink" Target="https://creativecommons.org/licenses/by-sa/3.0/" TargetMode="External"/><Relationship Id="rId15" Type="http://schemas.openxmlformats.org/officeDocument/2006/relationships/hyperlink" Target="https://commons.wikimedia.org/wiki/File:Korea-Seoul-Gyeongdong_Market-01.jpg" TargetMode="External"/><Relationship Id="rId16" Type="http://schemas.openxmlformats.org/officeDocument/2006/relationships/hyperlink" Target="https://creativecommons.org/licenses/by-sa/2.0/" TargetMode="External"/><Relationship Id="rId17" Type="http://schemas.openxmlformats.org/officeDocument/2006/relationships/hyperlink" Target="https://commons.wikimedia.org/wiki/File:Perai_Industrial_Zone,_Seberang_Perai,_Penang.jpg" TargetMode="External"/><Relationship Id="rId18" Type="http://schemas.openxmlformats.org/officeDocument/2006/relationships/hyperlink" Target="https://creativecommons.org/licenses/by-sa/4.0/" TargetMode="External"/><Relationship Id="rId19" Type="http://schemas.openxmlformats.org/officeDocument/2006/relationships/hyperlink" Target="https://commons.wikimedia.org/wiki/File:090301.020.PortKlang.jpg" TargetMode="External"/><Relationship Id="rId20" Type="http://schemas.openxmlformats.org/officeDocument/2006/relationships/hyperlink" Target="https://creativecommons.org/licenses/by/2.0/" TargetMode="External"/><Relationship Id="rId21" Type="http://schemas.openxmlformats.org/officeDocument/2006/relationships/hyperlink" Target="https://commons.wikimedia.org/wiki/File:Port_of_Manila.jpg" TargetMode="External"/><Relationship Id="rId22" Type="http://schemas.openxmlformats.org/officeDocument/2006/relationships/hyperlink" Target="https://creativecommons.org/licenses/by-sa/3.0/" TargetMode="External"/><Relationship Id="rId23" Type="http://schemas.openxmlformats.org/officeDocument/2006/relationships/hyperlink" Target="https://commons.wikimedia.org/wiki/File:2013-01-04_The_Philippines-_seaside_market_in_Manila.jpg" TargetMode="External"/><Relationship Id="rId24" Type="http://schemas.openxmlformats.org/officeDocument/2006/relationships/hyperlink" Target="https://creativecommons.org/licenses/by/2.0/" TargetMode="External"/><Relationship Id="rId25" Type="http://schemas.openxmlformats.org/officeDocument/2006/relationships/slideLayout" Target="../slideLayouts/slideLayout1.xml"/><Relationship Id="rId2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AN INVESTIGATION IN SIX COUNTRIES</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Shape 2"/>
          <p:cNvSpPr/>
          <p:nvPr/>
        </p:nvSpPr>
        <p:spPr>
          <a:xfrm>
            <a:off x="457200" y="9575800"/>
            <a:ext cx="6642100" cy="0"/>
          </a:xfrm>
          <a:prstGeom prst="line">
            <a:avLst/>
          </a:prstGeom>
          <a:noFill/>
          <a:ln w="7620">
            <a:solidFill>
              <a:srgbClr val="B7B0A4"/>
            </a:solidFill>
            <a:prstDash val="solid"/>
          </a:ln>
        </p:spPr>
      </p:sp>
      <p:sp>
        <p:nvSpPr>
          <p:cNvPr id="5" name="Text 3"/>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Photographs: JulianGrayscales (2020), Tema port; Svwmal (2012), Busan harbour; Amuzujoe (2020), Accra market; Gaël Chardon (2008), Gyeongdong Market, Seoul. Present-day context only. Full credits and licences: p. 30.</a:t>
            </a:r>
            <a:endParaRPr lang="en-US" sz="800" dirty="0"/>
          </a:p>
        </p:txBody>
      </p:sp>
      <p:sp>
        <p:nvSpPr>
          <p:cNvPr id="6" name="Text 4"/>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7" name="Text 5"/>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01</a:t>
            </a:r>
            <a:endParaRPr lang="en-US" sz="1100" dirty="0"/>
          </a:p>
        </p:txBody>
      </p:sp>
      <p:sp>
        <p:nvSpPr>
          <p:cNvPr id="8" name="Text 6"/>
          <p:cNvSpPr/>
          <p:nvPr/>
        </p:nvSpPr>
        <p:spPr>
          <a:xfrm>
            <a:off x="457200" y="889000"/>
            <a:ext cx="6642100" cy="749300"/>
          </a:xfrm>
          <a:prstGeom prst="rect">
            <a:avLst/>
          </a:prstGeom>
          <a:noFill/>
          <a:ln/>
        </p:spPr>
        <p:txBody>
          <a:bodyPr wrap="square" lIns="0" tIns="0" rIns="0" bIns="0" rtlCol="0" anchor="t"/>
          <a:lstStyle/>
          <a:p>
            <a:pPr indent="0" marL="0">
              <a:lnSpc>
                <a:spcPct val="112000"/>
              </a:lnSpc>
              <a:buNone/>
            </a:pPr>
            <a:r>
              <a:rPr lang="en-US" sz="4500" b="1" dirty="0">
                <a:solidFill>
                  <a:srgbClr val="252525"/>
                </a:solidFill>
                <a:latin typeface="Alegreya" pitchFamily="34" charset="0"/>
                <a:ea typeface="Alegreya" pitchFamily="34" charset="-122"/>
                <a:cs typeface="Alegreya" pitchFamily="34" charset="-120"/>
              </a:rPr>
              <a:t>Africa &amp; Asia:</a:t>
            </a:r>
            <a:endParaRPr lang="en-US" sz="4500" dirty="0"/>
          </a:p>
        </p:txBody>
      </p:sp>
      <p:sp>
        <p:nvSpPr>
          <p:cNvPr id="9" name="Text 7"/>
          <p:cNvSpPr/>
          <p:nvPr/>
        </p:nvSpPr>
        <p:spPr>
          <a:xfrm>
            <a:off x="457200" y="1765300"/>
            <a:ext cx="6604000" cy="2222500"/>
          </a:xfrm>
          <a:prstGeom prst="rect">
            <a:avLst/>
          </a:prstGeom>
          <a:noFill/>
          <a:ln/>
        </p:spPr>
        <p:txBody>
          <a:bodyPr wrap="square" lIns="0" tIns="0" rIns="0" bIns="0" rtlCol="0" anchor="t"/>
          <a:lstStyle/>
          <a:p>
            <a:pPr indent="0" marL="0">
              <a:lnSpc>
                <a:spcPct val="112000"/>
              </a:lnSpc>
              <a:buNone/>
            </a:pPr>
            <a:r>
              <a:rPr lang="en-US" sz="4400" b="1" dirty="0">
                <a:solidFill>
                  <a:srgbClr val="252525"/>
                </a:solidFill>
                <a:latin typeface="Alegreya" pitchFamily="34" charset="0"/>
                <a:ea typeface="Alegreya" pitchFamily="34" charset="-122"/>
                <a:cs typeface="Alegreya" pitchFamily="34" charset="-120"/>
              </a:rPr>
              <a:t>Why Did Their</a:t>
            </a:r>
            <a:endParaRPr lang="en-US" sz="4400" dirty="0"/>
          </a:p>
          <a:p>
            <a:pPr indent="0" marL="0">
              <a:lnSpc>
                <a:spcPct val="112000"/>
              </a:lnSpc>
              <a:buNone/>
            </a:pPr>
            <a:r>
              <a:rPr lang="en-US" sz="4400" b="1" dirty="0">
                <a:solidFill>
                  <a:srgbClr val="252525"/>
                </a:solidFill>
                <a:latin typeface="Alegreya" pitchFamily="34" charset="0"/>
                <a:ea typeface="Alegreya" pitchFamily="34" charset="-122"/>
                <a:cs typeface="Alegreya" pitchFamily="34" charset="-120"/>
              </a:rPr>
              <a:t>Economic Paths</a:t>
            </a:r>
            <a:endParaRPr lang="en-US" sz="4400" dirty="0"/>
          </a:p>
          <a:p>
            <a:pPr indent="0" marL="0">
              <a:lnSpc>
                <a:spcPct val="112000"/>
              </a:lnSpc>
              <a:buNone/>
            </a:pPr>
            <a:r>
              <a:rPr lang="en-US" sz="4400" b="1" dirty="0">
                <a:solidFill>
                  <a:srgbClr val="252525"/>
                </a:solidFill>
                <a:latin typeface="Alegreya" pitchFamily="34" charset="0"/>
                <a:ea typeface="Alegreya" pitchFamily="34" charset="-122"/>
                <a:cs typeface="Alegreya" pitchFamily="34" charset="-120"/>
              </a:rPr>
              <a:t>Diverge?</a:t>
            </a:r>
            <a:endParaRPr lang="en-US" sz="4400" dirty="0"/>
          </a:p>
        </p:txBody>
      </p:sp>
      <p:sp>
        <p:nvSpPr>
          <p:cNvPr id="10" name="Text 8"/>
          <p:cNvSpPr/>
          <p:nvPr/>
        </p:nvSpPr>
        <p:spPr>
          <a:xfrm>
            <a:off x="457200" y="4216400"/>
            <a:ext cx="6540500" cy="685800"/>
          </a:xfrm>
          <a:prstGeom prst="rect">
            <a:avLst/>
          </a:prstGeom>
          <a:noFill/>
          <a:ln/>
        </p:spPr>
        <p:txBody>
          <a:bodyPr wrap="square" lIns="0" tIns="0" rIns="0" bIns="0" rtlCol="0" anchor="t"/>
          <a:lstStyle/>
          <a:p>
            <a:pPr indent="0" marL="0">
              <a:lnSpc>
                <a:spcPct val="112000"/>
              </a:lnSpc>
              <a:buNone/>
            </a:pPr>
            <a:r>
              <a:rPr lang="en-US" sz="1500" dirty="0">
                <a:solidFill>
                  <a:srgbClr val="514E48"/>
                </a:solidFill>
                <a:latin typeface="Montserrat" pitchFamily="34" charset="0"/>
                <a:ea typeface="Montserrat" pitchFamily="34" charset="-122"/>
                <a:cs typeface="Montserrat" pitchFamily="34" charset="-120"/>
              </a:rPr>
              <a:t>Testing culture against history, institutions,</a:t>
            </a:r>
            <a:endParaRPr lang="en-US" sz="1500" dirty="0"/>
          </a:p>
          <a:p>
            <a:pPr indent="0" marL="0">
              <a:lnSpc>
                <a:spcPct val="112000"/>
              </a:lnSpc>
              <a:buNone/>
            </a:pPr>
            <a:r>
              <a:rPr lang="en-US" sz="1500" dirty="0">
                <a:solidFill>
                  <a:srgbClr val="514E48"/>
                </a:solidFill>
                <a:latin typeface="Montserrat" pitchFamily="34" charset="0"/>
                <a:ea typeface="Montserrat" pitchFamily="34" charset="-122"/>
                <a:cs typeface="Montserrat" pitchFamily="34" charset="-120"/>
              </a:rPr>
              <a:t>policy and economic evidence.</a:t>
            </a:r>
            <a:endParaRPr lang="en-US" sz="1500" dirty="0"/>
          </a:p>
        </p:txBody>
      </p:sp>
      <p:pic>
        <p:nvPicPr>
          <p:cNvPr id="11" name="Image 0" descr="/Users/marcusgrude-grodem/Documents/GitHub/USIL/africa-asia-development-magazine/design/canva_editorial_draft/assets/print/ghana_tema.jpg">    </p:cNvPr>
          <p:cNvPicPr>
            <a:picLocks noChangeAspect="1"/>
          </p:cNvPicPr>
          <p:nvPr/>
        </p:nvPicPr>
        <p:blipFill>
          <a:blip r:embed="rId1"/>
          <a:stretch>
            <a:fillRect/>
          </a:stretch>
        </p:blipFill>
        <p:spPr>
          <a:xfrm>
            <a:off x="457200" y="5755051"/>
            <a:ext cx="1524000" cy="1012098"/>
          </a:xfrm>
          <a:prstGeom prst="rect">
            <a:avLst/>
          </a:prstGeom>
        </p:spPr>
      </p:pic>
      <p:pic>
        <p:nvPicPr>
          <p:cNvPr id="12" name="Image 1" descr="/Users/marcusgrude-grodem/Documents/GitHub/USIL/africa-asia-development-magazine/design/canva_editorial_draft/assets/print/ghana_accra.jpg">    </p:cNvPr>
          <p:cNvPicPr>
            <a:picLocks noChangeAspect="1"/>
          </p:cNvPicPr>
          <p:nvPr/>
        </p:nvPicPr>
        <p:blipFill>
          <a:blip r:embed="rId2"/>
          <a:stretch>
            <a:fillRect/>
          </a:stretch>
        </p:blipFill>
        <p:spPr>
          <a:xfrm>
            <a:off x="2095500" y="5245100"/>
            <a:ext cx="1524000" cy="2032000"/>
          </a:xfrm>
          <a:prstGeom prst="rect">
            <a:avLst/>
          </a:prstGeom>
        </p:spPr>
      </p:pic>
      <p:pic>
        <p:nvPicPr>
          <p:cNvPr id="13" name="Image 2" descr="/Users/marcusgrude-grodem/Documents/GitHub/USIL/africa-asia-development-magazine/design/canva_editorial_draft/assets/print/korea_busan.jpg">    </p:cNvPr>
          <p:cNvPicPr>
            <a:picLocks noChangeAspect="1"/>
          </p:cNvPicPr>
          <p:nvPr/>
        </p:nvPicPr>
        <p:blipFill>
          <a:blip r:embed="rId3"/>
          <a:stretch>
            <a:fillRect/>
          </a:stretch>
        </p:blipFill>
        <p:spPr>
          <a:xfrm>
            <a:off x="3937000" y="5689600"/>
            <a:ext cx="1524000" cy="1143000"/>
          </a:xfrm>
          <a:prstGeom prst="rect">
            <a:avLst/>
          </a:prstGeom>
        </p:spPr>
      </p:pic>
      <p:pic>
        <p:nvPicPr>
          <p:cNvPr id="14" name="Image 3" descr="/Users/marcusgrude-grodem/Documents/GitHub/USIL/africa-asia-development-magazine/design/canva_editorial_draft/assets/print/korea_market.jpg">    </p:cNvPr>
          <p:cNvPicPr>
            <a:picLocks noChangeAspect="1"/>
          </p:cNvPicPr>
          <p:nvPr/>
        </p:nvPicPr>
        <p:blipFill>
          <a:blip r:embed="rId4"/>
          <a:stretch>
            <a:fillRect/>
          </a:stretch>
        </p:blipFill>
        <p:spPr>
          <a:xfrm>
            <a:off x="5575300" y="5689600"/>
            <a:ext cx="1524000" cy="1143000"/>
          </a:xfrm>
          <a:prstGeom prst="rect">
            <a:avLst/>
          </a:prstGeom>
        </p:spPr>
      </p:pic>
      <p:sp>
        <p:nvSpPr>
          <p:cNvPr id="15" name="Shape 9"/>
          <p:cNvSpPr/>
          <p:nvPr/>
        </p:nvSpPr>
        <p:spPr>
          <a:xfrm>
            <a:off x="457200" y="7670800"/>
            <a:ext cx="127000" cy="127000"/>
          </a:xfrm>
          <a:prstGeom prst="ellipse">
            <a:avLst/>
          </a:prstGeom>
          <a:solidFill>
            <a:srgbClr val="B95332"/>
          </a:solidFill>
          <a:ln w="7620">
            <a:solidFill>
              <a:srgbClr val="252525"/>
            </a:solidFill>
            <a:prstDash val="solid"/>
          </a:ln>
        </p:spPr>
      </p:sp>
      <p:sp>
        <p:nvSpPr>
          <p:cNvPr id="16" name="Text 10"/>
          <p:cNvSpPr/>
          <p:nvPr/>
        </p:nvSpPr>
        <p:spPr>
          <a:xfrm>
            <a:off x="711200" y="7620000"/>
            <a:ext cx="2413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17" name="Shape 11"/>
          <p:cNvSpPr/>
          <p:nvPr/>
        </p:nvSpPr>
        <p:spPr>
          <a:xfrm>
            <a:off x="3937000" y="7670800"/>
            <a:ext cx="127000" cy="127000"/>
          </a:xfrm>
          <a:prstGeom prst="diamond">
            <a:avLst/>
          </a:prstGeom>
          <a:solidFill>
            <a:srgbClr val="315A78"/>
          </a:solidFill>
          <a:ln w="7620">
            <a:solidFill>
              <a:srgbClr val="252525"/>
            </a:solidFill>
            <a:prstDash val="solid"/>
          </a:ln>
        </p:spPr>
      </p:sp>
      <p:sp>
        <p:nvSpPr>
          <p:cNvPr id="18" name="Text 12"/>
          <p:cNvSpPr/>
          <p:nvPr/>
        </p:nvSpPr>
        <p:spPr>
          <a:xfrm>
            <a:off x="4191000" y="7620000"/>
            <a:ext cx="2413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19" name="Text 13"/>
          <p:cNvSpPr/>
          <p:nvPr/>
        </p:nvSpPr>
        <p:spPr>
          <a:xfrm>
            <a:off x="685800" y="7950200"/>
            <a:ext cx="2933700" cy="228600"/>
          </a:xfrm>
          <a:prstGeom prst="rect">
            <a:avLst/>
          </a:prstGeom>
          <a:noFill/>
          <a:ln/>
        </p:spPr>
        <p:txBody>
          <a:bodyPr wrap="square" lIns="0" tIns="0" rIns="0" bIns="0" rtlCol="0" anchor="t"/>
          <a:lstStyle/>
          <a:p>
            <a:pPr indent="0" marL="0">
              <a:lnSpc>
                <a:spcPct val="112000"/>
              </a:lnSpc>
              <a:buNone/>
            </a:pPr>
            <a:r>
              <a:rPr lang="en-US" sz="830" dirty="0">
                <a:solidFill>
                  <a:srgbClr val="252525"/>
                </a:solidFill>
                <a:latin typeface="Montserrat" pitchFamily="34" charset="0"/>
                <a:ea typeface="Montserrat" pitchFamily="34" charset="-122"/>
                <a:cs typeface="Montserrat" pitchFamily="34" charset="-120"/>
              </a:rPr>
              <a:t>Tema port · 2020 / Accra market · 2020</a:t>
            </a:r>
            <a:endParaRPr lang="en-US" sz="830" dirty="0"/>
          </a:p>
        </p:txBody>
      </p:sp>
      <p:sp>
        <p:nvSpPr>
          <p:cNvPr id="20" name="Text 14"/>
          <p:cNvSpPr/>
          <p:nvPr/>
        </p:nvSpPr>
        <p:spPr>
          <a:xfrm>
            <a:off x="4165600" y="7950200"/>
            <a:ext cx="2933700" cy="228600"/>
          </a:xfrm>
          <a:prstGeom prst="rect">
            <a:avLst/>
          </a:prstGeom>
          <a:noFill/>
          <a:ln/>
        </p:spPr>
        <p:txBody>
          <a:bodyPr wrap="square" lIns="0" tIns="0" rIns="0" bIns="0" rtlCol="0" anchor="t"/>
          <a:lstStyle/>
          <a:p>
            <a:pPr indent="0" marL="0">
              <a:lnSpc>
                <a:spcPct val="112000"/>
              </a:lnSpc>
              <a:buNone/>
            </a:pPr>
            <a:r>
              <a:rPr lang="en-US" sz="810" dirty="0">
                <a:solidFill>
                  <a:srgbClr val="252525"/>
                </a:solidFill>
                <a:latin typeface="Montserrat" pitchFamily="34" charset="0"/>
                <a:ea typeface="Montserrat" pitchFamily="34" charset="-122"/>
                <a:cs typeface="Montserrat" pitchFamily="34" charset="-120"/>
              </a:rPr>
              <a:t>Busan harbour · 2012 / Seoul market · 2008</a:t>
            </a:r>
            <a:endParaRPr lang="en-US" sz="810" dirty="0"/>
          </a:p>
        </p:txBody>
      </p:sp>
      <p:sp>
        <p:nvSpPr>
          <p:cNvPr id="21" name="Text 15"/>
          <p:cNvSpPr/>
          <p:nvPr/>
        </p:nvSpPr>
        <p:spPr>
          <a:xfrm>
            <a:off x="457200" y="8280400"/>
            <a:ext cx="6642100" cy="2540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Different places and livelihoods—not images of a whole region.</a:t>
            </a:r>
            <a:endParaRPr lang="en-US" sz="900" dirty="0"/>
          </a:p>
        </p:txBody>
      </p:sp>
      <p:sp>
        <p:nvSpPr>
          <p:cNvPr id="22" name="Text 16"/>
          <p:cNvSpPr/>
          <p:nvPr/>
        </p:nvSpPr>
        <p:spPr>
          <a:xfrm>
            <a:off x="457200" y="8661400"/>
            <a:ext cx="6642100" cy="6350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SIX CASES. THREE ANCHORS.</a:t>
            </a:r>
            <a:endParaRPr lang="en-US" sz="1600" dirty="0"/>
          </a:p>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NO SINGLE CONTINENTAL STORY.</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01 / THE QUESTION</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2900" b="1" dirty="0">
                <a:solidFill>
                  <a:srgbClr val="252525"/>
                </a:solidFill>
                <a:latin typeface="Alegreya" pitchFamily="34" charset="0"/>
                <a:ea typeface="Alegreya" pitchFamily="34" charset="-122"/>
                <a:cs typeface="Alegreya" pitchFamily="34" charset="-120"/>
              </a:rPr>
              <a:t>Was slower growth caused by culture—or was culture also shaped by history and institutions?</a:t>
            </a:r>
            <a:endParaRPr lang="en-US" sz="29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Six country pathways test the question. Their differences also test the explanations.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Hofstede (2011, pp. 6–8); McSweeney (2002, pp. 93–107); approved project theory matrix.</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02</a:t>
            </a:r>
            <a:endParaRPr lang="en-US" sz="1100" dirty="0"/>
          </a:p>
        </p:txBody>
      </p:sp>
      <p:sp>
        <p:nvSpPr>
          <p:cNvPr id="10" name="Text 8"/>
          <p:cNvSpPr/>
          <p:nvPr/>
        </p:nvSpPr>
        <p:spPr>
          <a:xfrm>
            <a:off x="457200" y="3213100"/>
            <a:ext cx="1397000" cy="393700"/>
          </a:xfrm>
          <a:prstGeom prst="rect">
            <a:avLst/>
          </a:prstGeom>
          <a:noFill/>
          <a:ln/>
        </p:spPr>
        <p:txBody>
          <a:bodyPr wrap="square" lIns="0" tIns="0" rIns="0" bIns="0" rtlCol="0" anchor="t"/>
          <a:lstStyle/>
          <a:p>
            <a:pPr indent="0" marL="0">
              <a:lnSpc>
                <a:spcPct val="112000"/>
              </a:lnSpc>
              <a:buNone/>
            </a:pPr>
            <a:r>
              <a:rPr lang="en-US" sz="2500" b="1" dirty="0">
                <a:solidFill>
                  <a:srgbClr val="514E48"/>
                </a:solidFill>
                <a:latin typeface="Montserrat" pitchFamily="34" charset="0"/>
                <a:ea typeface="Montserrat" pitchFamily="34" charset="-122"/>
                <a:cs typeface="Montserrat" pitchFamily="34" charset="-120"/>
              </a:rPr>
              <a:t>01</a:t>
            </a:r>
            <a:endParaRPr lang="en-US" sz="2500" dirty="0"/>
          </a:p>
        </p:txBody>
      </p:sp>
      <p:sp>
        <p:nvSpPr>
          <p:cNvPr id="11" name="Text 9"/>
          <p:cNvSpPr/>
          <p:nvPr/>
        </p:nvSpPr>
        <p:spPr>
          <a:xfrm>
            <a:off x="457200" y="3733800"/>
            <a:ext cx="15240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OBSERVE</a:t>
            </a:r>
            <a:endParaRPr lang="en-US" sz="1500" dirty="0"/>
          </a:p>
        </p:txBody>
      </p:sp>
      <p:sp>
        <p:nvSpPr>
          <p:cNvPr id="12" name="Text 10"/>
          <p:cNvSpPr/>
          <p:nvPr/>
        </p:nvSpPr>
        <p:spPr>
          <a:xfrm>
            <a:off x="1841500" y="3670300"/>
            <a:ext cx="304800" cy="381000"/>
          </a:xfrm>
          <a:prstGeom prst="rect">
            <a:avLst/>
          </a:prstGeom>
          <a:noFill/>
          <a:ln/>
        </p:spPr>
        <p:txBody>
          <a:bodyPr wrap="square" lIns="0" tIns="0" rIns="0" bIns="0" rtlCol="0" anchor="t"/>
          <a:lstStyle/>
          <a:p>
            <a:pPr indent="0" marL="0">
              <a:lnSpc>
                <a:spcPct val="112000"/>
              </a:lnSpc>
              <a:buNone/>
            </a:pPr>
            <a:r>
              <a:rPr lang="en-US" sz="2000" dirty="0">
                <a:solidFill>
                  <a:srgbClr val="252525"/>
                </a:solidFill>
                <a:latin typeface="Montserrat" pitchFamily="34" charset="0"/>
                <a:ea typeface="Montserrat" pitchFamily="34" charset="-122"/>
                <a:cs typeface="Montserrat" pitchFamily="34" charset="-120"/>
              </a:rPr>
              <a:t>→</a:t>
            </a:r>
            <a:endParaRPr lang="en-US" sz="2000" dirty="0"/>
          </a:p>
        </p:txBody>
      </p:sp>
      <p:sp>
        <p:nvSpPr>
          <p:cNvPr id="13" name="Text 11"/>
          <p:cNvSpPr/>
          <p:nvPr/>
        </p:nvSpPr>
        <p:spPr>
          <a:xfrm>
            <a:off x="2133600" y="3213100"/>
            <a:ext cx="1397000" cy="393700"/>
          </a:xfrm>
          <a:prstGeom prst="rect">
            <a:avLst/>
          </a:prstGeom>
          <a:noFill/>
          <a:ln/>
        </p:spPr>
        <p:txBody>
          <a:bodyPr wrap="square" lIns="0" tIns="0" rIns="0" bIns="0" rtlCol="0" anchor="t"/>
          <a:lstStyle/>
          <a:p>
            <a:pPr indent="0" marL="0">
              <a:lnSpc>
                <a:spcPct val="112000"/>
              </a:lnSpc>
              <a:buNone/>
            </a:pPr>
            <a:r>
              <a:rPr lang="en-US" sz="2500" b="1" dirty="0">
                <a:solidFill>
                  <a:srgbClr val="514E48"/>
                </a:solidFill>
                <a:latin typeface="Montserrat" pitchFamily="34" charset="0"/>
                <a:ea typeface="Montserrat" pitchFamily="34" charset="-122"/>
                <a:cs typeface="Montserrat" pitchFamily="34" charset="-120"/>
              </a:rPr>
              <a:t>02</a:t>
            </a:r>
            <a:endParaRPr lang="en-US" sz="2500" dirty="0"/>
          </a:p>
        </p:txBody>
      </p:sp>
      <p:sp>
        <p:nvSpPr>
          <p:cNvPr id="14" name="Text 12"/>
          <p:cNvSpPr/>
          <p:nvPr/>
        </p:nvSpPr>
        <p:spPr>
          <a:xfrm>
            <a:off x="2133600" y="3733800"/>
            <a:ext cx="15240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PREDICT</a:t>
            </a:r>
            <a:endParaRPr lang="en-US" sz="1500" dirty="0"/>
          </a:p>
        </p:txBody>
      </p:sp>
      <p:sp>
        <p:nvSpPr>
          <p:cNvPr id="15" name="Text 13"/>
          <p:cNvSpPr/>
          <p:nvPr/>
        </p:nvSpPr>
        <p:spPr>
          <a:xfrm>
            <a:off x="3517900" y="3670300"/>
            <a:ext cx="304800" cy="381000"/>
          </a:xfrm>
          <a:prstGeom prst="rect">
            <a:avLst/>
          </a:prstGeom>
          <a:noFill/>
          <a:ln/>
        </p:spPr>
        <p:txBody>
          <a:bodyPr wrap="square" lIns="0" tIns="0" rIns="0" bIns="0" rtlCol="0" anchor="t"/>
          <a:lstStyle/>
          <a:p>
            <a:pPr indent="0" marL="0">
              <a:lnSpc>
                <a:spcPct val="112000"/>
              </a:lnSpc>
              <a:buNone/>
            </a:pPr>
            <a:r>
              <a:rPr lang="en-US" sz="2000" dirty="0">
                <a:solidFill>
                  <a:srgbClr val="252525"/>
                </a:solidFill>
                <a:latin typeface="Montserrat" pitchFamily="34" charset="0"/>
                <a:ea typeface="Montserrat" pitchFamily="34" charset="-122"/>
                <a:cs typeface="Montserrat" pitchFamily="34" charset="-120"/>
              </a:rPr>
              <a:t>→</a:t>
            </a:r>
            <a:endParaRPr lang="en-US" sz="2000" dirty="0"/>
          </a:p>
        </p:txBody>
      </p:sp>
      <p:sp>
        <p:nvSpPr>
          <p:cNvPr id="16" name="Text 14"/>
          <p:cNvSpPr/>
          <p:nvPr/>
        </p:nvSpPr>
        <p:spPr>
          <a:xfrm>
            <a:off x="3810000" y="3213100"/>
            <a:ext cx="1397000" cy="393700"/>
          </a:xfrm>
          <a:prstGeom prst="rect">
            <a:avLst/>
          </a:prstGeom>
          <a:noFill/>
          <a:ln/>
        </p:spPr>
        <p:txBody>
          <a:bodyPr wrap="square" lIns="0" tIns="0" rIns="0" bIns="0" rtlCol="0" anchor="t"/>
          <a:lstStyle/>
          <a:p>
            <a:pPr indent="0" marL="0">
              <a:lnSpc>
                <a:spcPct val="112000"/>
              </a:lnSpc>
              <a:buNone/>
            </a:pPr>
            <a:r>
              <a:rPr lang="en-US" sz="2500" b="1" dirty="0">
                <a:solidFill>
                  <a:srgbClr val="514E48"/>
                </a:solidFill>
                <a:latin typeface="Montserrat" pitchFamily="34" charset="0"/>
                <a:ea typeface="Montserrat" pitchFamily="34" charset="-122"/>
                <a:cs typeface="Montserrat" pitchFamily="34" charset="-120"/>
              </a:rPr>
              <a:t>03</a:t>
            </a:r>
            <a:endParaRPr lang="en-US" sz="2500" dirty="0"/>
          </a:p>
        </p:txBody>
      </p:sp>
      <p:sp>
        <p:nvSpPr>
          <p:cNvPr id="17" name="Text 15"/>
          <p:cNvSpPr/>
          <p:nvPr/>
        </p:nvSpPr>
        <p:spPr>
          <a:xfrm>
            <a:off x="3810000" y="3733800"/>
            <a:ext cx="15240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TEST</a:t>
            </a:r>
            <a:endParaRPr lang="en-US" sz="1500" dirty="0"/>
          </a:p>
        </p:txBody>
      </p:sp>
      <p:sp>
        <p:nvSpPr>
          <p:cNvPr id="18" name="Text 16"/>
          <p:cNvSpPr/>
          <p:nvPr/>
        </p:nvSpPr>
        <p:spPr>
          <a:xfrm>
            <a:off x="5194300" y="3670300"/>
            <a:ext cx="304800" cy="381000"/>
          </a:xfrm>
          <a:prstGeom prst="rect">
            <a:avLst/>
          </a:prstGeom>
          <a:noFill/>
          <a:ln/>
        </p:spPr>
        <p:txBody>
          <a:bodyPr wrap="square" lIns="0" tIns="0" rIns="0" bIns="0" rtlCol="0" anchor="t"/>
          <a:lstStyle/>
          <a:p>
            <a:pPr indent="0" marL="0">
              <a:lnSpc>
                <a:spcPct val="112000"/>
              </a:lnSpc>
              <a:buNone/>
            </a:pPr>
            <a:r>
              <a:rPr lang="en-US" sz="2000" dirty="0">
                <a:solidFill>
                  <a:srgbClr val="252525"/>
                </a:solidFill>
                <a:latin typeface="Montserrat" pitchFamily="34" charset="0"/>
                <a:ea typeface="Montserrat" pitchFamily="34" charset="-122"/>
                <a:cs typeface="Montserrat" pitchFamily="34" charset="-120"/>
              </a:rPr>
              <a:t>→</a:t>
            </a:r>
            <a:endParaRPr lang="en-US" sz="2000" dirty="0"/>
          </a:p>
        </p:txBody>
      </p:sp>
      <p:sp>
        <p:nvSpPr>
          <p:cNvPr id="19" name="Text 17"/>
          <p:cNvSpPr/>
          <p:nvPr/>
        </p:nvSpPr>
        <p:spPr>
          <a:xfrm>
            <a:off x="5486400" y="3213100"/>
            <a:ext cx="1397000" cy="393700"/>
          </a:xfrm>
          <a:prstGeom prst="rect">
            <a:avLst/>
          </a:prstGeom>
          <a:noFill/>
          <a:ln/>
        </p:spPr>
        <p:txBody>
          <a:bodyPr wrap="square" lIns="0" tIns="0" rIns="0" bIns="0" rtlCol="0" anchor="t"/>
          <a:lstStyle/>
          <a:p>
            <a:pPr indent="0" marL="0">
              <a:lnSpc>
                <a:spcPct val="112000"/>
              </a:lnSpc>
              <a:buNone/>
            </a:pPr>
            <a:r>
              <a:rPr lang="en-US" sz="2500" b="1" dirty="0">
                <a:solidFill>
                  <a:srgbClr val="514E48"/>
                </a:solidFill>
                <a:latin typeface="Montserrat" pitchFamily="34" charset="0"/>
                <a:ea typeface="Montserrat" pitchFamily="34" charset="-122"/>
                <a:cs typeface="Montserrat" pitchFamily="34" charset="-120"/>
              </a:rPr>
              <a:t>04</a:t>
            </a:r>
            <a:endParaRPr lang="en-US" sz="2500" dirty="0"/>
          </a:p>
        </p:txBody>
      </p:sp>
      <p:sp>
        <p:nvSpPr>
          <p:cNvPr id="20" name="Text 18"/>
          <p:cNvSpPr/>
          <p:nvPr/>
        </p:nvSpPr>
        <p:spPr>
          <a:xfrm>
            <a:off x="5486400" y="3733800"/>
            <a:ext cx="15240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REVISE</a:t>
            </a:r>
            <a:endParaRPr lang="en-US" sz="1500" dirty="0"/>
          </a:p>
        </p:txBody>
      </p:sp>
      <p:sp>
        <p:nvSpPr>
          <p:cNvPr id="21" name="Text 19"/>
          <p:cNvSpPr/>
          <p:nvPr/>
        </p:nvSpPr>
        <p:spPr>
          <a:xfrm>
            <a:off x="457200" y="4343400"/>
            <a:ext cx="6477000" cy="660400"/>
          </a:xfrm>
          <a:prstGeom prst="rect">
            <a:avLst/>
          </a:prstGeom>
          <a:noFill/>
          <a:ln/>
        </p:spPr>
        <p:txBody>
          <a:bodyPr wrap="square" lIns="0" tIns="0" rIns="0" bIns="0" rtlCol="0" anchor="t"/>
          <a:lstStyle/>
          <a:p>
            <a:pPr indent="0" marL="0">
              <a:lnSpc>
                <a:spcPct val="112000"/>
              </a:lnSpc>
              <a:buNone/>
            </a:pPr>
            <a:r>
              <a:rPr lang="en-US" sz="1300" dirty="0">
                <a:solidFill>
                  <a:srgbClr val="252525"/>
                </a:solidFill>
                <a:latin typeface="Montserrat" pitchFamily="34" charset="0"/>
                <a:ea typeface="Montserrat" pitchFamily="34" charset="-122"/>
                <a:cs typeface="Montserrat" pitchFamily="34" charset="-120"/>
              </a:rPr>
              <a:t>Start with a pattern. Make the mechanism explicit.</a:t>
            </a:r>
            <a:endParaRPr lang="en-US" sz="1300" dirty="0"/>
          </a:p>
          <a:p>
            <a:pPr indent="0" marL="0">
              <a:lnSpc>
                <a:spcPct val="112000"/>
              </a:lnSpc>
              <a:buNone/>
            </a:pPr>
            <a:r>
              <a:rPr lang="en-US" sz="1300" dirty="0">
                <a:solidFill>
                  <a:srgbClr val="252525"/>
                </a:solidFill>
                <a:latin typeface="Montserrat" pitchFamily="34" charset="0"/>
                <a:ea typeface="Montserrat" pitchFamily="34" charset="-122"/>
                <a:cs typeface="Montserrat" pitchFamily="34" charset="-120"/>
              </a:rPr>
              <a:t>Look for a challenging case. Change the explanation.</a:t>
            </a:r>
            <a:endParaRPr lang="en-US" sz="1300" dirty="0"/>
          </a:p>
        </p:txBody>
      </p:sp>
      <p:sp>
        <p:nvSpPr>
          <p:cNvPr id="22" name="Shape 20"/>
          <p:cNvSpPr/>
          <p:nvPr/>
        </p:nvSpPr>
        <p:spPr>
          <a:xfrm>
            <a:off x="457200" y="5359400"/>
            <a:ext cx="6642100" cy="0"/>
          </a:xfrm>
          <a:prstGeom prst="line">
            <a:avLst/>
          </a:prstGeom>
          <a:noFill/>
          <a:ln w="7620">
            <a:solidFill>
              <a:srgbClr val="B7B0A4"/>
            </a:solidFill>
            <a:prstDash val="solid"/>
          </a:ln>
        </p:spPr>
      </p:sp>
      <p:sp>
        <p:nvSpPr>
          <p:cNvPr id="23" name="Text 21"/>
          <p:cNvSpPr/>
          <p:nvPr/>
        </p:nvSpPr>
        <p:spPr>
          <a:xfrm>
            <a:off x="457200" y="5486400"/>
            <a:ext cx="482600" cy="2794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01</a:t>
            </a:r>
            <a:endParaRPr lang="en-US" sz="1000" dirty="0"/>
          </a:p>
        </p:txBody>
      </p:sp>
      <p:sp>
        <p:nvSpPr>
          <p:cNvPr id="24" name="Text 22"/>
          <p:cNvSpPr/>
          <p:nvPr/>
        </p:nvSpPr>
        <p:spPr>
          <a:xfrm>
            <a:off x="1143000" y="5486400"/>
            <a:ext cx="4699000" cy="3048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The question</a:t>
            </a:r>
            <a:endParaRPr lang="en-US" sz="1200" dirty="0"/>
          </a:p>
        </p:txBody>
      </p:sp>
      <p:sp>
        <p:nvSpPr>
          <p:cNvPr id="25" name="Text 23"/>
          <p:cNvSpPr/>
          <p:nvPr/>
        </p:nvSpPr>
        <p:spPr>
          <a:xfrm>
            <a:off x="6121400" y="5486400"/>
            <a:ext cx="977900" cy="279400"/>
          </a:xfrm>
          <a:prstGeom prst="rect">
            <a:avLst/>
          </a:prstGeom>
          <a:noFill/>
          <a:ln/>
        </p:spPr>
        <p:txBody>
          <a:bodyPr wrap="square" lIns="0" tIns="0" rIns="0" bIns="0" rtlCol="0" anchor="t"/>
          <a:lstStyle/>
          <a:p>
            <a:pPr algn="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02–04</a:t>
            </a:r>
            <a:endParaRPr lang="en-US" sz="1000" dirty="0"/>
          </a:p>
        </p:txBody>
      </p:sp>
      <p:sp>
        <p:nvSpPr>
          <p:cNvPr id="26" name="Shape 24"/>
          <p:cNvSpPr/>
          <p:nvPr/>
        </p:nvSpPr>
        <p:spPr>
          <a:xfrm>
            <a:off x="457200" y="5892800"/>
            <a:ext cx="6642100" cy="0"/>
          </a:xfrm>
          <a:prstGeom prst="line">
            <a:avLst/>
          </a:prstGeom>
          <a:noFill/>
          <a:ln w="7620">
            <a:solidFill>
              <a:srgbClr val="B7B0A4"/>
            </a:solidFill>
            <a:prstDash val="solid"/>
          </a:ln>
        </p:spPr>
      </p:sp>
      <p:sp>
        <p:nvSpPr>
          <p:cNvPr id="27" name="Text 25"/>
          <p:cNvSpPr/>
          <p:nvPr/>
        </p:nvSpPr>
        <p:spPr>
          <a:xfrm>
            <a:off x="457200" y="6019800"/>
            <a:ext cx="482600" cy="2794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02</a:t>
            </a:r>
            <a:endParaRPr lang="en-US" sz="1000" dirty="0"/>
          </a:p>
        </p:txBody>
      </p:sp>
      <p:sp>
        <p:nvSpPr>
          <p:cNvPr id="28" name="Text 26"/>
          <p:cNvSpPr/>
          <p:nvPr/>
        </p:nvSpPr>
        <p:spPr>
          <a:xfrm>
            <a:off x="1143000" y="6019800"/>
            <a:ext cx="4699000" cy="3048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The starting line</a:t>
            </a:r>
            <a:endParaRPr lang="en-US" sz="1200" dirty="0"/>
          </a:p>
        </p:txBody>
      </p:sp>
      <p:sp>
        <p:nvSpPr>
          <p:cNvPr id="29" name="Text 27"/>
          <p:cNvSpPr/>
          <p:nvPr/>
        </p:nvSpPr>
        <p:spPr>
          <a:xfrm>
            <a:off x="6121400" y="6019800"/>
            <a:ext cx="977900" cy="279400"/>
          </a:xfrm>
          <a:prstGeom prst="rect">
            <a:avLst/>
          </a:prstGeom>
          <a:noFill/>
          <a:ln/>
        </p:spPr>
        <p:txBody>
          <a:bodyPr wrap="square" lIns="0" tIns="0" rIns="0" bIns="0" rtlCol="0" anchor="t"/>
          <a:lstStyle/>
          <a:p>
            <a:pPr algn="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05–09</a:t>
            </a:r>
            <a:endParaRPr lang="en-US" sz="1000" dirty="0"/>
          </a:p>
        </p:txBody>
      </p:sp>
      <p:sp>
        <p:nvSpPr>
          <p:cNvPr id="30" name="Shape 28"/>
          <p:cNvSpPr/>
          <p:nvPr/>
        </p:nvSpPr>
        <p:spPr>
          <a:xfrm>
            <a:off x="457200" y="6426200"/>
            <a:ext cx="6642100" cy="0"/>
          </a:xfrm>
          <a:prstGeom prst="line">
            <a:avLst/>
          </a:prstGeom>
          <a:noFill/>
          <a:ln w="7620">
            <a:solidFill>
              <a:srgbClr val="B7B0A4"/>
            </a:solidFill>
            <a:prstDash val="solid"/>
          </a:ln>
        </p:spPr>
      </p:sp>
      <p:sp>
        <p:nvSpPr>
          <p:cNvPr id="31" name="Text 29"/>
          <p:cNvSpPr/>
          <p:nvPr/>
        </p:nvSpPr>
        <p:spPr>
          <a:xfrm>
            <a:off x="457200" y="6553200"/>
            <a:ext cx="482600" cy="2794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03</a:t>
            </a:r>
            <a:endParaRPr lang="en-US" sz="1000" dirty="0"/>
          </a:p>
        </p:txBody>
      </p:sp>
      <p:sp>
        <p:nvSpPr>
          <p:cNvPr id="32" name="Text 30"/>
          <p:cNvSpPr/>
          <p:nvPr/>
        </p:nvSpPr>
        <p:spPr>
          <a:xfrm>
            <a:off x="1143000" y="6553200"/>
            <a:ext cx="4699000" cy="3048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Building capability</a:t>
            </a:r>
            <a:endParaRPr lang="en-US" sz="1200" dirty="0"/>
          </a:p>
        </p:txBody>
      </p:sp>
      <p:sp>
        <p:nvSpPr>
          <p:cNvPr id="33" name="Text 31"/>
          <p:cNvSpPr/>
          <p:nvPr/>
        </p:nvSpPr>
        <p:spPr>
          <a:xfrm>
            <a:off x="6121400" y="6553200"/>
            <a:ext cx="977900" cy="279400"/>
          </a:xfrm>
          <a:prstGeom prst="rect">
            <a:avLst/>
          </a:prstGeom>
          <a:noFill/>
          <a:ln/>
        </p:spPr>
        <p:txBody>
          <a:bodyPr wrap="square" lIns="0" tIns="0" rIns="0" bIns="0" rtlCol="0" anchor="t"/>
          <a:lstStyle/>
          <a:p>
            <a:pPr algn="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10–15</a:t>
            </a:r>
            <a:endParaRPr lang="en-US" sz="1000" dirty="0"/>
          </a:p>
        </p:txBody>
      </p:sp>
      <p:sp>
        <p:nvSpPr>
          <p:cNvPr id="34" name="Shape 32"/>
          <p:cNvSpPr/>
          <p:nvPr/>
        </p:nvSpPr>
        <p:spPr>
          <a:xfrm>
            <a:off x="457200" y="6959600"/>
            <a:ext cx="6642100" cy="0"/>
          </a:xfrm>
          <a:prstGeom prst="line">
            <a:avLst/>
          </a:prstGeom>
          <a:noFill/>
          <a:ln w="7620">
            <a:solidFill>
              <a:srgbClr val="B7B0A4"/>
            </a:solidFill>
            <a:prstDash val="solid"/>
          </a:ln>
        </p:spPr>
      </p:sp>
      <p:sp>
        <p:nvSpPr>
          <p:cNvPr id="35" name="Text 33"/>
          <p:cNvSpPr/>
          <p:nvPr/>
        </p:nvSpPr>
        <p:spPr>
          <a:xfrm>
            <a:off x="457200" y="7086600"/>
            <a:ext cx="482600" cy="2794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04</a:t>
            </a:r>
            <a:endParaRPr lang="en-US" sz="1000" dirty="0"/>
          </a:p>
        </p:txBody>
      </p:sp>
      <p:sp>
        <p:nvSpPr>
          <p:cNvPr id="36" name="Text 34"/>
          <p:cNvSpPr/>
          <p:nvPr/>
        </p:nvSpPr>
        <p:spPr>
          <a:xfrm>
            <a:off x="1143000" y="7086600"/>
            <a:ext cx="4699000" cy="3048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Culture under examination</a:t>
            </a:r>
            <a:endParaRPr lang="en-US" sz="1200" dirty="0"/>
          </a:p>
        </p:txBody>
      </p:sp>
      <p:sp>
        <p:nvSpPr>
          <p:cNvPr id="37" name="Text 35"/>
          <p:cNvSpPr/>
          <p:nvPr/>
        </p:nvSpPr>
        <p:spPr>
          <a:xfrm>
            <a:off x="6121400" y="7086600"/>
            <a:ext cx="977900" cy="279400"/>
          </a:xfrm>
          <a:prstGeom prst="rect">
            <a:avLst/>
          </a:prstGeom>
          <a:noFill/>
          <a:ln/>
        </p:spPr>
        <p:txBody>
          <a:bodyPr wrap="square" lIns="0" tIns="0" rIns="0" bIns="0" rtlCol="0" anchor="t"/>
          <a:lstStyle/>
          <a:p>
            <a:pPr algn="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16–19</a:t>
            </a:r>
            <a:endParaRPr lang="en-US" sz="1000" dirty="0"/>
          </a:p>
        </p:txBody>
      </p:sp>
      <p:sp>
        <p:nvSpPr>
          <p:cNvPr id="38" name="Shape 36"/>
          <p:cNvSpPr/>
          <p:nvPr/>
        </p:nvSpPr>
        <p:spPr>
          <a:xfrm>
            <a:off x="457200" y="7493000"/>
            <a:ext cx="6642100" cy="0"/>
          </a:xfrm>
          <a:prstGeom prst="line">
            <a:avLst/>
          </a:prstGeom>
          <a:noFill/>
          <a:ln w="7620">
            <a:solidFill>
              <a:srgbClr val="B7B0A4"/>
            </a:solidFill>
            <a:prstDash val="solid"/>
          </a:ln>
        </p:spPr>
      </p:sp>
      <p:sp>
        <p:nvSpPr>
          <p:cNvPr id="39" name="Text 37"/>
          <p:cNvSpPr/>
          <p:nvPr/>
        </p:nvSpPr>
        <p:spPr>
          <a:xfrm>
            <a:off x="457200" y="7620000"/>
            <a:ext cx="482600" cy="2794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05</a:t>
            </a:r>
            <a:endParaRPr lang="en-US" sz="1000" dirty="0"/>
          </a:p>
        </p:txBody>
      </p:sp>
      <p:sp>
        <p:nvSpPr>
          <p:cNvPr id="40" name="Text 38"/>
          <p:cNvSpPr/>
          <p:nvPr/>
        </p:nvSpPr>
        <p:spPr>
          <a:xfrm>
            <a:off x="1143000" y="7620000"/>
            <a:ext cx="4699000" cy="3048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Three ideas on trial</a:t>
            </a:r>
            <a:endParaRPr lang="en-US" sz="1200" dirty="0"/>
          </a:p>
        </p:txBody>
      </p:sp>
      <p:sp>
        <p:nvSpPr>
          <p:cNvPr id="41" name="Text 39"/>
          <p:cNvSpPr/>
          <p:nvPr/>
        </p:nvSpPr>
        <p:spPr>
          <a:xfrm>
            <a:off x="6121400" y="7620000"/>
            <a:ext cx="977900" cy="279400"/>
          </a:xfrm>
          <a:prstGeom prst="rect">
            <a:avLst/>
          </a:prstGeom>
          <a:noFill/>
          <a:ln/>
        </p:spPr>
        <p:txBody>
          <a:bodyPr wrap="square" lIns="0" tIns="0" rIns="0" bIns="0" rtlCol="0" anchor="t"/>
          <a:lstStyle/>
          <a:p>
            <a:pPr algn="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20–24</a:t>
            </a:r>
            <a:endParaRPr lang="en-US" sz="1000" dirty="0"/>
          </a:p>
        </p:txBody>
      </p:sp>
      <p:sp>
        <p:nvSpPr>
          <p:cNvPr id="42" name="Shape 40"/>
          <p:cNvSpPr/>
          <p:nvPr/>
        </p:nvSpPr>
        <p:spPr>
          <a:xfrm>
            <a:off x="457200" y="8026400"/>
            <a:ext cx="6642100" cy="0"/>
          </a:xfrm>
          <a:prstGeom prst="line">
            <a:avLst/>
          </a:prstGeom>
          <a:noFill/>
          <a:ln w="7620">
            <a:solidFill>
              <a:srgbClr val="B7B0A4"/>
            </a:solidFill>
            <a:prstDash val="solid"/>
          </a:ln>
        </p:spPr>
      </p:sp>
      <p:sp>
        <p:nvSpPr>
          <p:cNvPr id="43" name="Text 41"/>
          <p:cNvSpPr/>
          <p:nvPr/>
        </p:nvSpPr>
        <p:spPr>
          <a:xfrm>
            <a:off x="457200" y="8153400"/>
            <a:ext cx="482600" cy="2794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06</a:t>
            </a:r>
            <a:endParaRPr lang="en-US" sz="1000" dirty="0"/>
          </a:p>
        </p:txBody>
      </p:sp>
      <p:sp>
        <p:nvSpPr>
          <p:cNvPr id="44" name="Text 42"/>
          <p:cNvSpPr/>
          <p:nvPr/>
        </p:nvSpPr>
        <p:spPr>
          <a:xfrm>
            <a:off x="1143000" y="8153400"/>
            <a:ext cx="4699000" cy="3048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What survives</a:t>
            </a:r>
            <a:endParaRPr lang="en-US" sz="1200" dirty="0"/>
          </a:p>
        </p:txBody>
      </p:sp>
      <p:sp>
        <p:nvSpPr>
          <p:cNvPr id="45" name="Text 43"/>
          <p:cNvSpPr/>
          <p:nvPr/>
        </p:nvSpPr>
        <p:spPr>
          <a:xfrm>
            <a:off x="6121400" y="8153400"/>
            <a:ext cx="977900" cy="279400"/>
          </a:xfrm>
          <a:prstGeom prst="rect">
            <a:avLst/>
          </a:prstGeom>
          <a:noFill/>
          <a:ln/>
        </p:spPr>
        <p:txBody>
          <a:bodyPr wrap="square" lIns="0" tIns="0" rIns="0" bIns="0" rtlCol="0" anchor="t"/>
          <a:lstStyle/>
          <a:p>
            <a:pPr algn="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25–29</a:t>
            </a:r>
            <a:endParaRPr lang="en-US" sz="1000" dirty="0"/>
          </a:p>
        </p:txBody>
      </p:sp>
      <p:sp>
        <p:nvSpPr>
          <p:cNvPr id="46" name="Text 44"/>
          <p:cNvSpPr/>
          <p:nvPr/>
        </p:nvSpPr>
        <p:spPr>
          <a:xfrm>
            <a:off x="457200" y="8902700"/>
            <a:ext cx="6604000" cy="533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Not Africa versus Asia as two uniform blocs. Not a ranking of people.</a:t>
            </a:r>
            <a:endParaRPr lang="en-US" sz="1050" dirty="0"/>
          </a:p>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A bounded comparison of histories, mechanisms and outcomes.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01 / OBSERVE</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1960: close in income, different in history</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GDP per capita · constant 2015 US dollars per person · all six cases on one shared scale</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(2026), World Development Indicators (SRC-WDI-001). Frozen release: 13 July 2026; retrieved 6 October 2026. Data and locators: project CSVs; reference p. 28. Indicator: NY.GDP.PCAP.KD. Source values are rounded to nearest US dollar for display.</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03</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Similar income levels do not mean identical starting conditions. This comparison describes income per person, not distribution or causality.</a:t>
            </a:r>
            <a:endParaRPr lang="en-US" sz="900" dirty="0"/>
          </a:p>
        </p:txBody>
      </p:sp>
      <p:sp>
        <p:nvSpPr>
          <p:cNvPr id="12" name="Text 10"/>
          <p:cNvSpPr/>
          <p:nvPr/>
        </p:nvSpPr>
        <p:spPr>
          <a:xfrm>
            <a:off x="457200" y="3035300"/>
            <a:ext cx="1384300" cy="279400"/>
          </a:xfrm>
          <a:prstGeom prst="rect">
            <a:avLst/>
          </a:prstGeom>
          <a:noFill/>
          <a:ln/>
        </p:spPr>
        <p:txBody>
          <a:bodyPr wrap="square" lIns="0" tIns="0" rIns="0" bIns="0" rtlCol="0" anchor="t"/>
          <a:lstStyle/>
          <a:p>
            <a:pPr indent="0" marL="0">
              <a:lnSpc>
                <a:spcPct val="112000"/>
              </a:lnSpc>
              <a:buNone/>
            </a:pPr>
            <a:r>
              <a:rPr lang="en-US" sz="900" b="1" dirty="0">
                <a:solidFill>
                  <a:srgbClr val="514E48"/>
                </a:solidFill>
                <a:latin typeface="Montserrat" pitchFamily="34" charset="0"/>
                <a:ea typeface="Montserrat" pitchFamily="34" charset="-122"/>
                <a:cs typeface="Montserrat" pitchFamily="34" charset="-120"/>
              </a:rPr>
              <a:t>GHANA</a:t>
            </a:r>
            <a:endParaRPr lang="en-US" sz="900" dirty="0"/>
          </a:p>
        </p:txBody>
      </p:sp>
      <p:sp>
        <p:nvSpPr>
          <p:cNvPr id="13" name="Text 11"/>
          <p:cNvSpPr/>
          <p:nvPr/>
        </p:nvSpPr>
        <p:spPr>
          <a:xfrm>
            <a:off x="3937000" y="3035300"/>
            <a:ext cx="3162300" cy="279400"/>
          </a:xfrm>
          <a:prstGeom prst="rect">
            <a:avLst/>
          </a:prstGeom>
          <a:noFill/>
          <a:ln/>
        </p:spPr>
        <p:txBody>
          <a:bodyPr wrap="square" lIns="0" tIns="0" rIns="0" bIns="0" rtlCol="0" anchor="t"/>
          <a:lstStyle/>
          <a:p>
            <a:pPr indent="0" marL="0">
              <a:lnSpc>
                <a:spcPct val="112000"/>
              </a:lnSpc>
              <a:buNone/>
            </a:pPr>
            <a:r>
              <a:rPr lang="en-US" sz="900" b="1" dirty="0">
                <a:solidFill>
                  <a:srgbClr val="514E48"/>
                </a:solidFill>
                <a:latin typeface="Montserrat" pitchFamily="34" charset="0"/>
                <a:ea typeface="Montserrat" pitchFamily="34" charset="-122"/>
                <a:cs typeface="Montserrat" pitchFamily="34" charset="-120"/>
              </a:rPr>
              <a:t>SOUTH KOREA</a:t>
            </a:r>
            <a:endParaRPr lang="en-US" sz="900" dirty="0"/>
          </a:p>
        </p:txBody>
      </p:sp>
      <p:sp>
        <p:nvSpPr>
          <p:cNvPr id="14" name="Text 12"/>
          <p:cNvSpPr/>
          <p:nvPr/>
        </p:nvSpPr>
        <p:spPr>
          <a:xfrm>
            <a:off x="457200" y="3416300"/>
            <a:ext cx="2984500" cy="660400"/>
          </a:xfrm>
          <a:prstGeom prst="rect">
            <a:avLst/>
          </a:prstGeom>
          <a:noFill/>
          <a:ln/>
        </p:spPr>
        <p:txBody>
          <a:bodyPr wrap="square" lIns="0" tIns="0" rIns="0" bIns="0" rtlCol="0" anchor="t"/>
          <a:lstStyle/>
          <a:p>
            <a:pPr indent="0" marL="0">
              <a:lnSpc>
                <a:spcPct val="112000"/>
              </a:lnSpc>
              <a:buNone/>
            </a:pPr>
            <a:r>
              <a:rPr lang="en-US" sz="3200" b="1" dirty="0">
                <a:solidFill>
                  <a:srgbClr val="B95332"/>
                </a:solidFill>
                <a:latin typeface="Montserrat" pitchFamily="34" charset="0"/>
                <a:ea typeface="Montserrat" pitchFamily="34" charset="-122"/>
                <a:cs typeface="Montserrat" pitchFamily="34" charset="-120"/>
              </a:rPr>
              <a:t>US$1,101</a:t>
            </a:r>
            <a:endParaRPr lang="en-US" sz="3200" dirty="0"/>
          </a:p>
        </p:txBody>
      </p:sp>
      <p:sp>
        <p:nvSpPr>
          <p:cNvPr id="15" name="Text 13"/>
          <p:cNvSpPr/>
          <p:nvPr/>
        </p:nvSpPr>
        <p:spPr>
          <a:xfrm>
            <a:off x="3937000" y="3416300"/>
            <a:ext cx="3162300" cy="660400"/>
          </a:xfrm>
          <a:prstGeom prst="rect">
            <a:avLst/>
          </a:prstGeom>
          <a:noFill/>
          <a:ln/>
        </p:spPr>
        <p:txBody>
          <a:bodyPr wrap="square" lIns="0" tIns="0" rIns="0" bIns="0" rtlCol="0" anchor="t"/>
          <a:lstStyle/>
          <a:p>
            <a:pPr indent="0" marL="0">
              <a:lnSpc>
                <a:spcPct val="112000"/>
              </a:lnSpc>
              <a:buNone/>
            </a:pPr>
            <a:r>
              <a:rPr lang="en-US" sz="3200" b="1" dirty="0">
                <a:solidFill>
                  <a:srgbClr val="315A78"/>
                </a:solidFill>
                <a:latin typeface="Montserrat" pitchFamily="34" charset="0"/>
                <a:ea typeface="Montserrat" pitchFamily="34" charset="-122"/>
                <a:cs typeface="Montserrat" pitchFamily="34" charset="-120"/>
              </a:rPr>
              <a:t>US$1,038</a:t>
            </a:r>
            <a:endParaRPr lang="en-US" sz="3200" dirty="0"/>
          </a:p>
        </p:txBody>
      </p:sp>
      <p:sp>
        <p:nvSpPr>
          <p:cNvPr id="16" name="Text 14"/>
          <p:cNvSpPr/>
          <p:nvPr/>
        </p:nvSpPr>
        <p:spPr>
          <a:xfrm>
            <a:off x="457200" y="4114800"/>
            <a:ext cx="6642100" cy="2921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Only US$63 apart at this anchor</a:t>
            </a:r>
            <a:endParaRPr lang="en-US" sz="1300" dirty="0"/>
          </a:p>
        </p:txBody>
      </p:sp>
      <p:sp>
        <p:nvSpPr>
          <p:cNvPr id="17" name="Shape 15"/>
          <p:cNvSpPr/>
          <p:nvPr/>
        </p:nvSpPr>
        <p:spPr>
          <a:xfrm>
            <a:off x="2641600" y="4648200"/>
            <a:ext cx="0" cy="3670300"/>
          </a:xfrm>
          <a:prstGeom prst="line">
            <a:avLst/>
          </a:prstGeom>
          <a:noFill/>
          <a:ln w="6985">
            <a:solidFill>
              <a:srgbClr val="B7B0A4"/>
            </a:solidFill>
            <a:prstDash val="solid"/>
          </a:ln>
        </p:spPr>
      </p:sp>
      <p:sp>
        <p:nvSpPr>
          <p:cNvPr id="18" name="Text 16"/>
          <p:cNvSpPr/>
          <p:nvPr/>
        </p:nvSpPr>
        <p:spPr>
          <a:xfrm>
            <a:off x="2222500" y="4381500"/>
            <a:ext cx="838200" cy="190500"/>
          </a:xfrm>
          <a:prstGeom prst="rect">
            <a:avLst/>
          </a:prstGeom>
          <a:noFill/>
          <a:ln/>
        </p:spPr>
        <p:txBody>
          <a:bodyPr wrap="square" lIns="0" tIns="0" rIns="0" bIns="0" rtlCol="0" anchor="t"/>
          <a:lstStyle/>
          <a:p>
            <a:pPr algn="ct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$0</a:t>
            </a:r>
            <a:endParaRPr lang="en-US" sz="800" dirty="0"/>
          </a:p>
        </p:txBody>
      </p:sp>
      <p:sp>
        <p:nvSpPr>
          <p:cNvPr id="19" name="Shape 17"/>
          <p:cNvSpPr/>
          <p:nvPr/>
        </p:nvSpPr>
        <p:spPr>
          <a:xfrm>
            <a:off x="4059767" y="4648200"/>
            <a:ext cx="0" cy="3670300"/>
          </a:xfrm>
          <a:prstGeom prst="line">
            <a:avLst/>
          </a:prstGeom>
          <a:noFill/>
          <a:ln w="6985">
            <a:solidFill>
              <a:srgbClr val="B7B0A4"/>
            </a:solidFill>
            <a:prstDash val="solid"/>
          </a:ln>
        </p:spPr>
      </p:sp>
      <p:sp>
        <p:nvSpPr>
          <p:cNvPr id="20" name="Text 18"/>
          <p:cNvSpPr/>
          <p:nvPr/>
        </p:nvSpPr>
        <p:spPr>
          <a:xfrm>
            <a:off x="3640667" y="4381500"/>
            <a:ext cx="838200" cy="190500"/>
          </a:xfrm>
          <a:prstGeom prst="rect">
            <a:avLst/>
          </a:prstGeom>
          <a:noFill/>
          <a:ln/>
        </p:spPr>
        <p:txBody>
          <a:bodyPr wrap="square" lIns="0" tIns="0" rIns="0" bIns="0" rtlCol="0" anchor="t"/>
          <a:lstStyle/>
          <a:p>
            <a:pPr algn="ct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$500</a:t>
            </a:r>
            <a:endParaRPr lang="en-US" sz="800" dirty="0"/>
          </a:p>
        </p:txBody>
      </p:sp>
      <p:sp>
        <p:nvSpPr>
          <p:cNvPr id="21" name="Shape 19"/>
          <p:cNvSpPr/>
          <p:nvPr/>
        </p:nvSpPr>
        <p:spPr>
          <a:xfrm>
            <a:off x="5477933" y="4648200"/>
            <a:ext cx="0" cy="3670300"/>
          </a:xfrm>
          <a:prstGeom prst="line">
            <a:avLst/>
          </a:prstGeom>
          <a:noFill/>
          <a:ln w="6985">
            <a:solidFill>
              <a:srgbClr val="B7B0A4"/>
            </a:solidFill>
            <a:prstDash val="solid"/>
          </a:ln>
        </p:spPr>
      </p:sp>
      <p:sp>
        <p:nvSpPr>
          <p:cNvPr id="22" name="Text 20"/>
          <p:cNvSpPr/>
          <p:nvPr/>
        </p:nvSpPr>
        <p:spPr>
          <a:xfrm>
            <a:off x="5058833" y="4381500"/>
            <a:ext cx="838200" cy="190500"/>
          </a:xfrm>
          <a:prstGeom prst="rect">
            <a:avLst/>
          </a:prstGeom>
          <a:noFill/>
          <a:ln/>
        </p:spPr>
        <p:txBody>
          <a:bodyPr wrap="square" lIns="0" tIns="0" rIns="0" bIns="0" rtlCol="0" anchor="t"/>
          <a:lstStyle/>
          <a:p>
            <a:pPr algn="ct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$1,000</a:t>
            </a:r>
            <a:endParaRPr lang="en-US" sz="800" dirty="0"/>
          </a:p>
        </p:txBody>
      </p:sp>
      <p:sp>
        <p:nvSpPr>
          <p:cNvPr id="23" name="Shape 21"/>
          <p:cNvSpPr/>
          <p:nvPr/>
        </p:nvSpPr>
        <p:spPr>
          <a:xfrm>
            <a:off x="6896100" y="4648200"/>
            <a:ext cx="0" cy="3670300"/>
          </a:xfrm>
          <a:prstGeom prst="line">
            <a:avLst/>
          </a:prstGeom>
          <a:noFill/>
          <a:ln w="6985">
            <a:solidFill>
              <a:srgbClr val="B7B0A4"/>
            </a:solidFill>
            <a:prstDash val="solid"/>
          </a:ln>
        </p:spPr>
      </p:sp>
      <p:sp>
        <p:nvSpPr>
          <p:cNvPr id="24" name="Text 22"/>
          <p:cNvSpPr/>
          <p:nvPr/>
        </p:nvSpPr>
        <p:spPr>
          <a:xfrm>
            <a:off x="6477000" y="4381500"/>
            <a:ext cx="838200" cy="190500"/>
          </a:xfrm>
          <a:prstGeom prst="rect">
            <a:avLst/>
          </a:prstGeom>
          <a:noFill/>
          <a:ln/>
        </p:spPr>
        <p:txBody>
          <a:bodyPr wrap="square" lIns="0" tIns="0" rIns="0" bIns="0" rtlCol="0" anchor="t"/>
          <a:lstStyle/>
          <a:p>
            <a:pPr algn="ct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$1,500</a:t>
            </a:r>
            <a:endParaRPr lang="en-US" sz="800" dirty="0"/>
          </a:p>
        </p:txBody>
      </p:sp>
      <p:sp>
        <p:nvSpPr>
          <p:cNvPr id="25" name="Shape 23"/>
          <p:cNvSpPr/>
          <p:nvPr/>
        </p:nvSpPr>
        <p:spPr>
          <a:xfrm>
            <a:off x="457200" y="5130800"/>
            <a:ext cx="127000" cy="127000"/>
          </a:xfrm>
          <a:prstGeom prst="ellipse">
            <a:avLst/>
          </a:prstGeom>
          <a:solidFill>
            <a:srgbClr val="B95332"/>
          </a:solidFill>
          <a:ln w="7620">
            <a:solidFill>
              <a:srgbClr val="252525"/>
            </a:solidFill>
            <a:prstDash val="solid"/>
          </a:ln>
        </p:spPr>
      </p:sp>
      <p:sp>
        <p:nvSpPr>
          <p:cNvPr id="26" name="Text 24"/>
          <p:cNvSpPr/>
          <p:nvPr/>
        </p:nvSpPr>
        <p:spPr>
          <a:xfrm>
            <a:off x="711200" y="5080000"/>
            <a:ext cx="1752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27" name="Shape 25"/>
          <p:cNvSpPr/>
          <p:nvPr/>
        </p:nvSpPr>
        <p:spPr>
          <a:xfrm>
            <a:off x="2641600" y="5207000"/>
            <a:ext cx="4254500" cy="0"/>
          </a:xfrm>
          <a:prstGeom prst="line">
            <a:avLst/>
          </a:prstGeom>
          <a:noFill/>
          <a:ln w="12700">
            <a:solidFill>
              <a:srgbClr val="B7B0A4"/>
            </a:solidFill>
            <a:prstDash val="solid"/>
          </a:ln>
        </p:spPr>
      </p:sp>
      <p:sp>
        <p:nvSpPr>
          <p:cNvPr id="28" name="Shape 26"/>
          <p:cNvSpPr/>
          <p:nvPr/>
        </p:nvSpPr>
        <p:spPr>
          <a:xfrm>
            <a:off x="2641600" y="5207000"/>
            <a:ext cx="3122803" cy="0"/>
          </a:xfrm>
          <a:prstGeom prst="line">
            <a:avLst/>
          </a:prstGeom>
          <a:noFill/>
          <a:ln w="88900">
            <a:solidFill>
              <a:srgbClr val="B95332"/>
            </a:solidFill>
            <a:prstDash val="solid"/>
          </a:ln>
        </p:spPr>
      </p:sp>
      <p:sp>
        <p:nvSpPr>
          <p:cNvPr id="29" name="Shape 27"/>
          <p:cNvSpPr/>
          <p:nvPr/>
        </p:nvSpPr>
        <p:spPr>
          <a:xfrm>
            <a:off x="5681853" y="5124450"/>
            <a:ext cx="165100" cy="165100"/>
          </a:xfrm>
          <a:prstGeom prst="ellipse">
            <a:avLst/>
          </a:prstGeom>
          <a:solidFill>
            <a:srgbClr val="B95332"/>
          </a:solidFill>
          <a:ln w="7620">
            <a:solidFill>
              <a:srgbClr val="252525"/>
            </a:solidFill>
            <a:prstDash val="solid"/>
          </a:ln>
        </p:spPr>
      </p:sp>
      <p:sp>
        <p:nvSpPr>
          <p:cNvPr id="30" name="Text 28"/>
          <p:cNvSpPr/>
          <p:nvPr/>
        </p:nvSpPr>
        <p:spPr>
          <a:xfrm>
            <a:off x="5891403" y="5054600"/>
            <a:ext cx="1270000" cy="2794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$1,101</a:t>
            </a:r>
            <a:endParaRPr lang="en-US" sz="1100" dirty="0"/>
          </a:p>
        </p:txBody>
      </p:sp>
      <p:sp>
        <p:nvSpPr>
          <p:cNvPr id="31" name="Shape 29"/>
          <p:cNvSpPr/>
          <p:nvPr/>
        </p:nvSpPr>
        <p:spPr>
          <a:xfrm>
            <a:off x="457200" y="5740400"/>
            <a:ext cx="127000" cy="127000"/>
          </a:xfrm>
          <a:prstGeom prst="rect">
            <a:avLst/>
          </a:prstGeom>
          <a:solidFill>
            <a:srgbClr val="3F684E"/>
          </a:solidFill>
          <a:ln w="7620">
            <a:solidFill>
              <a:srgbClr val="252525"/>
            </a:solidFill>
            <a:prstDash val="solid"/>
          </a:ln>
        </p:spPr>
      </p:sp>
      <p:sp>
        <p:nvSpPr>
          <p:cNvPr id="32" name="Text 30"/>
          <p:cNvSpPr/>
          <p:nvPr/>
        </p:nvSpPr>
        <p:spPr>
          <a:xfrm>
            <a:off x="711200" y="5689600"/>
            <a:ext cx="1752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33" name="Shape 31"/>
          <p:cNvSpPr/>
          <p:nvPr/>
        </p:nvSpPr>
        <p:spPr>
          <a:xfrm>
            <a:off x="2641600" y="5816600"/>
            <a:ext cx="4254500" cy="0"/>
          </a:xfrm>
          <a:prstGeom prst="line">
            <a:avLst/>
          </a:prstGeom>
          <a:noFill/>
          <a:ln w="12700">
            <a:solidFill>
              <a:srgbClr val="B7B0A4"/>
            </a:solidFill>
            <a:prstDash val="solid"/>
          </a:ln>
        </p:spPr>
      </p:sp>
      <p:sp>
        <p:nvSpPr>
          <p:cNvPr id="34" name="Shape 32"/>
          <p:cNvSpPr/>
          <p:nvPr/>
        </p:nvSpPr>
        <p:spPr>
          <a:xfrm>
            <a:off x="2641600" y="5816600"/>
            <a:ext cx="1117515" cy="0"/>
          </a:xfrm>
          <a:prstGeom prst="line">
            <a:avLst/>
          </a:prstGeom>
          <a:noFill/>
          <a:ln w="88900">
            <a:solidFill>
              <a:srgbClr val="3F684E"/>
            </a:solidFill>
            <a:prstDash val="solid"/>
          </a:ln>
        </p:spPr>
      </p:sp>
      <p:sp>
        <p:nvSpPr>
          <p:cNvPr id="35" name="Shape 33"/>
          <p:cNvSpPr/>
          <p:nvPr/>
        </p:nvSpPr>
        <p:spPr>
          <a:xfrm>
            <a:off x="3676565" y="5734050"/>
            <a:ext cx="165100" cy="165100"/>
          </a:xfrm>
          <a:prstGeom prst="rect">
            <a:avLst/>
          </a:prstGeom>
          <a:solidFill>
            <a:srgbClr val="3F684E"/>
          </a:solidFill>
          <a:ln w="7620">
            <a:solidFill>
              <a:srgbClr val="252525"/>
            </a:solidFill>
            <a:prstDash val="solid"/>
          </a:ln>
        </p:spPr>
      </p:sp>
      <p:sp>
        <p:nvSpPr>
          <p:cNvPr id="36" name="Text 34"/>
          <p:cNvSpPr/>
          <p:nvPr/>
        </p:nvSpPr>
        <p:spPr>
          <a:xfrm>
            <a:off x="3886115" y="5664200"/>
            <a:ext cx="1270000" cy="2794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$394</a:t>
            </a:r>
            <a:endParaRPr lang="en-US" sz="1100" dirty="0"/>
          </a:p>
        </p:txBody>
      </p:sp>
      <p:sp>
        <p:nvSpPr>
          <p:cNvPr id="37" name="Shape 35"/>
          <p:cNvSpPr/>
          <p:nvPr/>
        </p:nvSpPr>
        <p:spPr>
          <a:xfrm>
            <a:off x="457200" y="6350000"/>
            <a:ext cx="127000" cy="127000"/>
          </a:xfrm>
          <a:prstGeom prst="triangle">
            <a:avLst/>
          </a:prstGeom>
          <a:solidFill>
            <a:srgbClr val="D6A23A"/>
          </a:solidFill>
          <a:ln w="7620">
            <a:solidFill>
              <a:srgbClr val="252525"/>
            </a:solidFill>
            <a:prstDash val="solid"/>
          </a:ln>
        </p:spPr>
      </p:sp>
      <p:sp>
        <p:nvSpPr>
          <p:cNvPr id="38" name="Text 36"/>
          <p:cNvSpPr/>
          <p:nvPr/>
        </p:nvSpPr>
        <p:spPr>
          <a:xfrm>
            <a:off x="711200" y="6299200"/>
            <a:ext cx="1752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39" name="Shape 37"/>
          <p:cNvSpPr/>
          <p:nvPr/>
        </p:nvSpPr>
        <p:spPr>
          <a:xfrm>
            <a:off x="2641600" y="6426200"/>
            <a:ext cx="4254500" cy="0"/>
          </a:xfrm>
          <a:prstGeom prst="line">
            <a:avLst/>
          </a:prstGeom>
          <a:noFill/>
          <a:ln w="12700">
            <a:solidFill>
              <a:srgbClr val="B7B0A4"/>
            </a:solidFill>
            <a:prstDash val="solid"/>
          </a:ln>
        </p:spPr>
      </p:sp>
      <p:sp>
        <p:nvSpPr>
          <p:cNvPr id="40" name="Shape 38"/>
          <p:cNvSpPr/>
          <p:nvPr/>
        </p:nvSpPr>
        <p:spPr>
          <a:xfrm>
            <a:off x="2641600" y="6426200"/>
            <a:ext cx="4024757" cy="0"/>
          </a:xfrm>
          <a:prstGeom prst="line">
            <a:avLst/>
          </a:prstGeom>
          <a:noFill/>
          <a:ln w="127000">
            <a:solidFill>
              <a:srgbClr val="252525"/>
            </a:solidFill>
            <a:prstDash val="solid"/>
          </a:ln>
        </p:spPr>
      </p:sp>
      <p:sp>
        <p:nvSpPr>
          <p:cNvPr id="41" name="Shape 39"/>
          <p:cNvSpPr/>
          <p:nvPr/>
        </p:nvSpPr>
        <p:spPr>
          <a:xfrm>
            <a:off x="2641600" y="6426200"/>
            <a:ext cx="4024757" cy="0"/>
          </a:xfrm>
          <a:prstGeom prst="line">
            <a:avLst/>
          </a:prstGeom>
          <a:noFill/>
          <a:ln w="88900">
            <a:solidFill>
              <a:srgbClr val="D6A23A"/>
            </a:solidFill>
            <a:prstDash val="solid"/>
          </a:ln>
        </p:spPr>
      </p:sp>
      <p:sp>
        <p:nvSpPr>
          <p:cNvPr id="42" name="Shape 40"/>
          <p:cNvSpPr/>
          <p:nvPr/>
        </p:nvSpPr>
        <p:spPr>
          <a:xfrm>
            <a:off x="6583807" y="6343650"/>
            <a:ext cx="165100" cy="165100"/>
          </a:xfrm>
          <a:prstGeom prst="triangle">
            <a:avLst/>
          </a:prstGeom>
          <a:solidFill>
            <a:srgbClr val="D6A23A"/>
          </a:solidFill>
          <a:ln w="7620">
            <a:solidFill>
              <a:srgbClr val="252525"/>
            </a:solidFill>
            <a:prstDash val="solid"/>
          </a:ln>
        </p:spPr>
      </p:sp>
      <p:sp>
        <p:nvSpPr>
          <p:cNvPr id="43" name="Text 41"/>
          <p:cNvSpPr/>
          <p:nvPr/>
        </p:nvSpPr>
        <p:spPr>
          <a:xfrm>
            <a:off x="6793357" y="6273800"/>
            <a:ext cx="1270000" cy="2794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$1,419</a:t>
            </a:r>
            <a:endParaRPr lang="en-US" sz="1100" dirty="0"/>
          </a:p>
        </p:txBody>
      </p:sp>
      <p:sp>
        <p:nvSpPr>
          <p:cNvPr id="44" name="Shape 42"/>
          <p:cNvSpPr/>
          <p:nvPr/>
        </p:nvSpPr>
        <p:spPr>
          <a:xfrm>
            <a:off x="457200" y="6959600"/>
            <a:ext cx="127000" cy="127000"/>
          </a:xfrm>
          <a:prstGeom prst="diamond">
            <a:avLst/>
          </a:prstGeom>
          <a:solidFill>
            <a:srgbClr val="315A78"/>
          </a:solidFill>
          <a:ln w="7620">
            <a:solidFill>
              <a:srgbClr val="252525"/>
            </a:solidFill>
            <a:prstDash val="solid"/>
          </a:ln>
        </p:spPr>
      </p:sp>
      <p:sp>
        <p:nvSpPr>
          <p:cNvPr id="45" name="Text 43"/>
          <p:cNvSpPr/>
          <p:nvPr/>
        </p:nvSpPr>
        <p:spPr>
          <a:xfrm>
            <a:off x="711200" y="6908800"/>
            <a:ext cx="1752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46" name="Shape 44"/>
          <p:cNvSpPr/>
          <p:nvPr/>
        </p:nvSpPr>
        <p:spPr>
          <a:xfrm>
            <a:off x="2641600" y="7035800"/>
            <a:ext cx="4254500" cy="0"/>
          </a:xfrm>
          <a:prstGeom prst="line">
            <a:avLst/>
          </a:prstGeom>
          <a:noFill/>
          <a:ln w="12700">
            <a:solidFill>
              <a:srgbClr val="B7B0A4"/>
            </a:solidFill>
            <a:prstDash val="solid"/>
          </a:ln>
        </p:spPr>
      </p:sp>
      <p:sp>
        <p:nvSpPr>
          <p:cNvPr id="47" name="Shape 45"/>
          <p:cNvSpPr/>
          <p:nvPr/>
        </p:nvSpPr>
        <p:spPr>
          <a:xfrm>
            <a:off x="2641600" y="7035800"/>
            <a:ext cx="2944114" cy="0"/>
          </a:xfrm>
          <a:prstGeom prst="line">
            <a:avLst/>
          </a:prstGeom>
          <a:noFill/>
          <a:ln w="88900">
            <a:solidFill>
              <a:srgbClr val="315A78"/>
            </a:solidFill>
            <a:prstDash val="solid"/>
          </a:ln>
        </p:spPr>
      </p:sp>
      <p:sp>
        <p:nvSpPr>
          <p:cNvPr id="48" name="Shape 46"/>
          <p:cNvSpPr/>
          <p:nvPr/>
        </p:nvSpPr>
        <p:spPr>
          <a:xfrm>
            <a:off x="5503164" y="6953250"/>
            <a:ext cx="165100" cy="165100"/>
          </a:xfrm>
          <a:prstGeom prst="diamond">
            <a:avLst/>
          </a:prstGeom>
          <a:solidFill>
            <a:srgbClr val="315A78"/>
          </a:solidFill>
          <a:ln w="7620">
            <a:solidFill>
              <a:srgbClr val="252525"/>
            </a:solidFill>
            <a:prstDash val="solid"/>
          </a:ln>
        </p:spPr>
      </p:sp>
      <p:sp>
        <p:nvSpPr>
          <p:cNvPr id="49" name="Text 47"/>
          <p:cNvSpPr/>
          <p:nvPr/>
        </p:nvSpPr>
        <p:spPr>
          <a:xfrm>
            <a:off x="5712714" y="6883400"/>
            <a:ext cx="1270000" cy="2794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$1,038</a:t>
            </a:r>
            <a:endParaRPr lang="en-US" sz="1100" dirty="0"/>
          </a:p>
        </p:txBody>
      </p:sp>
      <p:sp>
        <p:nvSpPr>
          <p:cNvPr id="50" name="Shape 48"/>
          <p:cNvSpPr/>
          <p:nvPr/>
        </p:nvSpPr>
        <p:spPr>
          <a:xfrm>
            <a:off x="457200" y="7569200"/>
            <a:ext cx="127000" cy="127000"/>
          </a:xfrm>
          <a:prstGeom prst="hexagon">
            <a:avLst/>
          </a:prstGeom>
          <a:solidFill>
            <a:srgbClr val="3E7568"/>
          </a:solidFill>
          <a:ln w="7620">
            <a:solidFill>
              <a:srgbClr val="252525"/>
            </a:solidFill>
            <a:prstDash val="solid"/>
          </a:ln>
        </p:spPr>
      </p:sp>
      <p:sp>
        <p:nvSpPr>
          <p:cNvPr id="51" name="Text 49"/>
          <p:cNvSpPr/>
          <p:nvPr/>
        </p:nvSpPr>
        <p:spPr>
          <a:xfrm>
            <a:off x="711200" y="7518400"/>
            <a:ext cx="1752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52" name="Shape 50"/>
          <p:cNvSpPr/>
          <p:nvPr/>
        </p:nvSpPr>
        <p:spPr>
          <a:xfrm>
            <a:off x="2641600" y="7645400"/>
            <a:ext cx="4254500" cy="0"/>
          </a:xfrm>
          <a:prstGeom prst="line">
            <a:avLst/>
          </a:prstGeom>
          <a:noFill/>
          <a:ln w="12700">
            <a:solidFill>
              <a:srgbClr val="B7B0A4"/>
            </a:solidFill>
            <a:prstDash val="solid"/>
          </a:ln>
        </p:spPr>
      </p:sp>
      <p:sp>
        <p:nvSpPr>
          <p:cNvPr id="53" name="Shape 51"/>
          <p:cNvSpPr/>
          <p:nvPr/>
        </p:nvSpPr>
        <p:spPr>
          <a:xfrm>
            <a:off x="2641600" y="7645400"/>
            <a:ext cx="3590798" cy="0"/>
          </a:xfrm>
          <a:prstGeom prst="line">
            <a:avLst/>
          </a:prstGeom>
          <a:noFill/>
          <a:ln w="88900">
            <a:solidFill>
              <a:srgbClr val="3E7568"/>
            </a:solidFill>
            <a:prstDash val="solid"/>
          </a:ln>
        </p:spPr>
      </p:sp>
      <p:sp>
        <p:nvSpPr>
          <p:cNvPr id="54" name="Shape 52"/>
          <p:cNvSpPr/>
          <p:nvPr/>
        </p:nvSpPr>
        <p:spPr>
          <a:xfrm>
            <a:off x="6149848" y="7562850"/>
            <a:ext cx="165100" cy="165100"/>
          </a:xfrm>
          <a:prstGeom prst="hexagon">
            <a:avLst/>
          </a:prstGeom>
          <a:solidFill>
            <a:srgbClr val="3E7568"/>
          </a:solidFill>
          <a:ln w="7620">
            <a:solidFill>
              <a:srgbClr val="252525"/>
            </a:solidFill>
            <a:prstDash val="solid"/>
          </a:ln>
        </p:spPr>
      </p:sp>
      <p:sp>
        <p:nvSpPr>
          <p:cNvPr id="55" name="Text 53"/>
          <p:cNvSpPr/>
          <p:nvPr/>
        </p:nvSpPr>
        <p:spPr>
          <a:xfrm>
            <a:off x="6359398" y="7493000"/>
            <a:ext cx="1270000" cy="2794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$1,266 †</a:t>
            </a:r>
            <a:endParaRPr lang="en-US" sz="1100" dirty="0"/>
          </a:p>
        </p:txBody>
      </p:sp>
      <p:sp>
        <p:nvSpPr>
          <p:cNvPr id="56" name="Shape 54"/>
          <p:cNvSpPr/>
          <p:nvPr/>
        </p:nvSpPr>
        <p:spPr>
          <a:xfrm>
            <a:off x="457200" y="8242300"/>
            <a:ext cx="127000" cy="0"/>
          </a:xfrm>
          <a:prstGeom prst="line">
            <a:avLst/>
          </a:prstGeom>
          <a:noFill/>
          <a:ln w="40640">
            <a:solidFill>
              <a:srgbClr val="252525"/>
            </a:solidFill>
            <a:prstDash val="solid"/>
          </a:ln>
        </p:spPr>
      </p:sp>
      <p:sp>
        <p:nvSpPr>
          <p:cNvPr id="57" name="Shape 55"/>
          <p:cNvSpPr/>
          <p:nvPr/>
        </p:nvSpPr>
        <p:spPr>
          <a:xfrm>
            <a:off x="520700" y="8178800"/>
            <a:ext cx="0" cy="127000"/>
          </a:xfrm>
          <a:prstGeom prst="line">
            <a:avLst/>
          </a:prstGeom>
          <a:noFill/>
          <a:ln w="40640">
            <a:solidFill>
              <a:srgbClr val="252525"/>
            </a:solidFill>
            <a:prstDash val="solid"/>
          </a:ln>
        </p:spPr>
      </p:sp>
      <p:sp>
        <p:nvSpPr>
          <p:cNvPr id="58" name="Shape 56"/>
          <p:cNvSpPr/>
          <p:nvPr/>
        </p:nvSpPr>
        <p:spPr>
          <a:xfrm>
            <a:off x="457200" y="8242300"/>
            <a:ext cx="127000" cy="0"/>
          </a:xfrm>
          <a:prstGeom prst="line">
            <a:avLst/>
          </a:prstGeom>
          <a:noFill/>
          <a:ln w="22860">
            <a:solidFill>
              <a:srgbClr val="A63A3A"/>
            </a:solidFill>
            <a:prstDash val="solid"/>
          </a:ln>
        </p:spPr>
      </p:sp>
      <p:sp>
        <p:nvSpPr>
          <p:cNvPr id="59" name="Shape 57"/>
          <p:cNvSpPr/>
          <p:nvPr/>
        </p:nvSpPr>
        <p:spPr>
          <a:xfrm>
            <a:off x="520700" y="8178800"/>
            <a:ext cx="0" cy="127000"/>
          </a:xfrm>
          <a:prstGeom prst="line">
            <a:avLst/>
          </a:prstGeom>
          <a:noFill/>
          <a:ln w="22860">
            <a:solidFill>
              <a:srgbClr val="A63A3A"/>
            </a:solidFill>
            <a:prstDash val="solid"/>
          </a:ln>
        </p:spPr>
      </p:sp>
      <p:sp>
        <p:nvSpPr>
          <p:cNvPr id="60" name="Text 58"/>
          <p:cNvSpPr/>
          <p:nvPr/>
        </p:nvSpPr>
        <p:spPr>
          <a:xfrm>
            <a:off x="711200" y="8128000"/>
            <a:ext cx="1752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61" name="Shape 59"/>
          <p:cNvSpPr/>
          <p:nvPr/>
        </p:nvSpPr>
        <p:spPr>
          <a:xfrm>
            <a:off x="2641600" y="8255000"/>
            <a:ext cx="4254500" cy="0"/>
          </a:xfrm>
          <a:prstGeom prst="line">
            <a:avLst/>
          </a:prstGeom>
          <a:noFill/>
          <a:ln w="12700">
            <a:solidFill>
              <a:srgbClr val="B7B0A4"/>
            </a:solidFill>
            <a:prstDash val="solid"/>
          </a:ln>
        </p:spPr>
      </p:sp>
      <p:sp>
        <p:nvSpPr>
          <p:cNvPr id="62" name="Shape 60"/>
          <p:cNvSpPr/>
          <p:nvPr/>
        </p:nvSpPr>
        <p:spPr>
          <a:xfrm>
            <a:off x="2641600" y="8255000"/>
            <a:ext cx="3188039" cy="0"/>
          </a:xfrm>
          <a:prstGeom prst="line">
            <a:avLst/>
          </a:prstGeom>
          <a:noFill/>
          <a:ln w="88900">
            <a:solidFill>
              <a:srgbClr val="A63A3A"/>
            </a:solidFill>
            <a:prstDash val="solid"/>
          </a:ln>
        </p:spPr>
      </p:sp>
      <p:sp>
        <p:nvSpPr>
          <p:cNvPr id="63" name="Shape 61"/>
          <p:cNvSpPr/>
          <p:nvPr/>
        </p:nvSpPr>
        <p:spPr>
          <a:xfrm>
            <a:off x="5747089" y="8255000"/>
            <a:ext cx="165100" cy="0"/>
          </a:xfrm>
          <a:prstGeom prst="line">
            <a:avLst/>
          </a:prstGeom>
          <a:noFill/>
          <a:ln w="40640">
            <a:solidFill>
              <a:srgbClr val="252525"/>
            </a:solidFill>
            <a:prstDash val="solid"/>
          </a:ln>
        </p:spPr>
      </p:sp>
      <p:sp>
        <p:nvSpPr>
          <p:cNvPr id="64" name="Shape 62"/>
          <p:cNvSpPr/>
          <p:nvPr/>
        </p:nvSpPr>
        <p:spPr>
          <a:xfrm>
            <a:off x="5829639" y="8172450"/>
            <a:ext cx="0" cy="165100"/>
          </a:xfrm>
          <a:prstGeom prst="line">
            <a:avLst/>
          </a:prstGeom>
          <a:noFill/>
          <a:ln w="40640">
            <a:solidFill>
              <a:srgbClr val="252525"/>
            </a:solidFill>
            <a:prstDash val="solid"/>
          </a:ln>
        </p:spPr>
      </p:sp>
      <p:sp>
        <p:nvSpPr>
          <p:cNvPr id="65" name="Shape 63"/>
          <p:cNvSpPr/>
          <p:nvPr/>
        </p:nvSpPr>
        <p:spPr>
          <a:xfrm>
            <a:off x="5747089" y="8255000"/>
            <a:ext cx="165100" cy="0"/>
          </a:xfrm>
          <a:prstGeom prst="line">
            <a:avLst/>
          </a:prstGeom>
          <a:noFill/>
          <a:ln w="22860">
            <a:solidFill>
              <a:srgbClr val="A63A3A"/>
            </a:solidFill>
            <a:prstDash val="solid"/>
          </a:ln>
        </p:spPr>
      </p:sp>
      <p:sp>
        <p:nvSpPr>
          <p:cNvPr id="66" name="Shape 64"/>
          <p:cNvSpPr/>
          <p:nvPr/>
        </p:nvSpPr>
        <p:spPr>
          <a:xfrm>
            <a:off x="5829639" y="8172450"/>
            <a:ext cx="0" cy="165100"/>
          </a:xfrm>
          <a:prstGeom prst="line">
            <a:avLst/>
          </a:prstGeom>
          <a:noFill/>
          <a:ln w="22860">
            <a:solidFill>
              <a:srgbClr val="A63A3A"/>
            </a:solidFill>
            <a:prstDash val="solid"/>
          </a:ln>
        </p:spPr>
      </p:sp>
      <p:sp>
        <p:nvSpPr>
          <p:cNvPr id="67" name="Text 65"/>
          <p:cNvSpPr/>
          <p:nvPr/>
        </p:nvSpPr>
        <p:spPr>
          <a:xfrm>
            <a:off x="5956639" y="8102600"/>
            <a:ext cx="1270000" cy="2794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$1,124</a:t>
            </a:r>
            <a:endParaRPr lang="en-US" sz="1100" dirty="0"/>
          </a:p>
        </p:txBody>
      </p:sp>
      <p:sp>
        <p:nvSpPr>
          <p:cNvPr id="68" name="Text 66"/>
          <p:cNvSpPr/>
          <p:nvPr/>
        </p:nvSpPr>
        <p:spPr>
          <a:xfrm>
            <a:off x="457200" y="8458200"/>
            <a:ext cx="6642100" cy="342900"/>
          </a:xfrm>
          <a:prstGeom prst="rect">
            <a:avLst/>
          </a:prstGeom>
          <a:noFill/>
          <a:ln/>
        </p:spPr>
        <p:txBody>
          <a:bodyPr wrap="square" lIns="0" tIns="0" rIns="0" bIns="0" rtlCol="0" anchor="t"/>
          <a:lstStyle/>
          <a:p>
            <a:pPr indent="0" marL="0">
              <a:lnSpc>
                <a:spcPct val="112000"/>
              </a:lnSpc>
              <a:buNone/>
            </a:pPr>
            <a:r>
              <a:rPr lang="en-US" sz="850" dirty="0">
                <a:solidFill>
                  <a:srgbClr val="514E48"/>
                </a:solidFill>
                <a:latin typeface="Montserrat" pitchFamily="34" charset="0"/>
                <a:ea typeface="Montserrat" pitchFamily="34" charset="-122"/>
                <a:cs typeface="Montserrat" pitchFamily="34" charset="-120"/>
              </a:rPr>
              <a:t>† Malaysia: retrospective territorial series. The 1960 value predates the federation’s 1963 formation and Singapore’s 1965 exit.</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01 / OBSERVE</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Six paths. One income scale.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GDP per capita · constant 2015 US dollars per person · observed anchors only: 1960, 1990, 2020</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(2026), World Development Indicators (SRC-WDI-001). Frozen release: 13 July 2026; retrieved 6 October 2026. Data and locators: project CSVs; reference p. 28. Indicator: NY.GDP.PCAP.KD. Exact frozen country/year values are shown below each small multiple.</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04</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These lines connect three observed anchors only. They do not show annual values or explain why paths diverged. 2020 is the COVID-19 year.</a:t>
            </a:r>
            <a:endParaRPr lang="en-US" sz="900" dirty="0"/>
          </a:p>
        </p:txBody>
      </p:sp>
      <p:sp>
        <p:nvSpPr>
          <p:cNvPr id="12" name="Shape 10"/>
          <p:cNvSpPr/>
          <p:nvPr/>
        </p:nvSpPr>
        <p:spPr>
          <a:xfrm>
            <a:off x="2324100" y="3530600"/>
            <a:ext cx="0" cy="4775200"/>
          </a:xfrm>
          <a:prstGeom prst="line">
            <a:avLst/>
          </a:prstGeom>
          <a:noFill/>
          <a:ln w="6096">
            <a:solidFill>
              <a:srgbClr val="B7B0A4"/>
            </a:solidFill>
            <a:prstDash val="solid"/>
          </a:ln>
        </p:spPr>
      </p:sp>
      <p:sp>
        <p:nvSpPr>
          <p:cNvPr id="13" name="Text 11"/>
          <p:cNvSpPr/>
          <p:nvPr/>
        </p:nvSpPr>
        <p:spPr>
          <a:xfrm>
            <a:off x="2082800" y="3276600"/>
            <a:ext cx="508000" cy="177800"/>
          </a:xfrm>
          <a:prstGeom prst="rect">
            <a:avLst/>
          </a:prstGeom>
          <a:noFill/>
          <a:ln/>
        </p:spPr>
        <p:txBody>
          <a:bodyPr wrap="square" lIns="0" tIns="0" rIns="0" bIns="0" rtlCol="0" anchor="t"/>
          <a:lstStyle/>
          <a:p>
            <a:pPr algn="ctr" indent="0" marL="0">
              <a:lnSpc>
                <a:spcPct val="112000"/>
              </a:lnSpc>
              <a:buNone/>
            </a:pPr>
            <a:r>
              <a:rPr lang="en-US" sz="750" dirty="0">
                <a:solidFill>
                  <a:srgbClr val="514E48"/>
                </a:solidFill>
                <a:latin typeface="Montserrat" pitchFamily="34" charset="0"/>
                <a:ea typeface="Montserrat" pitchFamily="34" charset="-122"/>
                <a:cs typeface="Montserrat" pitchFamily="34" charset="-120"/>
              </a:rPr>
              <a:t>$0</a:t>
            </a:r>
            <a:endParaRPr lang="en-US" sz="750" dirty="0"/>
          </a:p>
        </p:txBody>
      </p:sp>
      <p:sp>
        <p:nvSpPr>
          <p:cNvPr id="14" name="Shape 12"/>
          <p:cNvSpPr/>
          <p:nvPr/>
        </p:nvSpPr>
        <p:spPr>
          <a:xfrm>
            <a:off x="3695700" y="3530600"/>
            <a:ext cx="0" cy="4775200"/>
          </a:xfrm>
          <a:prstGeom prst="line">
            <a:avLst/>
          </a:prstGeom>
          <a:noFill/>
          <a:ln w="6096">
            <a:solidFill>
              <a:srgbClr val="B7B0A4"/>
            </a:solidFill>
            <a:prstDash val="solid"/>
          </a:ln>
        </p:spPr>
      </p:sp>
      <p:sp>
        <p:nvSpPr>
          <p:cNvPr id="15" name="Text 13"/>
          <p:cNvSpPr/>
          <p:nvPr/>
        </p:nvSpPr>
        <p:spPr>
          <a:xfrm>
            <a:off x="3454400" y="3276600"/>
            <a:ext cx="508000" cy="177800"/>
          </a:xfrm>
          <a:prstGeom prst="rect">
            <a:avLst/>
          </a:prstGeom>
          <a:noFill/>
          <a:ln/>
        </p:spPr>
        <p:txBody>
          <a:bodyPr wrap="square" lIns="0" tIns="0" rIns="0" bIns="0" rtlCol="0" anchor="t"/>
          <a:lstStyle/>
          <a:p>
            <a:pPr algn="ctr" indent="0" marL="0">
              <a:lnSpc>
                <a:spcPct val="112000"/>
              </a:lnSpc>
              <a:buNone/>
            </a:pPr>
            <a:r>
              <a:rPr lang="en-US" sz="750" dirty="0">
                <a:solidFill>
                  <a:srgbClr val="514E48"/>
                </a:solidFill>
                <a:latin typeface="Montserrat" pitchFamily="34" charset="0"/>
                <a:ea typeface="Montserrat" pitchFamily="34" charset="-122"/>
                <a:cs typeface="Montserrat" pitchFamily="34" charset="-120"/>
              </a:rPr>
              <a:t>$10k</a:t>
            </a:r>
            <a:endParaRPr lang="en-US" sz="750" dirty="0"/>
          </a:p>
        </p:txBody>
      </p:sp>
      <p:sp>
        <p:nvSpPr>
          <p:cNvPr id="16" name="Shape 14"/>
          <p:cNvSpPr/>
          <p:nvPr/>
        </p:nvSpPr>
        <p:spPr>
          <a:xfrm>
            <a:off x="5067300" y="3530600"/>
            <a:ext cx="0" cy="4775200"/>
          </a:xfrm>
          <a:prstGeom prst="line">
            <a:avLst/>
          </a:prstGeom>
          <a:noFill/>
          <a:ln w="6096">
            <a:solidFill>
              <a:srgbClr val="B7B0A4"/>
            </a:solidFill>
            <a:prstDash val="solid"/>
          </a:ln>
        </p:spPr>
      </p:sp>
      <p:sp>
        <p:nvSpPr>
          <p:cNvPr id="17" name="Text 15"/>
          <p:cNvSpPr/>
          <p:nvPr/>
        </p:nvSpPr>
        <p:spPr>
          <a:xfrm>
            <a:off x="4826000" y="3276600"/>
            <a:ext cx="508000" cy="177800"/>
          </a:xfrm>
          <a:prstGeom prst="rect">
            <a:avLst/>
          </a:prstGeom>
          <a:noFill/>
          <a:ln/>
        </p:spPr>
        <p:txBody>
          <a:bodyPr wrap="square" lIns="0" tIns="0" rIns="0" bIns="0" rtlCol="0" anchor="t"/>
          <a:lstStyle/>
          <a:p>
            <a:pPr algn="ctr" indent="0" marL="0">
              <a:lnSpc>
                <a:spcPct val="112000"/>
              </a:lnSpc>
              <a:buNone/>
            </a:pPr>
            <a:r>
              <a:rPr lang="en-US" sz="750" dirty="0">
                <a:solidFill>
                  <a:srgbClr val="514E48"/>
                </a:solidFill>
                <a:latin typeface="Montserrat" pitchFamily="34" charset="0"/>
                <a:ea typeface="Montserrat" pitchFamily="34" charset="-122"/>
                <a:cs typeface="Montserrat" pitchFamily="34" charset="-120"/>
              </a:rPr>
              <a:t>$20k</a:t>
            </a:r>
            <a:endParaRPr lang="en-US" sz="750" dirty="0"/>
          </a:p>
        </p:txBody>
      </p:sp>
      <p:sp>
        <p:nvSpPr>
          <p:cNvPr id="18" name="Shape 16"/>
          <p:cNvSpPr/>
          <p:nvPr/>
        </p:nvSpPr>
        <p:spPr>
          <a:xfrm>
            <a:off x="6438900" y="3530600"/>
            <a:ext cx="0" cy="4775200"/>
          </a:xfrm>
          <a:prstGeom prst="line">
            <a:avLst/>
          </a:prstGeom>
          <a:noFill/>
          <a:ln w="6096">
            <a:solidFill>
              <a:srgbClr val="B7B0A4"/>
            </a:solidFill>
            <a:prstDash val="solid"/>
          </a:ln>
        </p:spPr>
      </p:sp>
      <p:sp>
        <p:nvSpPr>
          <p:cNvPr id="19" name="Text 17"/>
          <p:cNvSpPr/>
          <p:nvPr/>
        </p:nvSpPr>
        <p:spPr>
          <a:xfrm>
            <a:off x="6197600" y="3276600"/>
            <a:ext cx="508000" cy="177800"/>
          </a:xfrm>
          <a:prstGeom prst="rect">
            <a:avLst/>
          </a:prstGeom>
          <a:noFill/>
          <a:ln/>
        </p:spPr>
        <p:txBody>
          <a:bodyPr wrap="square" lIns="0" tIns="0" rIns="0" bIns="0" rtlCol="0" anchor="t"/>
          <a:lstStyle/>
          <a:p>
            <a:pPr algn="ctr" indent="0" marL="0">
              <a:lnSpc>
                <a:spcPct val="112000"/>
              </a:lnSpc>
              <a:buNone/>
            </a:pPr>
            <a:r>
              <a:rPr lang="en-US" sz="750" dirty="0">
                <a:solidFill>
                  <a:srgbClr val="514E48"/>
                </a:solidFill>
                <a:latin typeface="Montserrat" pitchFamily="34" charset="0"/>
                <a:ea typeface="Montserrat" pitchFamily="34" charset="-122"/>
                <a:cs typeface="Montserrat" pitchFamily="34" charset="-120"/>
              </a:rPr>
              <a:t>$30k</a:t>
            </a:r>
            <a:endParaRPr lang="en-US" sz="750" dirty="0"/>
          </a:p>
        </p:txBody>
      </p:sp>
      <p:sp>
        <p:nvSpPr>
          <p:cNvPr id="20" name="Shape 18"/>
          <p:cNvSpPr/>
          <p:nvPr/>
        </p:nvSpPr>
        <p:spPr>
          <a:xfrm>
            <a:off x="7124700" y="3530600"/>
            <a:ext cx="0" cy="4775200"/>
          </a:xfrm>
          <a:prstGeom prst="line">
            <a:avLst/>
          </a:prstGeom>
          <a:noFill/>
          <a:ln w="6096">
            <a:solidFill>
              <a:srgbClr val="B7B0A4"/>
            </a:solidFill>
            <a:prstDash val="solid"/>
          </a:ln>
        </p:spPr>
      </p:sp>
      <p:sp>
        <p:nvSpPr>
          <p:cNvPr id="21" name="Text 19"/>
          <p:cNvSpPr/>
          <p:nvPr/>
        </p:nvSpPr>
        <p:spPr>
          <a:xfrm>
            <a:off x="6883400" y="3276600"/>
            <a:ext cx="508000" cy="177800"/>
          </a:xfrm>
          <a:prstGeom prst="rect">
            <a:avLst/>
          </a:prstGeom>
          <a:noFill/>
          <a:ln/>
        </p:spPr>
        <p:txBody>
          <a:bodyPr wrap="square" lIns="0" tIns="0" rIns="0" bIns="0" rtlCol="0" anchor="t"/>
          <a:lstStyle/>
          <a:p>
            <a:pPr algn="ctr" indent="0" marL="0">
              <a:lnSpc>
                <a:spcPct val="112000"/>
              </a:lnSpc>
              <a:buNone/>
            </a:pPr>
            <a:r>
              <a:rPr lang="en-US" sz="750" dirty="0">
                <a:solidFill>
                  <a:srgbClr val="514E48"/>
                </a:solidFill>
                <a:latin typeface="Montserrat" pitchFamily="34" charset="0"/>
                <a:ea typeface="Montserrat" pitchFamily="34" charset="-122"/>
                <a:cs typeface="Montserrat" pitchFamily="34" charset="-120"/>
              </a:rPr>
              <a:t>$35k</a:t>
            </a:r>
            <a:endParaRPr lang="en-US" sz="750" dirty="0"/>
          </a:p>
        </p:txBody>
      </p:sp>
      <p:sp>
        <p:nvSpPr>
          <p:cNvPr id="22" name="Text 20"/>
          <p:cNvSpPr/>
          <p:nvPr/>
        </p:nvSpPr>
        <p:spPr>
          <a:xfrm>
            <a:off x="1968500" y="3543300"/>
            <a:ext cx="723900" cy="177800"/>
          </a:xfrm>
          <a:prstGeom prst="rect">
            <a:avLst/>
          </a:prstGeom>
          <a:noFill/>
          <a:ln/>
        </p:spPr>
        <p:txBody>
          <a:bodyPr wrap="square" lIns="0" tIns="0" rIns="0" bIns="0" rtlCol="0" anchor="t"/>
          <a:lstStyle/>
          <a:p>
            <a:pPr algn="ct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1960</a:t>
            </a:r>
            <a:endParaRPr lang="en-US" sz="800" dirty="0"/>
          </a:p>
        </p:txBody>
      </p:sp>
      <p:sp>
        <p:nvSpPr>
          <p:cNvPr id="23" name="Text 21"/>
          <p:cNvSpPr/>
          <p:nvPr/>
        </p:nvSpPr>
        <p:spPr>
          <a:xfrm>
            <a:off x="4203700" y="3543300"/>
            <a:ext cx="723900" cy="177800"/>
          </a:xfrm>
          <a:prstGeom prst="rect">
            <a:avLst/>
          </a:prstGeom>
          <a:noFill/>
          <a:ln/>
        </p:spPr>
        <p:txBody>
          <a:bodyPr wrap="square" lIns="0" tIns="0" rIns="0" bIns="0" rtlCol="0" anchor="t"/>
          <a:lstStyle/>
          <a:p>
            <a:pPr algn="ct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1990</a:t>
            </a:r>
            <a:endParaRPr lang="en-US" sz="800" dirty="0"/>
          </a:p>
        </p:txBody>
      </p:sp>
      <p:sp>
        <p:nvSpPr>
          <p:cNvPr id="24" name="Text 22"/>
          <p:cNvSpPr/>
          <p:nvPr/>
        </p:nvSpPr>
        <p:spPr>
          <a:xfrm>
            <a:off x="6223000" y="3543300"/>
            <a:ext cx="723900" cy="177800"/>
          </a:xfrm>
          <a:prstGeom prst="rect">
            <a:avLst/>
          </a:prstGeom>
          <a:noFill/>
          <a:ln/>
        </p:spPr>
        <p:txBody>
          <a:bodyPr wrap="square" lIns="0" tIns="0" rIns="0" bIns="0" rtlCol="0" anchor="t"/>
          <a:lstStyle/>
          <a:p>
            <a:pPr algn="ct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2020</a:t>
            </a:r>
            <a:endParaRPr lang="en-US" sz="800" dirty="0"/>
          </a:p>
        </p:txBody>
      </p:sp>
      <p:sp>
        <p:nvSpPr>
          <p:cNvPr id="25" name="Shape 23"/>
          <p:cNvSpPr/>
          <p:nvPr/>
        </p:nvSpPr>
        <p:spPr>
          <a:xfrm>
            <a:off x="457200" y="3911600"/>
            <a:ext cx="127000" cy="127000"/>
          </a:xfrm>
          <a:prstGeom prst="ellipse">
            <a:avLst/>
          </a:prstGeom>
          <a:solidFill>
            <a:srgbClr val="B95332"/>
          </a:solidFill>
          <a:ln w="7620">
            <a:solidFill>
              <a:srgbClr val="252525"/>
            </a:solidFill>
            <a:prstDash val="solid"/>
          </a:ln>
        </p:spPr>
      </p:sp>
      <p:sp>
        <p:nvSpPr>
          <p:cNvPr id="26" name="Text 24"/>
          <p:cNvSpPr/>
          <p:nvPr/>
        </p:nvSpPr>
        <p:spPr>
          <a:xfrm>
            <a:off x="711200" y="3860800"/>
            <a:ext cx="1460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27" name="Shape 25"/>
          <p:cNvSpPr/>
          <p:nvPr/>
        </p:nvSpPr>
        <p:spPr>
          <a:xfrm>
            <a:off x="2324100" y="4228217"/>
            <a:ext cx="2235200" cy="3023"/>
          </a:xfrm>
          <a:prstGeom prst="line">
            <a:avLst/>
          </a:prstGeom>
          <a:noFill/>
          <a:ln w="39370">
            <a:solidFill>
              <a:srgbClr val="B95332"/>
            </a:solidFill>
            <a:prstDash val="solid"/>
          </a:ln>
        </p:spPr>
      </p:sp>
      <p:sp>
        <p:nvSpPr>
          <p:cNvPr id="28" name="Shape 26"/>
          <p:cNvSpPr/>
          <p:nvPr/>
        </p:nvSpPr>
        <p:spPr>
          <a:xfrm>
            <a:off x="2254250" y="4158367"/>
            <a:ext cx="139700" cy="139700"/>
          </a:xfrm>
          <a:prstGeom prst="ellipse">
            <a:avLst/>
          </a:prstGeom>
          <a:solidFill>
            <a:srgbClr val="B95332"/>
          </a:solidFill>
          <a:ln w="7620">
            <a:solidFill>
              <a:srgbClr val="252525"/>
            </a:solidFill>
            <a:prstDash val="solid"/>
          </a:ln>
        </p:spPr>
      </p:sp>
      <p:sp>
        <p:nvSpPr>
          <p:cNvPr id="29" name="Text 27"/>
          <p:cNvSpPr/>
          <p:nvPr/>
        </p:nvSpPr>
        <p:spPr>
          <a:xfrm>
            <a:off x="1905000" y="42799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$1,101</a:t>
            </a:r>
            <a:endParaRPr lang="en-US" sz="850" dirty="0"/>
          </a:p>
        </p:txBody>
      </p:sp>
      <p:sp>
        <p:nvSpPr>
          <p:cNvPr id="30" name="Shape 28"/>
          <p:cNvSpPr/>
          <p:nvPr/>
        </p:nvSpPr>
        <p:spPr>
          <a:xfrm flipV="1">
            <a:off x="4559300" y="4217496"/>
            <a:ext cx="2019300" cy="13744"/>
          </a:xfrm>
          <a:prstGeom prst="line">
            <a:avLst/>
          </a:prstGeom>
          <a:noFill/>
          <a:ln w="39370">
            <a:solidFill>
              <a:srgbClr val="B95332"/>
            </a:solidFill>
            <a:prstDash val="solid"/>
          </a:ln>
        </p:spPr>
      </p:sp>
      <p:sp>
        <p:nvSpPr>
          <p:cNvPr id="31" name="Shape 29"/>
          <p:cNvSpPr/>
          <p:nvPr/>
        </p:nvSpPr>
        <p:spPr>
          <a:xfrm>
            <a:off x="4489450" y="4161389"/>
            <a:ext cx="139700" cy="139700"/>
          </a:xfrm>
          <a:prstGeom prst="ellipse">
            <a:avLst/>
          </a:prstGeom>
          <a:solidFill>
            <a:srgbClr val="B95332"/>
          </a:solidFill>
          <a:ln w="7620">
            <a:solidFill>
              <a:srgbClr val="252525"/>
            </a:solidFill>
            <a:prstDash val="solid"/>
          </a:ln>
        </p:spPr>
      </p:sp>
      <p:sp>
        <p:nvSpPr>
          <p:cNvPr id="32" name="Text 30"/>
          <p:cNvSpPr/>
          <p:nvPr/>
        </p:nvSpPr>
        <p:spPr>
          <a:xfrm>
            <a:off x="4140200" y="42799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$856</a:t>
            </a:r>
            <a:endParaRPr lang="en-US" sz="850" dirty="0"/>
          </a:p>
        </p:txBody>
      </p:sp>
      <p:sp>
        <p:nvSpPr>
          <p:cNvPr id="33" name="Shape 31"/>
          <p:cNvSpPr/>
          <p:nvPr/>
        </p:nvSpPr>
        <p:spPr>
          <a:xfrm>
            <a:off x="6508750" y="4147646"/>
            <a:ext cx="139700" cy="139700"/>
          </a:xfrm>
          <a:prstGeom prst="ellipse">
            <a:avLst/>
          </a:prstGeom>
          <a:solidFill>
            <a:srgbClr val="B95332"/>
          </a:solidFill>
          <a:ln w="7620">
            <a:solidFill>
              <a:srgbClr val="252525"/>
            </a:solidFill>
            <a:prstDash val="solid"/>
          </a:ln>
        </p:spPr>
      </p:sp>
      <p:sp>
        <p:nvSpPr>
          <p:cNvPr id="34" name="Text 32"/>
          <p:cNvSpPr/>
          <p:nvPr/>
        </p:nvSpPr>
        <p:spPr>
          <a:xfrm>
            <a:off x="6159500" y="42799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$1,970</a:t>
            </a:r>
            <a:endParaRPr lang="en-US" sz="850" dirty="0"/>
          </a:p>
        </p:txBody>
      </p:sp>
      <p:sp>
        <p:nvSpPr>
          <p:cNvPr id="35" name="Shape 33"/>
          <p:cNvSpPr/>
          <p:nvPr/>
        </p:nvSpPr>
        <p:spPr>
          <a:xfrm>
            <a:off x="1968500" y="4356100"/>
            <a:ext cx="5016500" cy="0"/>
          </a:xfrm>
          <a:prstGeom prst="line">
            <a:avLst/>
          </a:prstGeom>
          <a:noFill/>
          <a:ln w="5715">
            <a:solidFill>
              <a:srgbClr val="B7B0A4"/>
            </a:solidFill>
            <a:prstDash val="solid"/>
          </a:ln>
        </p:spPr>
      </p:sp>
      <p:sp>
        <p:nvSpPr>
          <p:cNvPr id="36" name="Shape 34"/>
          <p:cNvSpPr/>
          <p:nvPr/>
        </p:nvSpPr>
        <p:spPr>
          <a:xfrm>
            <a:off x="457200" y="4699000"/>
            <a:ext cx="127000" cy="127000"/>
          </a:xfrm>
          <a:prstGeom prst="rect">
            <a:avLst/>
          </a:prstGeom>
          <a:solidFill>
            <a:srgbClr val="3F684E"/>
          </a:solidFill>
          <a:ln w="7620">
            <a:solidFill>
              <a:srgbClr val="252525"/>
            </a:solidFill>
            <a:prstDash val="solid"/>
          </a:ln>
        </p:spPr>
      </p:sp>
      <p:sp>
        <p:nvSpPr>
          <p:cNvPr id="37" name="Text 35"/>
          <p:cNvSpPr/>
          <p:nvPr/>
        </p:nvSpPr>
        <p:spPr>
          <a:xfrm>
            <a:off x="711200" y="4648200"/>
            <a:ext cx="1460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38" name="Shape 36"/>
          <p:cNvSpPr/>
          <p:nvPr/>
        </p:nvSpPr>
        <p:spPr>
          <a:xfrm flipV="1">
            <a:off x="2324100" y="4979370"/>
            <a:ext cx="2235200" cy="44969"/>
          </a:xfrm>
          <a:prstGeom prst="line">
            <a:avLst/>
          </a:prstGeom>
          <a:noFill/>
          <a:ln w="39370">
            <a:solidFill>
              <a:srgbClr val="3F684E"/>
            </a:solidFill>
            <a:prstDash val="solid"/>
          </a:ln>
        </p:spPr>
      </p:sp>
      <p:sp>
        <p:nvSpPr>
          <p:cNvPr id="39" name="Shape 37"/>
          <p:cNvSpPr/>
          <p:nvPr/>
        </p:nvSpPr>
        <p:spPr>
          <a:xfrm>
            <a:off x="2254250" y="4954489"/>
            <a:ext cx="139700" cy="139700"/>
          </a:xfrm>
          <a:prstGeom prst="rect">
            <a:avLst/>
          </a:prstGeom>
          <a:solidFill>
            <a:srgbClr val="3F684E"/>
          </a:solidFill>
          <a:ln w="7620">
            <a:solidFill>
              <a:srgbClr val="252525"/>
            </a:solidFill>
            <a:prstDash val="solid"/>
          </a:ln>
        </p:spPr>
      </p:sp>
      <p:sp>
        <p:nvSpPr>
          <p:cNvPr id="40" name="Text 38"/>
          <p:cNvSpPr/>
          <p:nvPr/>
        </p:nvSpPr>
        <p:spPr>
          <a:xfrm>
            <a:off x="1905000" y="50673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$394</a:t>
            </a:r>
            <a:endParaRPr lang="en-US" sz="850" dirty="0"/>
          </a:p>
        </p:txBody>
      </p:sp>
      <p:sp>
        <p:nvSpPr>
          <p:cNvPr id="41" name="Shape 39"/>
          <p:cNvSpPr/>
          <p:nvPr/>
        </p:nvSpPr>
        <p:spPr>
          <a:xfrm flipV="1">
            <a:off x="4559300" y="4952044"/>
            <a:ext cx="2019300" cy="27327"/>
          </a:xfrm>
          <a:prstGeom prst="line">
            <a:avLst/>
          </a:prstGeom>
          <a:noFill/>
          <a:ln w="39370">
            <a:solidFill>
              <a:srgbClr val="3F684E"/>
            </a:solidFill>
            <a:prstDash val="solid"/>
          </a:ln>
        </p:spPr>
      </p:sp>
      <p:sp>
        <p:nvSpPr>
          <p:cNvPr id="42" name="Shape 40"/>
          <p:cNvSpPr/>
          <p:nvPr/>
        </p:nvSpPr>
        <p:spPr>
          <a:xfrm>
            <a:off x="4489450" y="4909520"/>
            <a:ext cx="139700" cy="139700"/>
          </a:xfrm>
          <a:prstGeom prst="rect">
            <a:avLst/>
          </a:prstGeom>
          <a:solidFill>
            <a:srgbClr val="3F684E"/>
          </a:solidFill>
          <a:ln w="7620">
            <a:solidFill>
              <a:srgbClr val="252525"/>
            </a:solidFill>
            <a:prstDash val="solid"/>
          </a:ln>
        </p:spPr>
      </p:sp>
      <p:sp>
        <p:nvSpPr>
          <p:cNvPr id="43" name="Text 41"/>
          <p:cNvSpPr/>
          <p:nvPr/>
        </p:nvSpPr>
        <p:spPr>
          <a:xfrm>
            <a:off x="4140200" y="50673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$4,039</a:t>
            </a:r>
            <a:endParaRPr lang="en-US" sz="850" dirty="0"/>
          </a:p>
        </p:txBody>
      </p:sp>
      <p:sp>
        <p:nvSpPr>
          <p:cNvPr id="44" name="Shape 42"/>
          <p:cNvSpPr/>
          <p:nvPr/>
        </p:nvSpPr>
        <p:spPr>
          <a:xfrm>
            <a:off x="6508750" y="4882194"/>
            <a:ext cx="139700" cy="139700"/>
          </a:xfrm>
          <a:prstGeom prst="rect">
            <a:avLst/>
          </a:prstGeom>
          <a:solidFill>
            <a:srgbClr val="3F684E"/>
          </a:solidFill>
          <a:ln w="7620">
            <a:solidFill>
              <a:srgbClr val="252525"/>
            </a:solidFill>
            <a:prstDash val="solid"/>
          </a:ln>
        </p:spPr>
      </p:sp>
      <p:sp>
        <p:nvSpPr>
          <p:cNvPr id="45" name="Text 43"/>
          <p:cNvSpPr/>
          <p:nvPr/>
        </p:nvSpPr>
        <p:spPr>
          <a:xfrm>
            <a:off x="6159500" y="50673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$6,254</a:t>
            </a:r>
            <a:endParaRPr lang="en-US" sz="850" dirty="0"/>
          </a:p>
        </p:txBody>
      </p:sp>
      <p:sp>
        <p:nvSpPr>
          <p:cNvPr id="46" name="Shape 44"/>
          <p:cNvSpPr/>
          <p:nvPr/>
        </p:nvSpPr>
        <p:spPr>
          <a:xfrm>
            <a:off x="1968500" y="5143500"/>
            <a:ext cx="5016500" cy="0"/>
          </a:xfrm>
          <a:prstGeom prst="line">
            <a:avLst/>
          </a:prstGeom>
          <a:noFill/>
          <a:ln w="5715">
            <a:solidFill>
              <a:srgbClr val="B7B0A4"/>
            </a:solidFill>
            <a:prstDash val="solid"/>
          </a:ln>
        </p:spPr>
      </p:sp>
      <p:sp>
        <p:nvSpPr>
          <p:cNvPr id="47" name="Shape 45"/>
          <p:cNvSpPr/>
          <p:nvPr/>
        </p:nvSpPr>
        <p:spPr>
          <a:xfrm>
            <a:off x="457200" y="5486400"/>
            <a:ext cx="127000" cy="127000"/>
          </a:xfrm>
          <a:prstGeom prst="triangle">
            <a:avLst/>
          </a:prstGeom>
          <a:solidFill>
            <a:srgbClr val="D6A23A"/>
          </a:solidFill>
          <a:ln w="7620">
            <a:solidFill>
              <a:srgbClr val="252525"/>
            </a:solidFill>
            <a:prstDash val="solid"/>
          </a:ln>
        </p:spPr>
      </p:sp>
      <p:sp>
        <p:nvSpPr>
          <p:cNvPr id="48" name="Text 46"/>
          <p:cNvSpPr/>
          <p:nvPr/>
        </p:nvSpPr>
        <p:spPr>
          <a:xfrm>
            <a:off x="711200" y="5435600"/>
            <a:ext cx="1460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49" name="Shape 47"/>
          <p:cNvSpPr/>
          <p:nvPr/>
        </p:nvSpPr>
        <p:spPr>
          <a:xfrm flipV="1">
            <a:off x="2324100" y="5769151"/>
            <a:ext cx="2235200" cy="29942"/>
          </a:xfrm>
          <a:prstGeom prst="line">
            <a:avLst/>
          </a:prstGeom>
          <a:noFill/>
          <a:ln w="39370">
            <a:solidFill>
              <a:srgbClr val="D6A23A"/>
            </a:solidFill>
            <a:prstDash val="solid"/>
          </a:ln>
        </p:spPr>
      </p:sp>
      <p:sp>
        <p:nvSpPr>
          <p:cNvPr id="50" name="Shape 48"/>
          <p:cNvSpPr/>
          <p:nvPr/>
        </p:nvSpPr>
        <p:spPr>
          <a:xfrm>
            <a:off x="2254250" y="5729244"/>
            <a:ext cx="139700" cy="139700"/>
          </a:xfrm>
          <a:prstGeom prst="triangle">
            <a:avLst/>
          </a:prstGeom>
          <a:solidFill>
            <a:srgbClr val="D6A23A"/>
          </a:solidFill>
          <a:ln w="7620">
            <a:solidFill>
              <a:srgbClr val="252525"/>
            </a:solidFill>
            <a:prstDash val="solid"/>
          </a:ln>
        </p:spPr>
      </p:sp>
      <p:sp>
        <p:nvSpPr>
          <p:cNvPr id="51" name="Text 49"/>
          <p:cNvSpPr/>
          <p:nvPr/>
        </p:nvSpPr>
        <p:spPr>
          <a:xfrm>
            <a:off x="1905000" y="58547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$1,419</a:t>
            </a:r>
            <a:endParaRPr lang="en-US" sz="850" dirty="0"/>
          </a:p>
        </p:txBody>
      </p:sp>
      <p:sp>
        <p:nvSpPr>
          <p:cNvPr id="52" name="Shape 50"/>
          <p:cNvSpPr/>
          <p:nvPr/>
        </p:nvSpPr>
        <p:spPr>
          <a:xfrm flipV="1">
            <a:off x="4559300" y="5698978"/>
            <a:ext cx="2019300" cy="70174"/>
          </a:xfrm>
          <a:prstGeom prst="line">
            <a:avLst/>
          </a:prstGeom>
          <a:noFill/>
          <a:ln w="39370">
            <a:solidFill>
              <a:srgbClr val="D6A23A"/>
            </a:solidFill>
            <a:prstDash val="solid"/>
          </a:ln>
        </p:spPr>
      </p:sp>
      <p:sp>
        <p:nvSpPr>
          <p:cNvPr id="53" name="Shape 51"/>
          <p:cNvSpPr/>
          <p:nvPr/>
        </p:nvSpPr>
        <p:spPr>
          <a:xfrm>
            <a:off x="4489450" y="5699301"/>
            <a:ext cx="139700" cy="139700"/>
          </a:xfrm>
          <a:prstGeom prst="triangle">
            <a:avLst/>
          </a:prstGeom>
          <a:solidFill>
            <a:srgbClr val="D6A23A"/>
          </a:solidFill>
          <a:ln w="7620">
            <a:solidFill>
              <a:srgbClr val="252525"/>
            </a:solidFill>
            <a:prstDash val="solid"/>
          </a:ln>
        </p:spPr>
      </p:sp>
      <p:sp>
        <p:nvSpPr>
          <p:cNvPr id="54" name="Text 52"/>
          <p:cNvSpPr/>
          <p:nvPr/>
        </p:nvSpPr>
        <p:spPr>
          <a:xfrm>
            <a:off x="4140200" y="58547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$3,846</a:t>
            </a:r>
            <a:endParaRPr lang="en-US" sz="850" dirty="0"/>
          </a:p>
        </p:txBody>
      </p:sp>
      <p:sp>
        <p:nvSpPr>
          <p:cNvPr id="55" name="Shape 53"/>
          <p:cNvSpPr/>
          <p:nvPr/>
        </p:nvSpPr>
        <p:spPr>
          <a:xfrm>
            <a:off x="6508750" y="5629128"/>
            <a:ext cx="139700" cy="139700"/>
          </a:xfrm>
          <a:prstGeom prst="triangle">
            <a:avLst/>
          </a:prstGeom>
          <a:solidFill>
            <a:srgbClr val="D6A23A"/>
          </a:solidFill>
          <a:ln w="7620">
            <a:solidFill>
              <a:srgbClr val="252525"/>
            </a:solidFill>
            <a:prstDash val="solid"/>
          </a:ln>
        </p:spPr>
      </p:sp>
      <p:sp>
        <p:nvSpPr>
          <p:cNvPr id="56" name="Text 54"/>
          <p:cNvSpPr/>
          <p:nvPr/>
        </p:nvSpPr>
        <p:spPr>
          <a:xfrm>
            <a:off x="6159500" y="58547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$9,534</a:t>
            </a:r>
            <a:endParaRPr lang="en-US" sz="850" dirty="0"/>
          </a:p>
        </p:txBody>
      </p:sp>
      <p:sp>
        <p:nvSpPr>
          <p:cNvPr id="57" name="Shape 55"/>
          <p:cNvSpPr/>
          <p:nvPr/>
        </p:nvSpPr>
        <p:spPr>
          <a:xfrm>
            <a:off x="1968500" y="5930900"/>
            <a:ext cx="5016500" cy="0"/>
          </a:xfrm>
          <a:prstGeom prst="line">
            <a:avLst/>
          </a:prstGeom>
          <a:noFill/>
          <a:ln w="5715">
            <a:solidFill>
              <a:srgbClr val="B7B0A4"/>
            </a:solidFill>
            <a:prstDash val="solid"/>
          </a:ln>
        </p:spPr>
      </p:sp>
      <p:sp>
        <p:nvSpPr>
          <p:cNvPr id="58" name="Shape 56"/>
          <p:cNvSpPr/>
          <p:nvPr/>
        </p:nvSpPr>
        <p:spPr>
          <a:xfrm>
            <a:off x="457200" y="6273800"/>
            <a:ext cx="127000" cy="127000"/>
          </a:xfrm>
          <a:prstGeom prst="diamond">
            <a:avLst/>
          </a:prstGeom>
          <a:solidFill>
            <a:srgbClr val="315A78"/>
          </a:solidFill>
          <a:ln w="7620">
            <a:solidFill>
              <a:srgbClr val="252525"/>
            </a:solidFill>
            <a:prstDash val="solid"/>
          </a:ln>
        </p:spPr>
      </p:sp>
      <p:sp>
        <p:nvSpPr>
          <p:cNvPr id="59" name="Text 57"/>
          <p:cNvSpPr/>
          <p:nvPr/>
        </p:nvSpPr>
        <p:spPr>
          <a:xfrm>
            <a:off x="711200" y="6223000"/>
            <a:ext cx="1460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60" name="Shape 58"/>
          <p:cNvSpPr/>
          <p:nvPr/>
        </p:nvSpPr>
        <p:spPr>
          <a:xfrm flipV="1">
            <a:off x="2324100" y="6484663"/>
            <a:ext cx="2235200" cy="106531"/>
          </a:xfrm>
          <a:prstGeom prst="line">
            <a:avLst/>
          </a:prstGeom>
          <a:noFill/>
          <a:ln w="39370">
            <a:solidFill>
              <a:srgbClr val="315A78"/>
            </a:solidFill>
            <a:prstDash val="dash"/>
          </a:ln>
        </p:spPr>
      </p:sp>
      <p:sp>
        <p:nvSpPr>
          <p:cNvPr id="61" name="Shape 59"/>
          <p:cNvSpPr/>
          <p:nvPr/>
        </p:nvSpPr>
        <p:spPr>
          <a:xfrm>
            <a:off x="2254250" y="6521344"/>
            <a:ext cx="139700" cy="139700"/>
          </a:xfrm>
          <a:prstGeom prst="diamond">
            <a:avLst/>
          </a:prstGeom>
          <a:solidFill>
            <a:srgbClr val="315A78"/>
          </a:solidFill>
          <a:ln w="7620">
            <a:solidFill>
              <a:srgbClr val="252525"/>
            </a:solidFill>
            <a:prstDash val="solid"/>
          </a:ln>
        </p:spPr>
      </p:sp>
      <p:sp>
        <p:nvSpPr>
          <p:cNvPr id="62" name="Text 60"/>
          <p:cNvSpPr/>
          <p:nvPr/>
        </p:nvSpPr>
        <p:spPr>
          <a:xfrm>
            <a:off x="1905000" y="66421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$1,038</a:t>
            </a:r>
            <a:endParaRPr lang="en-US" sz="850" dirty="0"/>
          </a:p>
        </p:txBody>
      </p:sp>
      <p:sp>
        <p:nvSpPr>
          <p:cNvPr id="63" name="Shape 61"/>
          <p:cNvSpPr/>
          <p:nvPr/>
        </p:nvSpPr>
        <p:spPr>
          <a:xfrm flipV="1">
            <a:off x="4559300" y="6194209"/>
            <a:ext cx="2019300" cy="290453"/>
          </a:xfrm>
          <a:prstGeom prst="line">
            <a:avLst/>
          </a:prstGeom>
          <a:noFill/>
          <a:ln w="39370">
            <a:solidFill>
              <a:srgbClr val="315A78"/>
            </a:solidFill>
            <a:prstDash val="dash"/>
          </a:ln>
        </p:spPr>
      </p:sp>
      <p:sp>
        <p:nvSpPr>
          <p:cNvPr id="64" name="Shape 62"/>
          <p:cNvSpPr/>
          <p:nvPr/>
        </p:nvSpPr>
        <p:spPr>
          <a:xfrm>
            <a:off x="4489450" y="6414813"/>
            <a:ext cx="139700" cy="139700"/>
          </a:xfrm>
          <a:prstGeom prst="diamond">
            <a:avLst/>
          </a:prstGeom>
          <a:solidFill>
            <a:srgbClr val="315A78"/>
          </a:solidFill>
          <a:ln w="7620">
            <a:solidFill>
              <a:srgbClr val="252525"/>
            </a:solidFill>
            <a:prstDash val="solid"/>
          </a:ln>
        </p:spPr>
      </p:sp>
      <p:sp>
        <p:nvSpPr>
          <p:cNvPr id="65" name="Text 63"/>
          <p:cNvSpPr/>
          <p:nvPr/>
        </p:nvSpPr>
        <p:spPr>
          <a:xfrm>
            <a:off x="4140200" y="66421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$9,673</a:t>
            </a:r>
            <a:endParaRPr lang="en-US" sz="850" dirty="0"/>
          </a:p>
        </p:txBody>
      </p:sp>
      <p:sp>
        <p:nvSpPr>
          <p:cNvPr id="66" name="Shape 64"/>
          <p:cNvSpPr/>
          <p:nvPr/>
        </p:nvSpPr>
        <p:spPr>
          <a:xfrm>
            <a:off x="6508750" y="6124359"/>
            <a:ext cx="139700" cy="139700"/>
          </a:xfrm>
          <a:prstGeom prst="diamond">
            <a:avLst/>
          </a:prstGeom>
          <a:solidFill>
            <a:srgbClr val="315A78"/>
          </a:solidFill>
          <a:ln w="7620">
            <a:solidFill>
              <a:srgbClr val="252525"/>
            </a:solidFill>
            <a:prstDash val="solid"/>
          </a:ln>
        </p:spPr>
      </p:sp>
      <p:sp>
        <p:nvSpPr>
          <p:cNvPr id="67" name="Text 65"/>
          <p:cNvSpPr/>
          <p:nvPr/>
        </p:nvSpPr>
        <p:spPr>
          <a:xfrm>
            <a:off x="6159500" y="66421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$33,216</a:t>
            </a:r>
            <a:endParaRPr lang="en-US" sz="850" dirty="0"/>
          </a:p>
        </p:txBody>
      </p:sp>
      <p:sp>
        <p:nvSpPr>
          <p:cNvPr id="68" name="Shape 66"/>
          <p:cNvSpPr/>
          <p:nvPr/>
        </p:nvSpPr>
        <p:spPr>
          <a:xfrm>
            <a:off x="1968500" y="6718300"/>
            <a:ext cx="5016500" cy="0"/>
          </a:xfrm>
          <a:prstGeom prst="line">
            <a:avLst/>
          </a:prstGeom>
          <a:noFill/>
          <a:ln w="5715">
            <a:solidFill>
              <a:srgbClr val="B7B0A4"/>
            </a:solidFill>
            <a:prstDash val="solid"/>
          </a:ln>
        </p:spPr>
      </p:sp>
      <p:sp>
        <p:nvSpPr>
          <p:cNvPr id="69" name="Shape 67"/>
          <p:cNvSpPr/>
          <p:nvPr/>
        </p:nvSpPr>
        <p:spPr>
          <a:xfrm>
            <a:off x="457200" y="7061200"/>
            <a:ext cx="127000" cy="127000"/>
          </a:xfrm>
          <a:prstGeom prst="hexagon">
            <a:avLst/>
          </a:prstGeom>
          <a:solidFill>
            <a:srgbClr val="3E7568"/>
          </a:solidFill>
          <a:ln w="7620">
            <a:solidFill>
              <a:srgbClr val="252525"/>
            </a:solidFill>
            <a:prstDash val="solid"/>
          </a:ln>
        </p:spPr>
      </p:sp>
      <p:sp>
        <p:nvSpPr>
          <p:cNvPr id="70" name="Text 68"/>
          <p:cNvSpPr/>
          <p:nvPr/>
        </p:nvSpPr>
        <p:spPr>
          <a:xfrm>
            <a:off x="711200" y="7010400"/>
            <a:ext cx="1460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71" name="Shape 69"/>
          <p:cNvSpPr/>
          <p:nvPr/>
        </p:nvSpPr>
        <p:spPr>
          <a:xfrm flipV="1">
            <a:off x="2324100" y="7339769"/>
            <a:ext cx="2235200" cy="36012"/>
          </a:xfrm>
          <a:prstGeom prst="line">
            <a:avLst/>
          </a:prstGeom>
          <a:noFill/>
          <a:ln w="39370">
            <a:solidFill>
              <a:srgbClr val="3E7568"/>
            </a:solidFill>
            <a:prstDash val="solid"/>
          </a:ln>
        </p:spPr>
      </p:sp>
      <p:sp>
        <p:nvSpPr>
          <p:cNvPr id="72" name="Shape 70"/>
          <p:cNvSpPr/>
          <p:nvPr/>
        </p:nvSpPr>
        <p:spPr>
          <a:xfrm>
            <a:off x="2254250" y="7305931"/>
            <a:ext cx="139700" cy="139700"/>
          </a:xfrm>
          <a:prstGeom prst="hexagon">
            <a:avLst/>
          </a:prstGeom>
          <a:solidFill>
            <a:srgbClr val="3E7568"/>
          </a:solidFill>
          <a:ln w="7620">
            <a:solidFill>
              <a:srgbClr val="252525"/>
            </a:solidFill>
            <a:prstDash val="solid"/>
          </a:ln>
        </p:spPr>
      </p:sp>
      <p:sp>
        <p:nvSpPr>
          <p:cNvPr id="73" name="Text 71"/>
          <p:cNvSpPr/>
          <p:nvPr/>
        </p:nvSpPr>
        <p:spPr>
          <a:xfrm>
            <a:off x="1905000" y="74295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$1,266</a:t>
            </a:r>
            <a:endParaRPr lang="en-US" sz="850" dirty="0"/>
          </a:p>
        </p:txBody>
      </p:sp>
      <p:sp>
        <p:nvSpPr>
          <p:cNvPr id="74" name="Shape 72"/>
          <p:cNvSpPr/>
          <p:nvPr/>
        </p:nvSpPr>
        <p:spPr>
          <a:xfrm flipV="1">
            <a:off x="4559300" y="7265919"/>
            <a:ext cx="2019300" cy="73850"/>
          </a:xfrm>
          <a:prstGeom prst="line">
            <a:avLst/>
          </a:prstGeom>
          <a:noFill/>
          <a:ln w="39370">
            <a:solidFill>
              <a:srgbClr val="3E7568"/>
            </a:solidFill>
            <a:prstDash val="solid"/>
          </a:ln>
        </p:spPr>
      </p:sp>
      <p:sp>
        <p:nvSpPr>
          <p:cNvPr id="75" name="Shape 73"/>
          <p:cNvSpPr/>
          <p:nvPr/>
        </p:nvSpPr>
        <p:spPr>
          <a:xfrm>
            <a:off x="4489450" y="7269919"/>
            <a:ext cx="139700" cy="139700"/>
          </a:xfrm>
          <a:prstGeom prst="hexagon">
            <a:avLst/>
          </a:prstGeom>
          <a:solidFill>
            <a:srgbClr val="3E7568"/>
          </a:solidFill>
          <a:ln w="7620">
            <a:solidFill>
              <a:srgbClr val="252525"/>
            </a:solidFill>
            <a:prstDash val="solid"/>
          </a:ln>
        </p:spPr>
      </p:sp>
      <p:sp>
        <p:nvSpPr>
          <p:cNvPr id="76" name="Text 74"/>
          <p:cNvSpPr/>
          <p:nvPr/>
        </p:nvSpPr>
        <p:spPr>
          <a:xfrm>
            <a:off x="4140200" y="74295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$4,185</a:t>
            </a:r>
            <a:endParaRPr lang="en-US" sz="850" dirty="0"/>
          </a:p>
        </p:txBody>
      </p:sp>
      <p:sp>
        <p:nvSpPr>
          <p:cNvPr id="77" name="Shape 75"/>
          <p:cNvSpPr/>
          <p:nvPr/>
        </p:nvSpPr>
        <p:spPr>
          <a:xfrm>
            <a:off x="6508750" y="7196069"/>
            <a:ext cx="139700" cy="139700"/>
          </a:xfrm>
          <a:prstGeom prst="hexagon">
            <a:avLst/>
          </a:prstGeom>
          <a:solidFill>
            <a:srgbClr val="3E7568"/>
          </a:solidFill>
          <a:ln w="7620">
            <a:solidFill>
              <a:srgbClr val="252525"/>
            </a:solidFill>
            <a:prstDash val="solid"/>
          </a:ln>
        </p:spPr>
      </p:sp>
      <p:sp>
        <p:nvSpPr>
          <p:cNvPr id="78" name="Text 76"/>
          <p:cNvSpPr/>
          <p:nvPr/>
        </p:nvSpPr>
        <p:spPr>
          <a:xfrm>
            <a:off x="6159500" y="74295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$10,171</a:t>
            </a:r>
            <a:endParaRPr lang="en-US" sz="850" dirty="0"/>
          </a:p>
        </p:txBody>
      </p:sp>
      <p:sp>
        <p:nvSpPr>
          <p:cNvPr id="79" name="Shape 77"/>
          <p:cNvSpPr/>
          <p:nvPr/>
        </p:nvSpPr>
        <p:spPr>
          <a:xfrm>
            <a:off x="1968500" y="7505700"/>
            <a:ext cx="5016500" cy="0"/>
          </a:xfrm>
          <a:prstGeom prst="line">
            <a:avLst/>
          </a:prstGeom>
          <a:noFill/>
          <a:ln w="5715">
            <a:solidFill>
              <a:srgbClr val="B7B0A4"/>
            </a:solidFill>
            <a:prstDash val="solid"/>
          </a:ln>
        </p:spPr>
      </p:sp>
      <p:sp>
        <p:nvSpPr>
          <p:cNvPr id="80" name="Shape 78"/>
          <p:cNvSpPr/>
          <p:nvPr/>
        </p:nvSpPr>
        <p:spPr>
          <a:xfrm>
            <a:off x="457200" y="7912100"/>
            <a:ext cx="127000" cy="0"/>
          </a:xfrm>
          <a:prstGeom prst="line">
            <a:avLst/>
          </a:prstGeom>
          <a:noFill/>
          <a:ln w="40640">
            <a:solidFill>
              <a:srgbClr val="252525"/>
            </a:solidFill>
            <a:prstDash val="solid"/>
          </a:ln>
        </p:spPr>
      </p:sp>
      <p:sp>
        <p:nvSpPr>
          <p:cNvPr id="81" name="Shape 79"/>
          <p:cNvSpPr/>
          <p:nvPr/>
        </p:nvSpPr>
        <p:spPr>
          <a:xfrm>
            <a:off x="520700" y="7848600"/>
            <a:ext cx="0" cy="127000"/>
          </a:xfrm>
          <a:prstGeom prst="line">
            <a:avLst/>
          </a:prstGeom>
          <a:noFill/>
          <a:ln w="40640">
            <a:solidFill>
              <a:srgbClr val="252525"/>
            </a:solidFill>
            <a:prstDash val="solid"/>
          </a:ln>
        </p:spPr>
      </p:sp>
      <p:sp>
        <p:nvSpPr>
          <p:cNvPr id="82" name="Shape 80"/>
          <p:cNvSpPr/>
          <p:nvPr/>
        </p:nvSpPr>
        <p:spPr>
          <a:xfrm>
            <a:off x="457200" y="7912100"/>
            <a:ext cx="127000" cy="0"/>
          </a:xfrm>
          <a:prstGeom prst="line">
            <a:avLst/>
          </a:prstGeom>
          <a:noFill/>
          <a:ln w="22860">
            <a:solidFill>
              <a:srgbClr val="A63A3A"/>
            </a:solidFill>
            <a:prstDash val="solid"/>
          </a:ln>
        </p:spPr>
      </p:sp>
      <p:sp>
        <p:nvSpPr>
          <p:cNvPr id="83" name="Shape 81"/>
          <p:cNvSpPr/>
          <p:nvPr/>
        </p:nvSpPr>
        <p:spPr>
          <a:xfrm>
            <a:off x="520700" y="7848600"/>
            <a:ext cx="0" cy="127000"/>
          </a:xfrm>
          <a:prstGeom prst="line">
            <a:avLst/>
          </a:prstGeom>
          <a:noFill/>
          <a:ln w="22860">
            <a:solidFill>
              <a:srgbClr val="A63A3A"/>
            </a:solidFill>
            <a:prstDash val="solid"/>
          </a:ln>
        </p:spPr>
      </p:sp>
      <p:sp>
        <p:nvSpPr>
          <p:cNvPr id="84" name="Text 82"/>
          <p:cNvSpPr/>
          <p:nvPr/>
        </p:nvSpPr>
        <p:spPr>
          <a:xfrm>
            <a:off x="711200" y="7797800"/>
            <a:ext cx="1460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85" name="Shape 83"/>
          <p:cNvSpPr/>
          <p:nvPr/>
        </p:nvSpPr>
        <p:spPr>
          <a:xfrm flipV="1">
            <a:off x="2324100" y="8157778"/>
            <a:ext cx="2235200" cy="7156"/>
          </a:xfrm>
          <a:prstGeom prst="line">
            <a:avLst/>
          </a:prstGeom>
          <a:noFill/>
          <a:ln w="39370">
            <a:solidFill>
              <a:srgbClr val="A63A3A"/>
            </a:solidFill>
            <a:prstDash val="solid"/>
          </a:ln>
        </p:spPr>
      </p:sp>
      <p:sp>
        <p:nvSpPr>
          <p:cNvPr id="86" name="Shape 84"/>
          <p:cNvSpPr/>
          <p:nvPr/>
        </p:nvSpPr>
        <p:spPr>
          <a:xfrm>
            <a:off x="2254250" y="8164933"/>
            <a:ext cx="139700" cy="0"/>
          </a:xfrm>
          <a:prstGeom prst="line">
            <a:avLst/>
          </a:prstGeom>
          <a:noFill/>
          <a:ln w="40640">
            <a:solidFill>
              <a:srgbClr val="252525"/>
            </a:solidFill>
            <a:prstDash val="solid"/>
          </a:ln>
        </p:spPr>
      </p:sp>
      <p:sp>
        <p:nvSpPr>
          <p:cNvPr id="87" name="Shape 85"/>
          <p:cNvSpPr/>
          <p:nvPr/>
        </p:nvSpPr>
        <p:spPr>
          <a:xfrm>
            <a:off x="2324100" y="8095083"/>
            <a:ext cx="0" cy="139700"/>
          </a:xfrm>
          <a:prstGeom prst="line">
            <a:avLst/>
          </a:prstGeom>
          <a:noFill/>
          <a:ln w="40640">
            <a:solidFill>
              <a:srgbClr val="252525"/>
            </a:solidFill>
            <a:prstDash val="solid"/>
          </a:ln>
        </p:spPr>
      </p:sp>
      <p:sp>
        <p:nvSpPr>
          <p:cNvPr id="88" name="Shape 86"/>
          <p:cNvSpPr/>
          <p:nvPr/>
        </p:nvSpPr>
        <p:spPr>
          <a:xfrm>
            <a:off x="2254250" y="8164933"/>
            <a:ext cx="139700" cy="0"/>
          </a:xfrm>
          <a:prstGeom prst="line">
            <a:avLst/>
          </a:prstGeom>
          <a:noFill/>
          <a:ln w="22860">
            <a:solidFill>
              <a:srgbClr val="A63A3A"/>
            </a:solidFill>
            <a:prstDash val="solid"/>
          </a:ln>
        </p:spPr>
      </p:sp>
      <p:sp>
        <p:nvSpPr>
          <p:cNvPr id="89" name="Shape 87"/>
          <p:cNvSpPr/>
          <p:nvPr/>
        </p:nvSpPr>
        <p:spPr>
          <a:xfrm>
            <a:off x="2324100" y="8095083"/>
            <a:ext cx="0" cy="139700"/>
          </a:xfrm>
          <a:prstGeom prst="line">
            <a:avLst/>
          </a:prstGeom>
          <a:noFill/>
          <a:ln w="22860">
            <a:solidFill>
              <a:srgbClr val="A63A3A"/>
            </a:solidFill>
            <a:prstDash val="solid"/>
          </a:ln>
        </p:spPr>
      </p:sp>
      <p:sp>
        <p:nvSpPr>
          <p:cNvPr id="90" name="Text 88"/>
          <p:cNvSpPr/>
          <p:nvPr/>
        </p:nvSpPr>
        <p:spPr>
          <a:xfrm>
            <a:off x="1905000" y="82169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$1,124</a:t>
            </a:r>
            <a:endParaRPr lang="en-US" sz="850" dirty="0"/>
          </a:p>
        </p:txBody>
      </p:sp>
      <p:sp>
        <p:nvSpPr>
          <p:cNvPr id="91" name="Shape 89"/>
          <p:cNvSpPr/>
          <p:nvPr/>
        </p:nvSpPr>
        <p:spPr>
          <a:xfrm flipV="1">
            <a:off x="4559300" y="8139333"/>
            <a:ext cx="2019300" cy="18444"/>
          </a:xfrm>
          <a:prstGeom prst="line">
            <a:avLst/>
          </a:prstGeom>
          <a:noFill/>
          <a:ln w="39370">
            <a:solidFill>
              <a:srgbClr val="A63A3A"/>
            </a:solidFill>
            <a:prstDash val="solid"/>
          </a:ln>
        </p:spPr>
      </p:sp>
      <p:sp>
        <p:nvSpPr>
          <p:cNvPr id="92" name="Shape 90"/>
          <p:cNvSpPr/>
          <p:nvPr/>
        </p:nvSpPr>
        <p:spPr>
          <a:xfrm>
            <a:off x="4489450" y="8157778"/>
            <a:ext cx="139700" cy="0"/>
          </a:xfrm>
          <a:prstGeom prst="line">
            <a:avLst/>
          </a:prstGeom>
          <a:noFill/>
          <a:ln w="40640">
            <a:solidFill>
              <a:srgbClr val="252525"/>
            </a:solidFill>
            <a:prstDash val="solid"/>
          </a:ln>
        </p:spPr>
      </p:sp>
      <p:sp>
        <p:nvSpPr>
          <p:cNvPr id="93" name="Shape 91"/>
          <p:cNvSpPr/>
          <p:nvPr/>
        </p:nvSpPr>
        <p:spPr>
          <a:xfrm>
            <a:off x="4559300" y="8087928"/>
            <a:ext cx="0" cy="139700"/>
          </a:xfrm>
          <a:prstGeom prst="line">
            <a:avLst/>
          </a:prstGeom>
          <a:noFill/>
          <a:ln w="40640">
            <a:solidFill>
              <a:srgbClr val="252525"/>
            </a:solidFill>
            <a:prstDash val="solid"/>
          </a:ln>
        </p:spPr>
      </p:sp>
      <p:sp>
        <p:nvSpPr>
          <p:cNvPr id="94" name="Shape 92"/>
          <p:cNvSpPr/>
          <p:nvPr/>
        </p:nvSpPr>
        <p:spPr>
          <a:xfrm>
            <a:off x="4489450" y="8157778"/>
            <a:ext cx="139700" cy="0"/>
          </a:xfrm>
          <a:prstGeom prst="line">
            <a:avLst/>
          </a:prstGeom>
          <a:noFill/>
          <a:ln w="22860">
            <a:solidFill>
              <a:srgbClr val="A63A3A"/>
            </a:solidFill>
            <a:prstDash val="solid"/>
          </a:ln>
        </p:spPr>
      </p:sp>
      <p:sp>
        <p:nvSpPr>
          <p:cNvPr id="95" name="Shape 93"/>
          <p:cNvSpPr/>
          <p:nvPr/>
        </p:nvSpPr>
        <p:spPr>
          <a:xfrm>
            <a:off x="4559300" y="8087928"/>
            <a:ext cx="0" cy="139700"/>
          </a:xfrm>
          <a:prstGeom prst="line">
            <a:avLst/>
          </a:prstGeom>
          <a:noFill/>
          <a:ln w="22860">
            <a:solidFill>
              <a:srgbClr val="A63A3A"/>
            </a:solidFill>
            <a:prstDash val="solid"/>
          </a:ln>
        </p:spPr>
      </p:sp>
      <p:sp>
        <p:nvSpPr>
          <p:cNvPr id="96" name="Text 94"/>
          <p:cNvSpPr/>
          <p:nvPr/>
        </p:nvSpPr>
        <p:spPr>
          <a:xfrm>
            <a:off x="4140200" y="82169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$1,704</a:t>
            </a:r>
            <a:endParaRPr lang="en-US" sz="850" dirty="0"/>
          </a:p>
        </p:txBody>
      </p:sp>
      <p:sp>
        <p:nvSpPr>
          <p:cNvPr id="97" name="Shape 95"/>
          <p:cNvSpPr/>
          <p:nvPr/>
        </p:nvSpPr>
        <p:spPr>
          <a:xfrm>
            <a:off x="6508750" y="8139333"/>
            <a:ext cx="139700" cy="0"/>
          </a:xfrm>
          <a:prstGeom prst="line">
            <a:avLst/>
          </a:prstGeom>
          <a:noFill/>
          <a:ln w="40640">
            <a:solidFill>
              <a:srgbClr val="252525"/>
            </a:solidFill>
            <a:prstDash val="solid"/>
          </a:ln>
        </p:spPr>
      </p:sp>
      <p:sp>
        <p:nvSpPr>
          <p:cNvPr id="98" name="Shape 96"/>
          <p:cNvSpPr/>
          <p:nvPr/>
        </p:nvSpPr>
        <p:spPr>
          <a:xfrm>
            <a:off x="6578600" y="8069483"/>
            <a:ext cx="0" cy="139700"/>
          </a:xfrm>
          <a:prstGeom prst="line">
            <a:avLst/>
          </a:prstGeom>
          <a:noFill/>
          <a:ln w="40640">
            <a:solidFill>
              <a:srgbClr val="252525"/>
            </a:solidFill>
            <a:prstDash val="solid"/>
          </a:ln>
        </p:spPr>
      </p:sp>
      <p:sp>
        <p:nvSpPr>
          <p:cNvPr id="99" name="Shape 97"/>
          <p:cNvSpPr/>
          <p:nvPr/>
        </p:nvSpPr>
        <p:spPr>
          <a:xfrm>
            <a:off x="6508750" y="8139333"/>
            <a:ext cx="139700" cy="0"/>
          </a:xfrm>
          <a:prstGeom prst="line">
            <a:avLst/>
          </a:prstGeom>
          <a:noFill/>
          <a:ln w="22860">
            <a:solidFill>
              <a:srgbClr val="A63A3A"/>
            </a:solidFill>
            <a:prstDash val="solid"/>
          </a:ln>
        </p:spPr>
      </p:sp>
      <p:sp>
        <p:nvSpPr>
          <p:cNvPr id="100" name="Shape 98"/>
          <p:cNvSpPr/>
          <p:nvPr/>
        </p:nvSpPr>
        <p:spPr>
          <a:xfrm>
            <a:off x="6578600" y="8069483"/>
            <a:ext cx="0" cy="139700"/>
          </a:xfrm>
          <a:prstGeom prst="line">
            <a:avLst/>
          </a:prstGeom>
          <a:noFill/>
          <a:ln w="22860">
            <a:solidFill>
              <a:srgbClr val="A63A3A"/>
            </a:solidFill>
            <a:prstDash val="solid"/>
          </a:ln>
        </p:spPr>
      </p:sp>
      <p:sp>
        <p:nvSpPr>
          <p:cNvPr id="101" name="Text 99"/>
          <p:cNvSpPr/>
          <p:nvPr/>
        </p:nvSpPr>
        <p:spPr>
          <a:xfrm>
            <a:off x="6159500" y="8216900"/>
            <a:ext cx="850900" cy="215900"/>
          </a:xfrm>
          <a:prstGeom prst="rect">
            <a:avLst/>
          </a:prstGeom>
          <a:noFill/>
          <a:ln/>
        </p:spPr>
        <p:txBody>
          <a:bodyPr wrap="square" lIns="0" tIns="0" rIns="0" bIns="0" rtlCol="0" anchor="t"/>
          <a:lstStyle/>
          <a:p>
            <a:pPr algn="ct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$3,199</a:t>
            </a:r>
            <a:endParaRPr lang="en-US" sz="850" dirty="0"/>
          </a:p>
        </p:txBody>
      </p:sp>
      <p:sp>
        <p:nvSpPr>
          <p:cNvPr id="102" name="Shape 100"/>
          <p:cNvSpPr/>
          <p:nvPr/>
        </p:nvSpPr>
        <p:spPr>
          <a:xfrm>
            <a:off x="1968500" y="8293100"/>
            <a:ext cx="5016500" cy="0"/>
          </a:xfrm>
          <a:prstGeom prst="line">
            <a:avLst/>
          </a:prstGeom>
          <a:noFill/>
          <a:ln w="5715">
            <a:solidFill>
              <a:srgbClr val="B7B0A4"/>
            </a:solidFill>
            <a:prstDash val="solid"/>
          </a:ln>
        </p:spPr>
      </p:sp>
      <p:sp>
        <p:nvSpPr>
          <p:cNvPr id="103" name="Text 101"/>
          <p:cNvSpPr/>
          <p:nvPr/>
        </p:nvSpPr>
        <p:spPr>
          <a:xfrm>
            <a:off x="457200" y="8534400"/>
            <a:ext cx="6642100" cy="254000"/>
          </a:xfrm>
          <a:prstGeom prst="rect">
            <a:avLst/>
          </a:prstGeom>
          <a:noFill/>
          <a:ln/>
        </p:spPr>
        <p:txBody>
          <a:bodyPr wrap="square" lIns="0" tIns="0" rIns="0" bIns="0" rtlCol="0" anchor="t"/>
          <a:lstStyle/>
          <a:p>
            <a:pPr indent="0" marL="0">
              <a:lnSpc>
                <a:spcPct val="112000"/>
              </a:lnSpc>
              <a:buNone/>
            </a:pPr>
            <a:r>
              <a:rPr lang="en-US" sz="900" b="1" dirty="0">
                <a:solidFill>
                  <a:srgbClr val="252525"/>
                </a:solidFill>
                <a:latin typeface="Montserrat" pitchFamily="34" charset="0"/>
                <a:ea typeface="Montserrat" pitchFamily="34" charset="-122"/>
                <a:cs typeface="Montserrat" pitchFamily="34" charset="-120"/>
              </a:rPr>
              <a:t>Read the value labels as well as the line: the shared vertical scale preserves the income gaps across cases.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02 / THE STARTING LINE</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Colonialism changed the starting line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Political transitions happened at different times—and did not erase inherited economic structures.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(1985, p. 18); Maipose (2008, pp. 3–5); National Archives Department (n.d., “Independence”); Haggard et al. (1997, pp. 867–870); Asadullah et al. (2024, pp. 13–15); Dolan (1993), archival recheck pending. Locator geometry: Natural Earth (n.d.), 1:110m Admin 0 – Countries, v5.1.1; generalized present-day boundaries, not historical geometry. Full citation and public-domain note: p. 30. Mauritius is located by point marker at this scale.</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05</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 locator uses generalized present-day boundaries and country markers, not a 1914 map or a development score. A political date is not a comparable measure of state capacity.</a:t>
            </a:r>
            <a:endParaRPr lang="en-US" sz="900" dirty="0"/>
          </a:p>
        </p:txBody>
      </p:sp>
      <p:sp>
        <p:nvSpPr>
          <p:cNvPr id="12" name="Text 10"/>
          <p:cNvSpPr/>
          <p:nvPr/>
        </p:nvSpPr>
        <p:spPr>
          <a:xfrm>
            <a:off x="457200" y="2857500"/>
            <a:ext cx="6642100" cy="203200"/>
          </a:xfrm>
          <a:prstGeom prst="rect">
            <a:avLst/>
          </a:prstGeom>
          <a:noFill/>
          <a:ln/>
        </p:spPr>
        <p:txBody>
          <a:bodyPr wrap="square" lIns="0" tIns="0" rIns="0" bIns="0" rtlCol="0" anchor="t"/>
          <a:lstStyle/>
          <a:p>
            <a:pPr indent="0" marL="0">
              <a:lnSpc>
                <a:spcPct val="112000"/>
              </a:lnSpc>
              <a:buNone/>
            </a:pPr>
            <a:r>
              <a:rPr lang="en-US" sz="850" b="1" dirty="0">
                <a:solidFill>
                  <a:srgbClr val="514E48"/>
                </a:solidFill>
                <a:latin typeface="Montserrat" pitchFamily="34" charset="0"/>
                <a:ea typeface="Montserrat" pitchFamily="34" charset="-122"/>
                <a:cs typeface="Montserrat" pitchFamily="34" charset="-120"/>
              </a:rPr>
              <a:t>PRESENT-DAY COUNTRY LOCATOR</a:t>
            </a:r>
            <a:endParaRPr lang="en-US" sz="850" dirty="0"/>
          </a:p>
        </p:txBody>
      </p:sp>
      <p:pic>
        <p:nvPicPr>
          <p:cNvPr id="13" name="Image 0" descr="/Users/marcusgrude-grodem/Documents/GitHub/USIL/africa-asia-development-magazine/design/canva_editorial_draft/assets/maps/world_locator.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87400" y="2997200"/>
            <a:ext cx="5969000" cy="2387600"/>
          </a:xfrm>
          <a:prstGeom prst="rect">
            <a:avLst/>
          </a:prstGeom>
        </p:spPr>
      </p:pic>
      <p:sp>
        <p:nvSpPr>
          <p:cNvPr id="14" name="Shape 11"/>
          <p:cNvSpPr/>
          <p:nvPr/>
        </p:nvSpPr>
        <p:spPr>
          <a:xfrm>
            <a:off x="3672157" y="4187197"/>
            <a:ext cx="165100" cy="165100"/>
          </a:xfrm>
          <a:prstGeom prst="ellipse">
            <a:avLst/>
          </a:prstGeom>
          <a:solidFill>
            <a:srgbClr val="B95332"/>
          </a:solidFill>
          <a:ln w="7620">
            <a:solidFill>
              <a:srgbClr val="252525"/>
            </a:solidFill>
            <a:prstDash val="solid"/>
          </a:ln>
        </p:spPr>
      </p:sp>
      <p:sp>
        <p:nvSpPr>
          <p:cNvPr id="15" name="Shape 12"/>
          <p:cNvSpPr/>
          <p:nvPr/>
        </p:nvSpPr>
        <p:spPr>
          <a:xfrm>
            <a:off x="4090255" y="4678224"/>
            <a:ext cx="165100" cy="165100"/>
          </a:xfrm>
          <a:prstGeom prst="rect">
            <a:avLst/>
          </a:prstGeom>
          <a:solidFill>
            <a:srgbClr val="3F684E"/>
          </a:solidFill>
          <a:ln w="7620">
            <a:solidFill>
              <a:srgbClr val="252525"/>
            </a:solidFill>
            <a:prstDash val="solid"/>
          </a:ln>
        </p:spPr>
      </p:sp>
      <p:sp>
        <p:nvSpPr>
          <p:cNvPr id="16" name="Shape 13"/>
          <p:cNvSpPr/>
          <p:nvPr/>
        </p:nvSpPr>
        <p:spPr>
          <a:xfrm>
            <a:off x="4642732" y="4646895"/>
            <a:ext cx="165100" cy="165100"/>
          </a:xfrm>
          <a:prstGeom prst="triangle">
            <a:avLst/>
          </a:prstGeom>
          <a:solidFill>
            <a:srgbClr val="D6A23A"/>
          </a:solidFill>
          <a:ln w="7620">
            <a:solidFill>
              <a:srgbClr val="252525"/>
            </a:solidFill>
            <a:prstDash val="solid"/>
          </a:ln>
        </p:spPr>
      </p:sp>
      <p:sp>
        <p:nvSpPr>
          <p:cNvPr id="17" name="Shape 14"/>
          <p:cNvSpPr/>
          <p:nvPr/>
        </p:nvSpPr>
        <p:spPr>
          <a:xfrm>
            <a:off x="5813808" y="3715156"/>
            <a:ext cx="165100" cy="165100"/>
          </a:xfrm>
          <a:prstGeom prst="diamond">
            <a:avLst/>
          </a:prstGeom>
          <a:solidFill>
            <a:srgbClr val="315A78"/>
          </a:solidFill>
          <a:ln w="7620">
            <a:solidFill>
              <a:srgbClr val="252525"/>
            </a:solidFill>
            <a:prstDash val="solid"/>
          </a:ln>
        </p:spPr>
      </p:sp>
      <p:sp>
        <p:nvSpPr>
          <p:cNvPr id="18" name="Shape 15"/>
          <p:cNvSpPr/>
          <p:nvPr/>
        </p:nvSpPr>
        <p:spPr>
          <a:xfrm>
            <a:off x="5576832" y="4272640"/>
            <a:ext cx="165100" cy="165100"/>
          </a:xfrm>
          <a:prstGeom prst="hexagon">
            <a:avLst/>
          </a:prstGeom>
          <a:solidFill>
            <a:srgbClr val="3E7568"/>
          </a:solidFill>
          <a:ln w="7620">
            <a:solidFill>
              <a:srgbClr val="252525"/>
            </a:solidFill>
            <a:prstDash val="solid"/>
          </a:ln>
        </p:spPr>
      </p:sp>
      <p:sp>
        <p:nvSpPr>
          <p:cNvPr id="19" name="Shape 16"/>
          <p:cNvSpPr/>
          <p:nvPr/>
        </p:nvSpPr>
        <p:spPr>
          <a:xfrm>
            <a:off x="5719888" y="4212439"/>
            <a:ext cx="165100" cy="0"/>
          </a:xfrm>
          <a:prstGeom prst="line">
            <a:avLst/>
          </a:prstGeom>
          <a:noFill/>
          <a:ln w="40640">
            <a:solidFill>
              <a:srgbClr val="252525"/>
            </a:solidFill>
            <a:prstDash val="solid"/>
          </a:ln>
        </p:spPr>
      </p:sp>
      <p:sp>
        <p:nvSpPr>
          <p:cNvPr id="20" name="Shape 17"/>
          <p:cNvSpPr/>
          <p:nvPr/>
        </p:nvSpPr>
        <p:spPr>
          <a:xfrm>
            <a:off x="5802438" y="4129889"/>
            <a:ext cx="0" cy="165100"/>
          </a:xfrm>
          <a:prstGeom prst="line">
            <a:avLst/>
          </a:prstGeom>
          <a:noFill/>
          <a:ln w="40640">
            <a:solidFill>
              <a:srgbClr val="252525"/>
            </a:solidFill>
            <a:prstDash val="solid"/>
          </a:ln>
        </p:spPr>
      </p:sp>
      <p:sp>
        <p:nvSpPr>
          <p:cNvPr id="21" name="Shape 18"/>
          <p:cNvSpPr/>
          <p:nvPr/>
        </p:nvSpPr>
        <p:spPr>
          <a:xfrm>
            <a:off x="5719888" y="4212439"/>
            <a:ext cx="165100" cy="0"/>
          </a:xfrm>
          <a:prstGeom prst="line">
            <a:avLst/>
          </a:prstGeom>
          <a:noFill/>
          <a:ln w="22860">
            <a:solidFill>
              <a:srgbClr val="A63A3A"/>
            </a:solidFill>
            <a:prstDash val="solid"/>
          </a:ln>
        </p:spPr>
      </p:sp>
      <p:sp>
        <p:nvSpPr>
          <p:cNvPr id="22" name="Shape 19"/>
          <p:cNvSpPr/>
          <p:nvPr/>
        </p:nvSpPr>
        <p:spPr>
          <a:xfrm>
            <a:off x="5802438" y="4129889"/>
            <a:ext cx="0" cy="165100"/>
          </a:xfrm>
          <a:prstGeom prst="line">
            <a:avLst/>
          </a:prstGeom>
          <a:noFill/>
          <a:ln w="22860">
            <a:solidFill>
              <a:srgbClr val="A63A3A"/>
            </a:solidFill>
            <a:prstDash val="solid"/>
          </a:ln>
        </p:spPr>
      </p:sp>
      <p:sp>
        <p:nvSpPr>
          <p:cNvPr id="23" name="Shape 20"/>
          <p:cNvSpPr/>
          <p:nvPr/>
        </p:nvSpPr>
        <p:spPr>
          <a:xfrm>
            <a:off x="457200" y="5511800"/>
            <a:ext cx="127000" cy="127000"/>
          </a:xfrm>
          <a:prstGeom prst="ellipse">
            <a:avLst/>
          </a:prstGeom>
          <a:solidFill>
            <a:srgbClr val="B95332"/>
          </a:solidFill>
          <a:ln w="7620">
            <a:solidFill>
              <a:srgbClr val="252525"/>
            </a:solidFill>
            <a:prstDash val="solid"/>
          </a:ln>
        </p:spPr>
      </p:sp>
      <p:sp>
        <p:nvSpPr>
          <p:cNvPr id="24" name="Text 21"/>
          <p:cNvSpPr/>
          <p:nvPr/>
        </p:nvSpPr>
        <p:spPr>
          <a:xfrm>
            <a:off x="711200" y="5461000"/>
            <a:ext cx="1714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25" name="Shape 22"/>
          <p:cNvSpPr/>
          <p:nvPr/>
        </p:nvSpPr>
        <p:spPr>
          <a:xfrm>
            <a:off x="2705100" y="5511800"/>
            <a:ext cx="127000" cy="127000"/>
          </a:xfrm>
          <a:prstGeom prst="rect">
            <a:avLst/>
          </a:prstGeom>
          <a:solidFill>
            <a:srgbClr val="3F684E"/>
          </a:solidFill>
          <a:ln w="7620">
            <a:solidFill>
              <a:srgbClr val="252525"/>
            </a:solidFill>
            <a:prstDash val="solid"/>
          </a:ln>
        </p:spPr>
      </p:sp>
      <p:sp>
        <p:nvSpPr>
          <p:cNvPr id="26" name="Text 23"/>
          <p:cNvSpPr/>
          <p:nvPr/>
        </p:nvSpPr>
        <p:spPr>
          <a:xfrm>
            <a:off x="2959100" y="5461000"/>
            <a:ext cx="1714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27" name="Shape 24"/>
          <p:cNvSpPr/>
          <p:nvPr/>
        </p:nvSpPr>
        <p:spPr>
          <a:xfrm>
            <a:off x="4953000" y="5511800"/>
            <a:ext cx="127000" cy="127000"/>
          </a:xfrm>
          <a:prstGeom prst="triangle">
            <a:avLst/>
          </a:prstGeom>
          <a:solidFill>
            <a:srgbClr val="D6A23A"/>
          </a:solidFill>
          <a:ln w="7620">
            <a:solidFill>
              <a:srgbClr val="252525"/>
            </a:solidFill>
            <a:prstDash val="solid"/>
          </a:ln>
        </p:spPr>
      </p:sp>
      <p:sp>
        <p:nvSpPr>
          <p:cNvPr id="28" name="Text 25"/>
          <p:cNvSpPr/>
          <p:nvPr/>
        </p:nvSpPr>
        <p:spPr>
          <a:xfrm>
            <a:off x="5207000" y="5461000"/>
            <a:ext cx="1714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29" name="Shape 26"/>
          <p:cNvSpPr/>
          <p:nvPr/>
        </p:nvSpPr>
        <p:spPr>
          <a:xfrm>
            <a:off x="457200" y="5791200"/>
            <a:ext cx="127000" cy="127000"/>
          </a:xfrm>
          <a:prstGeom prst="diamond">
            <a:avLst/>
          </a:prstGeom>
          <a:solidFill>
            <a:srgbClr val="315A78"/>
          </a:solidFill>
          <a:ln w="7620">
            <a:solidFill>
              <a:srgbClr val="252525"/>
            </a:solidFill>
            <a:prstDash val="solid"/>
          </a:ln>
        </p:spPr>
      </p:sp>
      <p:sp>
        <p:nvSpPr>
          <p:cNvPr id="30" name="Text 27"/>
          <p:cNvSpPr/>
          <p:nvPr/>
        </p:nvSpPr>
        <p:spPr>
          <a:xfrm>
            <a:off x="711200" y="5740400"/>
            <a:ext cx="1714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31" name="Shape 28"/>
          <p:cNvSpPr/>
          <p:nvPr/>
        </p:nvSpPr>
        <p:spPr>
          <a:xfrm>
            <a:off x="2705100" y="5791200"/>
            <a:ext cx="127000" cy="127000"/>
          </a:xfrm>
          <a:prstGeom prst="hexagon">
            <a:avLst/>
          </a:prstGeom>
          <a:solidFill>
            <a:srgbClr val="3E7568"/>
          </a:solidFill>
          <a:ln w="7620">
            <a:solidFill>
              <a:srgbClr val="252525"/>
            </a:solidFill>
            <a:prstDash val="solid"/>
          </a:ln>
        </p:spPr>
      </p:sp>
      <p:sp>
        <p:nvSpPr>
          <p:cNvPr id="32" name="Text 29"/>
          <p:cNvSpPr/>
          <p:nvPr/>
        </p:nvSpPr>
        <p:spPr>
          <a:xfrm>
            <a:off x="2959100" y="5740400"/>
            <a:ext cx="1714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33" name="Shape 30"/>
          <p:cNvSpPr/>
          <p:nvPr/>
        </p:nvSpPr>
        <p:spPr>
          <a:xfrm>
            <a:off x="4953000" y="5854700"/>
            <a:ext cx="127000" cy="0"/>
          </a:xfrm>
          <a:prstGeom prst="line">
            <a:avLst/>
          </a:prstGeom>
          <a:noFill/>
          <a:ln w="40640">
            <a:solidFill>
              <a:srgbClr val="252525"/>
            </a:solidFill>
            <a:prstDash val="solid"/>
          </a:ln>
        </p:spPr>
      </p:sp>
      <p:sp>
        <p:nvSpPr>
          <p:cNvPr id="34" name="Shape 31"/>
          <p:cNvSpPr/>
          <p:nvPr/>
        </p:nvSpPr>
        <p:spPr>
          <a:xfrm>
            <a:off x="5016500" y="5791200"/>
            <a:ext cx="0" cy="127000"/>
          </a:xfrm>
          <a:prstGeom prst="line">
            <a:avLst/>
          </a:prstGeom>
          <a:noFill/>
          <a:ln w="40640">
            <a:solidFill>
              <a:srgbClr val="252525"/>
            </a:solidFill>
            <a:prstDash val="solid"/>
          </a:ln>
        </p:spPr>
      </p:sp>
      <p:sp>
        <p:nvSpPr>
          <p:cNvPr id="35" name="Shape 32"/>
          <p:cNvSpPr/>
          <p:nvPr/>
        </p:nvSpPr>
        <p:spPr>
          <a:xfrm>
            <a:off x="4953000" y="5854700"/>
            <a:ext cx="127000" cy="0"/>
          </a:xfrm>
          <a:prstGeom prst="line">
            <a:avLst/>
          </a:prstGeom>
          <a:noFill/>
          <a:ln w="22860">
            <a:solidFill>
              <a:srgbClr val="A63A3A"/>
            </a:solidFill>
            <a:prstDash val="solid"/>
          </a:ln>
        </p:spPr>
      </p:sp>
      <p:sp>
        <p:nvSpPr>
          <p:cNvPr id="36" name="Shape 33"/>
          <p:cNvSpPr/>
          <p:nvPr/>
        </p:nvSpPr>
        <p:spPr>
          <a:xfrm>
            <a:off x="5016500" y="5791200"/>
            <a:ext cx="0" cy="127000"/>
          </a:xfrm>
          <a:prstGeom prst="line">
            <a:avLst/>
          </a:prstGeom>
          <a:noFill/>
          <a:ln w="22860">
            <a:solidFill>
              <a:srgbClr val="A63A3A"/>
            </a:solidFill>
            <a:prstDash val="solid"/>
          </a:ln>
        </p:spPr>
      </p:sp>
      <p:sp>
        <p:nvSpPr>
          <p:cNvPr id="37" name="Text 34"/>
          <p:cNvSpPr/>
          <p:nvPr/>
        </p:nvSpPr>
        <p:spPr>
          <a:xfrm>
            <a:off x="5207000" y="5740400"/>
            <a:ext cx="1714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38" name="Text 35"/>
          <p:cNvSpPr/>
          <p:nvPr/>
        </p:nvSpPr>
        <p:spPr>
          <a:xfrm>
            <a:off x="457200" y="6083300"/>
            <a:ext cx="6642100" cy="215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Historical 1914 map: still withheld pending verified artwork and original legend.</a:t>
            </a:r>
            <a:endParaRPr lang="en-US" sz="800" dirty="0"/>
          </a:p>
        </p:txBody>
      </p:sp>
      <p:sp>
        <p:nvSpPr>
          <p:cNvPr id="39" name="Shape 36"/>
          <p:cNvSpPr/>
          <p:nvPr/>
        </p:nvSpPr>
        <p:spPr>
          <a:xfrm>
            <a:off x="457200" y="6413500"/>
            <a:ext cx="6642100" cy="0"/>
          </a:xfrm>
          <a:prstGeom prst="line">
            <a:avLst/>
          </a:prstGeom>
          <a:noFill/>
          <a:ln w="7620">
            <a:solidFill>
              <a:srgbClr val="B7B0A4"/>
            </a:solidFill>
            <a:prstDash val="solid"/>
          </a:ln>
        </p:spPr>
      </p:sp>
      <p:sp>
        <p:nvSpPr>
          <p:cNvPr id="40" name="Text 37"/>
          <p:cNvSpPr/>
          <p:nvPr/>
        </p:nvSpPr>
        <p:spPr>
          <a:xfrm>
            <a:off x="457200" y="6489700"/>
            <a:ext cx="1168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1945 / 1948</a:t>
            </a:r>
            <a:endParaRPr lang="en-US" sz="1050" dirty="0"/>
          </a:p>
        </p:txBody>
      </p:sp>
      <p:sp>
        <p:nvSpPr>
          <p:cNvPr id="41" name="Text 38"/>
          <p:cNvSpPr/>
          <p:nvPr/>
        </p:nvSpPr>
        <p:spPr>
          <a:xfrm>
            <a:off x="1778000" y="6489700"/>
            <a:ext cx="1574800" cy="3175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South Korea</a:t>
            </a:r>
            <a:endParaRPr lang="en-US" sz="1000" dirty="0"/>
          </a:p>
        </p:txBody>
      </p:sp>
      <p:sp>
        <p:nvSpPr>
          <p:cNvPr id="42" name="Text 39"/>
          <p:cNvSpPr/>
          <p:nvPr/>
        </p:nvSpPr>
        <p:spPr>
          <a:xfrm>
            <a:off x="3517900" y="6489700"/>
            <a:ext cx="3581400" cy="330200"/>
          </a:xfrm>
          <a:prstGeom prst="rect">
            <a:avLst/>
          </a:prstGeom>
          <a:noFill/>
          <a:ln/>
        </p:spPr>
        <p:txBody>
          <a:bodyPr wrap="square" lIns="0" tIns="0" rIns="0" bIns="0" rtlCol="0" anchor="t"/>
          <a:lstStyle/>
          <a:p>
            <a:pPr indent="0" marL="0">
              <a:lnSpc>
                <a:spcPct val="112000"/>
              </a:lnSpc>
              <a:buNone/>
            </a:pPr>
            <a:r>
              <a:rPr lang="en-US" sz="870" dirty="0">
                <a:solidFill>
                  <a:srgbClr val="252525"/>
                </a:solidFill>
                <a:latin typeface="Montserrat" pitchFamily="34" charset="0"/>
                <a:ea typeface="Montserrat" pitchFamily="34" charset="-122"/>
                <a:cs typeface="Montserrat" pitchFamily="34" charset="-120"/>
              </a:rPr>
              <a:t>Japanese rule ends / Republic of Korea established</a:t>
            </a:r>
            <a:endParaRPr lang="en-US" sz="870" dirty="0"/>
          </a:p>
        </p:txBody>
      </p:sp>
      <p:sp>
        <p:nvSpPr>
          <p:cNvPr id="43" name="Shape 40"/>
          <p:cNvSpPr/>
          <p:nvPr/>
        </p:nvSpPr>
        <p:spPr>
          <a:xfrm>
            <a:off x="457200" y="6807200"/>
            <a:ext cx="6642100" cy="0"/>
          </a:xfrm>
          <a:prstGeom prst="line">
            <a:avLst/>
          </a:prstGeom>
          <a:noFill/>
          <a:ln w="7620">
            <a:solidFill>
              <a:srgbClr val="B7B0A4"/>
            </a:solidFill>
            <a:prstDash val="solid"/>
          </a:ln>
        </p:spPr>
      </p:sp>
      <p:sp>
        <p:nvSpPr>
          <p:cNvPr id="44" name="Text 41"/>
          <p:cNvSpPr/>
          <p:nvPr/>
        </p:nvSpPr>
        <p:spPr>
          <a:xfrm>
            <a:off x="457200" y="6883400"/>
            <a:ext cx="1168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1946</a:t>
            </a:r>
            <a:endParaRPr lang="en-US" sz="1050" dirty="0"/>
          </a:p>
        </p:txBody>
      </p:sp>
      <p:sp>
        <p:nvSpPr>
          <p:cNvPr id="45" name="Text 42"/>
          <p:cNvSpPr/>
          <p:nvPr/>
        </p:nvSpPr>
        <p:spPr>
          <a:xfrm>
            <a:off x="1778000" y="6883400"/>
            <a:ext cx="1574800" cy="3175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Philippines</a:t>
            </a:r>
            <a:endParaRPr lang="en-US" sz="1000" dirty="0"/>
          </a:p>
        </p:txBody>
      </p:sp>
      <p:sp>
        <p:nvSpPr>
          <p:cNvPr id="46" name="Text 43"/>
          <p:cNvSpPr/>
          <p:nvPr/>
        </p:nvSpPr>
        <p:spPr>
          <a:xfrm>
            <a:off x="3517900" y="6883400"/>
            <a:ext cx="3581400" cy="330200"/>
          </a:xfrm>
          <a:prstGeom prst="rect">
            <a:avLst/>
          </a:prstGeom>
          <a:noFill/>
          <a:ln/>
        </p:spPr>
        <p:txBody>
          <a:bodyPr wrap="square" lIns="0" tIns="0" rIns="0" bIns="0" rtlCol="0" anchor="t"/>
          <a:lstStyle/>
          <a:p>
            <a:pPr indent="0" marL="0">
              <a:lnSpc>
                <a:spcPct val="112000"/>
              </a:lnSpc>
              <a:buNone/>
            </a:pPr>
            <a:r>
              <a:rPr lang="en-US" sz="870" dirty="0">
                <a:solidFill>
                  <a:srgbClr val="252525"/>
                </a:solidFill>
                <a:latin typeface="Montserrat" pitchFamily="34" charset="0"/>
                <a:ea typeface="Montserrat" pitchFamily="34" charset="-122"/>
                <a:cs typeface="Montserrat" pitchFamily="34" charset="-120"/>
              </a:rPr>
              <a:t>Independence; preceding Spanish and US rule</a:t>
            </a:r>
            <a:endParaRPr lang="en-US" sz="870" dirty="0"/>
          </a:p>
        </p:txBody>
      </p:sp>
      <p:sp>
        <p:nvSpPr>
          <p:cNvPr id="47" name="Shape 44"/>
          <p:cNvSpPr/>
          <p:nvPr/>
        </p:nvSpPr>
        <p:spPr>
          <a:xfrm>
            <a:off x="457200" y="7200900"/>
            <a:ext cx="6642100" cy="0"/>
          </a:xfrm>
          <a:prstGeom prst="line">
            <a:avLst/>
          </a:prstGeom>
          <a:noFill/>
          <a:ln w="7620">
            <a:solidFill>
              <a:srgbClr val="B7B0A4"/>
            </a:solidFill>
            <a:prstDash val="solid"/>
          </a:ln>
        </p:spPr>
      </p:sp>
      <p:sp>
        <p:nvSpPr>
          <p:cNvPr id="48" name="Text 45"/>
          <p:cNvSpPr/>
          <p:nvPr/>
        </p:nvSpPr>
        <p:spPr>
          <a:xfrm>
            <a:off x="457200" y="7277100"/>
            <a:ext cx="1168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1957</a:t>
            </a:r>
            <a:endParaRPr lang="en-US" sz="1050" dirty="0"/>
          </a:p>
        </p:txBody>
      </p:sp>
      <p:sp>
        <p:nvSpPr>
          <p:cNvPr id="49" name="Text 46"/>
          <p:cNvSpPr/>
          <p:nvPr/>
        </p:nvSpPr>
        <p:spPr>
          <a:xfrm>
            <a:off x="1778000" y="7277100"/>
            <a:ext cx="1574800" cy="3175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Ghana</a:t>
            </a:r>
            <a:endParaRPr lang="en-US" sz="1000" dirty="0"/>
          </a:p>
        </p:txBody>
      </p:sp>
      <p:sp>
        <p:nvSpPr>
          <p:cNvPr id="50" name="Text 47"/>
          <p:cNvSpPr/>
          <p:nvPr/>
        </p:nvSpPr>
        <p:spPr>
          <a:xfrm>
            <a:off x="3517900" y="7277100"/>
            <a:ext cx="3581400" cy="330200"/>
          </a:xfrm>
          <a:prstGeom prst="rect">
            <a:avLst/>
          </a:prstGeom>
          <a:noFill/>
          <a:ln/>
        </p:spPr>
        <p:txBody>
          <a:bodyPr wrap="square" lIns="0" tIns="0" rIns="0" bIns="0" rtlCol="0" anchor="t"/>
          <a:lstStyle/>
          <a:p>
            <a:pPr indent="0" marL="0">
              <a:lnSpc>
                <a:spcPct val="112000"/>
              </a:lnSpc>
              <a:buNone/>
            </a:pPr>
            <a:r>
              <a:rPr lang="en-US" sz="870" dirty="0">
                <a:solidFill>
                  <a:srgbClr val="252525"/>
                </a:solidFill>
                <a:latin typeface="Montserrat" pitchFamily="34" charset="0"/>
                <a:ea typeface="Montserrat" pitchFamily="34" charset="-122"/>
                <a:cs typeface="Montserrat" pitchFamily="34" charset="-120"/>
              </a:rPr>
              <a:t>Independence</a:t>
            </a:r>
            <a:endParaRPr lang="en-US" sz="870" dirty="0"/>
          </a:p>
        </p:txBody>
      </p:sp>
      <p:sp>
        <p:nvSpPr>
          <p:cNvPr id="51" name="Shape 48"/>
          <p:cNvSpPr/>
          <p:nvPr/>
        </p:nvSpPr>
        <p:spPr>
          <a:xfrm>
            <a:off x="457200" y="7594600"/>
            <a:ext cx="6642100" cy="0"/>
          </a:xfrm>
          <a:prstGeom prst="line">
            <a:avLst/>
          </a:prstGeom>
          <a:noFill/>
          <a:ln w="7620">
            <a:solidFill>
              <a:srgbClr val="B7B0A4"/>
            </a:solidFill>
            <a:prstDash val="solid"/>
          </a:ln>
        </p:spPr>
      </p:sp>
      <p:sp>
        <p:nvSpPr>
          <p:cNvPr id="52" name="Text 49"/>
          <p:cNvSpPr/>
          <p:nvPr/>
        </p:nvSpPr>
        <p:spPr>
          <a:xfrm>
            <a:off x="457200" y="7670800"/>
            <a:ext cx="1168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1957 / 1963</a:t>
            </a:r>
            <a:endParaRPr lang="en-US" sz="1050" dirty="0"/>
          </a:p>
        </p:txBody>
      </p:sp>
      <p:sp>
        <p:nvSpPr>
          <p:cNvPr id="53" name="Text 50"/>
          <p:cNvSpPr/>
          <p:nvPr/>
        </p:nvSpPr>
        <p:spPr>
          <a:xfrm>
            <a:off x="1778000" y="7670800"/>
            <a:ext cx="1574800" cy="3175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Malaysia</a:t>
            </a:r>
            <a:endParaRPr lang="en-US" sz="1000" dirty="0"/>
          </a:p>
        </p:txBody>
      </p:sp>
      <p:sp>
        <p:nvSpPr>
          <p:cNvPr id="54" name="Text 51"/>
          <p:cNvSpPr/>
          <p:nvPr/>
        </p:nvSpPr>
        <p:spPr>
          <a:xfrm>
            <a:off x="3517900" y="7670800"/>
            <a:ext cx="3581400" cy="330200"/>
          </a:xfrm>
          <a:prstGeom prst="rect">
            <a:avLst/>
          </a:prstGeom>
          <a:noFill/>
          <a:ln/>
        </p:spPr>
        <p:txBody>
          <a:bodyPr wrap="square" lIns="0" tIns="0" rIns="0" bIns="0" rtlCol="0" anchor="t"/>
          <a:lstStyle/>
          <a:p>
            <a:pPr indent="0" marL="0">
              <a:lnSpc>
                <a:spcPct val="112000"/>
              </a:lnSpc>
              <a:buNone/>
            </a:pPr>
            <a:r>
              <a:rPr lang="en-US" sz="870" dirty="0">
                <a:solidFill>
                  <a:srgbClr val="252525"/>
                </a:solidFill>
                <a:latin typeface="Montserrat" pitchFamily="34" charset="0"/>
                <a:ea typeface="Montserrat" pitchFamily="34" charset="-122"/>
                <a:cs typeface="Montserrat" pitchFamily="34" charset="-120"/>
              </a:rPr>
              <a:t>Malaya independence / federation formed</a:t>
            </a:r>
            <a:endParaRPr lang="en-US" sz="870" dirty="0"/>
          </a:p>
        </p:txBody>
      </p:sp>
      <p:sp>
        <p:nvSpPr>
          <p:cNvPr id="55" name="Shape 52"/>
          <p:cNvSpPr/>
          <p:nvPr/>
        </p:nvSpPr>
        <p:spPr>
          <a:xfrm>
            <a:off x="457200" y="7988300"/>
            <a:ext cx="6642100" cy="0"/>
          </a:xfrm>
          <a:prstGeom prst="line">
            <a:avLst/>
          </a:prstGeom>
          <a:noFill/>
          <a:ln w="7620">
            <a:solidFill>
              <a:srgbClr val="B7B0A4"/>
            </a:solidFill>
            <a:prstDash val="solid"/>
          </a:ln>
        </p:spPr>
      </p:sp>
      <p:sp>
        <p:nvSpPr>
          <p:cNvPr id="56" name="Text 53"/>
          <p:cNvSpPr/>
          <p:nvPr/>
        </p:nvSpPr>
        <p:spPr>
          <a:xfrm>
            <a:off x="457200" y="8064500"/>
            <a:ext cx="1168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1966</a:t>
            </a:r>
            <a:endParaRPr lang="en-US" sz="1050" dirty="0"/>
          </a:p>
        </p:txBody>
      </p:sp>
      <p:sp>
        <p:nvSpPr>
          <p:cNvPr id="57" name="Text 54"/>
          <p:cNvSpPr/>
          <p:nvPr/>
        </p:nvSpPr>
        <p:spPr>
          <a:xfrm>
            <a:off x="1778000" y="8064500"/>
            <a:ext cx="1574800" cy="3175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Botswana</a:t>
            </a:r>
            <a:endParaRPr lang="en-US" sz="1000" dirty="0"/>
          </a:p>
        </p:txBody>
      </p:sp>
      <p:sp>
        <p:nvSpPr>
          <p:cNvPr id="58" name="Text 55"/>
          <p:cNvSpPr/>
          <p:nvPr/>
        </p:nvSpPr>
        <p:spPr>
          <a:xfrm>
            <a:off x="3517900" y="8064500"/>
            <a:ext cx="3581400" cy="330200"/>
          </a:xfrm>
          <a:prstGeom prst="rect">
            <a:avLst/>
          </a:prstGeom>
          <a:noFill/>
          <a:ln/>
        </p:spPr>
        <p:txBody>
          <a:bodyPr wrap="square" lIns="0" tIns="0" rIns="0" bIns="0" rtlCol="0" anchor="t"/>
          <a:lstStyle/>
          <a:p>
            <a:pPr indent="0" marL="0">
              <a:lnSpc>
                <a:spcPct val="112000"/>
              </a:lnSpc>
              <a:buNone/>
            </a:pPr>
            <a:r>
              <a:rPr lang="en-US" sz="870" dirty="0">
                <a:solidFill>
                  <a:srgbClr val="252525"/>
                </a:solidFill>
                <a:latin typeface="Montserrat" pitchFamily="34" charset="0"/>
                <a:ea typeface="Montserrat" pitchFamily="34" charset="-122"/>
                <a:cs typeface="Montserrat" pitchFamily="34" charset="-120"/>
              </a:rPr>
              <a:t>Independence from British protectorate</a:t>
            </a:r>
            <a:endParaRPr lang="en-US" sz="870" dirty="0"/>
          </a:p>
        </p:txBody>
      </p:sp>
      <p:sp>
        <p:nvSpPr>
          <p:cNvPr id="59" name="Shape 56"/>
          <p:cNvSpPr/>
          <p:nvPr/>
        </p:nvSpPr>
        <p:spPr>
          <a:xfrm>
            <a:off x="457200" y="8382000"/>
            <a:ext cx="6642100" cy="0"/>
          </a:xfrm>
          <a:prstGeom prst="line">
            <a:avLst/>
          </a:prstGeom>
          <a:noFill/>
          <a:ln w="7620">
            <a:solidFill>
              <a:srgbClr val="B7B0A4"/>
            </a:solidFill>
            <a:prstDash val="solid"/>
          </a:ln>
        </p:spPr>
      </p:sp>
      <p:sp>
        <p:nvSpPr>
          <p:cNvPr id="60" name="Text 57"/>
          <p:cNvSpPr/>
          <p:nvPr/>
        </p:nvSpPr>
        <p:spPr>
          <a:xfrm>
            <a:off x="457200" y="8458200"/>
            <a:ext cx="1168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1968</a:t>
            </a:r>
            <a:endParaRPr lang="en-US" sz="1050" dirty="0"/>
          </a:p>
        </p:txBody>
      </p:sp>
      <p:sp>
        <p:nvSpPr>
          <p:cNvPr id="61" name="Text 58"/>
          <p:cNvSpPr/>
          <p:nvPr/>
        </p:nvSpPr>
        <p:spPr>
          <a:xfrm>
            <a:off x="1778000" y="8458200"/>
            <a:ext cx="1574800" cy="3175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Mauritius</a:t>
            </a:r>
            <a:endParaRPr lang="en-US" sz="1000" dirty="0"/>
          </a:p>
        </p:txBody>
      </p:sp>
      <p:sp>
        <p:nvSpPr>
          <p:cNvPr id="62" name="Text 59"/>
          <p:cNvSpPr/>
          <p:nvPr/>
        </p:nvSpPr>
        <p:spPr>
          <a:xfrm>
            <a:off x="3517900" y="8458200"/>
            <a:ext cx="3581400" cy="330200"/>
          </a:xfrm>
          <a:prstGeom prst="rect">
            <a:avLst/>
          </a:prstGeom>
          <a:noFill/>
          <a:ln/>
        </p:spPr>
        <p:txBody>
          <a:bodyPr wrap="square" lIns="0" tIns="0" rIns="0" bIns="0" rtlCol="0" anchor="t"/>
          <a:lstStyle/>
          <a:p>
            <a:pPr indent="0" marL="0">
              <a:lnSpc>
                <a:spcPct val="112000"/>
              </a:lnSpc>
              <a:buNone/>
            </a:pPr>
            <a:r>
              <a:rPr lang="en-US" sz="870" dirty="0">
                <a:solidFill>
                  <a:srgbClr val="252525"/>
                </a:solidFill>
                <a:latin typeface="Montserrat" pitchFamily="34" charset="0"/>
                <a:ea typeface="Montserrat" pitchFamily="34" charset="-122"/>
                <a:cs typeface="Montserrat" pitchFamily="34" charset="-120"/>
              </a:rPr>
              <a:t>Independence; earlier French and British rule</a:t>
            </a:r>
            <a:endParaRPr lang="en-US" sz="87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02 / MECHANISMS</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Different systems of rule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The useful comparison is what rule organised, extracted and left behind—not an empire label treated as destiny.</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Bolt et al. (2025, pp. 1–6, 18–20); Cogneau et al. (2018, pp. 5–7, 17–20); Huillery (2009, pp. 176–180, 203–208); Kohli (1994, pp. 1277–1284); Haggard et al. (1997, pp. 867–881); Dolan (1993), source caveat below.</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06</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Different mechanisms may coexist. None of these studies supplies a causal ranking of the six cases or demonstrates that colonial rule was beneficial overall.</a:t>
            </a:r>
            <a:endParaRPr lang="en-US" sz="900" dirty="0"/>
          </a:p>
        </p:txBody>
      </p:sp>
      <p:sp>
        <p:nvSpPr>
          <p:cNvPr id="12" name="Shape 10"/>
          <p:cNvSpPr/>
          <p:nvPr/>
        </p:nvSpPr>
        <p:spPr>
          <a:xfrm>
            <a:off x="457200" y="2908300"/>
            <a:ext cx="6642100" cy="0"/>
          </a:xfrm>
          <a:prstGeom prst="line">
            <a:avLst/>
          </a:prstGeom>
          <a:noFill/>
          <a:ln w="8890">
            <a:solidFill>
              <a:srgbClr val="252525"/>
            </a:solidFill>
            <a:prstDash val="solid"/>
          </a:ln>
        </p:spPr>
      </p:sp>
      <p:sp>
        <p:nvSpPr>
          <p:cNvPr id="13" name="Text 11"/>
          <p:cNvSpPr/>
          <p:nvPr/>
        </p:nvSpPr>
        <p:spPr>
          <a:xfrm>
            <a:off x="457200" y="3098800"/>
            <a:ext cx="1308100" cy="279400"/>
          </a:xfrm>
          <a:prstGeom prst="rect">
            <a:avLst/>
          </a:prstGeom>
          <a:noFill/>
          <a:ln/>
        </p:spPr>
        <p:txBody>
          <a:bodyPr wrap="square" lIns="0" tIns="0" rIns="0" bIns="0" rtlCol="0" anchor="t"/>
          <a:lstStyle/>
          <a:p>
            <a:pPr indent="0" marL="0">
              <a:lnSpc>
                <a:spcPct val="112000"/>
              </a:lnSpc>
              <a:buNone/>
            </a:pPr>
            <a:r>
              <a:rPr lang="en-US" sz="900" b="1" dirty="0">
                <a:solidFill>
                  <a:srgbClr val="252525"/>
                </a:solidFill>
                <a:latin typeface="Montserrat" pitchFamily="34" charset="0"/>
                <a:ea typeface="Montserrat" pitchFamily="34" charset="-122"/>
                <a:cs typeface="Montserrat" pitchFamily="34" charset="-120"/>
              </a:rPr>
              <a:t>CLAIM</a:t>
            </a:r>
            <a:endParaRPr lang="en-US" sz="900" dirty="0"/>
          </a:p>
        </p:txBody>
      </p:sp>
      <p:sp>
        <p:nvSpPr>
          <p:cNvPr id="14" name="Text 12"/>
          <p:cNvSpPr/>
          <p:nvPr/>
        </p:nvSpPr>
        <p:spPr>
          <a:xfrm>
            <a:off x="1981200" y="3073400"/>
            <a:ext cx="5118100" cy="4064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Administrative labels hide variation.</a:t>
            </a:r>
            <a:endParaRPr lang="en-US" sz="1500" dirty="0"/>
          </a:p>
        </p:txBody>
      </p:sp>
      <p:sp>
        <p:nvSpPr>
          <p:cNvPr id="15" name="Text 13"/>
          <p:cNvSpPr/>
          <p:nvPr/>
        </p:nvSpPr>
        <p:spPr>
          <a:xfrm>
            <a:off x="1981200" y="3606800"/>
            <a:ext cx="5118100" cy="11303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Evidence: British African councils differed in composition and operation; French West African investments also varied within an empire.</a:t>
            </a:r>
            <a:endParaRPr lang="en-US" sz="1050" dirty="0"/>
          </a:p>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Limit: councils are not synonymous with democracy (Bolt et al., 2025; Huillery, 2009).</a:t>
            </a:r>
            <a:endParaRPr lang="en-US" sz="1050" dirty="0"/>
          </a:p>
        </p:txBody>
      </p:sp>
      <p:sp>
        <p:nvSpPr>
          <p:cNvPr id="16" name="Shape 14"/>
          <p:cNvSpPr/>
          <p:nvPr/>
        </p:nvSpPr>
        <p:spPr>
          <a:xfrm>
            <a:off x="457200" y="4800600"/>
            <a:ext cx="6642100" cy="0"/>
          </a:xfrm>
          <a:prstGeom prst="line">
            <a:avLst/>
          </a:prstGeom>
          <a:noFill/>
          <a:ln w="8890">
            <a:solidFill>
              <a:srgbClr val="252525"/>
            </a:solidFill>
            <a:prstDash val="solid"/>
          </a:ln>
        </p:spPr>
      </p:sp>
      <p:sp>
        <p:nvSpPr>
          <p:cNvPr id="17" name="Text 15"/>
          <p:cNvSpPr/>
          <p:nvPr/>
        </p:nvSpPr>
        <p:spPr>
          <a:xfrm>
            <a:off x="457200" y="4991100"/>
            <a:ext cx="1308100" cy="279400"/>
          </a:xfrm>
          <a:prstGeom prst="rect">
            <a:avLst/>
          </a:prstGeom>
          <a:noFill/>
          <a:ln/>
        </p:spPr>
        <p:txBody>
          <a:bodyPr wrap="square" lIns="0" tIns="0" rIns="0" bIns="0" rtlCol="0" anchor="t"/>
          <a:lstStyle/>
          <a:p>
            <a:pPr indent="0" marL="0">
              <a:lnSpc>
                <a:spcPct val="112000"/>
              </a:lnSpc>
              <a:buNone/>
            </a:pPr>
            <a:r>
              <a:rPr lang="en-US" sz="900" b="1" dirty="0">
                <a:solidFill>
                  <a:srgbClr val="252525"/>
                </a:solidFill>
                <a:latin typeface="Montserrat" pitchFamily="34" charset="0"/>
                <a:ea typeface="Montserrat" pitchFamily="34" charset="-122"/>
                <a:cs typeface="Montserrat" pitchFamily="34" charset="-120"/>
              </a:rPr>
              <a:t>EVIDENCE</a:t>
            </a:r>
            <a:endParaRPr lang="en-US" sz="900" dirty="0"/>
          </a:p>
        </p:txBody>
      </p:sp>
      <p:sp>
        <p:nvSpPr>
          <p:cNvPr id="18" name="Text 16"/>
          <p:cNvSpPr/>
          <p:nvPr/>
        </p:nvSpPr>
        <p:spPr>
          <a:xfrm>
            <a:off x="1981200" y="4965700"/>
            <a:ext cx="5118100" cy="4064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Korea is a disputed inheritance.</a:t>
            </a:r>
            <a:endParaRPr lang="en-US" sz="1500" dirty="0"/>
          </a:p>
        </p:txBody>
      </p:sp>
      <p:sp>
        <p:nvSpPr>
          <p:cNvPr id="19" name="Text 17"/>
          <p:cNvSpPr/>
          <p:nvPr/>
        </p:nvSpPr>
        <p:spPr>
          <a:xfrm>
            <a:off x="1981200" y="5499100"/>
            <a:ext cx="5118100" cy="11303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Kohli (1994) stresses organisational lineage under Japanese rule. Haggard et al. (1997) stress coercion, unequal ownership, division, war and post-1961 change.</a:t>
            </a:r>
            <a:endParaRPr lang="en-US" sz="1050" dirty="0"/>
          </a:p>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Limit: continuity is not an uncontested causal finding.</a:t>
            </a:r>
            <a:endParaRPr lang="en-US" sz="1050" dirty="0"/>
          </a:p>
        </p:txBody>
      </p:sp>
      <p:sp>
        <p:nvSpPr>
          <p:cNvPr id="20" name="Shape 18"/>
          <p:cNvSpPr/>
          <p:nvPr/>
        </p:nvSpPr>
        <p:spPr>
          <a:xfrm>
            <a:off x="457200" y="6692900"/>
            <a:ext cx="6642100" cy="0"/>
          </a:xfrm>
          <a:prstGeom prst="line">
            <a:avLst/>
          </a:prstGeom>
          <a:noFill/>
          <a:ln w="8890">
            <a:solidFill>
              <a:srgbClr val="252525"/>
            </a:solidFill>
            <a:prstDash val="solid"/>
          </a:ln>
        </p:spPr>
      </p:sp>
      <p:sp>
        <p:nvSpPr>
          <p:cNvPr id="21" name="Text 19"/>
          <p:cNvSpPr/>
          <p:nvPr/>
        </p:nvSpPr>
        <p:spPr>
          <a:xfrm>
            <a:off x="457200" y="6883400"/>
            <a:ext cx="1308100" cy="279400"/>
          </a:xfrm>
          <a:prstGeom prst="rect">
            <a:avLst/>
          </a:prstGeom>
          <a:noFill/>
          <a:ln/>
        </p:spPr>
        <p:txBody>
          <a:bodyPr wrap="square" lIns="0" tIns="0" rIns="0" bIns="0" rtlCol="0" anchor="t"/>
          <a:lstStyle/>
          <a:p>
            <a:pPr indent="0" marL="0">
              <a:lnSpc>
                <a:spcPct val="112000"/>
              </a:lnSpc>
              <a:buNone/>
            </a:pPr>
            <a:r>
              <a:rPr lang="en-US" sz="900" b="1" dirty="0">
                <a:solidFill>
                  <a:srgbClr val="252525"/>
                </a:solidFill>
                <a:latin typeface="Montserrat" pitchFamily="34" charset="0"/>
                <a:ea typeface="Montserrat" pitchFamily="34" charset="-122"/>
                <a:cs typeface="Montserrat" pitchFamily="34" charset="-120"/>
              </a:rPr>
              <a:t>LIMIT</a:t>
            </a:r>
            <a:endParaRPr lang="en-US" sz="900" dirty="0"/>
          </a:p>
        </p:txBody>
      </p:sp>
      <p:sp>
        <p:nvSpPr>
          <p:cNvPr id="22" name="Text 20"/>
          <p:cNvSpPr/>
          <p:nvPr/>
        </p:nvSpPr>
        <p:spPr>
          <a:xfrm>
            <a:off x="1981200" y="6858000"/>
            <a:ext cx="5118100" cy="4064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Institutions on paper are not inclusion.</a:t>
            </a:r>
            <a:endParaRPr lang="en-US" sz="1500" dirty="0"/>
          </a:p>
        </p:txBody>
      </p:sp>
      <p:sp>
        <p:nvSpPr>
          <p:cNvPr id="23" name="Text 21"/>
          <p:cNvSpPr/>
          <p:nvPr/>
        </p:nvSpPr>
        <p:spPr>
          <a:xfrm>
            <a:off x="1981200" y="7391400"/>
            <a:ext cx="5118100" cy="11303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The Philippines’ Spanish and US legacies combine formal institutions and education with concentrated power (Dolan, 1993). Exact archival passages still need a clean-file recheck.</a:t>
            </a:r>
            <a:endParaRPr lang="en-US" sz="1050" dirty="0"/>
          </a:p>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A British–French contrast cannot explain these experiences.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02 / CONNECTED DEVELOPMENT</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What did infrastructure connect?</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Ghana’s railway case shifts the question from “How much track?” to “Which people, firms and markets became connected?”</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Jedwab and Moradi (2012, pp. 1–4, 6–10; SRC-JEDWAB-MORADI12-001). Original editorial schematic based on cited facts. No source map is reproduced or traced.</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07</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A railway case cannot prove an Africa-wide mechanism, the net benefit of colonial rule, or that infrastructure alone caused subsequent growth.</a:t>
            </a:r>
            <a:endParaRPr lang="en-US" sz="900" dirty="0"/>
          </a:p>
        </p:txBody>
      </p:sp>
      <p:sp>
        <p:nvSpPr>
          <p:cNvPr id="12" name="Text 10"/>
          <p:cNvSpPr/>
          <p:nvPr/>
        </p:nvSpPr>
        <p:spPr>
          <a:xfrm>
            <a:off x="457200" y="2921000"/>
            <a:ext cx="6642100" cy="2921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1898–1918  /  COLONIAL RAILWAY EXPANSION</a:t>
            </a:r>
            <a:endParaRPr lang="en-US" sz="1000" dirty="0"/>
          </a:p>
        </p:txBody>
      </p:sp>
      <p:sp>
        <p:nvSpPr>
          <p:cNvPr id="13" name="Shape 11"/>
          <p:cNvSpPr/>
          <p:nvPr/>
        </p:nvSpPr>
        <p:spPr>
          <a:xfrm>
            <a:off x="647700" y="3594100"/>
            <a:ext cx="2527300" cy="736600"/>
          </a:xfrm>
          <a:prstGeom prst="rect">
            <a:avLst/>
          </a:prstGeom>
          <a:solidFill>
            <a:srgbClr val="F4F0E7"/>
          </a:solidFill>
          <a:ln w="7620">
            <a:solidFill>
              <a:srgbClr val="252525"/>
            </a:solidFill>
            <a:prstDash val="solid"/>
          </a:ln>
        </p:spPr>
      </p:sp>
      <p:sp>
        <p:nvSpPr>
          <p:cNvPr id="14" name="Text 12"/>
          <p:cNvSpPr/>
          <p:nvPr/>
        </p:nvSpPr>
        <p:spPr>
          <a:xfrm>
            <a:off x="800100" y="3746500"/>
            <a:ext cx="2222500" cy="5334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Coast / ports</a:t>
            </a:r>
            <a:endParaRPr lang="en-US" sz="1200" dirty="0"/>
          </a:p>
        </p:txBody>
      </p:sp>
      <p:sp>
        <p:nvSpPr>
          <p:cNvPr id="15" name="Shape 13"/>
          <p:cNvSpPr/>
          <p:nvPr/>
        </p:nvSpPr>
        <p:spPr>
          <a:xfrm>
            <a:off x="4241800" y="3594100"/>
            <a:ext cx="2527300" cy="736600"/>
          </a:xfrm>
          <a:prstGeom prst="rect">
            <a:avLst/>
          </a:prstGeom>
          <a:solidFill>
            <a:srgbClr val="F4F0E7"/>
          </a:solidFill>
          <a:ln w="7620">
            <a:solidFill>
              <a:srgbClr val="252525"/>
            </a:solidFill>
            <a:prstDash val="solid"/>
          </a:ln>
        </p:spPr>
      </p:sp>
      <p:sp>
        <p:nvSpPr>
          <p:cNvPr id="16" name="Text 14"/>
          <p:cNvSpPr/>
          <p:nvPr/>
        </p:nvSpPr>
        <p:spPr>
          <a:xfrm>
            <a:off x="4394200" y="3746500"/>
            <a:ext cx="2222500" cy="5334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Mining areas</a:t>
            </a:r>
            <a:endParaRPr lang="en-US" sz="1200" dirty="0"/>
          </a:p>
        </p:txBody>
      </p:sp>
      <p:sp>
        <p:nvSpPr>
          <p:cNvPr id="17" name="Shape 15"/>
          <p:cNvSpPr/>
          <p:nvPr/>
        </p:nvSpPr>
        <p:spPr>
          <a:xfrm>
            <a:off x="4241800" y="4864100"/>
            <a:ext cx="2527300" cy="736600"/>
          </a:xfrm>
          <a:prstGeom prst="rect">
            <a:avLst/>
          </a:prstGeom>
          <a:solidFill>
            <a:srgbClr val="F4F0E7"/>
          </a:solidFill>
          <a:ln w="7620">
            <a:solidFill>
              <a:srgbClr val="252525"/>
            </a:solidFill>
            <a:prstDash val="solid"/>
          </a:ln>
        </p:spPr>
      </p:sp>
      <p:sp>
        <p:nvSpPr>
          <p:cNvPr id="18" name="Text 16"/>
          <p:cNvSpPr/>
          <p:nvPr/>
        </p:nvSpPr>
        <p:spPr>
          <a:xfrm>
            <a:off x="4394200" y="5016500"/>
            <a:ext cx="2222500" cy="5334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Kumasi / interior</a:t>
            </a:r>
            <a:endParaRPr lang="en-US" sz="1200" dirty="0"/>
          </a:p>
        </p:txBody>
      </p:sp>
      <p:sp>
        <p:nvSpPr>
          <p:cNvPr id="19" name="Shape 17"/>
          <p:cNvSpPr/>
          <p:nvPr/>
        </p:nvSpPr>
        <p:spPr>
          <a:xfrm>
            <a:off x="647700" y="4864100"/>
            <a:ext cx="2527300" cy="736600"/>
          </a:xfrm>
          <a:prstGeom prst="rect">
            <a:avLst/>
          </a:prstGeom>
          <a:solidFill>
            <a:srgbClr val="F4F0E7"/>
          </a:solidFill>
          <a:ln w="7620">
            <a:solidFill>
              <a:srgbClr val="252525"/>
            </a:solidFill>
            <a:prstDash val="solid"/>
          </a:ln>
        </p:spPr>
      </p:sp>
      <p:sp>
        <p:nvSpPr>
          <p:cNvPr id="20" name="Text 18"/>
          <p:cNvSpPr/>
          <p:nvPr/>
        </p:nvSpPr>
        <p:spPr>
          <a:xfrm>
            <a:off x="800100" y="5016500"/>
            <a:ext cx="2222500" cy="5334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Cocoa producers</a:t>
            </a:r>
            <a:endParaRPr lang="en-US" sz="1200" dirty="0"/>
          </a:p>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and urban markets</a:t>
            </a:r>
            <a:endParaRPr lang="en-US" sz="1200" dirty="0"/>
          </a:p>
        </p:txBody>
      </p:sp>
      <p:sp>
        <p:nvSpPr>
          <p:cNvPr id="21" name="Shape 19"/>
          <p:cNvSpPr/>
          <p:nvPr/>
        </p:nvSpPr>
        <p:spPr>
          <a:xfrm>
            <a:off x="3175000" y="3962400"/>
            <a:ext cx="1066800" cy="0"/>
          </a:xfrm>
          <a:prstGeom prst="line">
            <a:avLst/>
          </a:prstGeom>
          <a:noFill/>
          <a:ln w="19050">
            <a:solidFill>
              <a:srgbClr val="252525"/>
            </a:solidFill>
            <a:prstDash val="solid"/>
          </a:ln>
        </p:spPr>
      </p:sp>
      <p:sp>
        <p:nvSpPr>
          <p:cNvPr id="22" name="Shape 20"/>
          <p:cNvSpPr/>
          <p:nvPr/>
        </p:nvSpPr>
        <p:spPr>
          <a:xfrm>
            <a:off x="5499100" y="4330700"/>
            <a:ext cx="0" cy="533400"/>
          </a:xfrm>
          <a:prstGeom prst="line">
            <a:avLst/>
          </a:prstGeom>
          <a:noFill/>
          <a:ln w="19050">
            <a:solidFill>
              <a:srgbClr val="252525"/>
            </a:solidFill>
            <a:prstDash val="solid"/>
          </a:ln>
        </p:spPr>
      </p:sp>
      <p:sp>
        <p:nvSpPr>
          <p:cNvPr id="23" name="Shape 21"/>
          <p:cNvSpPr/>
          <p:nvPr/>
        </p:nvSpPr>
        <p:spPr>
          <a:xfrm>
            <a:off x="3175000" y="5232400"/>
            <a:ext cx="1066800" cy="0"/>
          </a:xfrm>
          <a:prstGeom prst="line">
            <a:avLst/>
          </a:prstGeom>
          <a:noFill/>
          <a:ln w="19050">
            <a:solidFill>
              <a:srgbClr val="252525"/>
            </a:solidFill>
            <a:prstDash val="dash"/>
          </a:ln>
        </p:spPr>
      </p:sp>
      <p:sp>
        <p:nvSpPr>
          <p:cNvPr id="24" name="Shape 22"/>
          <p:cNvSpPr/>
          <p:nvPr/>
        </p:nvSpPr>
        <p:spPr>
          <a:xfrm flipV="1">
            <a:off x="1917700" y="4330700"/>
            <a:ext cx="0" cy="533400"/>
          </a:xfrm>
          <a:prstGeom prst="line">
            <a:avLst/>
          </a:prstGeom>
          <a:noFill/>
          <a:ln w="19050">
            <a:solidFill>
              <a:srgbClr val="252525"/>
            </a:solidFill>
            <a:prstDash val="dash"/>
          </a:ln>
        </p:spPr>
      </p:sp>
      <p:sp>
        <p:nvSpPr>
          <p:cNvPr id="25" name="Text 23"/>
          <p:cNvSpPr/>
          <p:nvPr/>
        </p:nvSpPr>
        <p:spPr>
          <a:xfrm>
            <a:off x="457200" y="5905500"/>
            <a:ext cx="6642100" cy="520700"/>
          </a:xfrm>
          <a:prstGeom prst="rect">
            <a:avLst/>
          </a:prstGeom>
          <a:noFill/>
          <a:ln/>
        </p:spPr>
        <p:txBody>
          <a:bodyPr wrap="square" lIns="0" tIns="0" rIns="0" bIns="0" rtlCol="0" anchor="t"/>
          <a:lstStyle/>
          <a:p>
            <a:pPr indent="0" marL="0">
              <a:lnSpc>
                <a:spcPct val="112000"/>
              </a:lnSpc>
              <a:buNone/>
            </a:pPr>
            <a:r>
              <a:rPr lang="en-US" sz="850" b="1" dirty="0">
                <a:solidFill>
                  <a:srgbClr val="514E48"/>
                </a:solidFill>
                <a:latin typeface="Montserrat" pitchFamily="34" charset="0"/>
                <a:ea typeface="Montserrat" pitchFamily="34" charset="-122"/>
                <a:cs typeface="Montserrat" pitchFamily="34" charset="-120"/>
              </a:rPr>
              <a:t>SCHEMATIC, NOT SURVEY GEOMETRY</a:t>
            </a:r>
            <a:endParaRPr lang="en-US" sz="850" dirty="0"/>
          </a:p>
          <a:p>
            <a:pPr indent="0" marL="0">
              <a:lnSpc>
                <a:spcPct val="112000"/>
              </a:lnSpc>
              <a:buNone/>
            </a:pPr>
            <a:r>
              <a:rPr lang="en-US" sz="850" b="1" dirty="0">
                <a:solidFill>
                  <a:srgbClr val="514E48"/>
                </a:solidFill>
                <a:latin typeface="Montserrat" pitchFamily="34" charset="0"/>
                <a:ea typeface="Montserrat" pitchFamily="34" charset="-122"/>
                <a:cs typeface="Montserrat" pitchFamily="34" charset="-120"/>
              </a:rPr>
              <a:t>Solid: stated connection purpose. Dashed: later economic linkages, not a mapped railway route.</a:t>
            </a:r>
            <a:endParaRPr lang="en-US" sz="850" dirty="0"/>
          </a:p>
        </p:txBody>
      </p:sp>
      <p:sp>
        <p:nvSpPr>
          <p:cNvPr id="26" name="Text 24"/>
          <p:cNvSpPr/>
          <p:nvPr/>
        </p:nvSpPr>
        <p:spPr>
          <a:xfrm>
            <a:off x="457200" y="6692900"/>
            <a:ext cx="31115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Original purpose</a:t>
            </a:r>
            <a:endParaRPr lang="en-US" sz="1400" dirty="0"/>
          </a:p>
        </p:txBody>
      </p:sp>
      <p:sp>
        <p:nvSpPr>
          <p:cNvPr id="27" name="Text 25"/>
          <p:cNvSpPr/>
          <p:nvPr/>
        </p:nvSpPr>
        <p:spPr>
          <a:xfrm>
            <a:off x="457200" y="7137400"/>
            <a:ext cx="3111500" cy="12319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Connect the coast with mining areas and Kumasi; transport priorities were not designed as a universal social network.</a:t>
            </a:r>
            <a:endParaRPr lang="en-US" sz="1050" dirty="0"/>
          </a:p>
        </p:txBody>
      </p:sp>
      <p:sp>
        <p:nvSpPr>
          <p:cNvPr id="28" name="Text 26"/>
          <p:cNvSpPr/>
          <p:nvPr/>
        </p:nvSpPr>
        <p:spPr>
          <a:xfrm>
            <a:off x="3937000" y="6692900"/>
            <a:ext cx="31623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Later uses and effects</a:t>
            </a:r>
            <a:endParaRPr lang="en-US" sz="1400" dirty="0"/>
          </a:p>
        </p:txBody>
      </p:sp>
      <p:sp>
        <p:nvSpPr>
          <p:cNvPr id="29" name="Text 27"/>
          <p:cNvSpPr/>
          <p:nvPr/>
        </p:nvSpPr>
        <p:spPr>
          <a:xfrm>
            <a:off x="3937000" y="7137400"/>
            <a:ext cx="3162300" cy="12319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Lower transport costs supported cocoa production and urbanisation. The later users and effects were not identical to the original purpose.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02 / INHERITANCE</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Six starting points. Six country settings.</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The photographs add place and human scale. The captions connect each setting to the historical evidence.</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(1985, p. 18); Maipose (2008, pp. 3–5); Xenos (1970, p. 1); National Archives Department (n.d.); Svirydzenka and Petri (2014, pp. 5–8); Kohli (1994); Haggard et al. (1997); Asadullah et al. (2024, pp. 13–15); Dolan (1993), archival recheck pending.</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08</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These are contemporary photographs, not images from independence. They cannot show living conditions at independence or prove an economic cause. See creator, date, licence and source on p. 30.</a:t>
            </a:r>
            <a:endParaRPr lang="en-US" sz="900" dirty="0"/>
          </a:p>
        </p:txBody>
      </p:sp>
      <p:pic>
        <p:nvPicPr>
          <p:cNvPr id="12" name="Image 0" descr="/Users/marcusgrude-grodem/Documents/GitHub/USIL/africa-asia-development-magazine/design/canva_editorial_draft/assets/print/ghana_tema.jpg">    </p:cNvPr>
          <p:cNvPicPr>
            <a:picLocks noChangeAspect="1"/>
          </p:cNvPicPr>
          <p:nvPr/>
        </p:nvPicPr>
        <p:blipFill>
          <a:blip r:embed="rId1"/>
          <a:stretch>
            <a:fillRect/>
          </a:stretch>
        </p:blipFill>
        <p:spPr>
          <a:xfrm>
            <a:off x="537620" y="2921000"/>
            <a:ext cx="1109160" cy="736600"/>
          </a:xfrm>
          <a:prstGeom prst="rect">
            <a:avLst/>
          </a:prstGeom>
        </p:spPr>
      </p:pic>
      <p:sp>
        <p:nvSpPr>
          <p:cNvPr id="13" name="Shape 10"/>
          <p:cNvSpPr/>
          <p:nvPr/>
        </p:nvSpPr>
        <p:spPr>
          <a:xfrm>
            <a:off x="1943100" y="2997200"/>
            <a:ext cx="127000" cy="127000"/>
          </a:xfrm>
          <a:prstGeom prst="ellipse">
            <a:avLst/>
          </a:prstGeom>
          <a:solidFill>
            <a:srgbClr val="B95332"/>
          </a:solidFill>
          <a:ln w="7620">
            <a:solidFill>
              <a:srgbClr val="252525"/>
            </a:solidFill>
            <a:prstDash val="solid"/>
          </a:ln>
        </p:spPr>
      </p:sp>
      <p:sp>
        <p:nvSpPr>
          <p:cNvPr id="14" name="Text 11"/>
          <p:cNvSpPr/>
          <p:nvPr/>
        </p:nvSpPr>
        <p:spPr>
          <a:xfrm>
            <a:off x="2197100" y="2946400"/>
            <a:ext cx="47498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15" name="Text 12"/>
          <p:cNvSpPr/>
          <p:nvPr/>
        </p:nvSpPr>
        <p:spPr>
          <a:xfrm>
            <a:off x="1943100" y="3289300"/>
            <a:ext cx="5003800" cy="4953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Ghana · cocoa dependence; public assets included roads, rail and Tema harbour (1957).</a:t>
            </a:r>
            <a:endParaRPr lang="en-US" sz="950" dirty="0"/>
          </a:p>
        </p:txBody>
      </p:sp>
      <p:sp>
        <p:nvSpPr>
          <p:cNvPr id="16" name="Shape 13"/>
          <p:cNvSpPr/>
          <p:nvPr/>
        </p:nvSpPr>
        <p:spPr>
          <a:xfrm>
            <a:off x="457200" y="3759200"/>
            <a:ext cx="6642100" cy="0"/>
          </a:xfrm>
          <a:prstGeom prst="line">
            <a:avLst/>
          </a:prstGeom>
          <a:noFill/>
          <a:ln w="5715">
            <a:solidFill>
              <a:srgbClr val="B7B0A4"/>
            </a:solidFill>
            <a:prstDash val="solid"/>
          </a:ln>
        </p:spPr>
      </p:sp>
      <p:pic>
        <p:nvPicPr>
          <p:cNvPr id="17" name="Image 1" descr="/Users/marcusgrude-grodem/Documents/GitHub/USIL/africa-asia-development-magazine/design/canva_editorial_draft/assets/print/korea_busan.jpg">    </p:cNvPr>
          <p:cNvPicPr>
            <a:picLocks noChangeAspect="1"/>
          </p:cNvPicPr>
          <p:nvPr/>
        </p:nvPicPr>
        <p:blipFill>
          <a:blip r:embed="rId2"/>
          <a:stretch>
            <a:fillRect/>
          </a:stretch>
        </p:blipFill>
        <p:spPr>
          <a:xfrm>
            <a:off x="601133" y="3835400"/>
            <a:ext cx="982133" cy="736600"/>
          </a:xfrm>
          <a:prstGeom prst="rect">
            <a:avLst/>
          </a:prstGeom>
        </p:spPr>
      </p:pic>
      <p:sp>
        <p:nvSpPr>
          <p:cNvPr id="18" name="Shape 14"/>
          <p:cNvSpPr/>
          <p:nvPr/>
        </p:nvSpPr>
        <p:spPr>
          <a:xfrm>
            <a:off x="1943100" y="3911600"/>
            <a:ext cx="127000" cy="127000"/>
          </a:xfrm>
          <a:prstGeom prst="rect">
            <a:avLst/>
          </a:prstGeom>
          <a:solidFill>
            <a:srgbClr val="3F684E"/>
          </a:solidFill>
          <a:ln w="7620">
            <a:solidFill>
              <a:srgbClr val="252525"/>
            </a:solidFill>
            <a:prstDash val="solid"/>
          </a:ln>
        </p:spPr>
      </p:sp>
      <p:sp>
        <p:nvSpPr>
          <p:cNvPr id="19" name="Text 15"/>
          <p:cNvSpPr/>
          <p:nvPr/>
        </p:nvSpPr>
        <p:spPr>
          <a:xfrm>
            <a:off x="2197100" y="3860800"/>
            <a:ext cx="47498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20" name="Text 16"/>
          <p:cNvSpPr/>
          <p:nvPr/>
        </p:nvSpPr>
        <p:spPr>
          <a:xfrm>
            <a:off x="1943100" y="4203700"/>
            <a:ext cx="5003800" cy="4953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Botswana · very limited inherited infrastructure and skills; later mineral income changed the base (1966).</a:t>
            </a:r>
            <a:endParaRPr lang="en-US" sz="950" dirty="0"/>
          </a:p>
        </p:txBody>
      </p:sp>
      <p:sp>
        <p:nvSpPr>
          <p:cNvPr id="21" name="Shape 17"/>
          <p:cNvSpPr/>
          <p:nvPr/>
        </p:nvSpPr>
        <p:spPr>
          <a:xfrm>
            <a:off x="457200" y="4673600"/>
            <a:ext cx="6642100" cy="0"/>
          </a:xfrm>
          <a:prstGeom prst="line">
            <a:avLst/>
          </a:prstGeom>
          <a:noFill/>
          <a:ln w="5715">
            <a:solidFill>
              <a:srgbClr val="B7B0A4"/>
            </a:solidFill>
            <a:prstDash val="solid"/>
          </a:ln>
        </p:spPr>
      </p:sp>
      <p:pic>
        <p:nvPicPr>
          <p:cNvPr id="22" name="Image 2" descr="/Users/marcusgrude-grodem/Documents/GitHub/USIL/africa-asia-development-magazine/design/canva_editorial_draft/assets/print/botswana_gaborone.jpg">    </p:cNvPr>
          <p:cNvPicPr>
            <a:picLocks noChangeAspect="1"/>
          </p:cNvPicPr>
          <p:nvPr/>
        </p:nvPicPr>
        <p:blipFill>
          <a:blip r:embed="rId3"/>
          <a:stretch>
            <a:fillRect/>
          </a:stretch>
        </p:blipFill>
        <p:spPr>
          <a:xfrm>
            <a:off x="601133" y="4749800"/>
            <a:ext cx="982133" cy="736600"/>
          </a:xfrm>
          <a:prstGeom prst="rect">
            <a:avLst/>
          </a:prstGeom>
        </p:spPr>
      </p:pic>
      <p:sp>
        <p:nvSpPr>
          <p:cNvPr id="23" name="Shape 18"/>
          <p:cNvSpPr/>
          <p:nvPr/>
        </p:nvSpPr>
        <p:spPr>
          <a:xfrm>
            <a:off x="1943100" y="4826000"/>
            <a:ext cx="127000" cy="127000"/>
          </a:xfrm>
          <a:prstGeom prst="triangle">
            <a:avLst/>
          </a:prstGeom>
          <a:solidFill>
            <a:srgbClr val="D6A23A"/>
          </a:solidFill>
          <a:ln w="7620">
            <a:solidFill>
              <a:srgbClr val="252525"/>
            </a:solidFill>
            <a:prstDash val="solid"/>
          </a:ln>
        </p:spPr>
      </p:sp>
      <p:sp>
        <p:nvSpPr>
          <p:cNvPr id="24" name="Text 19"/>
          <p:cNvSpPr/>
          <p:nvPr/>
        </p:nvSpPr>
        <p:spPr>
          <a:xfrm>
            <a:off x="2197100" y="4775200"/>
            <a:ext cx="47498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25" name="Text 20"/>
          <p:cNvSpPr/>
          <p:nvPr/>
        </p:nvSpPr>
        <p:spPr>
          <a:xfrm>
            <a:off x="1943100" y="5118100"/>
            <a:ext cx="5003800" cy="4953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Mauritius · sugar dominated export earnings near independence; diversification came later (1968).</a:t>
            </a:r>
            <a:endParaRPr lang="en-US" sz="950" dirty="0"/>
          </a:p>
        </p:txBody>
      </p:sp>
      <p:sp>
        <p:nvSpPr>
          <p:cNvPr id="26" name="Shape 21"/>
          <p:cNvSpPr/>
          <p:nvPr/>
        </p:nvSpPr>
        <p:spPr>
          <a:xfrm>
            <a:off x="457200" y="5588000"/>
            <a:ext cx="6642100" cy="0"/>
          </a:xfrm>
          <a:prstGeom prst="line">
            <a:avLst/>
          </a:prstGeom>
          <a:noFill/>
          <a:ln w="5715">
            <a:solidFill>
              <a:srgbClr val="B7B0A4"/>
            </a:solidFill>
            <a:prstDash val="solid"/>
          </a:ln>
        </p:spPr>
      </p:sp>
      <p:pic>
        <p:nvPicPr>
          <p:cNvPr id="27" name="Image 3" descr="/Users/marcusgrude-grodem/Documents/GitHub/USIL/africa-asia-development-magazine/design/canva_editorial_draft/assets/print/mauritius_market.jpg">    </p:cNvPr>
          <p:cNvPicPr>
            <a:picLocks noChangeAspect="1"/>
          </p:cNvPicPr>
          <p:nvPr/>
        </p:nvPicPr>
        <p:blipFill>
          <a:blip r:embed="rId4"/>
          <a:stretch>
            <a:fillRect/>
          </a:stretch>
        </p:blipFill>
        <p:spPr>
          <a:xfrm>
            <a:off x="846340" y="5664200"/>
            <a:ext cx="491720" cy="736600"/>
          </a:xfrm>
          <a:prstGeom prst="rect">
            <a:avLst/>
          </a:prstGeom>
        </p:spPr>
      </p:pic>
      <p:sp>
        <p:nvSpPr>
          <p:cNvPr id="28" name="Shape 22"/>
          <p:cNvSpPr/>
          <p:nvPr/>
        </p:nvSpPr>
        <p:spPr>
          <a:xfrm>
            <a:off x="1943100" y="5740400"/>
            <a:ext cx="127000" cy="127000"/>
          </a:xfrm>
          <a:prstGeom prst="diamond">
            <a:avLst/>
          </a:prstGeom>
          <a:solidFill>
            <a:srgbClr val="315A78"/>
          </a:solidFill>
          <a:ln w="7620">
            <a:solidFill>
              <a:srgbClr val="252525"/>
            </a:solidFill>
            <a:prstDash val="solid"/>
          </a:ln>
        </p:spPr>
      </p:sp>
      <p:sp>
        <p:nvSpPr>
          <p:cNvPr id="29" name="Text 23"/>
          <p:cNvSpPr/>
          <p:nvPr/>
        </p:nvSpPr>
        <p:spPr>
          <a:xfrm>
            <a:off x="2197100" y="5689600"/>
            <a:ext cx="47498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30" name="Text 24"/>
          <p:cNvSpPr/>
          <p:nvPr/>
        </p:nvSpPr>
        <p:spPr>
          <a:xfrm>
            <a:off x="1943100" y="6032500"/>
            <a:ext cx="5003800" cy="4953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South Korea · colonial inheritance was disrupted by division and war; postwar development followed a distinct sequence.</a:t>
            </a:r>
            <a:endParaRPr lang="en-US" sz="950" dirty="0"/>
          </a:p>
        </p:txBody>
      </p:sp>
      <p:sp>
        <p:nvSpPr>
          <p:cNvPr id="31" name="Shape 25"/>
          <p:cNvSpPr/>
          <p:nvPr/>
        </p:nvSpPr>
        <p:spPr>
          <a:xfrm>
            <a:off x="457200" y="6502400"/>
            <a:ext cx="6642100" cy="0"/>
          </a:xfrm>
          <a:prstGeom prst="line">
            <a:avLst/>
          </a:prstGeom>
          <a:noFill/>
          <a:ln w="5715">
            <a:solidFill>
              <a:srgbClr val="B7B0A4"/>
            </a:solidFill>
            <a:prstDash val="solid"/>
          </a:ln>
        </p:spPr>
      </p:sp>
      <p:pic>
        <p:nvPicPr>
          <p:cNvPr id="32" name="Image 4" descr="/Users/marcusgrude-grodem/Documents/GitHub/USIL/africa-asia-development-magazine/design/canva_editorial_draft/assets/print/malaysia_perai.jpg">    </p:cNvPr>
          <p:cNvPicPr>
            <a:picLocks noChangeAspect="1"/>
          </p:cNvPicPr>
          <p:nvPr/>
        </p:nvPicPr>
        <p:blipFill>
          <a:blip r:embed="rId5"/>
          <a:stretch>
            <a:fillRect/>
          </a:stretch>
        </p:blipFill>
        <p:spPr>
          <a:xfrm>
            <a:off x="601133" y="6578600"/>
            <a:ext cx="982133" cy="736600"/>
          </a:xfrm>
          <a:prstGeom prst="rect">
            <a:avLst/>
          </a:prstGeom>
        </p:spPr>
      </p:pic>
      <p:sp>
        <p:nvSpPr>
          <p:cNvPr id="33" name="Shape 26"/>
          <p:cNvSpPr/>
          <p:nvPr/>
        </p:nvSpPr>
        <p:spPr>
          <a:xfrm>
            <a:off x="1943100" y="6654800"/>
            <a:ext cx="127000" cy="127000"/>
          </a:xfrm>
          <a:prstGeom prst="hexagon">
            <a:avLst/>
          </a:prstGeom>
          <a:solidFill>
            <a:srgbClr val="3E7568"/>
          </a:solidFill>
          <a:ln w="7620">
            <a:solidFill>
              <a:srgbClr val="252525"/>
            </a:solidFill>
            <a:prstDash val="solid"/>
          </a:ln>
        </p:spPr>
      </p:sp>
      <p:sp>
        <p:nvSpPr>
          <p:cNvPr id="34" name="Text 27"/>
          <p:cNvSpPr/>
          <p:nvPr/>
        </p:nvSpPr>
        <p:spPr>
          <a:xfrm>
            <a:off x="2197100" y="6604000"/>
            <a:ext cx="47498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35" name="Text 28"/>
          <p:cNvSpPr/>
          <p:nvPr/>
        </p:nvSpPr>
        <p:spPr>
          <a:xfrm>
            <a:off x="1943100" y="6946900"/>
            <a:ext cx="5003800" cy="4953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Malaysia · commodity inheritance preceded export manufacturing; the federation formed in 1963.</a:t>
            </a:r>
            <a:endParaRPr lang="en-US" sz="950" dirty="0"/>
          </a:p>
        </p:txBody>
      </p:sp>
      <p:sp>
        <p:nvSpPr>
          <p:cNvPr id="36" name="Shape 29"/>
          <p:cNvSpPr/>
          <p:nvPr/>
        </p:nvSpPr>
        <p:spPr>
          <a:xfrm>
            <a:off x="457200" y="7416800"/>
            <a:ext cx="6642100" cy="0"/>
          </a:xfrm>
          <a:prstGeom prst="line">
            <a:avLst/>
          </a:prstGeom>
          <a:noFill/>
          <a:ln w="5715">
            <a:solidFill>
              <a:srgbClr val="B7B0A4"/>
            </a:solidFill>
            <a:prstDash val="solid"/>
          </a:ln>
        </p:spPr>
      </p:sp>
      <p:pic>
        <p:nvPicPr>
          <p:cNvPr id="37" name="Image 5" descr="/Users/marcusgrude-grodem/Documents/GitHub/USIL/africa-asia-development-magazine/design/canva_editorial_draft/assets/print/philippines_manila.jpg">    </p:cNvPr>
          <p:cNvPicPr>
            <a:picLocks noChangeAspect="1"/>
          </p:cNvPicPr>
          <p:nvPr/>
        </p:nvPicPr>
        <p:blipFill>
          <a:blip r:embed="rId6"/>
          <a:stretch>
            <a:fillRect/>
          </a:stretch>
        </p:blipFill>
        <p:spPr>
          <a:xfrm>
            <a:off x="537770" y="7493000"/>
            <a:ext cx="1108860" cy="736600"/>
          </a:xfrm>
          <a:prstGeom prst="rect">
            <a:avLst/>
          </a:prstGeom>
        </p:spPr>
      </p:pic>
      <p:sp>
        <p:nvSpPr>
          <p:cNvPr id="38" name="Shape 30"/>
          <p:cNvSpPr/>
          <p:nvPr/>
        </p:nvSpPr>
        <p:spPr>
          <a:xfrm>
            <a:off x="1943100" y="7632700"/>
            <a:ext cx="127000" cy="0"/>
          </a:xfrm>
          <a:prstGeom prst="line">
            <a:avLst/>
          </a:prstGeom>
          <a:noFill/>
          <a:ln w="40640">
            <a:solidFill>
              <a:srgbClr val="252525"/>
            </a:solidFill>
            <a:prstDash val="solid"/>
          </a:ln>
        </p:spPr>
      </p:sp>
      <p:sp>
        <p:nvSpPr>
          <p:cNvPr id="39" name="Shape 31"/>
          <p:cNvSpPr/>
          <p:nvPr/>
        </p:nvSpPr>
        <p:spPr>
          <a:xfrm>
            <a:off x="2006600" y="7569200"/>
            <a:ext cx="0" cy="127000"/>
          </a:xfrm>
          <a:prstGeom prst="line">
            <a:avLst/>
          </a:prstGeom>
          <a:noFill/>
          <a:ln w="40640">
            <a:solidFill>
              <a:srgbClr val="252525"/>
            </a:solidFill>
            <a:prstDash val="solid"/>
          </a:ln>
        </p:spPr>
      </p:sp>
      <p:sp>
        <p:nvSpPr>
          <p:cNvPr id="40" name="Shape 32"/>
          <p:cNvSpPr/>
          <p:nvPr/>
        </p:nvSpPr>
        <p:spPr>
          <a:xfrm>
            <a:off x="1943100" y="7632700"/>
            <a:ext cx="127000" cy="0"/>
          </a:xfrm>
          <a:prstGeom prst="line">
            <a:avLst/>
          </a:prstGeom>
          <a:noFill/>
          <a:ln w="22860">
            <a:solidFill>
              <a:srgbClr val="A63A3A"/>
            </a:solidFill>
            <a:prstDash val="solid"/>
          </a:ln>
        </p:spPr>
      </p:sp>
      <p:sp>
        <p:nvSpPr>
          <p:cNvPr id="41" name="Shape 33"/>
          <p:cNvSpPr/>
          <p:nvPr/>
        </p:nvSpPr>
        <p:spPr>
          <a:xfrm>
            <a:off x="2006600" y="7569200"/>
            <a:ext cx="0" cy="127000"/>
          </a:xfrm>
          <a:prstGeom prst="line">
            <a:avLst/>
          </a:prstGeom>
          <a:noFill/>
          <a:ln w="22860">
            <a:solidFill>
              <a:srgbClr val="A63A3A"/>
            </a:solidFill>
            <a:prstDash val="solid"/>
          </a:ln>
        </p:spPr>
      </p:sp>
      <p:sp>
        <p:nvSpPr>
          <p:cNvPr id="42" name="Text 34"/>
          <p:cNvSpPr/>
          <p:nvPr/>
        </p:nvSpPr>
        <p:spPr>
          <a:xfrm>
            <a:off x="2197100" y="7518400"/>
            <a:ext cx="47498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43" name="Text 35"/>
          <p:cNvSpPr/>
          <p:nvPr/>
        </p:nvSpPr>
        <p:spPr>
          <a:xfrm>
            <a:off x="1943100" y="7861300"/>
            <a:ext cx="5003800" cy="4953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Philippines · independence in 1946; formal institutions and education coexisted with concentrated power.</a:t>
            </a:r>
            <a:endParaRPr lang="en-US" sz="950" dirty="0"/>
          </a:p>
        </p:txBody>
      </p:sp>
      <p:sp>
        <p:nvSpPr>
          <p:cNvPr id="44" name="Shape 36"/>
          <p:cNvSpPr/>
          <p:nvPr/>
        </p:nvSpPr>
        <p:spPr>
          <a:xfrm>
            <a:off x="457200" y="8331200"/>
            <a:ext cx="6642100" cy="0"/>
          </a:xfrm>
          <a:prstGeom prst="line">
            <a:avLst/>
          </a:prstGeom>
          <a:noFill/>
          <a:ln w="5715">
            <a:solidFill>
              <a:srgbClr val="B7B0A4"/>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02 / TRADE-OFFS</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Where would you invest 100 points?</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Schools and skills · factories and firms · roads · health · security · state capacity. Every choice has an opportunity cost.</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Compare priorities with the six distinct starting conditions on p. 8. Around 1960, the six cases were at different political stages; their timelines are not a common sovereignty date. World Bank (1993, pp. 4–7, 159–161).</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09</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There is no single correct allocation. A budget thought experiment exposes trade-offs; it cannot predict growth, recreate actual budgets or isolate a cause.</a:t>
            </a:r>
            <a:endParaRPr lang="en-US" sz="900" dirty="0"/>
          </a:p>
        </p:txBody>
      </p:sp>
      <p:sp>
        <p:nvSpPr>
          <p:cNvPr id="12" name="Text 10"/>
          <p:cNvSpPr/>
          <p:nvPr/>
        </p:nvSpPr>
        <p:spPr>
          <a:xfrm>
            <a:off x="457200" y="3009900"/>
            <a:ext cx="3302000" cy="3556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Schools &amp; skills</a:t>
            </a:r>
            <a:endParaRPr lang="en-US" sz="1600" dirty="0"/>
          </a:p>
        </p:txBody>
      </p:sp>
      <p:sp>
        <p:nvSpPr>
          <p:cNvPr id="13" name="Shape 11"/>
          <p:cNvSpPr/>
          <p:nvPr/>
        </p:nvSpPr>
        <p:spPr>
          <a:xfrm>
            <a:off x="4648200" y="3365500"/>
            <a:ext cx="1155700" cy="0"/>
          </a:xfrm>
          <a:prstGeom prst="line">
            <a:avLst/>
          </a:prstGeom>
          <a:noFill/>
          <a:ln w="12700">
            <a:solidFill>
              <a:srgbClr val="252525"/>
            </a:solidFill>
            <a:prstDash val="solid"/>
          </a:ln>
        </p:spPr>
      </p:sp>
      <p:sp>
        <p:nvSpPr>
          <p:cNvPr id="14" name="Text 12"/>
          <p:cNvSpPr/>
          <p:nvPr/>
        </p:nvSpPr>
        <p:spPr>
          <a:xfrm>
            <a:off x="5943600" y="3098800"/>
            <a:ext cx="1155700" cy="2667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____ / 100</a:t>
            </a:r>
            <a:endParaRPr lang="en-US" sz="1000" dirty="0"/>
          </a:p>
        </p:txBody>
      </p:sp>
      <p:sp>
        <p:nvSpPr>
          <p:cNvPr id="15" name="Text 13"/>
          <p:cNvSpPr/>
          <p:nvPr/>
        </p:nvSpPr>
        <p:spPr>
          <a:xfrm>
            <a:off x="457200" y="3606800"/>
            <a:ext cx="3302000" cy="3556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Factories &amp; firms</a:t>
            </a:r>
            <a:endParaRPr lang="en-US" sz="1600" dirty="0"/>
          </a:p>
        </p:txBody>
      </p:sp>
      <p:sp>
        <p:nvSpPr>
          <p:cNvPr id="16" name="Shape 14"/>
          <p:cNvSpPr/>
          <p:nvPr/>
        </p:nvSpPr>
        <p:spPr>
          <a:xfrm>
            <a:off x="4648200" y="3962400"/>
            <a:ext cx="1155700" cy="0"/>
          </a:xfrm>
          <a:prstGeom prst="line">
            <a:avLst/>
          </a:prstGeom>
          <a:noFill/>
          <a:ln w="12700">
            <a:solidFill>
              <a:srgbClr val="252525"/>
            </a:solidFill>
            <a:prstDash val="solid"/>
          </a:ln>
        </p:spPr>
      </p:sp>
      <p:sp>
        <p:nvSpPr>
          <p:cNvPr id="17" name="Text 15"/>
          <p:cNvSpPr/>
          <p:nvPr/>
        </p:nvSpPr>
        <p:spPr>
          <a:xfrm>
            <a:off x="5943600" y="3695700"/>
            <a:ext cx="1155700" cy="2667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____ / 100</a:t>
            </a:r>
            <a:endParaRPr lang="en-US" sz="1000" dirty="0"/>
          </a:p>
        </p:txBody>
      </p:sp>
      <p:sp>
        <p:nvSpPr>
          <p:cNvPr id="18" name="Text 16"/>
          <p:cNvSpPr/>
          <p:nvPr/>
        </p:nvSpPr>
        <p:spPr>
          <a:xfrm>
            <a:off x="457200" y="4203700"/>
            <a:ext cx="3302000" cy="3556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Roads</a:t>
            </a:r>
            <a:endParaRPr lang="en-US" sz="1600" dirty="0"/>
          </a:p>
        </p:txBody>
      </p:sp>
      <p:sp>
        <p:nvSpPr>
          <p:cNvPr id="19" name="Shape 17"/>
          <p:cNvSpPr/>
          <p:nvPr/>
        </p:nvSpPr>
        <p:spPr>
          <a:xfrm>
            <a:off x="4648200" y="4559300"/>
            <a:ext cx="1155700" cy="0"/>
          </a:xfrm>
          <a:prstGeom prst="line">
            <a:avLst/>
          </a:prstGeom>
          <a:noFill/>
          <a:ln w="12700">
            <a:solidFill>
              <a:srgbClr val="252525"/>
            </a:solidFill>
            <a:prstDash val="solid"/>
          </a:ln>
        </p:spPr>
      </p:sp>
      <p:sp>
        <p:nvSpPr>
          <p:cNvPr id="20" name="Text 18"/>
          <p:cNvSpPr/>
          <p:nvPr/>
        </p:nvSpPr>
        <p:spPr>
          <a:xfrm>
            <a:off x="5943600" y="4292600"/>
            <a:ext cx="1155700" cy="2667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____ / 100</a:t>
            </a:r>
            <a:endParaRPr lang="en-US" sz="1000" dirty="0"/>
          </a:p>
        </p:txBody>
      </p:sp>
      <p:sp>
        <p:nvSpPr>
          <p:cNvPr id="21" name="Text 19"/>
          <p:cNvSpPr/>
          <p:nvPr/>
        </p:nvSpPr>
        <p:spPr>
          <a:xfrm>
            <a:off x="457200" y="4800600"/>
            <a:ext cx="3302000" cy="3556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Health</a:t>
            </a:r>
            <a:endParaRPr lang="en-US" sz="1600" dirty="0"/>
          </a:p>
        </p:txBody>
      </p:sp>
      <p:sp>
        <p:nvSpPr>
          <p:cNvPr id="22" name="Shape 20"/>
          <p:cNvSpPr/>
          <p:nvPr/>
        </p:nvSpPr>
        <p:spPr>
          <a:xfrm>
            <a:off x="4648200" y="5156200"/>
            <a:ext cx="1155700" cy="0"/>
          </a:xfrm>
          <a:prstGeom prst="line">
            <a:avLst/>
          </a:prstGeom>
          <a:noFill/>
          <a:ln w="12700">
            <a:solidFill>
              <a:srgbClr val="252525"/>
            </a:solidFill>
            <a:prstDash val="solid"/>
          </a:ln>
        </p:spPr>
      </p:sp>
      <p:sp>
        <p:nvSpPr>
          <p:cNvPr id="23" name="Text 21"/>
          <p:cNvSpPr/>
          <p:nvPr/>
        </p:nvSpPr>
        <p:spPr>
          <a:xfrm>
            <a:off x="5943600" y="4889500"/>
            <a:ext cx="1155700" cy="2667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____ / 100</a:t>
            </a:r>
            <a:endParaRPr lang="en-US" sz="1000" dirty="0"/>
          </a:p>
        </p:txBody>
      </p:sp>
      <p:sp>
        <p:nvSpPr>
          <p:cNvPr id="24" name="Text 22"/>
          <p:cNvSpPr/>
          <p:nvPr/>
        </p:nvSpPr>
        <p:spPr>
          <a:xfrm>
            <a:off x="457200" y="5397500"/>
            <a:ext cx="3302000" cy="3556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Security</a:t>
            </a:r>
            <a:endParaRPr lang="en-US" sz="1600" dirty="0"/>
          </a:p>
        </p:txBody>
      </p:sp>
      <p:sp>
        <p:nvSpPr>
          <p:cNvPr id="25" name="Shape 23"/>
          <p:cNvSpPr/>
          <p:nvPr/>
        </p:nvSpPr>
        <p:spPr>
          <a:xfrm>
            <a:off x="4648200" y="5753100"/>
            <a:ext cx="1155700" cy="0"/>
          </a:xfrm>
          <a:prstGeom prst="line">
            <a:avLst/>
          </a:prstGeom>
          <a:noFill/>
          <a:ln w="12700">
            <a:solidFill>
              <a:srgbClr val="252525"/>
            </a:solidFill>
            <a:prstDash val="solid"/>
          </a:ln>
        </p:spPr>
      </p:sp>
      <p:sp>
        <p:nvSpPr>
          <p:cNvPr id="26" name="Text 24"/>
          <p:cNvSpPr/>
          <p:nvPr/>
        </p:nvSpPr>
        <p:spPr>
          <a:xfrm>
            <a:off x="5943600" y="5486400"/>
            <a:ext cx="1155700" cy="2667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____ / 100</a:t>
            </a:r>
            <a:endParaRPr lang="en-US" sz="1000" dirty="0"/>
          </a:p>
        </p:txBody>
      </p:sp>
      <p:sp>
        <p:nvSpPr>
          <p:cNvPr id="27" name="Text 25"/>
          <p:cNvSpPr/>
          <p:nvPr/>
        </p:nvSpPr>
        <p:spPr>
          <a:xfrm>
            <a:off x="457200" y="5994400"/>
            <a:ext cx="3302000" cy="3556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State capacity</a:t>
            </a:r>
            <a:endParaRPr lang="en-US" sz="1600" dirty="0"/>
          </a:p>
        </p:txBody>
      </p:sp>
      <p:sp>
        <p:nvSpPr>
          <p:cNvPr id="28" name="Shape 26"/>
          <p:cNvSpPr/>
          <p:nvPr/>
        </p:nvSpPr>
        <p:spPr>
          <a:xfrm>
            <a:off x="4648200" y="6350000"/>
            <a:ext cx="1155700" cy="0"/>
          </a:xfrm>
          <a:prstGeom prst="line">
            <a:avLst/>
          </a:prstGeom>
          <a:noFill/>
          <a:ln w="12700">
            <a:solidFill>
              <a:srgbClr val="252525"/>
            </a:solidFill>
            <a:prstDash val="solid"/>
          </a:ln>
        </p:spPr>
      </p:sp>
      <p:sp>
        <p:nvSpPr>
          <p:cNvPr id="29" name="Text 27"/>
          <p:cNvSpPr/>
          <p:nvPr/>
        </p:nvSpPr>
        <p:spPr>
          <a:xfrm>
            <a:off x="5943600" y="6083300"/>
            <a:ext cx="1155700" cy="2667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____ / 100</a:t>
            </a:r>
            <a:endParaRPr lang="en-US" sz="1000" dirty="0"/>
          </a:p>
        </p:txBody>
      </p:sp>
      <p:sp>
        <p:nvSpPr>
          <p:cNvPr id="30" name="Text 28"/>
          <p:cNvSpPr/>
          <p:nvPr/>
        </p:nvSpPr>
        <p:spPr>
          <a:xfrm>
            <a:off x="457200" y="6680200"/>
            <a:ext cx="2794000" cy="3810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TOTAL</a:t>
            </a:r>
            <a:endParaRPr lang="en-US" sz="1300" dirty="0"/>
          </a:p>
        </p:txBody>
      </p:sp>
      <p:sp>
        <p:nvSpPr>
          <p:cNvPr id="31" name="Shape 29"/>
          <p:cNvSpPr/>
          <p:nvPr/>
        </p:nvSpPr>
        <p:spPr>
          <a:xfrm>
            <a:off x="4648200" y="6997700"/>
            <a:ext cx="1155700" cy="0"/>
          </a:xfrm>
          <a:prstGeom prst="line">
            <a:avLst/>
          </a:prstGeom>
          <a:noFill/>
          <a:ln w="19050">
            <a:solidFill>
              <a:srgbClr val="252525"/>
            </a:solidFill>
            <a:prstDash val="solid"/>
          </a:ln>
        </p:spPr>
      </p:sp>
      <p:sp>
        <p:nvSpPr>
          <p:cNvPr id="32" name="Text 30"/>
          <p:cNvSpPr/>
          <p:nvPr/>
        </p:nvSpPr>
        <p:spPr>
          <a:xfrm>
            <a:off x="5943600" y="6756400"/>
            <a:ext cx="1155700" cy="2667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100 points</a:t>
            </a:r>
            <a:endParaRPr lang="en-US" sz="1100" dirty="0"/>
          </a:p>
        </p:txBody>
      </p:sp>
      <p:sp>
        <p:nvSpPr>
          <p:cNvPr id="33" name="Text 31"/>
          <p:cNvSpPr/>
          <p:nvPr/>
        </p:nvSpPr>
        <p:spPr>
          <a:xfrm>
            <a:off x="457200" y="7340600"/>
            <a:ext cx="6642100" cy="406400"/>
          </a:xfrm>
          <a:prstGeom prst="rect">
            <a:avLst/>
          </a:prstGeom>
          <a:noFill/>
          <a:ln/>
        </p:spPr>
        <p:txBody>
          <a:bodyPr wrap="square" lIns="0" tIns="0" rIns="0" bIns="0" rtlCol="0" anchor="t"/>
          <a:lstStyle/>
          <a:p>
            <a:pPr indent="0" marL="0">
              <a:lnSpc>
                <a:spcPct val="112000"/>
              </a:lnSpc>
              <a:buNone/>
            </a:pPr>
            <a:r>
              <a:rPr lang="en-US" sz="1700" b="1" dirty="0">
                <a:solidFill>
                  <a:srgbClr val="252525"/>
                </a:solidFill>
                <a:latin typeface="Montserrat" pitchFamily="34" charset="0"/>
                <a:ea typeface="Montserrat" pitchFamily="34" charset="-122"/>
                <a:cs typeface="Montserrat" pitchFamily="34" charset="-120"/>
              </a:rPr>
              <a:t>Choose a starting condition</a:t>
            </a:r>
            <a:endParaRPr lang="en-US" sz="1700" dirty="0"/>
          </a:p>
        </p:txBody>
      </p:sp>
      <p:sp>
        <p:nvSpPr>
          <p:cNvPr id="34" name="Text 32"/>
          <p:cNvSpPr/>
          <p:nvPr/>
        </p:nvSpPr>
        <p:spPr>
          <a:xfrm>
            <a:off x="457200" y="7797800"/>
            <a:ext cx="6642100" cy="6985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Ghana: export dependence. Botswana: few inherited public assets. Mauritius: concentrated sugar economy. South Korea: recovery, land and security. Malaysia: uneven regional development. Philippines: concentrated ownership and institutions.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02 / COMPARE THE PATHWAYS</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Where did work move?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Structural transformation: workers move between sectors, productivity changes within sectors, and the economy’s production mix changes. Employment shares · 1991 proxy to 2020.</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(2026), World Development Indicators (SRC-WDI-001). Frozen release: 13 July 2026; retrieved 6 October 2026. Data and locators: project CSVs; reference p. 28. ILO modelled estimates: SL.AGR.EMPL.ZS, SL.IND.EMPL.ZS, SL.SRV.EMPL.ZS. 1991 proxies 1990; values are percentages of employment.</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10</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Employment movement is not productivity. Industry includes mining, construction and utilities. Service growth alone does not establish industrial upgrading; 2020 is the pandemic year.</a:t>
            </a:r>
            <a:endParaRPr lang="en-US" sz="900" dirty="0"/>
          </a:p>
        </p:txBody>
      </p:sp>
      <p:sp>
        <p:nvSpPr>
          <p:cNvPr id="12" name="Text 10"/>
          <p:cNvSpPr/>
          <p:nvPr/>
        </p:nvSpPr>
        <p:spPr>
          <a:xfrm>
            <a:off x="2108200" y="2959100"/>
            <a:ext cx="1485900" cy="241300"/>
          </a:xfrm>
          <a:prstGeom prst="rect">
            <a:avLst/>
          </a:prstGeom>
          <a:noFill/>
          <a:ln/>
        </p:spPr>
        <p:txBody>
          <a:bodyPr wrap="square" lIns="0" tIns="0" rIns="0" bIns="0" rtlCol="0" anchor="t"/>
          <a:lstStyle/>
          <a:p>
            <a:pP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AGRICULTURE</a:t>
            </a:r>
            <a:endParaRPr lang="en-US" sz="850" dirty="0"/>
          </a:p>
        </p:txBody>
      </p:sp>
      <p:sp>
        <p:nvSpPr>
          <p:cNvPr id="13" name="Text 11"/>
          <p:cNvSpPr/>
          <p:nvPr/>
        </p:nvSpPr>
        <p:spPr>
          <a:xfrm>
            <a:off x="3810000" y="2959100"/>
            <a:ext cx="1473200" cy="241300"/>
          </a:xfrm>
          <a:prstGeom prst="rect">
            <a:avLst/>
          </a:prstGeom>
          <a:noFill/>
          <a:ln/>
        </p:spPr>
        <p:txBody>
          <a:bodyPr wrap="square" lIns="0" tIns="0" rIns="0" bIns="0" rtlCol="0" anchor="t"/>
          <a:lstStyle/>
          <a:p>
            <a:pP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INDUSTRY*</a:t>
            </a:r>
            <a:endParaRPr lang="en-US" sz="850" dirty="0"/>
          </a:p>
        </p:txBody>
      </p:sp>
      <p:sp>
        <p:nvSpPr>
          <p:cNvPr id="14" name="Text 12"/>
          <p:cNvSpPr/>
          <p:nvPr/>
        </p:nvSpPr>
        <p:spPr>
          <a:xfrm>
            <a:off x="5511800" y="2959100"/>
            <a:ext cx="1473200" cy="241300"/>
          </a:xfrm>
          <a:prstGeom prst="rect">
            <a:avLst/>
          </a:prstGeom>
          <a:noFill/>
          <a:ln/>
        </p:spPr>
        <p:txBody>
          <a:bodyPr wrap="square" lIns="0" tIns="0" rIns="0" bIns="0" rtlCol="0" anchor="t"/>
          <a:lstStyle/>
          <a:p>
            <a:pPr indent="0" marL="0">
              <a:lnSpc>
                <a:spcPct val="112000"/>
              </a:lnSpc>
              <a:buNone/>
            </a:pPr>
            <a:r>
              <a:rPr lang="en-US" sz="850" b="1" dirty="0">
                <a:solidFill>
                  <a:srgbClr val="252525"/>
                </a:solidFill>
                <a:latin typeface="Montserrat" pitchFamily="34" charset="0"/>
                <a:ea typeface="Montserrat" pitchFamily="34" charset="-122"/>
                <a:cs typeface="Montserrat" pitchFamily="34" charset="-120"/>
              </a:rPr>
              <a:t>SERVICES</a:t>
            </a:r>
            <a:endParaRPr lang="en-US" sz="850" dirty="0"/>
          </a:p>
        </p:txBody>
      </p:sp>
      <p:sp>
        <p:nvSpPr>
          <p:cNvPr id="15" name="Text 13"/>
          <p:cNvSpPr/>
          <p:nvPr/>
        </p:nvSpPr>
        <p:spPr>
          <a:xfrm>
            <a:off x="2108200" y="3213100"/>
            <a:ext cx="4876800" cy="2032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1991† → 2020 · % of employment</a:t>
            </a:r>
            <a:endParaRPr lang="en-US" sz="800" dirty="0"/>
          </a:p>
        </p:txBody>
      </p:sp>
      <p:sp>
        <p:nvSpPr>
          <p:cNvPr id="16" name="Shape 14"/>
          <p:cNvSpPr/>
          <p:nvPr/>
        </p:nvSpPr>
        <p:spPr>
          <a:xfrm>
            <a:off x="457200" y="3962400"/>
            <a:ext cx="127000" cy="127000"/>
          </a:xfrm>
          <a:prstGeom prst="ellipse">
            <a:avLst/>
          </a:prstGeom>
          <a:solidFill>
            <a:srgbClr val="B95332"/>
          </a:solidFill>
          <a:ln w="7620">
            <a:solidFill>
              <a:srgbClr val="252525"/>
            </a:solidFill>
            <a:prstDash val="solid"/>
          </a:ln>
        </p:spPr>
      </p:sp>
      <p:sp>
        <p:nvSpPr>
          <p:cNvPr id="17" name="Text 15"/>
          <p:cNvSpPr/>
          <p:nvPr/>
        </p:nvSpPr>
        <p:spPr>
          <a:xfrm>
            <a:off x="711200" y="3911600"/>
            <a:ext cx="1270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18" name="Shape 16"/>
          <p:cNvSpPr/>
          <p:nvPr/>
        </p:nvSpPr>
        <p:spPr>
          <a:xfrm>
            <a:off x="2171700" y="4064000"/>
            <a:ext cx="1219200" cy="0"/>
          </a:xfrm>
          <a:prstGeom prst="line">
            <a:avLst/>
          </a:prstGeom>
          <a:noFill/>
          <a:ln w="5715">
            <a:solidFill>
              <a:srgbClr val="B7B0A4"/>
            </a:solidFill>
            <a:prstDash val="solid"/>
          </a:ln>
        </p:spPr>
      </p:sp>
      <p:sp>
        <p:nvSpPr>
          <p:cNvPr id="19" name="Shape 17"/>
          <p:cNvSpPr/>
          <p:nvPr/>
        </p:nvSpPr>
        <p:spPr>
          <a:xfrm>
            <a:off x="2627681" y="4025900"/>
            <a:ext cx="419405" cy="76200"/>
          </a:xfrm>
          <a:prstGeom prst="line">
            <a:avLst/>
          </a:prstGeom>
          <a:noFill/>
          <a:ln w="35560">
            <a:solidFill>
              <a:srgbClr val="B95332"/>
            </a:solidFill>
            <a:prstDash val="solid"/>
          </a:ln>
        </p:spPr>
      </p:sp>
      <p:sp>
        <p:nvSpPr>
          <p:cNvPr id="20" name="Shape 18"/>
          <p:cNvSpPr/>
          <p:nvPr/>
        </p:nvSpPr>
        <p:spPr>
          <a:xfrm>
            <a:off x="2977236" y="3956050"/>
            <a:ext cx="139700" cy="139700"/>
          </a:xfrm>
          <a:prstGeom prst="ellipse">
            <a:avLst/>
          </a:prstGeom>
          <a:solidFill>
            <a:srgbClr val="B95332"/>
          </a:solidFill>
          <a:ln w="7620">
            <a:solidFill>
              <a:srgbClr val="252525"/>
            </a:solidFill>
            <a:prstDash val="solid"/>
          </a:ln>
        </p:spPr>
      </p:sp>
      <p:sp>
        <p:nvSpPr>
          <p:cNvPr id="21" name="Shape 19"/>
          <p:cNvSpPr/>
          <p:nvPr/>
        </p:nvSpPr>
        <p:spPr>
          <a:xfrm>
            <a:off x="2545131" y="4019550"/>
            <a:ext cx="165100" cy="165100"/>
          </a:xfrm>
          <a:prstGeom prst="ellipse">
            <a:avLst/>
          </a:prstGeom>
          <a:solidFill>
            <a:srgbClr val="B95332"/>
          </a:solidFill>
          <a:ln w="7620">
            <a:solidFill>
              <a:srgbClr val="252525"/>
            </a:solidFill>
            <a:prstDash val="solid"/>
          </a:ln>
        </p:spPr>
      </p:sp>
      <p:sp>
        <p:nvSpPr>
          <p:cNvPr id="22" name="Text 20"/>
          <p:cNvSpPr/>
          <p:nvPr/>
        </p:nvSpPr>
        <p:spPr>
          <a:xfrm>
            <a:off x="2108200" y="42418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71.8 → 37.4</a:t>
            </a:r>
            <a:endParaRPr lang="en-US" sz="830" dirty="0"/>
          </a:p>
        </p:txBody>
      </p:sp>
      <p:sp>
        <p:nvSpPr>
          <p:cNvPr id="23" name="Shape 21"/>
          <p:cNvSpPr/>
          <p:nvPr/>
        </p:nvSpPr>
        <p:spPr>
          <a:xfrm>
            <a:off x="3873500" y="4064000"/>
            <a:ext cx="1219200" cy="0"/>
          </a:xfrm>
          <a:prstGeom prst="line">
            <a:avLst/>
          </a:prstGeom>
          <a:noFill/>
          <a:ln w="5715">
            <a:solidFill>
              <a:srgbClr val="B7B0A4"/>
            </a:solidFill>
            <a:prstDash val="solid"/>
          </a:ln>
        </p:spPr>
      </p:sp>
      <p:sp>
        <p:nvSpPr>
          <p:cNvPr id="24" name="Shape 22"/>
          <p:cNvSpPr/>
          <p:nvPr/>
        </p:nvSpPr>
        <p:spPr>
          <a:xfrm>
            <a:off x="3983228" y="4025900"/>
            <a:ext cx="75590" cy="76200"/>
          </a:xfrm>
          <a:prstGeom prst="line">
            <a:avLst/>
          </a:prstGeom>
          <a:noFill/>
          <a:ln w="35560">
            <a:solidFill>
              <a:srgbClr val="B95332"/>
            </a:solidFill>
            <a:prstDash val="solid"/>
          </a:ln>
        </p:spPr>
      </p:sp>
      <p:sp>
        <p:nvSpPr>
          <p:cNvPr id="25" name="Shape 23"/>
          <p:cNvSpPr/>
          <p:nvPr/>
        </p:nvSpPr>
        <p:spPr>
          <a:xfrm>
            <a:off x="3913378" y="3956050"/>
            <a:ext cx="139700" cy="139700"/>
          </a:xfrm>
          <a:prstGeom prst="ellipse">
            <a:avLst/>
          </a:prstGeom>
          <a:solidFill>
            <a:srgbClr val="B95332"/>
          </a:solidFill>
          <a:ln w="7620">
            <a:solidFill>
              <a:srgbClr val="252525"/>
            </a:solidFill>
            <a:prstDash val="solid"/>
          </a:ln>
        </p:spPr>
      </p:sp>
      <p:sp>
        <p:nvSpPr>
          <p:cNvPr id="26" name="Shape 24"/>
          <p:cNvSpPr/>
          <p:nvPr/>
        </p:nvSpPr>
        <p:spPr>
          <a:xfrm>
            <a:off x="3976268" y="4019550"/>
            <a:ext cx="165100" cy="165100"/>
          </a:xfrm>
          <a:prstGeom prst="ellipse">
            <a:avLst/>
          </a:prstGeom>
          <a:solidFill>
            <a:srgbClr val="B95332"/>
          </a:solidFill>
          <a:ln w="7620">
            <a:solidFill>
              <a:srgbClr val="252525"/>
            </a:solidFill>
            <a:prstDash val="solid"/>
          </a:ln>
        </p:spPr>
      </p:sp>
      <p:sp>
        <p:nvSpPr>
          <p:cNvPr id="27" name="Text 25"/>
          <p:cNvSpPr/>
          <p:nvPr/>
        </p:nvSpPr>
        <p:spPr>
          <a:xfrm>
            <a:off x="3810000" y="42418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9.0 → 15.2</a:t>
            </a:r>
            <a:endParaRPr lang="en-US" sz="830" dirty="0"/>
          </a:p>
        </p:txBody>
      </p:sp>
      <p:sp>
        <p:nvSpPr>
          <p:cNvPr id="28" name="Shape 26"/>
          <p:cNvSpPr/>
          <p:nvPr/>
        </p:nvSpPr>
        <p:spPr>
          <a:xfrm>
            <a:off x="5575300" y="4064000"/>
            <a:ext cx="1219200" cy="0"/>
          </a:xfrm>
          <a:prstGeom prst="line">
            <a:avLst/>
          </a:prstGeom>
          <a:noFill/>
          <a:ln w="5715">
            <a:solidFill>
              <a:srgbClr val="B7B0A4"/>
            </a:solidFill>
            <a:prstDash val="solid"/>
          </a:ln>
        </p:spPr>
      </p:sp>
      <p:sp>
        <p:nvSpPr>
          <p:cNvPr id="29" name="Shape 27"/>
          <p:cNvSpPr/>
          <p:nvPr/>
        </p:nvSpPr>
        <p:spPr>
          <a:xfrm>
            <a:off x="5809386" y="4025900"/>
            <a:ext cx="343814" cy="76200"/>
          </a:xfrm>
          <a:prstGeom prst="line">
            <a:avLst/>
          </a:prstGeom>
          <a:noFill/>
          <a:ln w="35560">
            <a:solidFill>
              <a:srgbClr val="B95332"/>
            </a:solidFill>
            <a:prstDash val="solid"/>
          </a:ln>
        </p:spPr>
      </p:sp>
      <p:sp>
        <p:nvSpPr>
          <p:cNvPr id="30" name="Shape 28"/>
          <p:cNvSpPr/>
          <p:nvPr/>
        </p:nvSpPr>
        <p:spPr>
          <a:xfrm>
            <a:off x="5739536" y="3956050"/>
            <a:ext cx="139700" cy="139700"/>
          </a:xfrm>
          <a:prstGeom prst="ellipse">
            <a:avLst/>
          </a:prstGeom>
          <a:solidFill>
            <a:srgbClr val="B95332"/>
          </a:solidFill>
          <a:ln w="7620">
            <a:solidFill>
              <a:srgbClr val="252525"/>
            </a:solidFill>
            <a:prstDash val="solid"/>
          </a:ln>
        </p:spPr>
      </p:sp>
      <p:sp>
        <p:nvSpPr>
          <p:cNvPr id="31" name="Shape 29"/>
          <p:cNvSpPr/>
          <p:nvPr/>
        </p:nvSpPr>
        <p:spPr>
          <a:xfrm>
            <a:off x="6070651" y="4019550"/>
            <a:ext cx="165100" cy="165100"/>
          </a:xfrm>
          <a:prstGeom prst="ellipse">
            <a:avLst/>
          </a:prstGeom>
          <a:solidFill>
            <a:srgbClr val="B95332"/>
          </a:solidFill>
          <a:ln w="7620">
            <a:solidFill>
              <a:srgbClr val="252525"/>
            </a:solidFill>
            <a:prstDash val="solid"/>
          </a:ln>
        </p:spPr>
      </p:sp>
      <p:sp>
        <p:nvSpPr>
          <p:cNvPr id="32" name="Text 30"/>
          <p:cNvSpPr/>
          <p:nvPr/>
        </p:nvSpPr>
        <p:spPr>
          <a:xfrm>
            <a:off x="5511800" y="42418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19.2 → 47.4</a:t>
            </a:r>
            <a:endParaRPr lang="en-US" sz="830" dirty="0"/>
          </a:p>
        </p:txBody>
      </p:sp>
      <p:sp>
        <p:nvSpPr>
          <p:cNvPr id="33" name="Shape 31"/>
          <p:cNvSpPr/>
          <p:nvPr/>
        </p:nvSpPr>
        <p:spPr>
          <a:xfrm>
            <a:off x="457200" y="4483100"/>
            <a:ext cx="6642100" cy="0"/>
          </a:xfrm>
          <a:prstGeom prst="line">
            <a:avLst/>
          </a:prstGeom>
          <a:noFill/>
          <a:ln w="5715">
            <a:solidFill>
              <a:srgbClr val="B7B0A4"/>
            </a:solidFill>
            <a:prstDash val="solid"/>
          </a:ln>
        </p:spPr>
      </p:sp>
      <p:sp>
        <p:nvSpPr>
          <p:cNvPr id="34" name="Shape 32"/>
          <p:cNvSpPr/>
          <p:nvPr/>
        </p:nvSpPr>
        <p:spPr>
          <a:xfrm>
            <a:off x="457200" y="4749800"/>
            <a:ext cx="127000" cy="127000"/>
          </a:xfrm>
          <a:prstGeom prst="rect">
            <a:avLst/>
          </a:prstGeom>
          <a:solidFill>
            <a:srgbClr val="3F684E"/>
          </a:solidFill>
          <a:ln w="7620">
            <a:solidFill>
              <a:srgbClr val="252525"/>
            </a:solidFill>
            <a:prstDash val="solid"/>
          </a:ln>
        </p:spPr>
      </p:sp>
      <p:sp>
        <p:nvSpPr>
          <p:cNvPr id="35" name="Text 33"/>
          <p:cNvSpPr/>
          <p:nvPr/>
        </p:nvSpPr>
        <p:spPr>
          <a:xfrm>
            <a:off x="711200" y="4699000"/>
            <a:ext cx="1270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36" name="Shape 34"/>
          <p:cNvSpPr/>
          <p:nvPr/>
        </p:nvSpPr>
        <p:spPr>
          <a:xfrm>
            <a:off x="2171700" y="4851400"/>
            <a:ext cx="1219200" cy="0"/>
          </a:xfrm>
          <a:prstGeom prst="line">
            <a:avLst/>
          </a:prstGeom>
          <a:noFill/>
          <a:ln w="5715">
            <a:solidFill>
              <a:srgbClr val="B7B0A4"/>
            </a:solidFill>
            <a:prstDash val="solid"/>
          </a:ln>
        </p:spPr>
      </p:sp>
      <p:sp>
        <p:nvSpPr>
          <p:cNvPr id="37" name="Shape 35"/>
          <p:cNvSpPr/>
          <p:nvPr/>
        </p:nvSpPr>
        <p:spPr>
          <a:xfrm>
            <a:off x="2325319" y="4813300"/>
            <a:ext cx="84125" cy="76200"/>
          </a:xfrm>
          <a:prstGeom prst="line">
            <a:avLst/>
          </a:prstGeom>
          <a:noFill/>
          <a:ln w="35560">
            <a:solidFill>
              <a:srgbClr val="3F684E"/>
            </a:solidFill>
            <a:prstDash val="solid"/>
          </a:ln>
        </p:spPr>
      </p:sp>
      <p:sp>
        <p:nvSpPr>
          <p:cNvPr id="38" name="Shape 36"/>
          <p:cNvSpPr/>
          <p:nvPr/>
        </p:nvSpPr>
        <p:spPr>
          <a:xfrm>
            <a:off x="2255469" y="4743450"/>
            <a:ext cx="139700" cy="139700"/>
          </a:xfrm>
          <a:prstGeom prst="rect">
            <a:avLst/>
          </a:prstGeom>
          <a:solidFill>
            <a:srgbClr val="3F684E"/>
          </a:solidFill>
          <a:ln w="7620">
            <a:solidFill>
              <a:srgbClr val="252525"/>
            </a:solidFill>
            <a:prstDash val="solid"/>
          </a:ln>
        </p:spPr>
      </p:sp>
      <p:sp>
        <p:nvSpPr>
          <p:cNvPr id="39" name="Shape 37"/>
          <p:cNvSpPr/>
          <p:nvPr/>
        </p:nvSpPr>
        <p:spPr>
          <a:xfrm>
            <a:off x="2326894" y="4806950"/>
            <a:ext cx="165100" cy="165100"/>
          </a:xfrm>
          <a:prstGeom prst="rect">
            <a:avLst/>
          </a:prstGeom>
          <a:solidFill>
            <a:srgbClr val="3F684E"/>
          </a:solidFill>
          <a:ln w="7620">
            <a:solidFill>
              <a:srgbClr val="252525"/>
            </a:solidFill>
            <a:prstDash val="solid"/>
          </a:ln>
        </p:spPr>
      </p:sp>
      <p:sp>
        <p:nvSpPr>
          <p:cNvPr id="40" name="Text 38"/>
          <p:cNvSpPr/>
          <p:nvPr/>
        </p:nvSpPr>
        <p:spPr>
          <a:xfrm>
            <a:off x="2108200" y="50292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12.6 → 19.5</a:t>
            </a:r>
            <a:endParaRPr lang="en-US" sz="830" dirty="0"/>
          </a:p>
        </p:txBody>
      </p:sp>
      <p:sp>
        <p:nvSpPr>
          <p:cNvPr id="41" name="Shape 39"/>
          <p:cNvSpPr/>
          <p:nvPr/>
        </p:nvSpPr>
        <p:spPr>
          <a:xfrm>
            <a:off x="3873500" y="4851400"/>
            <a:ext cx="1219200" cy="0"/>
          </a:xfrm>
          <a:prstGeom prst="line">
            <a:avLst/>
          </a:prstGeom>
          <a:noFill/>
          <a:ln w="5715">
            <a:solidFill>
              <a:srgbClr val="B7B0A4"/>
            </a:solidFill>
            <a:prstDash val="solid"/>
          </a:ln>
        </p:spPr>
      </p:sp>
      <p:sp>
        <p:nvSpPr>
          <p:cNvPr id="42" name="Shape 40"/>
          <p:cNvSpPr/>
          <p:nvPr/>
        </p:nvSpPr>
        <p:spPr>
          <a:xfrm>
            <a:off x="4056380" y="4813300"/>
            <a:ext cx="76810" cy="76200"/>
          </a:xfrm>
          <a:prstGeom prst="line">
            <a:avLst/>
          </a:prstGeom>
          <a:noFill/>
          <a:ln w="35560">
            <a:solidFill>
              <a:srgbClr val="3F684E"/>
            </a:solidFill>
            <a:prstDash val="solid"/>
          </a:ln>
        </p:spPr>
      </p:sp>
      <p:sp>
        <p:nvSpPr>
          <p:cNvPr id="43" name="Shape 41"/>
          <p:cNvSpPr/>
          <p:nvPr/>
        </p:nvSpPr>
        <p:spPr>
          <a:xfrm>
            <a:off x="4063340" y="4743450"/>
            <a:ext cx="139700" cy="139700"/>
          </a:xfrm>
          <a:prstGeom prst="rect">
            <a:avLst/>
          </a:prstGeom>
          <a:solidFill>
            <a:srgbClr val="3F684E"/>
          </a:solidFill>
          <a:ln w="7620">
            <a:solidFill>
              <a:srgbClr val="252525"/>
            </a:solidFill>
            <a:prstDash val="solid"/>
          </a:ln>
        </p:spPr>
      </p:sp>
      <p:sp>
        <p:nvSpPr>
          <p:cNvPr id="44" name="Shape 42"/>
          <p:cNvSpPr/>
          <p:nvPr/>
        </p:nvSpPr>
        <p:spPr>
          <a:xfrm>
            <a:off x="3973830" y="4806950"/>
            <a:ext cx="165100" cy="165100"/>
          </a:xfrm>
          <a:prstGeom prst="rect">
            <a:avLst/>
          </a:prstGeom>
          <a:solidFill>
            <a:srgbClr val="3F684E"/>
          </a:solidFill>
          <a:ln w="7620">
            <a:solidFill>
              <a:srgbClr val="252525"/>
            </a:solidFill>
            <a:prstDash val="solid"/>
          </a:ln>
        </p:spPr>
      </p:sp>
      <p:sp>
        <p:nvSpPr>
          <p:cNvPr id="45" name="Text 43"/>
          <p:cNvSpPr/>
          <p:nvPr/>
        </p:nvSpPr>
        <p:spPr>
          <a:xfrm>
            <a:off x="3810000" y="50292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21.3 → 15.0</a:t>
            </a:r>
            <a:endParaRPr lang="en-US" sz="830" dirty="0"/>
          </a:p>
        </p:txBody>
      </p:sp>
      <p:sp>
        <p:nvSpPr>
          <p:cNvPr id="46" name="Shape 44"/>
          <p:cNvSpPr/>
          <p:nvPr/>
        </p:nvSpPr>
        <p:spPr>
          <a:xfrm>
            <a:off x="5575300" y="4851400"/>
            <a:ext cx="1219200" cy="0"/>
          </a:xfrm>
          <a:prstGeom prst="line">
            <a:avLst/>
          </a:prstGeom>
          <a:noFill/>
          <a:ln w="5715">
            <a:solidFill>
              <a:srgbClr val="B7B0A4"/>
            </a:solidFill>
            <a:prstDash val="solid"/>
          </a:ln>
        </p:spPr>
      </p:sp>
      <p:sp>
        <p:nvSpPr>
          <p:cNvPr id="47" name="Shape 45"/>
          <p:cNvSpPr/>
          <p:nvPr/>
        </p:nvSpPr>
        <p:spPr>
          <a:xfrm>
            <a:off x="6373876" y="4813300"/>
            <a:ext cx="7315" cy="76200"/>
          </a:xfrm>
          <a:prstGeom prst="line">
            <a:avLst/>
          </a:prstGeom>
          <a:noFill/>
          <a:ln w="35560">
            <a:solidFill>
              <a:srgbClr val="3F684E"/>
            </a:solidFill>
            <a:prstDash val="solid"/>
          </a:ln>
        </p:spPr>
      </p:sp>
      <p:sp>
        <p:nvSpPr>
          <p:cNvPr id="48" name="Shape 46"/>
          <p:cNvSpPr/>
          <p:nvPr/>
        </p:nvSpPr>
        <p:spPr>
          <a:xfrm>
            <a:off x="6311341" y="4743450"/>
            <a:ext cx="139700" cy="139700"/>
          </a:xfrm>
          <a:prstGeom prst="rect">
            <a:avLst/>
          </a:prstGeom>
          <a:solidFill>
            <a:srgbClr val="3F684E"/>
          </a:solidFill>
          <a:ln w="7620">
            <a:solidFill>
              <a:srgbClr val="252525"/>
            </a:solidFill>
            <a:prstDash val="solid"/>
          </a:ln>
        </p:spPr>
      </p:sp>
      <p:sp>
        <p:nvSpPr>
          <p:cNvPr id="49" name="Shape 47"/>
          <p:cNvSpPr/>
          <p:nvPr/>
        </p:nvSpPr>
        <p:spPr>
          <a:xfrm>
            <a:off x="6291326" y="4806950"/>
            <a:ext cx="165100" cy="165100"/>
          </a:xfrm>
          <a:prstGeom prst="rect">
            <a:avLst/>
          </a:prstGeom>
          <a:solidFill>
            <a:srgbClr val="3F684E"/>
          </a:solidFill>
          <a:ln w="7620">
            <a:solidFill>
              <a:srgbClr val="252525"/>
            </a:solidFill>
            <a:prstDash val="solid"/>
          </a:ln>
        </p:spPr>
      </p:sp>
      <p:sp>
        <p:nvSpPr>
          <p:cNvPr id="50" name="Text 48"/>
          <p:cNvSpPr/>
          <p:nvPr/>
        </p:nvSpPr>
        <p:spPr>
          <a:xfrm>
            <a:off x="5511800" y="50292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66.1 → 65.5</a:t>
            </a:r>
            <a:endParaRPr lang="en-US" sz="830" dirty="0"/>
          </a:p>
        </p:txBody>
      </p:sp>
      <p:sp>
        <p:nvSpPr>
          <p:cNvPr id="51" name="Shape 49"/>
          <p:cNvSpPr/>
          <p:nvPr/>
        </p:nvSpPr>
        <p:spPr>
          <a:xfrm>
            <a:off x="457200" y="5270500"/>
            <a:ext cx="6642100" cy="0"/>
          </a:xfrm>
          <a:prstGeom prst="line">
            <a:avLst/>
          </a:prstGeom>
          <a:noFill/>
          <a:ln w="5715">
            <a:solidFill>
              <a:srgbClr val="B7B0A4"/>
            </a:solidFill>
            <a:prstDash val="solid"/>
          </a:ln>
        </p:spPr>
      </p:sp>
      <p:sp>
        <p:nvSpPr>
          <p:cNvPr id="52" name="Shape 50"/>
          <p:cNvSpPr/>
          <p:nvPr/>
        </p:nvSpPr>
        <p:spPr>
          <a:xfrm>
            <a:off x="457200" y="5537200"/>
            <a:ext cx="127000" cy="127000"/>
          </a:xfrm>
          <a:prstGeom prst="triangle">
            <a:avLst/>
          </a:prstGeom>
          <a:solidFill>
            <a:srgbClr val="D6A23A"/>
          </a:solidFill>
          <a:ln w="7620">
            <a:solidFill>
              <a:srgbClr val="252525"/>
            </a:solidFill>
            <a:prstDash val="solid"/>
          </a:ln>
        </p:spPr>
      </p:sp>
      <p:sp>
        <p:nvSpPr>
          <p:cNvPr id="53" name="Text 51"/>
          <p:cNvSpPr/>
          <p:nvPr/>
        </p:nvSpPr>
        <p:spPr>
          <a:xfrm>
            <a:off x="711200" y="5486400"/>
            <a:ext cx="1270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54" name="Shape 52"/>
          <p:cNvSpPr/>
          <p:nvPr/>
        </p:nvSpPr>
        <p:spPr>
          <a:xfrm>
            <a:off x="2171700" y="5638800"/>
            <a:ext cx="1219200" cy="0"/>
          </a:xfrm>
          <a:prstGeom prst="line">
            <a:avLst/>
          </a:prstGeom>
          <a:noFill/>
          <a:ln w="5715">
            <a:solidFill>
              <a:srgbClr val="B7B0A4"/>
            </a:solidFill>
            <a:prstDash val="solid"/>
          </a:ln>
        </p:spPr>
      </p:sp>
      <p:sp>
        <p:nvSpPr>
          <p:cNvPr id="55" name="Shape 53"/>
          <p:cNvSpPr/>
          <p:nvPr/>
        </p:nvSpPr>
        <p:spPr>
          <a:xfrm>
            <a:off x="2236318" y="5600700"/>
            <a:ext cx="174346" cy="76200"/>
          </a:xfrm>
          <a:prstGeom prst="line">
            <a:avLst/>
          </a:prstGeom>
          <a:noFill/>
          <a:ln w="35560">
            <a:solidFill>
              <a:srgbClr val="D6A23A"/>
            </a:solidFill>
            <a:prstDash val="solid"/>
          </a:ln>
        </p:spPr>
      </p:sp>
      <p:sp>
        <p:nvSpPr>
          <p:cNvPr id="56" name="Shape 54"/>
          <p:cNvSpPr/>
          <p:nvPr/>
        </p:nvSpPr>
        <p:spPr>
          <a:xfrm>
            <a:off x="2340813" y="5530850"/>
            <a:ext cx="139700" cy="139700"/>
          </a:xfrm>
          <a:prstGeom prst="triangle">
            <a:avLst/>
          </a:prstGeom>
          <a:solidFill>
            <a:srgbClr val="D6A23A"/>
          </a:solidFill>
          <a:ln w="7620">
            <a:solidFill>
              <a:srgbClr val="252525"/>
            </a:solidFill>
            <a:prstDash val="solid"/>
          </a:ln>
        </p:spPr>
      </p:sp>
      <p:sp>
        <p:nvSpPr>
          <p:cNvPr id="57" name="Shape 55"/>
          <p:cNvSpPr/>
          <p:nvPr/>
        </p:nvSpPr>
        <p:spPr>
          <a:xfrm>
            <a:off x="2153768" y="5594350"/>
            <a:ext cx="165100" cy="165100"/>
          </a:xfrm>
          <a:prstGeom prst="triangle">
            <a:avLst/>
          </a:prstGeom>
          <a:solidFill>
            <a:srgbClr val="D6A23A"/>
          </a:solidFill>
          <a:ln w="7620">
            <a:solidFill>
              <a:srgbClr val="252525"/>
            </a:solidFill>
            <a:prstDash val="solid"/>
          </a:ln>
        </p:spPr>
      </p:sp>
      <p:sp>
        <p:nvSpPr>
          <p:cNvPr id="58" name="Text 56"/>
          <p:cNvSpPr/>
          <p:nvPr/>
        </p:nvSpPr>
        <p:spPr>
          <a:xfrm>
            <a:off x="2108200" y="58166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19.6 → 5.3</a:t>
            </a:r>
            <a:endParaRPr lang="en-US" sz="830" dirty="0"/>
          </a:p>
        </p:txBody>
      </p:sp>
      <p:sp>
        <p:nvSpPr>
          <p:cNvPr id="59" name="Shape 57"/>
          <p:cNvSpPr/>
          <p:nvPr/>
        </p:nvSpPr>
        <p:spPr>
          <a:xfrm>
            <a:off x="3873500" y="5638800"/>
            <a:ext cx="1219200" cy="0"/>
          </a:xfrm>
          <a:prstGeom prst="line">
            <a:avLst/>
          </a:prstGeom>
          <a:noFill/>
          <a:ln w="5715">
            <a:solidFill>
              <a:srgbClr val="B7B0A4"/>
            </a:solidFill>
            <a:prstDash val="solid"/>
          </a:ln>
        </p:spPr>
      </p:sp>
      <p:sp>
        <p:nvSpPr>
          <p:cNvPr id="60" name="Shape 58"/>
          <p:cNvSpPr/>
          <p:nvPr/>
        </p:nvSpPr>
        <p:spPr>
          <a:xfrm>
            <a:off x="4158793" y="5600700"/>
            <a:ext cx="141427" cy="76200"/>
          </a:xfrm>
          <a:prstGeom prst="line">
            <a:avLst/>
          </a:prstGeom>
          <a:noFill/>
          <a:ln w="35560">
            <a:solidFill>
              <a:srgbClr val="D6A23A"/>
            </a:solidFill>
            <a:prstDash val="solid"/>
          </a:ln>
        </p:spPr>
      </p:sp>
      <p:sp>
        <p:nvSpPr>
          <p:cNvPr id="61" name="Shape 59"/>
          <p:cNvSpPr/>
          <p:nvPr/>
        </p:nvSpPr>
        <p:spPr>
          <a:xfrm>
            <a:off x="4230370" y="5530850"/>
            <a:ext cx="139700" cy="139700"/>
          </a:xfrm>
          <a:prstGeom prst="triangle">
            <a:avLst/>
          </a:prstGeom>
          <a:solidFill>
            <a:srgbClr val="D6A23A"/>
          </a:solidFill>
          <a:ln w="7620">
            <a:solidFill>
              <a:srgbClr val="252525"/>
            </a:solidFill>
            <a:prstDash val="solid"/>
          </a:ln>
        </p:spPr>
      </p:sp>
      <p:sp>
        <p:nvSpPr>
          <p:cNvPr id="62" name="Shape 60"/>
          <p:cNvSpPr/>
          <p:nvPr/>
        </p:nvSpPr>
        <p:spPr>
          <a:xfrm>
            <a:off x="4076243" y="5594350"/>
            <a:ext cx="165100" cy="165100"/>
          </a:xfrm>
          <a:prstGeom prst="triangle">
            <a:avLst/>
          </a:prstGeom>
          <a:solidFill>
            <a:srgbClr val="D6A23A"/>
          </a:solidFill>
          <a:ln w="7620">
            <a:solidFill>
              <a:srgbClr val="252525"/>
            </a:solidFill>
            <a:prstDash val="solid"/>
          </a:ln>
        </p:spPr>
      </p:sp>
      <p:sp>
        <p:nvSpPr>
          <p:cNvPr id="63" name="Text 61"/>
          <p:cNvSpPr/>
          <p:nvPr/>
        </p:nvSpPr>
        <p:spPr>
          <a:xfrm>
            <a:off x="3810000" y="58166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35.0 → 23.4</a:t>
            </a:r>
            <a:endParaRPr lang="en-US" sz="830" dirty="0"/>
          </a:p>
        </p:txBody>
      </p:sp>
      <p:sp>
        <p:nvSpPr>
          <p:cNvPr id="64" name="Shape 62"/>
          <p:cNvSpPr/>
          <p:nvPr/>
        </p:nvSpPr>
        <p:spPr>
          <a:xfrm>
            <a:off x="5575300" y="5638800"/>
            <a:ext cx="1219200" cy="0"/>
          </a:xfrm>
          <a:prstGeom prst="line">
            <a:avLst/>
          </a:prstGeom>
          <a:noFill/>
          <a:ln w="5715">
            <a:solidFill>
              <a:srgbClr val="B7B0A4"/>
            </a:solidFill>
            <a:prstDash val="solid"/>
          </a:ln>
        </p:spPr>
      </p:sp>
      <p:sp>
        <p:nvSpPr>
          <p:cNvPr id="65" name="Shape 63"/>
          <p:cNvSpPr/>
          <p:nvPr/>
        </p:nvSpPr>
        <p:spPr>
          <a:xfrm>
            <a:off x="6128817" y="5600700"/>
            <a:ext cx="315773" cy="76200"/>
          </a:xfrm>
          <a:prstGeom prst="line">
            <a:avLst/>
          </a:prstGeom>
          <a:noFill/>
          <a:ln w="35560">
            <a:solidFill>
              <a:srgbClr val="D6A23A"/>
            </a:solidFill>
            <a:prstDash val="solid"/>
          </a:ln>
        </p:spPr>
      </p:sp>
      <p:sp>
        <p:nvSpPr>
          <p:cNvPr id="66" name="Shape 64"/>
          <p:cNvSpPr/>
          <p:nvPr/>
        </p:nvSpPr>
        <p:spPr>
          <a:xfrm>
            <a:off x="6058967" y="5530850"/>
            <a:ext cx="139700" cy="139700"/>
          </a:xfrm>
          <a:prstGeom prst="triangle">
            <a:avLst/>
          </a:prstGeom>
          <a:solidFill>
            <a:srgbClr val="D6A23A"/>
          </a:solidFill>
          <a:ln w="7620">
            <a:solidFill>
              <a:srgbClr val="252525"/>
            </a:solidFill>
            <a:prstDash val="solid"/>
          </a:ln>
        </p:spPr>
      </p:sp>
      <p:sp>
        <p:nvSpPr>
          <p:cNvPr id="67" name="Shape 65"/>
          <p:cNvSpPr/>
          <p:nvPr/>
        </p:nvSpPr>
        <p:spPr>
          <a:xfrm>
            <a:off x="6362040" y="5594350"/>
            <a:ext cx="165100" cy="165100"/>
          </a:xfrm>
          <a:prstGeom prst="triangle">
            <a:avLst/>
          </a:prstGeom>
          <a:solidFill>
            <a:srgbClr val="D6A23A"/>
          </a:solidFill>
          <a:ln w="7620">
            <a:solidFill>
              <a:srgbClr val="252525"/>
            </a:solidFill>
            <a:prstDash val="solid"/>
          </a:ln>
        </p:spPr>
      </p:sp>
      <p:sp>
        <p:nvSpPr>
          <p:cNvPr id="68" name="Text 66"/>
          <p:cNvSpPr/>
          <p:nvPr/>
        </p:nvSpPr>
        <p:spPr>
          <a:xfrm>
            <a:off x="5511800" y="58166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45.4 → 71.3</a:t>
            </a:r>
            <a:endParaRPr lang="en-US" sz="830" dirty="0"/>
          </a:p>
        </p:txBody>
      </p:sp>
      <p:sp>
        <p:nvSpPr>
          <p:cNvPr id="69" name="Shape 67"/>
          <p:cNvSpPr/>
          <p:nvPr/>
        </p:nvSpPr>
        <p:spPr>
          <a:xfrm>
            <a:off x="457200" y="6057900"/>
            <a:ext cx="6642100" cy="0"/>
          </a:xfrm>
          <a:prstGeom prst="line">
            <a:avLst/>
          </a:prstGeom>
          <a:noFill/>
          <a:ln w="5715">
            <a:solidFill>
              <a:srgbClr val="B7B0A4"/>
            </a:solidFill>
            <a:prstDash val="solid"/>
          </a:ln>
        </p:spPr>
      </p:sp>
      <p:sp>
        <p:nvSpPr>
          <p:cNvPr id="70" name="Shape 68"/>
          <p:cNvSpPr/>
          <p:nvPr/>
        </p:nvSpPr>
        <p:spPr>
          <a:xfrm>
            <a:off x="457200" y="6324600"/>
            <a:ext cx="127000" cy="127000"/>
          </a:xfrm>
          <a:prstGeom prst="diamond">
            <a:avLst/>
          </a:prstGeom>
          <a:solidFill>
            <a:srgbClr val="315A78"/>
          </a:solidFill>
          <a:ln w="7620">
            <a:solidFill>
              <a:srgbClr val="252525"/>
            </a:solidFill>
            <a:prstDash val="solid"/>
          </a:ln>
        </p:spPr>
      </p:sp>
      <p:sp>
        <p:nvSpPr>
          <p:cNvPr id="71" name="Text 69"/>
          <p:cNvSpPr/>
          <p:nvPr/>
        </p:nvSpPr>
        <p:spPr>
          <a:xfrm>
            <a:off x="711200" y="6273800"/>
            <a:ext cx="1270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72" name="Shape 70"/>
          <p:cNvSpPr/>
          <p:nvPr/>
        </p:nvSpPr>
        <p:spPr>
          <a:xfrm>
            <a:off x="2171700" y="6426200"/>
            <a:ext cx="1219200" cy="0"/>
          </a:xfrm>
          <a:prstGeom prst="line">
            <a:avLst/>
          </a:prstGeom>
          <a:noFill/>
          <a:ln w="5715">
            <a:solidFill>
              <a:srgbClr val="B7B0A4"/>
            </a:solidFill>
            <a:prstDash val="solid"/>
          </a:ln>
        </p:spPr>
      </p:sp>
      <p:sp>
        <p:nvSpPr>
          <p:cNvPr id="73" name="Shape 71"/>
          <p:cNvSpPr/>
          <p:nvPr/>
        </p:nvSpPr>
        <p:spPr>
          <a:xfrm>
            <a:off x="2237537" y="6388100"/>
            <a:ext cx="123139" cy="76200"/>
          </a:xfrm>
          <a:prstGeom prst="line">
            <a:avLst/>
          </a:prstGeom>
          <a:noFill/>
          <a:ln w="35560">
            <a:solidFill>
              <a:srgbClr val="315A78"/>
            </a:solidFill>
            <a:prstDash val="solid"/>
          </a:ln>
        </p:spPr>
      </p:sp>
      <p:sp>
        <p:nvSpPr>
          <p:cNvPr id="74" name="Shape 72"/>
          <p:cNvSpPr/>
          <p:nvPr/>
        </p:nvSpPr>
        <p:spPr>
          <a:xfrm>
            <a:off x="2290826" y="6318250"/>
            <a:ext cx="139700" cy="139700"/>
          </a:xfrm>
          <a:prstGeom prst="diamond">
            <a:avLst/>
          </a:prstGeom>
          <a:solidFill>
            <a:srgbClr val="315A78"/>
          </a:solidFill>
          <a:ln w="7620">
            <a:solidFill>
              <a:srgbClr val="252525"/>
            </a:solidFill>
            <a:prstDash val="solid"/>
          </a:ln>
        </p:spPr>
      </p:sp>
      <p:sp>
        <p:nvSpPr>
          <p:cNvPr id="75" name="Shape 73"/>
          <p:cNvSpPr/>
          <p:nvPr/>
        </p:nvSpPr>
        <p:spPr>
          <a:xfrm>
            <a:off x="2154987" y="6381750"/>
            <a:ext cx="165100" cy="165100"/>
          </a:xfrm>
          <a:prstGeom prst="diamond">
            <a:avLst/>
          </a:prstGeom>
          <a:solidFill>
            <a:srgbClr val="315A78"/>
          </a:solidFill>
          <a:ln w="7620">
            <a:solidFill>
              <a:srgbClr val="252525"/>
            </a:solidFill>
            <a:prstDash val="solid"/>
          </a:ln>
        </p:spPr>
      </p:sp>
      <p:sp>
        <p:nvSpPr>
          <p:cNvPr id="76" name="Text 74"/>
          <p:cNvSpPr/>
          <p:nvPr/>
        </p:nvSpPr>
        <p:spPr>
          <a:xfrm>
            <a:off x="2108200" y="66040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15.5 → 5.4</a:t>
            </a:r>
            <a:endParaRPr lang="en-US" sz="830" dirty="0"/>
          </a:p>
        </p:txBody>
      </p:sp>
      <p:sp>
        <p:nvSpPr>
          <p:cNvPr id="77" name="Shape 75"/>
          <p:cNvSpPr/>
          <p:nvPr/>
        </p:nvSpPr>
        <p:spPr>
          <a:xfrm>
            <a:off x="3873500" y="6426200"/>
            <a:ext cx="1219200" cy="0"/>
          </a:xfrm>
          <a:prstGeom prst="line">
            <a:avLst/>
          </a:prstGeom>
          <a:noFill/>
          <a:ln w="5715">
            <a:solidFill>
              <a:srgbClr val="B7B0A4"/>
            </a:solidFill>
            <a:prstDash val="solid"/>
          </a:ln>
        </p:spPr>
      </p:sp>
      <p:sp>
        <p:nvSpPr>
          <p:cNvPr id="78" name="Shape 76"/>
          <p:cNvSpPr/>
          <p:nvPr/>
        </p:nvSpPr>
        <p:spPr>
          <a:xfrm>
            <a:off x="4173423" y="6388100"/>
            <a:ext cx="152400" cy="76200"/>
          </a:xfrm>
          <a:prstGeom prst="line">
            <a:avLst/>
          </a:prstGeom>
          <a:noFill/>
          <a:ln w="35560">
            <a:solidFill>
              <a:srgbClr val="315A78"/>
            </a:solidFill>
            <a:prstDash val="solid"/>
          </a:ln>
        </p:spPr>
      </p:sp>
      <p:sp>
        <p:nvSpPr>
          <p:cNvPr id="79" name="Shape 77"/>
          <p:cNvSpPr/>
          <p:nvPr/>
        </p:nvSpPr>
        <p:spPr>
          <a:xfrm>
            <a:off x="4255973" y="6318250"/>
            <a:ext cx="139700" cy="139700"/>
          </a:xfrm>
          <a:prstGeom prst="diamond">
            <a:avLst/>
          </a:prstGeom>
          <a:solidFill>
            <a:srgbClr val="315A78"/>
          </a:solidFill>
          <a:ln w="7620">
            <a:solidFill>
              <a:srgbClr val="252525"/>
            </a:solidFill>
            <a:prstDash val="solid"/>
          </a:ln>
        </p:spPr>
      </p:sp>
      <p:sp>
        <p:nvSpPr>
          <p:cNvPr id="80" name="Shape 78"/>
          <p:cNvSpPr/>
          <p:nvPr/>
        </p:nvSpPr>
        <p:spPr>
          <a:xfrm>
            <a:off x="4090873" y="6381750"/>
            <a:ext cx="165100" cy="165100"/>
          </a:xfrm>
          <a:prstGeom prst="diamond">
            <a:avLst/>
          </a:prstGeom>
          <a:solidFill>
            <a:srgbClr val="315A78"/>
          </a:solidFill>
          <a:ln w="7620">
            <a:solidFill>
              <a:srgbClr val="252525"/>
            </a:solidFill>
            <a:prstDash val="solid"/>
          </a:ln>
        </p:spPr>
      </p:sp>
      <p:sp>
        <p:nvSpPr>
          <p:cNvPr id="81" name="Text 79"/>
          <p:cNvSpPr/>
          <p:nvPr/>
        </p:nvSpPr>
        <p:spPr>
          <a:xfrm>
            <a:off x="3810000" y="66040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37.1 → 24.6</a:t>
            </a:r>
            <a:endParaRPr lang="en-US" sz="830" dirty="0"/>
          </a:p>
        </p:txBody>
      </p:sp>
      <p:sp>
        <p:nvSpPr>
          <p:cNvPr id="82" name="Shape 80"/>
          <p:cNvSpPr/>
          <p:nvPr/>
        </p:nvSpPr>
        <p:spPr>
          <a:xfrm>
            <a:off x="5575300" y="6426200"/>
            <a:ext cx="1219200" cy="0"/>
          </a:xfrm>
          <a:prstGeom prst="line">
            <a:avLst/>
          </a:prstGeom>
          <a:noFill/>
          <a:ln w="5715">
            <a:solidFill>
              <a:srgbClr val="B7B0A4"/>
            </a:solidFill>
            <a:prstDash val="solid"/>
          </a:ln>
        </p:spPr>
      </p:sp>
      <p:sp>
        <p:nvSpPr>
          <p:cNvPr id="83" name="Shape 81"/>
          <p:cNvSpPr/>
          <p:nvPr/>
        </p:nvSpPr>
        <p:spPr>
          <a:xfrm>
            <a:off x="6153201" y="6388100"/>
            <a:ext cx="275539" cy="76200"/>
          </a:xfrm>
          <a:prstGeom prst="line">
            <a:avLst/>
          </a:prstGeom>
          <a:noFill/>
          <a:ln w="35560">
            <a:solidFill>
              <a:srgbClr val="315A78"/>
            </a:solidFill>
            <a:prstDash val="solid"/>
          </a:ln>
        </p:spPr>
      </p:sp>
      <p:sp>
        <p:nvSpPr>
          <p:cNvPr id="84" name="Shape 82"/>
          <p:cNvSpPr/>
          <p:nvPr/>
        </p:nvSpPr>
        <p:spPr>
          <a:xfrm>
            <a:off x="6083351" y="6318250"/>
            <a:ext cx="139700" cy="139700"/>
          </a:xfrm>
          <a:prstGeom prst="diamond">
            <a:avLst/>
          </a:prstGeom>
          <a:solidFill>
            <a:srgbClr val="315A78"/>
          </a:solidFill>
          <a:ln w="7620">
            <a:solidFill>
              <a:srgbClr val="252525"/>
            </a:solidFill>
            <a:prstDash val="solid"/>
          </a:ln>
        </p:spPr>
      </p:sp>
      <p:sp>
        <p:nvSpPr>
          <p:cNvPr id="85" name="Shape 83"/>
          <p:cNvSpPr/>
          <p:nvPr/>
        </p:nvSpPr>
        <p:spPr>
          <a:xfrm>
            <a:off x="6346190" y="6381750"/>
            <a:ext cx="165100" cy="165100"/>
          </a:xfrm>
          <a:prstGeom prst="diamond">
            <a:avLst/>
          </a:prstGeom>
          <a:solidFill>
            <a:srgbClr val="315A78"/>
          </a:solidFill>
          <a:ln w="7620">
            <a:solidFill>
              <a:srgbClr val="252525"/>
            </a:solidFill>
            <a:prstDash val="solid"/>
          </a:ln>
        </p:spPr>
      </p:sp>
      <p:sp>
        <p:nvSpPr>
          <p:cNvPr id="86" name="Text 84"/>
          <p:cNvSpPr/>
          <p:nvPr/>
        </p:nvSpPr>
        <p:spPr>
          <a:xfrm>
            <a:off x="5511800" y="66040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47.4 → 70.0</a:t>
            </a:r>
            <a:endParaRPr lang="en-US" sz="830" dirty="0"/>
          </a:p>
        </p:txBody>
      </p:sp>
      <p:sp>
        <p:nvSpPr>
          <p:cNvPr id="87" name="Shape 85"/>
          <p:cNvSpPr/>
          <p:nvPr/>
        </p:nvSpPr>
        <p:spPr>
          <a:xfrm>
            <a:off x="457200" y="6845300"/>
            <a:ext cx="6642100" cy="0"/>
          </a:xfrm>
          <a:prstGeom prst="line">
            <a:avLst/>
          </a:prstGeom>
          <a:noFill/>
          <a:ln w="5715">
            <a:solidFill>
              <a:srgbClr val="B7B0A4"/>
            </a:solidFill>
            <a:prstDash val="solid"/>
          </a:ln>
        </p:spPr>
      </p:sp>
      <p:sp>
        <p:nvSpPr>
          <p:cNvPr id="88" name="Shape 86"/>
          <p:cNvSpPr/>
          <p:nvPr/>
        </p:nvSpPr>
        <p:spPr>
          <a:xfrm>
            <a:off x="457200" y="7112000"/>
            <a:ext cx="127000" cy="127000"/>
          </a:xfrm>
          <a:prstGeom prst="hexagon">
            <a:avLst/>
          </a:prstGeom>
          <a:solidFill>
            <a:srgbClr val="3E7568"/>
          </a:solidFill>
          <a:ln w="7620">
            <a:solidFill>
              <a:srgbClr val="252525"/>
            </a:solidFill>
            <a:prstDash val="solid"/>
          </a:ln>
        </p:spPr>
      </p:sp>
      <p:sp>
        <p:nvSpPr>
          <p:cNvPr id="89" name="Text 87"/>
          <p:cNvSpPr/>
          <p:nvPr/>
        </p:nvSpPr>
        <p:spPr>
          <a:xfrm>
            <a:off x="711200" y="7061200"/>
            <a:ext cx="1270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90" name="Shape 88"/>
          <p:cNvSpPr/>
          <p:nvPr/>
        </p:nvSpPr>
        <p:spPr>
          <a:xfrm>
            <a:off x="2171700" y="7213600"/>
            <a:ext cx="1219200" cy="0"/>
          </a:xfrm>
          <a:prstGeom prst="line">
            <a:avLst/>
          </a:prstGeom>
          <a:noFill/>
          <a:ln w="5715">
            <a:solidFill>
              <a:srgbClr val="B7B0A4"/>
            </a:solidFill>
            <a:prstDash val="solid"/>
          </a:ln>
        </p:spPr>
      </p:sp>
      <p:sp>
        <p:nvSpPr>
          <p:cNvPr id="91" name="Shape 89"/>
          <p:cNvSpPr/>
          <p:nvPr/>
        </p:nvSpPr>
        <p:spPr>
          <a:xfrm>
            <a:off x="2299716" y="7175500"/>
            <a:ext cx="102413" cy="76200"/>
          </a:xfrm>
          <a:prstGeom prst="line">
            <a:avLst/>
          </a:prstGeom>
          <a:noFill/>
          <a:ln w="35560">
            <a:solidFill>
              <a:srgbClr val="3E7568"/>
            </a:solidFill>
            <a:prstDash val="solid"/>
          </a:ln>
        </p:spPr>
      </p:sp>
      <p:sp>
        <p:nvSpPr>
          <p:cNvPr id="92" name="Shape 90"/>
          <p:cNvSpPr/>
          <p:nvPr/>
        </p:nvSpPr>
        <p:spPr>
          <a:xfrm>
            <a:off x="2332279" y="7105650"/>
            <a:ext cx="139700" cy="139700"/>
          </a:xfrm>
          <a:prstGeom prst="hexagon">
            <a:avLst/>
          </a:prstGeom>
          <a:solidFill>
            <a:srgbClr val="3E7568"/>
          </a:solidFill>
          <a:ln w="7620">
            <a:solidFill>
              <a:srgbClr val="252525"/>
            </a:solidFill>
            <a:prstDash val="solid"/>
          </a:ln>
        </p:spPr>
      </p:sp>
      <p:sp>
        <p:nvSpPr>
          <p:cNvPr id="93" name="Shape 91"/>
          <p:cNvSpPr/>
          <p:nvPr/>
        </p:nvSpPr>
        <p:spPr>
          <a:xfrm>
            <a:off x="2217166" y="7169150"/>
            <a:ext cx="165100" cy="165100"/>
          </a:xfrm>
          <a:prstGeom prst="hexagon">
            <a:avLst/>
          </a:prstGeom>
          <a:solidFill>
            <a:srgbClr val="3E7568"/>
          </a:solidFill>
          <a:ln w="7620">
            <a:solidFill>
              <a:srgbClr val="252525"/>
            </a:solidFill>
            <a:prstDash val="solid"/>
          </a:ln>
        </p:spPr>
      </p:sp>
      <p:sp>
        <p:nvSpPr>
          <p:cNvPr id="94" name="Text 92"/>
          <p:cNvSpPr/>
          <p:nvPr/>
        </p:nvSpPr>
        <p:spPr>
          <a:xfrm>
            <a:off x="2108200" y="73914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18.9 → 10.5</a:t>
            </a:r>
            <a:endParaRPr lang="en-US" sz="830" dirty="0"/>
          </a:p>
        </p:txBody>
      </p:sp>
      <p:sp>
        <p:nvSpPr>
          <p:cNvPr id="95" name="Shape 93"/>
          <p:cNvSpPr/>
          <p:nvPr/>
        </p:nvSpPr>
        <p:spPr>
          <a:xfrm>
            <a:off x="3873500" y="7213600"/>
            <a:ext cx="1219200" cy="0"/>
          </a:xfrm>
          <a:prstGeom prst="line">
            <a:avLst/>
          </a:prstGeom>
          <a:noFill/>
          <a:ln w="5715">
            <a:solidFill>
              <a:srgbClr val="B7B0A4"/>
            </a:solidFill>
            <a:prstDash val="solid"/>
          </a:ln>
        </p:spPr>
      </p:sp>
      <p:sp>
        <p:nvSpPr>
          <p:cNvPr id="96" name="Shape 94"/>
          <p:cNvSpPr/>
          <p:nvPr/>
        </p:nvSpPr>
        <p:spPr>
          <a:xfrm>
            <a:off x="4192930" y="7175500"/>
            <a:ext cx="80467" cy="76200"/>
          </a:xfrm>
          <a:prstGeom prst="line">
            <a:avLst/>
          </a:prstGeom>
          <a:noFill/>
          <a:ln w="35560">
            <a:solidFill>
              <a:srgbClr val="3E7568"/>
            </a:solidFill>
            <a:prstDash val="solid"/>
          </a:ln>
        </p:spPr>
      </p:sp>
      <p:sp>
        <p:nvSpPr>
          <p:cNvPr id="97" name="Shape 95"/>
          <p:cNvSpPr/>
          <p:nvPr/>
        </p:nvSpPr>
        <p:spPr>
          <a:xfrm>
            <a:off x="4203548" y="7105650"/>
            <a:ext cx="139700" cy="139700"/>
          </a:xfrm>
          <a:prstGeom prst="hexagon">
            <a:avLst/>
          </a:prstGeom>
          <a:solidFill>
            <a:srgbClr val="3E7568"/>
          </a:solidFill>
          <a:ln w="7620">
            <a:solidFill>
              <a:srgbClr val="252525"/>
            </a:solidFill>
            <a:prstDash val="solid"/>
          </a:ln>
        </p:spPr>
      </p:sp>
      <p:sp>
        <p:nvSpPr>
          <p:cNvPr id="98" name="Shape 96"/>
          <p:cNvSpPr/>
          <p:nvPr/>
        </p:nvSpPr>
        <p:spPr>
          <a:xfrm>
            <a:off x="4110380" y="7169150"/>
            <a:ext cx="165100" cy="165100"/>
          </a:xfrm>
          <a:prstGeom prst="hexagon">
            <a:avLst/>
          </a:prstGeom>
          <a:solidFill>
            <a:srgbClr val="3E7568"/>
          </a:solidFill>
          <a:ln w="7620">
            <a:solidFill>
              <a:srgbClr val="252525"/>
            </a:solidFill>
            <a:prstDash val="solid"/>
          </a:ln>
        </p:spPr>
      </p:sp>
      <p:sp>
        <p:nvSpPr>
          <p:cNvPr id="99" name="Text 97"/>
          <p:cNvSpPr/>
          <p:nvPr/>
        </p:nvSpPr>
        <p:spPr>
          <a:xfrm>
            <a:off x="3810000" y="73914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32.8 → 26.2</a:t>
            </a:r>
            <a:endParaRPr lang="en-US" sz="830" dirty="0"/>
          </a:p>
        </p:txBody>
      </p:sp>
      <p:sp>
        <p:nvSpPr>
          <p:cNvPr id="100" name="Shape 98"/>
          <p:cNvSpPr/>
          <p:nvPr/>
        </p:nvSpPr>
        <p:spPr>
          <a:xfrm>
            <a:off x="5575300" y="7213600"/>
            <a:ext cx="1219200" cy="0"/>
          </a:xfrm>
          <a:prstGeom prst="line">
            <a:avLst/>
          </a:prstGeom>
          <a:noFill/>
          <a:ln w="5715">
            <a:solidFill>
              <a:srgbClr val="B7B0A4"/>
            </a:solidFill>
            <a:prstDash val="solid"/>
          </a:ln>
        </p:spPr>
      </p:sp>
      <p:sp>
        <p:nvSpPr>
          <p:cNvPr id="101" name="Shape 99"/>
          <p:cNvSpPr/>
          <p:nvPr/>
        </p:nvSpPr>
        <p:spPr>
          <a:xfrm>
            <a:off x="6164174" y="7175500"/>
            <a:ext cx="182880" cy="76200"/>
          </a:xfrm>
          <a:prstGeom prst="line">
            <a:avLst/>
          </a:prstGeom>
          <a:noFill/>
          <a:ln w="35560">
            <a:solidFill>
              <a:srgbClr val="3E7568"/>
            </a:solidFill>
            <a:prstDash val="solid"/>
          </a:ln>
        </p:spPr>
      </p:sp>
      <p:sp>
        <p:nvSpPr>
          <p:cNvPr id="102" name="Shape 100"/>
          <p:cNvSpPr/>
          <p:nvPr/>
        </p:nvSpPr>
        <p:spPr>
          <a:xfrm>
            <a:off x="6094324" y="7105650"/>
            <a:ext cx="139700" cy="139700"/>
          </a:xfrm>
          <a:prstGeom prst="hexagon">
            <a:avLst/>
          </a:prstGeom>
          <a:solidFill>
            <a:srgbClr val="3E7568"/>
          </a:solidFill>
          <a:ln w="7620">
            <a:solidFill>
              <a:srgbClr val="252525"/>
            </a:solidFill>
            <a:prstDash val="solid"/>
          </a:ln>
        </p:spPr>
      </p:sp>
      <p:sp>
        <p:nvSpPr>
          <p:cNvPr id="103" name="Shape 101"/>
          <p:cNvSpPr/>
          <p:nvPr/>
        </p:nvSpPr>
        <p:spPr>
          <a:xfrm>
            <a:off x="6264504" y="7169150"/>
            <a:ext cx="165100" cy="165100"/>
          </a:xfrm>
          <a:prstGeom prst="hexagon">
            <a:avLst/>
          </a:prstGeom>
          <a:solidFill>
            <a:srgbClr val="3E7568"/>
          </a:solidFill>
          <a:ln w="7620">
            <a:solidFill>
              <a:srgbClr val="252525"/>
            </a:solidFill>
            <a:prstDash val="solid"/>
          </a:ln>
        </p:spPr>
      </p:sp>
      <p:sp>
        <p:nvSpPr>
          <p:cNvPr id="104" name="Text 102"/>
          <p:cNvSpPr/>
          <p:nvPr/>
        </p:nvSpPr>
        <p:spPr>
          <a:xfrm>
            <a:off x="5511800" y="73914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48.3 → 63.3</a:t>
            </a:r>
            <a:endParaRPr lang="en-US" sz="830" dirty="0"/>
          </a:p>
        </p:txBody>
      </p:sp>
      <p:sp>
        <p:nvSpPr>
          <p:cNvPr id="105" name="Shape 103"/>
          <p:cNvSpPr/>
          <p:nvPr/>
        </p:nvSpPr>
        <p:spPr>
          <a:xfrm>
            <a:off x="457200" y="7632700"/>
            <a:ext cx="6642100" cy="0"/>
          </a:xfrm>
          <a:prstGeom prst="line">
            <a:avLst/>
          </a:prstGeom>
          <a:noFill/>
          <a:ln w="5715">
            <a:solidFill>
              <a:srgbClr val="B7B0A4"/>
            </a:solidFill>
            <a:prstDash val="solid"/>
          </a:ln>
        </p:spPr>
      </p:sp>
      <p:sp>
        <p:nvSpPr>
          <p:cNvPr id="106" name="Shape 104"/>
          <p:cNvSpPr/>
          <p:nvPr/>
        </p:nvSpPr>
        <p:spPr>
          <a:xfrm>
            <a:off x="457200" y="7962900"/>
            <a:ext cx="127000" cy="0"/>
          </a:xfrm>
          <a:prstGeom prst="line">
            <a:avLst/>
          </a:prstGeom>
          <a:noFill/>
          <a:ln w="40640">
            <a:solidFill>
              <a:srgbClr val="252525"/>
            </a:solidFill>
            <a:prstDash val="solid"/>
          </a:ln>
        </p:spPr>
      </p:sp>
      <p:sp>
        <p:nvSpPr>
          <p:cNvPr id="107" name="Shape 105"/>
          <p:cNvSpPr/>
          <p:nvPr/>
        </p:nvSpPr>
        <p:spPr>
          <a:xfrm>
            <a:off x="520700" y="7899400"/>
            <a:ext cx="0" cy="127000"/>
          </a:xfrm>
          <a:prstGeom prst="line">
            <a:avLst/>
          </a:prstGeom>
          <a:noFill/>
          <a:ln w="40640">
            <a:solidFill>
              <a:srgbClr val="252525"/>
            </a:solidFill>
            <a:prstDash val="solid"/>
          </a:ln>
        </p:spPr>
      </p:sp>
      <p:sp>
        <p:nvSpPr>
          <p:cNvPr id="108" name="Shape 106"/>
          <p:cNvSpPr/>
          <p:nvPr/>
        </p:nvSpPr>
        <p:spPr>
          <a:xfrm>
            <a:off x="457200" y="7962900"/>
            <a:ext cx="127000" cy="0"/>
          </a:xfrm>
          <a:prstGeom prst="line">
            <a:avLst/>
          </a:prstGeom>
          <a:noFill/>
          <a:ln w="22860">
            <a:solidFill>
              <a:srgbClr val="A63A3A"/>
            </a:solidFill>
            <a:prstDash val="solid"/>
          </a:ln>
        </p:spPr>
      </p:sp>
      <p:sp>
        <p:nvSpPr>
          <p:cNvPr id="109" name="Shape 107"/>
          <p:cNvSpPr/>
          <p:nvPr/>
        </p:nvSpPr>
        <p:spPr>
          <a:xfrm>
            <a:off x="520700" y="7899400"/>
            <a:ext cx="0" cy="127000"/>
          </a:xfrm>
          <a:prstGeom prst="line">
            <a:avLst/>
          </a:prstGeom>
          <a:noFill/>
          <a:ln w="22860">
            <a:solidFill>
              <a:srgbClr val="A63A3A"/>
            </a:solidFill>
            <a:prstDash val="solid"/>
          </a:ln>
        </p:spPr>
      </p:sp>
      <p:sp>
        <p:nvSpPr>
          <p:cNvPr id="110" name="Text 108"/>
          <p:cNvSpPr/>
          <p:nvPr/>
        </p:nvSpPr>
        <p:spPr>
          <a:xfrm>
            <a:off x="711200" y="7848600"/>
            <a:ext cx="1270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111" name="Shape 109"/>
          <p:cNvSpPr/>
          <p:nvPr/>
        </p:nvSpPr>
        <p:spPr>
          <a:xfrm>
            <a:off x="2171700" y="8001000"/>
            <a:ext cx="1219200" cy="0"/>
          </a:xfrm>
          <a:prstGeom prst="line">
            <a:avLst/>
          </a:prstGeom>
          <a:noFill/>
          <a:ln w="5715">
            <a:solidFill>
              <a:srgbClr val="B7B0A4"/>
            </a:solidFill>
            <a:prstDash val="solid"/>
          </a:ln>
        </p:spPr>
      </p:sp>
      <p:sp>
        <p:nvSpPr>
          <p:cNvPr id="112" name="Shape 110"/>
          <p:cNvSpPr/>
          <p:nvPr/>
        </p:nvSpPr>
        <p:spPr>
          <a:xfrm>
            <a:off x="2470404" y="7962900"/>
            <a:ext cx="238963" cy="76200"/>
          </a:xfrm>
          <a:prstGeom prst="line">
            <a:avLst/>
          </a:prstGeom>
          <a:noFill/>
          <a:ln w="35560">
            <a:solidFill>
              <a:srgbClr val="A63A3A"/>
            </a:solidFill>
            <a:prstDash val="solid"/>
          </a:ln>
        </p:spPr>
      </p:sp>
      <p:sp>
        <p:nvSpPr>
          <p:cNvPr id="113" name="Shape 111"/>
          <p:cNvSpPr/>
          <p:nvPr/>
        </p:nvSpPr>
        <p:spPr>
          <a:xfrm>
            <a:off x="2639517" y="7962900"/>
            <a:ext cx="139700" cy="0"/>
          </a:xfrm>
          <a:prstGeom prst="line">
            <a:avLst/>
          </a:prstGeom>
          <a:noFill/>
          <a:ln w="40640">
            <a:solidFill>
              <a:srgbClr val="252525"/>
            </a:solidFill>
            <a:prstDash val="solid"/>
          </a:ln>
        </p:spPr>
      </p:sp>
      <p:sp>
        <p:nvSpPr>
          <p:cNvPr id="114" name="Shape 112"/>
          <p:cNvSpPr/>
          <p:nvPr/>
        </p:nvSpPr>
        <p:spPr>
          <a:xfrm>
            <a:off x="2709367" y="7893050"/>
            <a:ext cx="0" cy="139700"/>
          </a:xfrm>
          <a:prstGeom prst="line">
            <a:avLst/>
          </a:prstGeom>
          <a:noFill/>
          <a:ln w="40640">
            <a:solidFill>
              <a:srgbClr val="252525"/>
            </a:solidFill>
            <a:prstDash val="solid"/>
          </a:ln>
        </p:spPr>
      </p:sp>
      <p:sp>
        <p:nvSpPr>
          <p:cNvPr id="115" name="Shape 113"/>
          <p:cNvSpPr/>
          <p:nvPr/>
        </p:nvSpPr>
        <p:spPr>
          <a:xfrm>
            <a:off x="2639517" y="7962900"/>
            <a:ext cx="139700" cy="0"/>
          </a:xfrm>
          <a:prstGeom prst="line">
            <a:avLst/>
          </a:prstGeom>
          <a:noFill/>
          <a:ln w="22860">
            <a:solidFill>
              <a:srgbClr val="A63A3A"/>
            </a:solidFill>
            <a:prstDash val="solid"/>
          </a:ln>
        </p:spPr>
      </p:sp>
      <p:sp>
        <p:nvSpPr>
          <p:cNvPr id="116" name="Shape 114"/>
          <p:cNvSpPr/>
          <p:nvPr/>
        </p:nvSpPr>
        <p:spPr>
          <a:xfrm>
            <a:off x="2709367" y="7893050"/>
            <a:ext cx="0" cy="139700"/>
          </a:xfrm>
          <a:prstGeom prst="line">
            <a:avLst/>
          </a:prstGeom>
          <a:noFill/>
          <a:ln w="22860">
            <a:solidFill>
              <a:srgbClr val="A63A3A"/>
            </a:solidFill>
            <a:prstDash val="solid"/>
          </a:ln>
        </p:spPr>
      </p:sp>
      <p:sp>
        <p:nvSpPr>
          <p:cNvPr id="117" name="Shape 115"/>
          <p:cNvSpPr/>
          <p:nvPr/>
        </p:nvSpPr>
        <p:spPr>
          <a:xfrm>
            <a:off x="2387854" y="8039100"/>
            <a:ext cx="165100" cy="0"/>
          </a:xfrm>
          <a:prstGeom prst="line">
            <a:avLst/>
          </a:prstGeom>
          <a:noFill/>
          <a:ln w="40640">
            <a:solidFill>
              <a:srgbClr val="252525"/>
            </a:solidFill>
            <a:prstDash val="solid"/>
          </a:ln>
        </p:spPr>
      </p:sp>
      <p:sp>
        <p:nvSpPr>
          <p:cNvPr id="118" name="Shape 116"/>
          <p:cNvSpPr/>
          <p:nvPr/>
        </p:nvSpPr>
        <p:spPr>
          <a:xfrm>
            <a:off x="2470404" y="7956550"/>
            <a:ext cx="0" cy="165100"/>
          </a:xfrm>
          <a:prstGeom prst="line">
            <a:avLst/>
          </a:prstGeom>
          <a:noFill/>
          <a:ln w="40640">
            <a:solidFill>
              <a:srgbClr val="252525"/>
            </a:solidFill>
            <a:prstDash val="solid"/>
          </a:ln>
        </p:spPr>
      </p:sp>
      <p:sp>
        <p:nvSpPr>
          <p:cNvPr id="119" name="Shape 117"/>
          <p:cNvSpPr/>
          <p:nvPr/>
        </p:nvSpPr>
        <p:spPr>
          <a:xfrm>
            <a:off x="2387854" y="8039100"/>
            <a:ext cx="165100" cy="0"/>
          </a:xfrm>
          <a:prstGeom prst="line">
            <a:avLst/>
          </a:prstGeom>
          <a:noFill/>
          <a:ln w="22860">
            <a:solidFill>
              <a:srgbClr val="A63A3A"/>
            </a:solidFill>
            <a:prstDash val="solid"/>
          </a:ln>
        </p:spPr>
      </p:sp>
      <p:sp>
        <p:nvSpPr>
          <p:cNvPr id="120" name="Shape 118"/>
          <p:cNvSpPr/>
          <p:nvPr/>
        </p:nvSpPr>
        <p:spPr>
          <a:xfrm>
            <a:off x="2470404" y="7956550"/>
            <a:ext cx="0" cy="165100"/>
          </a:xfrm>
          <a:prstGeom prst="line">
            <a:avLst/>
          </a:prstGeom>
          <a:noFill/>
          <a:ln w="22860">
            <a:solidFill>
              <a:srgbClr val="A63A3A"/>
            </a:solidFill>
            <a:prstDash val="solid"/>
          </a:ln>
        </p:spPr>
      </p:sp>
      <p:sp>
        <p:nvSpPr>
          <p:cNvPr id="121" name="Text 119"/>
          <p:cNvSpPr/>
          <p:nvPr/>
        </p:nvSpPr>
        <p:spPr>
          <a:xfrm>
            <a:off x="2108200" y="81788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44.1 → 24.5</a:t>
            </a:r>
            <a:endParaRPr lang="en-US" sz="830" dirty="0"/>
          </a:p>
        </p:txBody>
      </p:sp>
      <p:sp>
        <p:nvSpPr>
          <p:cNvPr id="122" name="Shape 120"/>
          <p:cNvSpPr/>
          <p:nvPr/>
        </p:nvSpPr>
        <p:spPr>
          <a:xfrm>
            <a:off x="3873500" y="8001000"/>
            <a:ext cx="1219200" cy="0"/>
          </a:xfrm>
          <a:prstGeom prst="line">
            <a:avLst/>
          </a:prstGeom>
          <a:noFill/>
          <a:ln w="5715">
            <a:solidFill>
              <a:srgbClr val="B7B0A4"/>
            </a:solidFill>
            <a:prstDash val="solid"/>
          </a:ln>
        </p:spPr>
      </p:sp>
      <p:sp>
        <p:nvSpPr>
          <p:cNvPr id="123" name="Shape 121"/>
          <p:cNvSpPr/>
          <p:nvPr/>
        </p:nvSpPr>
        <p:spPr>
          <a:xfrm>
            <a:off x="4075887" y="7962900"/>
            <a:ext cx="25603" cy="76200"/>
          </a:xfrm>
          <a:prstGeom prst="line">
            <a:avLst/>
          </a:prstGeom>
          <a:noFill/>
          <a:ln w="35560">
            <a:solidFill>
              <a:srgbClr val="A63A3A"/>
            </a:solidFill>
            <a:prstDash val="solid"/>
          </a:ln>
        </p:spPr>
      </p:sp>
      <p:sp>
        <p:nvSpPr>
          <p:cNvPr id="124" name="Shape 122"/>
          <p:cNvSpPr/>
          <p:nvPr/>
        </p:nvSpPr>
        <p:spPr>
          <a:xfrm>
            <a:off x="4006037" y="7962900"/>
            <a:ext cx="139700" cy="0"/>
          </a:xfrm>
          <a:prstGeom prst="line">
            <a:avLst/>
          </a:prstGeom>
          <a:noFill/>
          <a:ln w="40640">
            <a:solidFill>
              <a:srgbClr val="252525"/>
            </a:solidFill>
            <a:prstDash val="solid"/>
          </a:ln>
        </p:spPr>
      </p:sp>
      <p:sp>
        <p:nvSpPr>
          <p:cNvPr id="125" name="Shape 123"/>
          <p:cNvSpPr/>
          <p:nvPr/>
        </p:nvSpPr>
        <p:spPr>
          <a:xfrm>
            <a:off x="4075887" y="7893050"/>
            <a:ext cx="0" cy="139700"/>
          </a:xfrm>
          <a:prstGeom prst="line">
            <a:avLst/>
          </a:prstGeom>
          <a:noFill/>
          <a:ln w="40640">
            <a:solidFill>
              <a:srgbClr val="252525"/>
            </a:solidFill>
            <a:prstDash val="solid"/>
          </a:ln>
        </p:spPr>
      </p:sp>
      <p:sp>
        <p:nvSpPr>
          <p:cNvPr id="126" name="Shape 124"/>
          <p:cNvSpPr/>
          <p:nvPr/>
        </p:nvSpPr>
        <p:spPr>
          <a:xfrm>
            <a:off x="4006037" y="7962900"/>
            <a:ext cx="139700" cy="0"/>
          </a:xfrm>
          <a:prstGeom prst="line">
            <a:avLst/>
          </a:prstGeom>
          <a:noFill/>
          <a:ln w="22860">
            <a:solidFill>
              <a:srgbClr val="A63A3A"/>
            </a:solidFill>
            <a:prstDash val="solid"/>
          </a:ln>
        </p:spPr>
      </p:sp>
      <p:sp>
        <p:nvSpPr>
          <p:cNvPr id="127" name="Shape 125"/>
          <p:cNvSpPr/>
          <p:nvPr/>
        </p:nvSpPr>
        <p:spPr>
          <a:xfrm>
            <a:off x="4075887" y="7893050"/>
            <a:ext cx="0" cy="139700"/>
          </a:xfrm>
          <a:prstGeom prst="line">
            <a:avLst/>
          </a:prstGeom>
          <a:noFill/>
          <a:ln w="22860">
            <a:solidFill>
              <a:srgbClr val="A63A3A"/>
            </a:solidFill>
            <a:prstDash val="solid"/>
          </a:ln>
        </p:spPr>
      </p:sp>
      <p:sp>
        <p:nvSpPr>
          <p:cNvPr id="128" name="Shape 126"/>
          <p:cNvSpPr/>
          <p:nvPr/>
        </p:nvSpPr>
        <p:spPr>
          <a:xfrm>
            <a:off x="4018940" y="8039100"/>
            <a:ext cx="165100" cy="0"/>
          </a:xfrm>
          <a:prstGeom prst="line">
            <a:avLst/>
          </a:prstGeom>
          <a:noFill/>
          <a:ln w="40640">
            <a:solidFill>
              <a:srgbClr val="252525"/>
            </a:solidFill>
            <a:prstDash val="solid"/>
          </a:ln>
        </p:spPr>
      </p:sp>
      <p:sp>
        <p:nvSpPr>
          <p:cNvPr id="129" name="Shape 127"/>
          <p:cNvSpPr/>
          <p:nvPr/>
        </p:nvSpPr>
        <p:spPr>
          <a:xfrm>
            <a:off x="4101490" y="7956550"/>
            <a:ext cx="0" cy="165100"/>
          </a:xfrm>
          <a:prstGeom prst="line">
            <a:avLst/>
          </a:prstGeom>
          <a:noFill/>
          <a:ln w="40640">
            <a:solidFill>
              <a:srgbClr val="252525"/>
            </a:solidFill>
            <a:prstDash val="solid"/>
          </a:ln>
        </p:spPr>
      </p:sp>
      <p:sp>
        <p:nvSpPr>
          <p:cNvPr id="130" name="Shape 128"/>
          <p:cNvSpPr/>
          <p:nvPr/>
        </p:nvSpPr>
        <p:spPr>
          <a:xfrm>
            <a:off x="4018940" y="8039100"/>
            <a:ext cx="165100" cy="0"/>
          </a:xfrm>
          <a:prstGeom prst="line">
            <a:avLst/>
          </a:prstGeom>
          <a:noFill/>
          <a:ln w="22860">
            <a:solidFill>
              <a:srgbClr val="A63A3A"/>
            </a:solidFill>
            <a:prstDash val="solid"/>
          </a:ln>
        </p:spPr>
      </p:sp>
      <p:sp>
        <p:nvSpPr>
          <p:cNvPr id="131" name="Shape 129"/>
          <p:cNvSpPr/>
          <p:nvPr/>
        </p:nvSpPr>
        <p:spPr>
          <a:xfrm>
            <a:off x="4101490" y="7956550"/>
            <a:ext cx="0" cy="165100"/>
          </a:xfrm>
          <a:prstGeom prst="line">
            <a:avLst/>
          </a:prstGeom>
          <a:noFill/>
          <a:ln w="22860">
            <a:solidFill>
              <a:srgbClr val="A63A3A"/>
            </a:solidFill>
            <a:prstDash val="solid"/>
          </a:ln>
        </p:spPr>
      </p:sp>
      <p:sp>
        <p:nvSpPr>
          <p:cNvPr id="132" name="Text 130"/>
          <p:cNvSpPr/>
          <p:nvPr/>
        </p:nvSpPr>
        <p:spPr>
          <a:xfrm>
            <a:off x="3810000" y="81788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16.6 → 18.7</a:t>
            </a:r>
            <a:endParaRPr lang="en-US" sz="830" dirty="0"/>
          </a:p>
        </p:txBody>
      </p:sp>
      <p:sp>
        <p:nvSpPr>
          <p:cNvPr id="133" name="Shape 131"/>
          <p:cNvSpPr/>
          <p:nvPr/>
        </p:nvSpPr>
        <p:spPr>
          <a:xfrm>
            <a:off x="5575300" y="8001000"/>
            <a:ext cx="1219200" cy="0"/>
          </a:xfrm>
          <a:prstGeom prst="line">
            <a:avLst/>
          </a:prstGeom>
          <a:noFill/>
          <a:ln w="5715">
            <a:solidFill>
              <a:srgbClr val="B7B0A4"/>
            </a:solidFill>
            <a:prstDash val="solid"/>
          </a:ln>
        </p:spPr>
      </p:sp>
      <p:sp>
        <p:nvSpPr>
          <p:cNvPr id="134" name="Shape 132"/>
          <p:cNvSpPr/>
          <p:nvPr/>
        </p:nvSpPr>
        <p:spPr>
          <a:xfrm>
            <a:off x="6054446" y="7962900"/>
            <a:ext cx="213360" cy="76200"/>
          </a:xfrm>
          <a:prstGeom prst="line">
            <a:avLst/>
          </a:prstGeom>
          <a:noFill/>
          <a:ln w="35560">
            <a:solidFill>
              <a:srgbClr val="A63A3A"/>
            </a:solidFill>
            <a:prstDash val="solid"/>
          </a:ln>
        </p:spPr>
      </p:sp>
      <p:sp>
        <p:nvSpPr>
          <p:cNvPr id="135" name="Shape 133"/>
          <p:cNvSpPr/>
          <p:nvPr/>
        </p:nvSpPr>
        <p:spPr>
          <a:xfrm>
            <a:off x="5984596" y="7962900"/>
            <a:ext cx="139700" cy="0"/>
          </a:xfrm>
          <a:prstGeom prst="line">
            <a:avLst/>
          </a:prstGeom>
          <a:noFill/>
          <a:ln w="40640">
            <a:solidFill>
              <a:srgbClr val="252525"/>
            </a:solidFill>
            <a:prstDash val="solid"/>
          </a:ln>
        </p:spPr>
      </p:sp>
      <p:sp>
        <p:nvSpPr>
          <p:cNvPr id="136" name="Shape 134"/>
          <p:cNvSpPr/>
          <p:nvPr/>
        </p:nvSpPr>
        <p:spPr>
          <a:xfrm>
            <a:off x="6054446" y="7893050"/>
            <a:ext cx="0" cy="139700"/>
          </a:xfrm>
          <a:prstGeom prst="line">
            <a:avLst/>
          </a:prstGeom>
          <a:noFill/>
          <a:ln w="40640">
            <a:solidFill>
              <a:srgbClr val="252525"/>
            </a:solidFill>
            <a:prstDash val="solid"/>
          </a:ln>
        </p:spPr>
      </p:sp>
      <p:sp>
        <p:nvSpPr>
          <p:cNvPr id="137" name="Shape 135"/>
          <p:cNvSpPr/>
          <p:nvPr/>
        </p:nvSpPr>
        <p:spPr>
          <a:xfrm>
            <a:off x="5984596" y="7962900"/>
            <a:ext cx="139700" cy="0"/>
          </a:xfrm>
          <a:prstGeom prst="line">
            <a:avLst/>
          </a:prstGeom>
          <a:noFill/>
          <a:ln w="22860">
            <a:solidFill>
              <a:srgbClr val="A63A3A"/>
            </a:solidFill>
            <a:prstDash val="solid"/>
          </a:ln>
        </p:spPr>
      </p:sp>
      <p:sp>
        <p:nvSpPr>
          <p:cNvPr id="138" name="Shape 136"/>
          <p:cNvSpPr/>
          <p:nvPr/>
        </p:nvSpPr>
        <p:spPr>
          <a:xfrm>
            <a:off x="6054446" y="7893050"/>
            <a:ext cx="0" cy="139700"/>
          </a:xfrm>
          <a:prstGeom prst="line">
            <a:avLst/>
          </a:prstGeom>
          <a:noFill/>
          <a:ln w="22860">
            <a:solidFill>
              <a:srgbClr val="A63A3A"/>
            </a:solidFill>
            <a:prstDash val="solid"/>
          </a:ln>
        </p:spPr>
      </p:sp>
      <p:sp>
        <p:nvSpPr>
          <p:cNvPr id="139" name="Shape 137"/>
          <p:cNvSpPr/>
          <p:nvPr/>
        </p:nvSpPr>
        <p:spPr>
          <a:xfrm>
            <a:off x="6185256" y="8039100"/>
            <a:ext cx="165100" cy="0"/>
          </a:xfrm>
          <a:prstGeom prst="line">
            <a:avLst/>
          </a:prstGeom>
          <a:noFill/>
          <a:ln w="40640">
            <a:solidFill>
              <a:srgbClr val="252525"/>
            </a:solidFill>
            <a:prstDash val="solid"/>
          </a:ln>
        </p:spPr>
      </p:sp>
      <p:sp>
        <p:nvSpPr>
          <p:cNvPr id="140" name="Shape 138"/>
          <p:cNvSpPr/>
          <p:nvPr/>
        </p:nvSpPr>
        <p:spPr>
          <a:xfrm>
            <a:off x="6267806" y="7956550"/>
            <a:ext cx="0" cy="165100"/>
          </a:xfrm>
          <a:prstGeom prst="line">
            <a:avLst/>
          </a:prstGeom>
          <a:noFill/>
          <a:ln w="40640">
            <a:solidFill>
              <a:srgbClr val="252525"/>
            </a:solidFill>
            <a:prstDash val="solid"/>
          </a:ln>
        </p:spPr>
      </p:sp>
      <p:sp>
        <p:nvSpPr>
          <p:cNvPr id="141" name="Shape 139"/>
          <p:cNvSpPr/>
          <p:nvPr/>
        </p:nvSpPr>
        <p:spPr>
          <a:xfrm>
            <a:off x="6185256" y="8039100"/>
            <a:ext cx="165100" cy="0"/>
          </a:xfrm>
          <a:prstGeom prst="line">
            <a:avLst/>
          </a:prstGeom>
          <a:noFill/>
          <a:ln w="22860">
            <a:solidFill>
              <a:srgbClr val="A63A3A"/>
            </a:solidFill>
            <a:prstDash val="solid"/>
          </a:ln>
        </p:spPr>
      </p:sp>
      <p:sp>
        <p:nvSpPr>
          <p:cNvPr id="142" name="Shape 140"/>
          <p:cNvSpPr/>
          <p:nvPr/>
        </p:nvSpPr>
        <p:spPr>
          <a:xfrm>
            <a:off x="6267806" y="7956550"/>
            <a:ext cx="0" cy="165100"/>
          </a:xfrm>
          <a:prstGeom prst="line">
            <a:avLst/>
          </a:prstGeom>
          <a:noFill/>
          <a:ln w="22860">
            <a:solidFill>
              <a:srgbClr val="A63A3A"/>
            </a:solidFill>
            <a:prstDash val="solid"/>
          </a:ln>
        </p:spPr>
      </p:sp>
      <p:sp>
        <p:nvSpPr>
          <p:cNvPr id="143" name="Text 141"/>
          <p:cNvSpPr/>
          <p:nvPr/>
        </p:nvSpPr>
        <p:spPr>
          <a:xfrm>
            <a:off x="5511800" y="8178800"/>
            <a:ext cx="1346200" cy="215900"/>
          </a:xfrm>
          <a:prstGeom prst="rect">
            <a:avLst/>
          </a:prstGeom>
          <a:noFill/>
          <a:ln/>
        </p:spPr>
        <p:txBody>
          <a:bodyPr wrap="square" lIns="0" tIns="0" rIns="0" bIns="0" rtlCol="0" anchor="t"/>
          <a:lstStyle/>
          <a:p>
            <a:pPr algn="ctr" indent="0" marL="0">
              <a:lnSpc>
                <a:spcPct val="112000"/>
              </a:lnSpc>
              <a:buNone/>
            </a:pPr>
            <a:r>
              <a:rPr lang="en-US" sz="830" b="1" dirty="0">
                <a:solidFill>
                  <a:srgbClr val="252525"/>
                </a:solidFill>
                <a:latin typeface="Montserrat" pitchFamily="34" charset="0"/>
                <a:ea typeface="Montserrat" pitchFamily="34" charset="-122"/>
                <a:cs typeface="Montserrat" pitchFamily="34" charset="-120"/>
              </a:rPr>
              <a:t>39.3 → 56.8</a:t>
            </a:r>
            <a:endParaRPr lang="en-US" sz="830" dirty="0"/>
          </a:p>
        </p:txBody>
      </p:sp>
      <p:sp>
        <p:nvSpPr>
          <p:cNvPr id="144" name="Shape 142"/>
          <p:cNvSpPr/>
          <p:nvPr/>
        </p:nvSpPr>
        <p:spPr>
          <a:xfrm>
            <a:off x="457200" y="8420100"/>
            <a:ext cx="6642100" cy="0"/>
          </a:xfrm>
          <a:prstGeom prst="line">
            <a:avLst/>
          </a:prstGeom>
          <a:noFill/>
          <a:ln w="5715">
            <a:solidFill>
              <a:srgbClr val="B7B0A4"/>
            </a:solidFill>
            <a:prstDash val="solid"/>
          </a:ln>
        </p:spPr>
      </p:sp>
      <p:sp>
        <p:nvSpPr>
          <p:cNvPr id="145" name="Text 143"/>
          <p:cNvSpPr/>
          <p:nvPr/>
        </p:nvSpPr>
        <p:spPr>
          <a:xfrm>
            <a:off x="457200" y="8470900"/>
            <a:ext cx="6642100" cy="355600"/>
          </a:xfrm>
          <a:prstGeom prst="rect">
            <a:avLst/>
          </a:prstGeom>
          <a:noFill/>
          <a:ln/>
        </p:spPr>
        <p:txBody>
          <a:bodyPr wrap="square" lIns="0" tIns="0" rIns="0" bIns="0" rtlCol="0" anchor="t"/>
          <a:lstStyle/>
          <a:p>
            <a:pPr indent="0" marL="0">
              <a:lnSpc>
                <a:spcPct val="112000"/>
              </a:lnSpc>
              <a:buNone/>
            </a:pPr>
            <a:r>
              <a:rPr lang="en-US" sz="820" dirty="0">
                <a:solidFill>
                  <a:srgbClr val="252525"/>
                </a:solidFill>
                <a:latin typeface="Montserrat" pitchFamily="34" charset="0"/>
                <a:ea typeface="Montserrat" pitchFamily="34" charset="-122"/>
                <a:cs typeface="Montserrat" pitchFamily="34" charset="-120"/>
              </a:rPr>
              <a:t>† 1991 explicitly proxies 1990; no 1960 ILO-modelled series. Open marker = 1991; filled country marker = 2020. * Industry includes mining, construction and utilities. Values are percentages of employment.</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02 / COMPARE THE PATHWAYS</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Manufacturing share: gaps shown, not filled</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Manufacturing value added · current-price share of GDP · observed country anchors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(2026), World Development Indicators (SRC-WDI-001). Frozen release: 13 July 2026; retrieved 6 October 2026. Data and locators: project CSVs; reference p. 28. Indicator: NV.IND.MANF.ZS; values are current-price percentages of GDP. Source file: data/charts/manufacturing_share.csv.</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11</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Shares describe a current-price production mix; they cannot identify causes or technology. Ghana/Botswana use 1965 proxies; Mauritius has no 1960 observation; Malaysia 1960 is retrospective territory; historical Philippine series are not comparable.</a:t>
            </a:r>
            <a:endParaRPr lang="en-US" sz="900" dirty="0"/>
          </a:p>
        </p:txBody>
      </p:sp>
      <p:sp>
        <p:nvSpPr>
          <p:cNvPr id="12" name="Text 10"/>
          <p:cNvSpPr/>
          <p:nvPr/>
        </p:nvSpPr>
        <p:spPr>
          <a:xfrm>
            <a:off x="457200" y="2908300"/>
            <a:ext cx="6642100" cy="254000"/>
          </a:xfrm>
          <a:prstGeom prst="rect">
            <a:avLst/>
          </a:prstGeom>
          <a:noFill/>
          <a:ln/>
        </p:spPr>
        <p:txBody>
          <a:bodyPr wrap="square" lIns="0" tIns="0" rIns="0" bIns="0" rtlCol="0" anchor="t"/>
          <a:lstStyle/>
          <a:p>
            <a:pPr indent="0" marL="0">
              <a:lnSpc>
                <a:spcPct val="112000"/>
              </a:lnSpc>
              <a:buNone/>
            </a:pPr>
            <a:r>
              <a:rPr lang="en-US" sz="900" b="1" dirty="0">
                <a:solidFill>
                  <a:srgbClr val="252525"/>
                </a:solidFill>
                <a:latin typeface="Montserrat" pitchFamily="34" charset="0"/>
                <a:ea typeface="Montserrat" pitchFamily="34" charset="-122"/>
                <a:cs typeface="Montserrat" pitchFamily="34" charset="-120"/>
              </a:rPr>
              <a:t>Shared vertical scale: 0–30% of GDP</a:t>
            </a:r>
            <a:endParaRPr lang="en-US" sz="900" dirty="0"/>
          </a:p>
        </p:txBody>
      </p:sp>
      <p:sp>
        <p:nvSpPr>
          <p:cNvPr id="13" name="Text 11"/>
          <p:cNvSpPr/>
          <p:nvPr/>
        </p:nvSpPr>
        <p:spPr>
          <a:xfrm>
            <a:off x="2108200" y="3175000"/>
            <a:ext cx="1409700" cy="381000"/>
          </a:xfrm>
          <a:prstGeom prst="rect">
            <a:avLst/>
          </a:prstGeom>
          <a:noFill/>
          <a:ln/>
        </p:spPr>
        <p:txBody>
          <a:bodyPr wrap="square" lIns="0" tIns="0" rIns="0" bIns="0" rtlCol="0" anchor="t"/>
          <a:lstStyle/>
          <a:p>
            <a:pPr algn="ct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1960 (or visible proxy)</a:t>
            </a:r>
            <a:endParaRPr lang="en-US" sz="800" dirty="0"/>
          </a:p>
        </p:txBody>
      </p:sp>
      <p:sp>
        <p:nvSpPr>
          <p:cNvPr id="14" name="Text 12"/>
          <p:cNvSpPr/>
          <p:nvPr/>
        </p:nvSpPr>
        <p:spPr>
          <a:xfrm>
            <a:off x="3860800" y="3175000"/>
            <a:ext cx="1206500" cy="381000"/>
          </a:xfrm>
          <a:prstGeom prst="rect">
            <a:avLst/>
          </a:prstGeom>
          <a:noFill/>
          <a:ln/>
        </p:spPr>
        <p:txBody>
          <a:bodyPr wrap="square" lIns="0" tIns="0" rIns="0" bIns="0" rtlCol="0" anchor="t"/>
          <a:lstStyle/>
          <a:p>
            <a:pPr algn="ct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1990</a:t>
            </a:r>
            <a:endParaRPr lang="en-US" sz="800" dirty="0"/>
          </a:p>
        </p:txBody>
      </p:sp>
      <p:sp>
        <p:nvSpPr>
          <p:cNvPr id="15" name="Text 13"/>
          <p:cNvSpPr/>
          <p:nvPr/>
        </p:nvSpPr>
        <p:spPr>
          <a:xfrm>
            <a:off x="5613400" y="3175000"/>
            <a:ext cx="1206500" cy="381000"/>
          </a:xfrm>
          <a:prstGeom prst="rect">
            <a:avLst/>
          </a:prstGeom>
          <a:noFill/>
          <a:ln/>
        </p:spPr>
        <p:txBody>
          <a:bodyPr wrap="square" lIns="0" tIns="0" rIns="0" bIns="0" rtlCol="0" anchor="t"/>
          <a:lstStyle/>
          <a:p>
            <a:pPr algn="ct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2020</a:t>
            </a:r>
            <a:endParaRPr lang="en-US" sz="800" dirty="0"/>
          </a:p>
        </p:txBody>
      </p:sp>
      <p:sp>
        <p:nvSpPr>
          <p:cNvPr id="16" name="Shape 14"/>
          <p:cNvSpPr/>
          <p:nvPr/>
        </p:nvSpPr>
        <p:spPr>
          <a:xfrm>
            <a:off x="457200" y="3606800"/>
            <a:ext cx="127000" cy="127000"/>
          </a:xfrm>
          <a:prstGeom prst="ellipse">
            <a:avLst/>
          </a:prstGeom>
          <a:solidFill>
            <a:srgbClr val="B95332"/>
          </a:solidFill>
          <a:ln w="7620">
            <a:solidFill>
              <a:srgbClr val="252525"/>
            </a:solidFill>
            <a:prstDash val="solid"/>
          </a:ln>
        </p:spPr>
      </p:sp>
      <p:sp>
        <p:nvSpPr>
          <p:cNvPr id="17" name="Text 15"/>
          <p:cNvSpPr/>
          <p:nvPr/>
        </p:nvSpPr>
        <p:spPr>
          <a:xfrm>
            <a:off x="711200" y="3556000"/>
            <a:ext cx="16637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18" name="Shape 16"/>
          <p:cNvSpPr/>
          <p:nvPr/>
        </p:nvSpPr>
        <p:spPr>
          <a:xfrm>
            <a:off x="2159000" y="3937000"/>
            <a:ext cx="4749800" cy="0"/>
          </a:xfrm>
          <a:prstGeom prst="line">
            <a:avLst/>
          </a:prstGeom>
          <a:noFill/>
          <a:ln w="4445">
            <a:solidFill>
              <a:srgbClr val="B7B0A4"/>
            </a:solidFill>
            <a:prstDash val="solid"/>
          </a:ln>
        </p:spPr>
      </p:sp>
      <p:sp>
        <p:nvSpPr>
          <p:cNvPr id="19" name="Shape 17"/>
          <p:cNvSpPr/>
          <p:nvPr/>
        </p:nvSpPr>
        <p:spPr>
          <a:xfrm>
            <a:off x="2159000" y="3826933"/>
            <a:ext cx="4749800" cy="0"/>
          </a:xfrm>
          <a:prstGeom prst="line">
            <a:avLst/>
          </a:prstGeom>
          <a:noFill/>
          <a:ln w="4445">
            <a:solidFill>
              <a:srgbClr val="B7B0A4"/>
            </a:solidFill>
            <a:prstDash val="solid"/>
          </a:ln>
        </p:spPr>
      </p:sp>
      <p:sp>
        <p:nvSpPr>
          <p:cNvPr id="20" name="Shape 18"/>
          <p:cNvSpPr/>
          <p:nvPr/>
        </p:nvSpPr>
        <p:spPr>
          <a:xfrm>
            <a:off x="2159000" y="3716867"/>
            <a:ext cx="4749800" cy="0"/>
          </a:xfrm>
          <a:prstGeom prst="line">
            <a:avLst/>
          </a:prstGeom>
          <a:noFill/>
          <a:ln w="4445">
            <a:solidFill>
              <a:srgbClr val="B7B0A4"/>
            </a:solidFill>
            <a:prstDash val="solid"/>
          </a:ln>
        </p:spPr>
      </p:sp>
      <p:sp>
        <p:nvSpPr>
          <p:cNvPr id="21" name="Shape 19"/>
          <p:cNvSpPr/>
          <p:nvPr/>
        </p:nvSpPr>
        <p:spPr>
          <a:xfrm>
            <a:off x="2159000" y="3606800"/>
            <a:ext cx="4749800" cy="0"/>
          </a:xfrm>
          <a:prstGeom prst="line">
            <a:avLst/>
          </a:prstGeom>
          <a:noFill/>
          <a:ln w="4445">
            <a:solidFill>
              <a:srgbClr val="B7B0A4"/>
            </a:solidFill>
            <a:prstDash val="solid"/>
          </a:ln>
        </p:spPr>
      </p:sp>
      <p:sp>
        <p:nvSpPr>
          <p:cNvPr id="22" name="Shape 20"/>
          <p:cNvSpPr/>
          <p:nvPr/>
        </p:nvSpPr>
        <p:spPr>
          <a:xfrm>
            <a:off x="2717800" y="3752935"/>
            <a:ext cx="152400" cy="152400"/>
          </a:xfrm>
          <a:prstGeom prst="ellipse">
            <a:avLst/>
          </a:prstGeom>
          <a:solidFill>
            <a:srgbClr val="B95332"/>
          </a:solidFill>
          <a:ln w="7620">
            <a:solidFill>
              <a:srgbClr val="252525"/>
            </a:solidFill>
            <a:prstDash val="solid"/>
          </a:ln>
        </p:spPr>
      </p:sp>
      <p:sp>
        <p:nvSpPr>
          <p:cNvPr id="23" name="Text 21"/>
          <p:cNvSpPr/>
          <p:nvPr/>
        </p:nvSpPr>
        <p:spPr>
          <a:xfrm>
            <a:off x="2349500" y="40132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1965†</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9.8%</a:t>
            </a:r>
            <a:endParaRPr lang="en-US" sz="800" dirty="0"/>
          </a:p>
        </p:txBody>
      </p:sp>
      <p:sp>
        <p:nvSpPr>
          <p:cNvPr id="24" name="Shape 22"/>
          <p:cNvSpPr/>
          <p:nvPr/>
        </p:nvSpPr>
        <p:spPr>
          <a:xfrm>
            <a:off x="2794000" y="3829135"/>
            <a:ext cx="1752600" cy="0"/>
          </a:xfrm>
          <a:prstGeom prst="line">
            <a:avLst/>
          </a:prstGeom>
          <a:noFill/>
          <a:ln w="35560">
            <a:solidFill>
              <a:srgbClr val="B95332"/>
            </a:solidFill>
            <a:prstDash val="solid"/>
          </a:ln>
        </p:spPr>
      </p:sp>
      <p:sp>
        <p:nvSpPr>
          <p:cNvPr id="25" name="Shape 23"/>
          <p:cNvSpPr/>
          <p:nvPr/>
        </p:nvSpPr>
        <p:spPr>
          <a:xfrm>
            <a:off x="4470400" y="3752935"/>
            <a:ext cx="152400" cy="152400"/>
          </a:xfrm>
          <a:prstGeom prst="ellipse">
            <a:avLst/>
          </a:prstGeom>
          <a:solidFill>
            <a:srgbClr val="B95332"/>
          </a:solidFill>
          <a:ln w="7620">
            <a:solidFill>
              <a:srgbClr val="252525"/>
            </a:solidFill>
            <a:prstDash val="solid"/>
          </a:ln>
        </p:spPr>
      </p:sp>
      <p:sp>
        <p:nvSpPr>
          <p:cNvPr id="26" name="Text 24"/>
          <p:cNvSpPr/>
          <p:nvPr/>
        </p:nvSpPr>
        <p:spPr>
          <a:xfrm>
            <a:off x="4102100" y="40132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1990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9.8%</a:t>
            </a:r>
            <a:endParaRPr lang="en-US" sz="800" dirty="0"/>
          </a:p>
        </p:txBody>
      </p:sp>
      <p:sp>
        <p:nvSpPr>
          <p:cNvPr id="27" name="Shape 25"/>
          <p:cNvSpPr/>
          <p:nvPr/>
        </p:nvSpPr>
        <p:spPr>
          <a:xfrm flipV="1">
            <a:off x="4546600" y="3815927"/>
            <a:ext cx="1752600" cy="13208"/>
          </a:xfrm>
          <a:prstGeom prst="line">
            <a:avLst/>
          </a:prstGeom>
          <a:noFill/>
          <a:ln w="35560">
            <a:solidFill>
              <a:srgbClr val="B95332"/>
            </a:solidFill>
            <a:prstDash val="solid"/>
          </a:ln>
        </p:spPr>
      </p:sp>
      <p:sp>
        <p:nvSpPr>
          <p:cNvPr id="28" name="Shape 26"/>
          <p:cNvSpPr/>
          <p:nvPr/>
        </p:nvSpPr>
        <p:spPr>
          <a:xfrm>
            <a:off x="6223000" y="3739727"/>
            <a:ext cx="152400" cy="152400"/>
          </a:xfrm>
          <a:prstGeom prst="ellipse">
            <a:avLst/>
          </a:prstGeom>
          <a:solidFill>
            <a:srgbClr val="B95332"/>
          </a:solidFill>
          <a:ln w="7620">
            <a:solidFill>
              <a:srgbClr val="252525"/>
            </a:solidFill>
            <a:prstDash val="solid"/>
          </a:ln>
        </p:spPr>
      </p:sp>
      <p:sp>
        <p:nvSpPr>
          <p:cNvPr id="29" name="Text 27"/>
          <p:cNvSpPr/>
          <p:nvPr/>
        </p:nvSpPr>
        <p:spPr>
          <a:xfrm>
            <a:off x="5854700" y="40132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2020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11.0%</a:t>
            </a:r>
            <a:endParaRPr lang="en-US" sz="800" dirty="0"/>
          </a:p>
        </p:txBody>
      </p:sp>
      <p:sp>
        <p:nvSpPr>
          <p:cNvPr id="30" name="Shape 28"/>
          <p:cNvSpPr/>
          <p:nvPr/>
        </p:nvSpPr>
        <p:spPr>
          <a:xfrm>
            <a:off x="457200" y="4330700"/>
            <a:ext cx="6642100" cy="0"/>
          </a:xfrm>
          <a:prstGeom prst="line">
            <a:avLst/>
          </a:prstGeom>
          <a:noFill/>
          <a:ln w="5080">
            <a:solidFill>
              <a:srgbClr val="B7B0A4"/>
            </a:solidFill>
            <a:prstDash val="solid"/>
          </a:ln>
        </p:spPr>
      </p:sp>
      <p:sp>
        <p:nvSpPr>
          <p:cNvPr id="31" name="Shape 29"/>
          <p:cNvSpPr/>
          <p:nvPr/>
        </p:nvSpPr>
        <p:spPr>
          <a:xfrm>
            <a:off x="457200" y="4457700"/>
            <a:ext cx="127000" cy="127000"/>
          </a:xfrm>
          <a:prstGeom prst="rect">
            <a:avLst/>
          </a:prstGeom>
          <a:solidFill>
            <a:srgbClr val="3F684E"/>
          </a:solidFill>
          <a:ln w="7620">
            <a:solidFill>
              <a:srgbClr val="252525"/>
            </a:solidFill>
            <a:prstDash val="solid"/>
          </a:ln>
        </p:spPr>
      </p:sp>
      <p:sp>
        <p:nvSpPr>
          <p:cNvPr id="32" name="Text 30"/>
          <p:cNvSpPr/>
          <p:nvPr/>
        </p:nvSpPr>
        <p:spPr>
          <a:xfrm>
            <a:off x="711200" y="4406900"/>
            <a:ext cx="16637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33" name="Shape 31"/>
          <p:cNvSpPr/>
          <p:nvPr/>
        </p:nvSpPr>
        <p:spPr>
          <a:xfrm>
            <a:off x="2159000" y="4787900"/>
            <a:ext cx="4749800" cy="0"/>
          </a:xfrm>
          <a:prstGeom prst="line">
            <a:avLst/>
          </a:prstGeom>
          <a:noFill/>
          <a:ln w="4445">
            <a:solidFill>
              <a:srgbClr val="B7B0A4"/>
            </a:solidFill>
            <a:prstDash val="solid"/>
          </a:ln>
        </p:spPr>
      </p:sp>
      <p:sp>
        <p:nvSpPr>
          <p:cNvPr id="34" name="Shape 32"/>
          <p:cNvSpPr/>
          <p:nvPr/>
        </p:nvSpPr>
        <p:spPr>
          <a:xfrm>
            <a:off x="2159000" y="4677833"/>
            <a:ext cx="4749800" cy="0"/>
          </a:xfrm>
          <a:prstGeom prst="line">
            <a:avLst/>
          </a:prstGeom>
          <a:noFill/>
          <a:ln w="4445">
            <a:solidFill>
              <a:srgbClr val="B7B0A4"/>
            </a:solidFill>
            <a:prstDash val="solid"/>
          </a:ln>
        </p:spPr>
      </p:sp>
      <p:sp>
        <p:nvSpPr>
          <p:cNvPr id="35" name="Shape 33"/>
          <p:cNvSpPr/>
          <p:nvPr/>
        </p:nvSpPr>
        <p:spPr>
          <a:xfrm>
            <a:off x="2159000" y="4567767"/>
            <a:ext cx="4749800" cy="0"/>
          </a:xfrm>
          <a:prstGeom prst="line">
            <a:avLst/>
          </a:prstGeom>
          <a:noFill/>
          <a:ln w="4445">
            <a:solidFill>
              <a:srgbClr val="B7B0A4"/>
            </a:solidFill>
            <a:prstDash val="solid"/>
          </a:ln>
        </p:spPr>
      </p:sp>
      <p:sp>
        <p:nvSpPr>
          <p:cNvPr id="36" name="Shape 34"/>
          <p:cNvSpPr/>
          <p:nvPr/>
        </p:nvSpPr>
        <p:spPr>
          <a:xfrm>
            <a:off x="2159000" y="4457700"/>
            <a:ext cx="4749800" cy="0"/>
          </a:xfrm>
          <a:prstGeom prst="line">
            <a:avLst/>
          </a:prstGeom>
          <a:noFill/>
          <a:ln w="4445">
            <a:solidFill>
              <a:srgbClr val="B7B0A4"/>
            </a:solidFill>
            <a:prstDash val="solid"/>
          </a:ln>
        </p:spPr>
      </p:sp>
      <p:sp>
        <p:nvSpPr>
          <p:cNvPr id="37" name="Shape 35"/>
          <p:cNvSpPr/>
          <p:nvPr/>
        </p:nvSpPr>
        <p:spPr>
          <a:xfrm>
            <a:off x="2717800" y="4584023"/>
            <a:ext cx="152400" cy="152400"/>
          </a:xfrm>
          <a:prstGeom prst="rect">
            <a:avLst/>
          </a:prstGeom>
          <a:solidFill>
            <a:srgbClr val="3F684E"/>
          </a:solidFill>
          <a:ln w="7620">
            <a:solidFill>
              <a:srgbClr val="252525"/>
            </a:solidFill>
            <a:prstDash val="solid"/>
          </a:ln>
        </p:spPr>
      </p:sp>
      <p:sp>
        <p:nvSpPr>
          <p:cNvPr id="38" name="Text 36"/>
          <p:cNvSpPr/>
          <p:nvPr/>
        </p:nvSpPr>
        <p:spPr>
          <a:xfrm>
            <a:off x="2349500" y="48641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1965†</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11.6%</a:t>
            </a:r>
            <a:endParaRPr lang="en-US" sz="800" dirty="0"/>
          </a:p>
        </p:txBody>
      </p:sp>
      <p:sp>
        <p:nvSpPr>
          <p:cNvPr id="39" name="Shape 37"/>
          <p:cNvSpPr/>
          <p:nvPr/>
        </p:nvSpPr>
        <p:spPr>
          <a:xfrm>
            <a:off x="2794000" y="4660223"/>
            <a:ext cx="1752600" cy="74845"/>
          </a:xfrm>
          <a:prstGeom prst="line">
            <a:avLst/>
          </a:prstGeom>
          <a:noFill/>
          <a:ln w="35560">
            <a:solidFill>
              <a:srgbClr val="3F684E"/>
            </a:solidFill>
            <a:prstDash val="solid"/>
          </a:ln>
        </p:spPr>
      </p:sp>
      <p:sp>
        <p:nvSpPr>
          <p:cNvPr id="40" name="Shape 38"/>
          <p:cNvSpPr/>
          <p:nvPr/>
        </p:nvSpPr>
        <p:spPr>
          <a:xfrm>
            <a:off x="4470400" y="4658868"/>
            <a:ext cx="152400" cy="152400"/>
          </a:xfrm>
          <a:prstGeom prst="rect">
            <a:avLst/>
          </a:prstGeom>
          <a:solidFill>
            <a:srgbClr val="3F684E"/>
          </a:solidFill>
          <a:ln w="7620">
            <a:solidFill>
              <a:srgbClr val="252525"/>
            </a:solidFill>
            <a:prstDash val="solid"/>
          </a:ln>
        </p:spPr>
      </p:sp>
      <p:sp>
        <p:nvSpPr>
          <p:cNvPr id="41" name="Text 39"/>
          <p:cNvSpPr/>
          <p:nvPr/>
        </p:nvSpPr>
        <p:spPr>
          <a:xfrm>
            <a:off x="4102100" y="48641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1990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4.8%</a:t>
            </a:r>
            <a:endParaRPr lang="en-US" sz="800" dirty="0"/>
          </a:p>
        </p:txBody>
      </p:sp>
      <p:sp>
        <p:nvSpPr>
          <p:cNvPr id="42" name="Shape 40"/>
          <p:cNvSpPr/>
          <p:nvPr/>
        </p:nvSpPr>
        <p:spPr>
          <a:xfrm flipV="1">
            <a:off x="4546600" y="4725162"/>
            <a:ext cx="1752600" cy="9906"/>
          </a:xfrm>
          <a:prstGeom prst="line">
            <a:avLst/>
          </a:prstGeom>
          <a:noFill/>
          <a:ln w="35560">
            <a:solidFill>
              <a:srgbClr val="3F684E"/>
            </a:solidFill>
            <a:prstDash val="solid"/>
          </a:ln>
        </p:spPr>
      </p:sp>
      <p:sp>
        <p:nvSpPr>
          <p:cNvPr id="43" name="Shape 41"/>
          <p:cNvSpPr/>
          <p:nvPr/>
        </p:nvSpPr>
        <p:spPr>
          <a:xfrm>
            <a:off x="6223000" y="4648962"/>
            <a:ext cx="152400" cy="152400"/>
          </a:xfrm>
          <a:prstGeom prst="rect">
            <a:avLst/>
          </a:prstGeom>
          <a:solidFill>
            <a:srgbClr val="3F684E"/>
          </a:solidFill>
          <a:ln w="7620">
            <a:solidFill>
              <a:srgbClr val="252525"/>
            </a:solidFill>
            <a:prstDash val="solid"/>
          </a:ln>
        </p:spPr>
      </p:sp>
      <p:sp>
        <p:nvSpPr>
          <p:cNvPr id="44" name="Text 42"/>
          <p:cNvSpPr/>
          <p:nvPr/>
        </p:nvSpPr>
        <p:spPr>
          <a:xfrm>
            <a:off x="5854700" y="48641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2020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5.7%</a:t>
            </a:r>
            <a:endParaRPr lang="en-US" sz="800" dirty="0"/>
          </a:p>
        </p:txBody>
      </p:sp>
      <p:sp>
        <p:nvSpPr>
          <p:cNvPr id="45" name="Shape 43"/>
          <p:cNvSpPr/>
          <p:nvPr/>
        </p:nvSpPr>
        <p:spPr>
          <a:xfrm>
            <a:off x="457200" y="5181600"/>
            <a:ext cx="6642100" cy="0"/>
          </a:xfrm>
          <a:prstGeom prst="line">
            <a:avLst/>
          </a:prstGeom>
          <a:noFill/>
          <a:ln w="5080">
            <a:solidFill>
              <a:srgbClr val="B7B0A4"/>
            </a:solidFill>
            <a:prstDash val="solid"/>
          </a:ln>
        </p:spPr>
      </p:sp>
      <p:sp>
        <p:nvSpPr>
          <p:cNvPr id="46" name="Shape 44"/>
          <p:cNvSpPr/>
          <p:nvPr/>
        </p:nvSpPr>
        <p:spPr>
          <a:xfrm>
            <a:off x="457200" y="5308600"/>
            <a:ext cx="127000" cy="127000"/>
          </a:xfrm>
          <a:prstGeom prst="triangle">
            <a:avLst/>
          </a:prstGeom>
          <a:solidFill>
            <a:srgbClr val="D6A23A"/>
          </a:solidFill>
          <a:ln w="7620">
            <a:solidFill>
              <a:srgbClr val="252525"/>
            </a:solidFill>
            <a:prstDash val="solid"/>
          </a:ln>
        </p:spPr>
      </p:sp>
      <p:sp>
        <p:nvSpPr>
          <p:cNvPr id="47" name="Text 45"/>
          <p:cNvSpPr/>
          <p:nvPr/>
        </p:nvSpPr>
        <p:spPr>
          <a:xfrm>
            <a:off x="711200" y="5257800"/>
            <a:ext cx="16637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48" name="Shape 46"/>
          <p:cNvSpPr/>
          <p:nvPr/>
        </p:nvSpPr>
        <p:spPr>
          <a:xfrm>
            <a:off x="2159000" y="5638800"/>
            <a:ext cx="4749800" cy="0"/>
          </a:xfrm>
          <a:prstGeom prst="line">
            <a:avLst/>
          </a:prstGeom>
          <a:noFill/>
          <a:ln w="4445">
            <a:solidFill>
              <a:srgbClr val="B7B0A4"/>
            </a:solidFill>
            <a:prstDash val="solid"/>
          </a:ln>
        </p:spPr>
      </p:sp>
      <p:sp>
        <p:nvSpPr>
          <p:cNvPr id="49" name="Shape 47"/>
          <p:cNvSpPr/>
          <p:nvPr/>
        </p:nvSpPr>
        <p:spPr>
          <a:xfrm>
            <a:off x="2159000" y="5528733"/>
            <a:ext cx="4749800" cy="0"/>
          </a:xfrm>
          <a:prstGeom prst="line">
            <a:avLst/>
          </a:prstGeom>
          <a:noFill/>
          <a:ln w="4445">
            <a:solidFill>
              <a:srgbClr val="B7B0A4"/>
            </a:solidFill>
            <a:prstDash val="solid"/>
          </a:ln>
        </p:spPr>
      </p:sp>
      <p:sp>
        <p:nvSpPr>
          <p:cNvPr id="50" name="Shape 48"/>
          <p:cNvSpPr/>
          <p:nvPr/>
        </p:nvSpPr>
        <p:spPr>
          <a:xfrm>
            <a:off x="2159000" y="5418667"/>
            <a:ext cx="4749800" cy="0"/>
          </a:xfrm>
          <a:prstGeom prst="line">
            <a:avLst/>
          </a:prstGeom>
          <a:noFill/>
          <a:ln w="4445">
            <a:solidFill>
              <a:srgbClr val="B7B0A4"/>
            </a:solidFill>
            <a:prstDash val="solid"/>
          </a:ln>
        </p:spPr>
      </p:sp>
      <p:sp>
        <p:nvSpPr>
          <p:cNvPr id="51" name="Shape 49"/>
          <p:cNvSpPr/>
          <p:nvPr/>
        </p:nvSpPr>
        <p:spPr>
          <a:xfrm>
            <a:off x="2159000" y="5308600"/>
            <a:ext cx="4749800" cy="0"/>
          </a:xfrm>
          <a:prstGeom prst="line">
            <a:avLst/>
          </a:prstGeom>
          <a:noFill/>
          <a:ln w="4445">
            <a:solidFill>
              <a:srgbClr val="B7B0A4"/>
            </a:solidFill>
            <a:prstDash val="solid"/>
          </a:ln>
        </p:spPr>
      </p:sp>
      <p:sp>
        <p:nvSpPr>
          <p:cNvPr id="52" name="Text 50"/>
          <p:cNvSpPr/>
          <p:nvPr/>
        </p:nvSpPr>
        <p:spPr>
          <a:xfrm>
            <a:off x="2362200" y="5765800"/>
            <a:ext cx="863600" cy="190500"/>
          </a:xfrm>
          <a:prstGeom prst="rect">
            <a:avLst/>
          </a:prstGeom>
          <a:noFill/>
          <a:ln/>
        </p:spPr>
        <p:txBody>
          <a:bodyPr wrap="square" lIns="0" tIns="0" rIns="0" bIns="0" rtlCol="0" anchor="t"/>
          <a:lstStyle/>
          <a:p>
            <a:pPr algn="ct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NO DATA</a:t>
            </a:r>
            <a:endParaRPr lang="en-US" sz="800" dirty="0"/>
          </a:p>
        </p:txBody>
      </p:sp>
      <p:sp>
        <p:nvSpPr>
          <p:cNvPr id="53" name="Shape 51"/>
          <p:cNvSpPr/>
          <p:nvPr/>
        </p:nvSpPr>
        <p:spPr>
          <a:xfrm>
            <a:off x="4470400" y="5338064"/>
            <a:ext cx="152400" cy="152400"/>
          </a:xfrm>
          <a:prstGeom prst="triangle">
            <a:avLst/>
          </a:prstGeom>
          <a:solidFill>
            <a:srgbClr val="D6A23A"/>
          </a:solidFill>
          <a:ln w="7620">
            <a:solidFill>
              <a:srgbClr val="252525"/>
            </a:solidFill>
            <a:prstDash val="solid"/>
          </a:ln>
        </p:spPr>
      </p:sp>
      <p:sp>
        <p:nvSpPr>
          <p:cNvPr id="54" name="Text 52"/>
          <p:cNvSpPr/>
          <p:nvPr/>
        </p:nvSpPr>
        <p:spPr>
          <a:xfrm>
            <a:off x="4102100" y="57150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1990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20.4%</a:t>
            </a:r>
            <a:endParaRPr lang="en-US" sz="800" dirty="0"/>
          </a:p>
        </p:txBody>
      </p:sp>
      <p:sp>
        <p:nvSpPr>
          <p:cNvPr id="55" name="Shape 53"/>
          <p:cNvSpPr/>
          <p:nvPr/>
        </p:nvSpPr>
        <p:spPr>
          <a:xfrm>
            <a:off x="4546600" y="5414264"/>
            <a:ext cx="1752600" cy="106765"/>
          </a:xfrm>
          <a:prstGeom prst="line">
            <a:avLst/>
          </a:prstGeom>
          <a:noFill/>
          <a:ln w="35560">
            <a:solidFill>
              <a:srgbClr val="D6A23A"/>
            </a:solidFill>
            <a:prstDash val="solid"/>
          </a:ln>
        </p:spPr>
      </p:sp>
      <p:sp>
        <p:nvSpPr>
          <p:cNvPr id="56" name="Shape 54"/>
          <p:cNvSpPr/>
          <p:nvPr/>
        </p:nvSpPr>
        <p:spPr>
          <a:xfrm>
            <a:off x="6223000" y="5444829"/>
            <a:ext cx="152400" cy="152400"/>
          </a:xfrm>
          <a:prstGeom prst="triangle">
            <a:avLst/>
          </a:prstGeom>
          <a:solidFill>
            <a:srgbClr val="D6A23A"/>
          </a:solidFill>
          <a:ln w="7620">
            <a:solidFill>
              <a:srgbClr val="252525"/>
            </a:solidFill>
            <a:prstDash val="solid"/>
          </a:ln>
        </p:spPr>
      </p:sp>
      <p:sp>
        <p:nvSpPr>
          <p:cNvPr id="57" name="Text 55"/>
          <p:cNvSpPr/>
          <p:nvPr/>
        </p:nvSpPr>
        <p:spPr>
          <a:xfrm>
            <a:off x="5854700" y="57150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2020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10.7%</a:t>
            </a:r>
            <a:endParaRPr lang="en-US" sz="800" dirty="0"/>
          </a:p>
        </p:txBody>
      </p:sp>
      <p:sp>
        <p:nvSpPr>
          <p:cNvPr id="58" name="Shape 56"/>
          <p:cNvSpPr/>
          <p:nvPr/>
        </p:nvSpPr>
        <p:spPr>
          <a:xfrm>
            <a:off x="457200" y="6032500"/>
            <a:ext cx="6642100" cy="0"/>
          </a:xfrm>
          <a:prstGeom prst="line">
            <a:avLst/>
          </a:prstGeom>
          <a:noFill/>
          <a:ln w="5080">
            <a:solidFill>
              <a:srgbClr val="B7B0A4"/>
            </a:solidFill>
            <a:prstDash val="solid"/>
          </a:ln>
        </p:spPr>
      </p:sp>
      <p:sp>
        <p:nvSpPr>
          <p:cNvPr id="59" name="Shape 57"/>
          <p:cNvSpPr/>
          <p:nvPr/>
        </p:nvSpPr>
        <p:spPr>
          <a:xfrm>
            <a:off x="457200" y="6159500"/>
            <a:ext cx="127000" cy="127000"/>
          </a:xfrm>
          <a:prstGeom prst="diamond">
            <a:avLst/>
          </a:prstGeom>
          <a:solidFill>
            <a:srgbClr val="315A78"/>
          </a:solidFill>
          <a:ln w="7620">
            <a:solidFill>
              <a:srgbClr val="252525"/>
            </a:solidFill>
            <a:prstDash val="solid"/>
          </a:ln>
        </p:spPr>
      </p:sp>
      <p:sp>
        <p:nvSpPr>
          <p:cNvPr id="60" name="Text 58"/>
          <p:cNvSpPr/>
          <p:nvPr/>
        </p:nvSpPr>
        <p:spPr>
          <a:xfrm>
            <a:off x="711200" y="6108700"/>
            <a:ext cx="16637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61" name="Shape 59"/>
          <p:cNvSpPr/>
          <p:nvPr/>
        </p:nvSpPr>
        <p:spPr>
          <a:xfrm>
            <a:off x="2159000" y="6489700"/>
            <a:ext cx="4749800" cy="0"/>
          </a:xfrm>
          <a:prstGeom prst="line">
            <a:avLst/>
          </a:prstGeom>
          <a:noFill/>
          <a:ln w="4445">
            <a:solidFill>
              <a:srgbClr val="B7B0A4"/>
            </a:solidFill>
            <a:prstDash val="solid"/>
          </a:ln>
        </p:spPr>
      </p:sp>
      <p:sp>
        <p:nvSpPr>
          <p:cNvPr id="62" name="Shape 60"/>
          <p:cNvSpPr/>
          <p:nvPr/>
        </p:nvSpPr>
        <p:spPr>
          <a:xfrm>
            <a:off x="2159000" y="6379633"/>
            <a:ext cx="4749800" cy="0"/>
          </a:xfrm>
          <a:prstGeom prst="line">
            <a:avLst/>
          </a:prstGeom>
          <a:noFill/>
          <a:ln w="4445">
            <a:solidFill>
              <a:srgbClr val="B7B0A4"/>
            </a:solidFill>
            <a:prstDash val="solid"/>
          </a:ln>
        </p:spPr>
      </p:sp>
      <p:sp>
        <p:nvSpPr>
          <p:cNvPr id="63" name="Shape 61"/>
          <p:cNvSpPr/>
          <p:nvPr/>
        </p:nvSpPr>
        <p:spPr>
          <a:xfrm>
            <a:off x="2159000" y="6269567"/>
            <a:ext cx="4749800" cy="0"/>
          </a:xfrm>
          <a:prstGeom prst="line">
            <a:avLst/>
          </a:prstGeom>
          <a:noFill/>
          <a:ln w="4445">
            <a:solidFill>
              <a:srgbClr val="B7B0A4"/>
            </a:solidFill>
            <a:prstDash val="solid"/>
          </a:ln>
        </p:spPr>
      </p:sp>
      <p:sp>
        <p:nvSpPr>
          <p:cNvPr id="64" name="Shape 62"/>
          <p:cNvSpPr/>
          <p:nvPr/>
        </p:nvSpPr>
        <p:spPr>
          <a:xfrm>
            <a:off x="2159000" y="6159500"/>
            <a:ext cx="4749800" cy="0"/>
          </a:xfrm>
          <a:prstGeom prst="line">
            <a:avLst/>
          </a:prstGeom>
          <a:noFill/>
          <a:ln w="4445">
            <a:solidFill>
              <a:srgbClr val="B7B0A4"/>
            </a:solidFill>
            <a:prstDash val="solid"/>
          </a:ln>
        </p:spPr>
      </p:sp>
      <p:sp>
        <p:nvSpPr>
          <p:cNvPr id="65" name="Shape 63"/>
          <p:cNvSpPr/>
          <p:nvPr/>
        </p:nvSpPr>
        <p:spPr>
          <a:xfrm>
            <a:off x="2717800" y="6288024"/>
            <a:ext cx="152400" cy="152400"/>
          </a:xfrm>
          <a:prstGeom prst="diamond">
            <a:avLst/>
          </a:prstGeom>
          <a:solidFill>
            <a:srgbClr val="315A78"/>
          </a:solidFill>
          <a:ln w="7620">
            <a:solidFill>
              <a:srgbClr val="252525"/>
            </a:solidFill>
            <a:prstDash val="solid"/>
          </a:ln>
        </p:spPr>
      </p:sp>
      <p:sp>
        <p:nvSpPr>
          <p:cNvPr id="66" name="Text 64"/>
          <p:cNvSpPr/>
          <p:nvPr/>
        </p:nvSpPr>
        <p:spPr>
          <a:xfrm>
            <a:off x="2349500" y="65659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1960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11.4%</a:t>
            </a:r>
            <a:endParaRPr lang="en-US" sz="800" dirty="0"/>
          </a:p>
        </p:txBody>
      </p:sp>
      <p:sp>
        <p:nvSpPr>
          <p:cNvPr id="67" name="Shape 65"/>
          <p:cNvSpPr/>
          <p:nvPr/>
        </p:nvSpPr>
        <p:spPr>
          <a:xfrm flipV="1">
            <a:off x="2794000" y="6212332"/>
            <a:ext cx="1752600" cy="151892"/>
          </a:xfrm>
          <a:prstGeom prst="line">
            <a:avLst/>
          </a:prstGeom>
          <a:noFill/>
          <a:ln w="35560">
            <a:solidFill>
              <a:srgbClr val="315A78"/>
            </a:solidFill>
            <a:prstDash val="dash"/>
          </a:ln>
        </p:spPr>
      </p:sp>
      <p:sp>
        <p:nvSpPr>
          <p:cNvPr id="68" name="Shape 66"/>
          <p:cNvSpPr/>
          <p:nvPr/>
        </p:nvSpPr>
        <p:spPr>
          <a:xfrm>
            <a:off x="4470400" y="6136132"/>
            <a:ext cx="152400" cy="152400"/>
          </a:xfrm>
          <a:prstGeom prst="diamond">
            <a:avLst/>
          </a:prstGeom>
          <a:solidFill>
            <a:srgbClr val="315A78"/>
          </a:solidFill>
          <a:ln w="7620">
            <a:solidFill>
              <a:srgbClr val="252525"/>
            </a:solidFill>
            <a:prstDash val="solid"/>
          </a:ln>
        </p:spPr>
      </p:sp>
      <p:sp>
        <p:nvSpPr>
          <p:cNvPr id="69" name="Text 67"/>
          <p:cNvSpPr/>
          <p:nvPr/>
        </p:nvSpPr>
        <p:spPr>
          <a:xfrm>
            <a:off x="4102100" y="65659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1990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25.2%</a:t>
            </a:r>
            <a:endParaRPr lang="en-US" sz="800" dirty="0"/>
          </a:p>
        </p:txBody>
      </p:sp>
      <p:sp>
        <p:nvSpPr>
          <p:cNvPr id="70" name="Shape 68"/>
          <p:cNvSpPr/>
          <p:nvPr/>
        </p:nvSpPr>
        <p:spPr>
          <a:xfrm flipV="1">
            <a:off x="4546600" y="6206829"/>
            <a:ext cx="1752600" cy="5503"/>
          </a:xfrm>
          <a:prstGeom prst="line">
            <a:avLst/>
          </a:prstGeom>
          <a:noFill/>
          <a:ln w="35560">
            <a:solidFill>
              <a:srgbClr val="315A78"/>
            </a:solidFill>
            <a:prstDash val="dash"/>
          </a:ln>
        </p:spPr>
      </p:sp>
      <p:sp>
        <p:nvSpPr>
          <p:cNvPr id="71" name="Shape 69"/>
          <p:cNvSpPr/>
          <p:nvPr/>
        </p:nvSpPr>
        <p:spPr>
          <a:xfrm>
            <a:off x="6223000" y="6130629"/>
            <a:ext cx="152400" cy="152400"/>
          </a:xfrm>
          <a:prstGeom prst="diamond">
            <a:avLst/>
          </a:prstGeom>
          <a:solidFill>
            <a:srgbClr val="315A78"/>
          </a:solidFill>
          <a:ln w="7620">
            <a:solidFill>
              <a:srgbClr val="252525"/>
            </a:solidFill>
            <a:prstDash val="solid"/>
          </a:ln>
        </p:spPr>
      </p:sp>
      <p:sp>
        <p:nvSpPr>
          <p:cNvPr id="72" name="Text 70"/>
          <p:cNvSpPr/>
          <p:nvPr/>
        </p:nvSpPr>
        <p:spPr>
          <a:xfrm>
            <a:off x="5854700" y="65659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2020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25.7%</a:t>
            </a:r>
            <a:endParaRPr lang="en-US" sz="800" dirty="0"/>
          </a:p>
        </p:txBody>
      </p:sp>
      <p:sp>
        <p:nvSpPr>
          <p:cNvPr id="73" name="Shape 71"/>
          <p:cNvSpPr/>
          <p:nvPr/>
        </p:nvSpPr>
        <p:spPr>
          <a:xfrm>
            <a:off x="457200" y="6883400"/>
            <a:ext cx="6642100" cy="0"/>
          </a:xfrm>
          <a:prstGeom prst="line">
            <a:avLst/>
          </a:prstGeom>
          <a:noFill/>
          <a:ln w="5080">
            <a:solidFill>
              <a:srgbClr val="B7B0A4"/>
            </a:solidFill>
            <a:prstDash val="solid"/>
          </a:ln>
        </p:spPr>
      </p:sp>
      <p:sp>
        <p:nvSpPr>
          <p:cNvPr id="74" name="Shape 72"/>
          <p:cNvSpPr/>
          <p:nvPr/>
        </p:nvSpPr>
        <p:spPr>
          <a:xfrm>
            <a:off x="457200" y="7010400"/>
            <a:ext cx="127000" cy="127000"/>
          </a:xfrm>
          <a:prstGeom prst="hexagon">
            <a:avLst/>
          </a:prstGeom>
          <a:solidFill>
            <a:srgbClr val="3E7568"/>
          </a:solidFill>
          <a:ln w="7620">
            <a:solidFill>
              <a:srgbClr val="252525"/>
            </a:solidFill>
            <a:prstDash val="solid"/>
          </a:ln>
        </p:spPr>
      </p:sp>
      <p:sp>
        <p:nvSpPr>
          <p:cNvPr id="75" name="Text 73"/>
          <p:cNvSpPr/>
          <p:nvPr/>
        </p:nvSpPr>
        <p:spPr>
          <a:xfrm>
            <a:off x="711200" y="6959600"/>
            <a:ext cx="16637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76" name="Shape 74"/>
          <p:cNvSpPr/>
          <p:nvPr/>
        </p:nvSpPr>
        <p:spPr>
          <a:xfrm>
            <a:off x="2159000" y="7340600"/>
            <a:ext cx="4749800" cy="0"/>
          </a:xfrm>
          <a:prstGeom prst="line">
            <a:avLst/>
          </a:prstGeom>
          <a:noFill/>
          <a:ln w="4445">
            <a:solidFill>
              <a:srgbClr val="B7B0A4"/>
            </a:solidFill>
            <a:prstDash val="solid"/>
          </a:ln>
        </p:spPr>
      </p:sp>
      <p:sp>
        <p:nvSpPr>
          <p:cNvPr id="77" name="Shape 75"/>
          <p:cNvSpPr/>
          <p:nvPr/>
        </p:nvSpPr>
        <p:spPr>
          <a:xfrm>
            <a:off x="2159000" y="7230533"/>
            <a:ext cx="4749800" cy="0"/>
          </a:xfrm>
          <a:prstGeom prst="line">
            <a:avLst/>
          </a:prstGeom>
          <a:noFill/>
          <a:ln w="4445">
            <a:solidFill>
              <a:srgbClr val="B7B0A4"/>
            </a:solidFill>
            <a:prstDash val="solid"/>
          </a:ln>
        </p:spPr>
      </p:sp>
      <p:sp>
        <p:nvSpPr>
          <p:cNvPr id="78" name="Shape 76"/>
          <p:cNvSpPr/>
          <p:nvPr/>
        </p:nvSpPr>
        <p:spPr>
          <a:xfrm>
            <a:off x="2159000" y="7120467"/>
            <a:ext cx="4749800" cy="0"/>
          </a:xfrm>
          <a:prstGeom prst="line">
            <a:avLst/>
          </a:prstGeom>
          <a:noFill/>
          <a:ln w="4445">
            <a:solidFill>
              <a:srgbClr val="B7B0A4"/>
            </a:solidFill>
            <a:prstDash val="solid"/>
          </a:ln>
        </p:spPr>
      </p:sp>
      <p:sp>
        <p:nvSpPr>
          <p:cNvPr id="79" name="Shape 77"/>
          <p:cNvSpPr/>
          <p:nvPr/>
        </p:nvSpPr>
        <p:spPr>
          <a:xfrm>
            <a:off x="2159000" y="7010400"/>
            <a:ext cx="4749800" cy="0"/>
          </a:xfrm>
          <a:prstGeom prst="line">
            <a:avLst/>
          </a:prstGeom>
          <a:noFill/>
          <a:ln w="4445">
            <a:solidFill>
              <a:srgbClr val="B7B0A4"/>
            </a:solidFill>
            <a:prstDash val="solid"/>
          </a:ln>
        </p:spPr>
      </p:sp>
      <p:sp>
        <p:nvSpPr>
          <p:cNvPr id="80" name="Shape 78"/>
          <p:cNvSpPr/>
          <p:nvPr/>
        </p:nvSpPr>
        <p:spPr>
          <a:xfrm>
            <a:off x="2717800" y="7151031"/>
            <a:ext cx="152400" cy="152400"/>
          </a:xfrm>
          <a:prstGeom prst="hexagon">
            <a:avLst/>
          </a:prstGeom>
          <a:solidFill>
            <a:srgbClr val="3E7568"/>
          </a:solidFill>
          <a:ln w="7620">
            <a:solidFill>
              <a:srgbClr val="252525"/>
            </a:solidFill>
            <a:prstDash val="solid"/>
          </a:ln>
        </p:spPr>
      </p:sp>
      <p:sp>
        <p:nvSpPr>
          <p:cNvPr id="81" name="Text 79"/>
          <p:cNvSpPr/>
          <p:nvPr/>
        </p:nvSpPr>
        <p:spPr>
          <a:xfrm>
            <a:off x="2349500" y="74168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1960†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10.3%</a:t>
            </a:r>
            <a:endParaRPr lang="en-US" sz="800" dirty="0"/>
          </a:p>
        </p:txBody>
      </p:sp>
      <p:sp>
        <p:nvSpPr>
          <p:cNvPr id="82" name="Shape 80"/>
          <p:cNvSpPr/>
          <p:nvPr/>
        </p:nvSpPr>
        <p:spPr>
          <a:xfrm flipV="1">
            <a:off x="2794000" y="7074239"/>
            <a:ext cx="1752600" cy="152993"/>
          </a:xfrm>
          <a:prstGeom prst="line">
            <a:avLst/>
          </a:prstGeom>
          <a:noFill/>
          <a:ln w="35560">
            <a:solidFill>
              <a:srgbClr val="3E7568"/>
            </a:solidFill>
            <a:prstDash val="solid"/>
          </a:ln>
        </p:spPr>
      </p:sp>
      <p:sp>
        <p:nvSpPr>
          <p:cNvPr id="83" name="Shape 81"/>
          <p:cNvSpPr/>
          <p:nvPr/>
        </p:nvSpPr>
        <p:spPr>
          <a:xfrm>
            <a:off x="4470400" y="6998039"/>
            <a:ext cx="152400" cy="152400"/>
          </a:xfrm>
          <a:prstGeom prst="hexagon">
            <a:avLst/>
          </a:prstGeom>
          <a:solidFill>
            <a:srgbClr val="3E7568"/>
          </a:solidFill>
          <a:ln w="7620">
            <a:solidFill>
              <a:srgbClr val="252525"/>
            </a:solidFill>
            <a:prstDash val="solid"/>
          </a:ln>
        </p:spPr>
      </p:sp>
      <p:sp>
        <p:nvSpPr>
          <p:cNvPr id="84" name="Text 82"/>
          <p:cNvSpPr/>
          <p:nvPr/>
        </p:nvSpPr>
        <p:spPr>
          <a:xfrm>
            <a:off x="4102100" y="74168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1990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24.2%</a:t>
            </a:r>
            <a:endParaRPr lang="en-US" sz="800" dirty="0"/>
          </a:p>
        </p:txBody>
      </p:sp>
      <p:sp>
        <p:nvSpPr>
          <p:cNvPr id="85" name="Shape 83"/>
          <p:cNvSpPr/>
          <p:nvPr/>
        </p:nvSpPr>
        <p:spPr>
          <a:xfrm>
            <a:off x="4546600" y="7074239"/>
            <a:ext cx="1752600" cy="22013"/>
          </a:xfrm>
          <a:prstGeom prst="line">
            <a:avLst/>
          </a:prstGeom>
          <a:noFill/>
          <a:ln w="35560">
            <a:solidFill>
              <a:srgbClr val="3E7568"/>
            </a:solidFill>
            <a:prstDash val="solid"/>
          </a:ln>
        </p:spPr>
      </p:sp>
      <p:sp>
        <p:nvSpPr>
          <p:cNvPr id="86" name="Shape 84"/>
          <p:cNvSpPr/>
          <p:nvPr/>
        </p:nvSpPr>
        <p:spPr>
          <a:xfrm>
            <a:off x="6223000" y="7020052"/>
            <a:ext cx="152400" cy="152400"/>
          </a:xfrm>
          <a:prstGeom prst="hexagon">
            <a:avLst/>
          </a:prstGeom>
          <a:solidFill>
            <a:srgbClr val="3E7568"/>
          </a:solidFill>
          <a:ln w="7620">
            <a:solidFill>
              <a:srgbClr val="252525"/>
            </a:solidFill>
            <a:prstDash val="solid"/>
          </a:ln>
        </p:spPr>
      </p:sp>
      <p:sp>
        <p:nvSpPr>
          <p:cNvPr id="87" name="Text 85"/>
          <p:cNvSpPr/>
          <p:nvPr/>
        </p:nvSpPr>
        <p:spPr>
          <a:xfrm>
            <a:off x="5854700" y="74168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2020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22.2%</a:t>
            </a:r>
            <a:endParaRPr lang="en-US" sz="800" dirty="0"/>
          </a:p>
        </p:txBody>
      </p:sp>
      <p:sp>
        <p:nvSpPr>
          <p:cNvPr id="88" name="Shape 86"/>
          <p:cNvSpPr/>
          <p:nvPr/>
        </p:nvSpPr>
        <p:spPr>
          <a:xfrm>
            <a:off x="457200" y="7734300"/>
            <a:ext cx="6642100" cy="0"/>
          </a:xfrm>
          <a:prstGeom prst="line">
            <a:avLst/>
          </a:prstGeom>
          <a:noFill/>
          <a:ln w="5080">
            <a:solidFill>
              <a:srgbClr val="B7B0A4"/>
            </a:solidFill>
            <a:prstDash val="solid"/>
          </a:ln>
        </p:spPr>
      </p:sp>
      <p:sp>
        <p:nvSpPr>
          <p:cNvPr id="89" name="Shape 87"/>
          <p:cNvSpPr/>
          <p:nvPr/>
        </p:nvSpPr>
        <p:spPr>
          <a:xfrm>
            <a:off x="457200" y="7924800"/>
            <a:ext cx="127000" cy="0"/>
          </a:xfrm>
          <a:prstGeom prst="line">
            <a:avLst/>
          </a:prstGeom>
          <a:noFill/>
          <a:ln w="40640">
            <a:solidFill>
              <a:srgbClr val="252525"/>
            </a:solidFill>
            <a:prstDash val="solid"/>
          </a:ln>
        </p:spPr>
      </p:sp>
      <p:sp>
        <p:nvSpPr>
          <p:cNvPr id="90" name="Shape 88"/>
          <p:cNvSpPr/>
          <p:nvPr/>
        </p:nvSpPr>
        <p:spPr>
          <a:xfrm>
            <a:off x="520700" y="7861300"/>
            <a:ext cx="0" cy="127000"/>
          </a:xfrm>
          <a:prstGeom prst="line">
            <a:avLst/>
          </a:prstGeom>
          <a:noFill/>
          <a:ln w="40640">
            <a:solidFill>
              <a:srgbClr val="252525"/>
            </a:solidFill>
            <a:prstDash val="solid"/>
          </a:ln>
        </p:spPr>
      </p:sp>
      <p:sp>
        <p:nvSpPr>
          <p:cNvPr id="91" name="Shape 89"/>
          <p:cNvSpPr/>
          <p:nvPr/>
        </p:nvSpPr>
        <p:spPr>
          <a:xfrm>
            <a:off x="457200" y="7924800"/>
            <a:ext cx="127000" cy="0"/>
          </a:xfrm>
          <a:prstGeom prst="line">
            <a:avLst/>
          </a:prstGeom>
          <a:noFill/>
          <a:ln w="22860">
            <a:solidFill>
              <a:srgbClr val="A63A3A"/>
            </a:solidFill>
            <a:prstDash val="solid"/>
          </a:ln>
        </p:spPr>
      </p:sp>
      <p:sp>
        <p:nvSpPr>
          <p:cNvPr id="92" name="Shape 90"/>
          <p:cNvSpPr/>
          <p:nvPr/>
        </p:nvSpPr>
        <p:spPr>
          <a:xfrm>
            <a:off x="520700" y="7861300"/>
            <a:ext cx="0" cy="127000"/>
          </a:xfrm>
          <a:prstGeom prst="line">
            <a:avLst/>
          </a:prstGeom>
          <a:noFill/>
          <a:ln w="22860">
            <a:solidFill>
              <a:srgbClr val="A63A3A"/>
            </a:solidFill>
            <a:prstDash val="solid"/>
          </a:ln>
        </p:spPr>
      </p:sp>
      <p:sp>
        <p:nvSpPr>
          <p:cNvPr id="93" name="Text 91"/>
          <p:cNvSpPr/>
          <p:nvPr/>
        </p:nvSpPr>
        <p:spPr>
          <a:xfrm>
            <a:off x="711200" y="7810500"/>
            <a:ext cx="16637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94" name="Shape 92"/>
          <p:cNvSpPr/>
          <p:nvPr/>
        </p:nvSpPr>
        <p:spPr>
          <a:xfrm>
            <a:off x="2159000" y="8191500"/>
            <a:ext cx="4749800" cy="0"/>
          </a:xfrm>
          <a:prstGeom prst="line">
            <a:avLst/>
          </a:prstGeom>
          <a:noFill/>
          <a:ln w="4445">
            <a:solidFill>
              <a:srgbClr val="B7B0A4"/>
            </a:solidFill>
            <a:prstDash val="solid"/>
          </a:ln>
        </p:spPr>
      </p:sp>
      <p:sp>
        <p:nvSpPr>
          <p:cNvPr id="95" name="Shape 93"/>
          <p:cNvSpPr/>
          <p:nvPr/>
        </p:nvSpPr>
        <p:spPr>
          <a:xfrm>
            <a:off x="2159000" y="8081433"/>
            <a:ext cx="4749800" cy="0"/>
          </a:xfrm>
          <a:prstGeom prst="line">
            <a:avLst/>
          </a:prstGeom>
          <a:noFill/>
          <a:ln w="4445">
            <a:solidFill>
              <a:srgbClr val="B7B0A4"/>
            </a:solidFill>
            <a:prstDash val="solid"/>
          </a:ln>
        </p:spPr>
      </p:sp>
      <p:sp>
        <p:nvSpPr>
          <p:cNvPr id="96" name="Shape 94"/>
          <p:cNvSpPr/>
          <p:nvPr/>
        </p:nvSpPr>
        <p:spPr>
          <a:xfrm>
            <a:off x="2159000" y="7971367"/>
            <a:ext cx="4749800" cy="0"/>
          </a:xfrm>
          <a:prstGeom prst="line">
            <a:avLst/>
          </a:prstGeom>
          <a:noFill/>
          <a:ln w="4445">
            <a:solidFill>
              <a:srgbClr val="B7B0A4"/>
            </a:solidFill>
            <a:prstDash val="solid"/>
          </a:ln>
        </p:spPr>
      </p:sp>
      <p:sp>
        <p:nvSpPr>
          <p:cNvPr id="97" name="Shape 95"/>
          <p:cNvSpPr/>
          <p:nvPr/>
        </p:nvSpPr>
        <p:spPr>
          <a:xfrm>
            <a:off x="2159000" y="7861300"/>
            <a:ext cx="4749800" cy="0"/>
          </a:xfrm>
          <a:prstGeom prst="line">
            <a:avLst/>
          </a:prstGeom>
          <a:noFill/>
          <a:ln w="4445">
            <a:solidFill>
              <a:srgbClr val="B7B0A4"/>
            </a:solidFill>
            <a:prstDash val="solid"/>
          </a:ln>
        </p:spPr>
      </p:sp>
      <p:sp>
        <p:nvSpPr>
          <p:cNvPr id="98" name="Text 96"/>
          <p:cNvSpPr/>
          <p:nvPr/>
        </p:nvSpPr>
        <p:spPr>
          <a:xfrm>
            <a:off x="2362200" y="8318500"/>
            <a:ext cx="863600" cy="190500"/>
          </a:xfrm>
          <a:prstGeom prst="rect">
            <a:avLst/>
          </a:prstGeom>
          <a:noFill/>
          <a:ln/>
        </p:spPr>
        <p:txBody>
          <a:bodyPr wrap="square" lIns="0" tIns="0" rIns="0" bIns="0" rtlCol="0" anchor="t"/>
          <a:lstStyle/>
          <a:p>
            <a:pPr algn="ct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NO DATA</a:t>
            </a:r>
            <a:endParaRPr lang="en-US" sz="800" dirty="0"/>
          </a:p>
        </p:txBody>
      </p:sp>
      <p:sp>
        <p:nvSpPr>
          <p:cNvPr id="99" name="Text 97"/>
          <p:cNvSpPr/>
          <p:nvPr/>
        </p:nvSpPr>
        <p:spPr>
          <a:xfrm>
            <a:off x="4114800" y="8318500"/>
            <a:ext cx="863600" cy="190500"/>
          </a:xfrm>
          <a:prstGeom prst="rect">
            <a:avLst/>
          </a:prstGeom>
          <a:noFill/>
          <a:ln/>
        </p:spPr>
        <p:txBody>
          <a:bodyPr wrap="square" lIns="0" tIns="0" rIns="0" bIns="0" rtlCol="0" anchor="t"/>
          <a:lstStyle/>
          <a:p>
            <a:pPr algn="ct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NO DATA</a:t>
            </a:r>
            <a:endParaRPr lang="en-US" sz="800" dirty="0"/>
          </a:p>
        </p:txBody>
      </p:sp>
      <p:sp>
        <p:nvSpPr>
          <p:cNvPr id="100" name="Shape 98"/>
          <p:cNvSpPr/>
          <p:nvPr/>
        </p:nvSpPr>
        <p:spPr>
          <a:xfrm>
            <a:off x="6223000" y="7996682"/>
            <a:ext cx="152400" cy="0"/>
          </a:xfrm>
          <a:prstGeom prst="line">
            <a:avLst/>
          </a:prstGeom>
          <a:noFill/>
          <a:ln w="40640">
            <a:solidFill>
              <a:srgbClr val="252525"/>
            </a:solidFill>
            <a:prstDash val="solid"/>
          </a:ln>
        </p:spPr>
      </p:sp>
      <p:sp>
        <p:nvSpPr>
          <p:cNvPr id="101" name="Shape 99"/>
          <p:cNvSpPr/>
          <p:nvPr/>
        </p:nvSpPr>
        <p:spPr>
          <a:xfrm>
            <a:off x="6299200" y="7920482"/>
            <a:ext cx="0" cy="152400"/>
          </a:xfrm>
          <a:prstGeom prst="line">
            <a:avLst/>
          </a:prstGeom>
          <a:noFill/>
          <a:ln w="40640">
            <a:solidFill>
              <a:srgbClr val="252525"/>
            </a:solidFill>
            <a:prstDash val="solid"/>
          </a:ln>
        </p:spPr>
      </p:sp>
      <p:sp>
        <p:nvSpPr>
          <p:cNvPr id="102" name="Shape 100"/>
          <p:cNvSpPr/>
          <p:nvPr/>
        </p:nvSpPr>
        <p:spPr>
          <a:xfrm>
            <a:off x="6223000" y="7996682"/>
            <a:ext cx="152400" cy="0"/>
          </a:xfrm>
          <a:prstGeom prst="line">
            <a:avLst/>
          </a:prstGeom>
          <a:noFill/>
          <a:ln w="22860">
            <a:solidFill>
              <a:srgbClr val="A63A3A"/>
            </a:solidFill>
            <a:prstDash val="solid"/>
          </a:ln>
        </p:spPr>
      </p:sp>
      <p:sp>
        <p:nvSpPr>
          <p:cNvPr id="103" name="Shape 101"/>
          <p:cNvSpPr/>
          <p:nvPr/>
        </p:nvSpPr>
        <p:spPr>
          <a:xfrm>
            <a:off x="6299200" y="7920482"/>
            <a:ext cx="0" cy="152400"/>
          </a:xfrm>
          <a:prstGeom prst="line">
            <a:avLst/>
          </a:prstGeom>
          <a:noFill/>
          <a:ln w="22860">
            <a:solidFill>
              <a:srgbClr val="A63A3A"/>
            </a:solidFill>
            <a:prstDash val="solid"/>
          </a:ln>
        </p:spPr>
      </p:sp>
      <p:sp>
        <p:nvSpPr>
          <p:cNvPr id="104" name="Text 102"/>
          <p:cNvSpPr/>
          <p:nvPr/>
        </p:nvSpPr>
        <p:spPr>
          <a:xfrm>
            <a:off x="5854700" y="8267700"/>
            <a:ext cx="889000" cy="292100"/>
          </a:xfrm>
          <a:prstGeom prst="rect">
            <a:avLst/>
          </a:prstGeom>
          <a:noFill/>
          <a:ln/>
        </p:spPr>
        <p:txBody>
          <a:bodyPr wrap="square" lIns="0" tIns="0" rIns="0" bIns="0" rtlCol="0" anchor="t"/>
          <a:lstStyle/>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2020</a:t>
            </a:r>
            <a:endParaRPr lang="en-US" sz="800" dirty="0"/>
          </a:p>
          <a:p>
            <a:pPr algn="ct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17.7%</a:t>
            </a:r>
            <a:endParaRPr lang="en-US" sz="800" dirty="0"/>
          </a:p>
        </p:txBody>
      </p:sp>
      <p:sp>
        <p:nvSpPr>
          <p:cNvPr id="105" name="Shape 103"/>
          <p:cNvSpPr/>
          <p:nvPr/>
        </p:nvSpPr>
        <p:spPr>
          <a:xfrm>
            <a:off x="457200" y="8585200"/>
            <a:ext cx="6642100" cy="0"/>
          </a:xfrm>
          <a:prstGeom prst="line">
            <a:avLst/>
          </a:prstGeom>
          <a:noFill/>
          <a:ln w="5080">
            <a:solidFill>
              <a:srgbClr val="B7B0A4"/>
            </a:solidFill>
            <a:prstDash val="solid"/>
          </a:ln>
        </p:spPr>
      </p:sp>
      <p:sp>
        <p:nvSpPr>
          <p:cNvPr id="106" name="Text 104"/>
          <p:cNvSpPr/>
          <p:nvPr/>
        </p:nvSpPr>
        <p:spPr>
          <a:xfrm>
            <a:off x="457200" y="8521700"/>
            <a:ext cx="6642100" cy="304800"/>
          </a:xfrm>
          <a:prstGeom prst="rect">
            <a:avLst/>
          </a:prstGeom>
          <a:noFill/>
          <a:ln/>
        </p:spPr>
        <p:txBody>
          <a:bodyPr wrap="square" lIns="0" tIns="0" rIns="0" bIns="0" rtlCol="0" anchor="t"/>
          <a:lstStyle/>
          <a:p>
            <a:pPr indent="0" marL="0">
              <a:lnSpc>
                <a:spcPct val="112000"/>
              </a:lnSpc>
              <a:buNone/>
            </a:pPr>
            <a:r>
              <a:rPr lang="en-US" sz="820" b="1" dirty="0">
                <a:solidFill>
                  <a:srgbClr val="252525"/>
                </a:solidFill>
                <a:latin typeface="Montserrat" pitchFamily="34" charset="0"/>
                <a:ea typeface="Montserrat" pitchFamily="34" charset="-122"/>
                <a:cs typeface="Montserrat" pitchFamily="34" charset="-120"/>
              </a:rPr>
              <a:t>NARRATIVE-ONLY historical Philippines values are intentionally excluded. Connectors stop at missing anchors. These shares do not identify technology, ownership or causes.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03 / CAPABILITY</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How industrial capability compounds</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A conditional learning sequence—not an automatic cycle and not a recipe that travels unchanged.</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(1993, pp. 4–7, 20–26, 79–80, 127–130, 159–161); World Bank (2020, pp. 32–33, Box 2 pp. 44–47). Original editorial synthesis of approved mechanisms.</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12</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These links do not isolate a single cause. External access, distribution, resources, institutions and political choices change the sequence and its effects.</a:t>
            </a:r>
            <a:endParaRPr lang="en-US" sz="900" dirty="0"/>
          </a:p>
        </p:txBody>
      </p:sp>
      <p:sp>
        <p:nvSpPr>
          <p:cNvPr id="12" name="Text 10"/>
          <p:cNvSpPr/>
          <p:nvPr/>
        </p:nvSpPr>
        <p:spPr>
          <a:xfrm>
            <a:off x="457200" y="2933700"/>
            <a:ext cx="571500" cy="393700"/>
          </a:xfrm>
          <a:prstGeom prst="rect">
            <a:avLst/>
          </a:prstGeom>
          <a:noFill/>
          <a:ln/>
        </p:spPr>
        <p:txBody>
          <a:bodyPr wrap="square" lIns="0" tIns="0" rIns="0" bIns="0" rtlCol="0" anchor="t"/>
          <a:lstStyle/>
          <a:p>
            <a:pPr indent="0" marL="0">
              <a:lnSpc>
                <a:spcPct val="112000"/>
              </a:lnSpc>
              <a:buNone/>
            </a:pPr>
            <a:r>
              <a:rPr lang="en-US" sz="2000" b="1" dirty="0">
                <a:solidFill>
                  <a:srgbClr val="514E48"/>
                </a:solidFill>
                <a:latin typeface="Montserrat" pitchFamily="34" charset="0"/>
                <a:ea typeface="Montserrat" pitchFamily="34" charset="-122"/>
                <a:cs typeface="Montserrat" pitchFamily="34" charset="-120"/>
              </a:rPr>
              <a:t>01</a:t>
            </a:r>
            <a:endParaRPr lang="en-US" sz="2000" dirty="0"/>
          </a:p>
        </p:txBody>
      </p:sp>
      <p:sp>
        <p:nvSpPr>
          <p:cNvPr id="13" name="Text 11"/>
          <p:cNvSpPr/>
          <p:nvPr/>
        </p:nvSpPr>
        <p:spPr>
          <a:xfrm>
            <a:off x="1282700" y="2933700"/>
            <a:ext cx="58166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Education and skills</a:t>
            </a:r>
            <a:endParaRPr lang="en-US" sz="1500" dirty="0"/>
          </a:p>
        </p:txBody>
      </p:sp>
      <p:sp>
        <p:nvSpPr>
          <p:cNvPr id="14" name="Text 12"/>
          <p:cNvSpPr/>
          <p:nvPr/>
        </p:nvSpPr>
        <p:spPr>
          <a:xfrm>
            <a:off x="1282700" y="3314700"/>
            <a:ext cx="5715000" cy="330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People learn to absorb and improve production.</a:t>
            </a:r>
            <a:endParaRPr lang="en-US" sz="1050" dirty="0"/>
          </a:p>
        </p:txBody>
      </p:sp>
      <p:sp>
        <p:nvSpPr>
          <p:cNvPr id="15" name="Text 13"/>
          <p:cNvSpPr/>
          <p:nvPr/>
        </p:nvSpPr>
        <p:spPr>
          <a:xfrm>
            <a:off x="609600" y="3390900"/>
            <a:ext cx="304800" cy="342900"/>
          </a:xfrm>
          <a:prstGeom prst="rect">
            <a:avLst/>
          </a:prstGeom>
          <a:noFill/>
          <a:ln/>
        </p:spPr>
        <p:txBody>
          <a:bodyPr wrap="square" lIns="0" tIns="0" rIns="0" bIns="0" rtlCol="0" anchor="t"/>
          <a:lstStyle/>
          <a:p>
            <a:pPr indent="0" marL="0">
              <a:lnSpc>
                <a:spcPct val="112000"/>
              </a:lnSpc>
              <a:buNone/>
            </a:pPr>
            <a:r>
              <a:rPr lang="en-US" sz="1600" dirty="0">
                <a:solidFill>
                  <a:srgbClr val="252525"/>
                </a:solidFill>
                <a:latin typeface="Montserrat" pitchFamily="34" charset="0"/>
                <a:ea typeface="Montserrat" pitchFamily="34" charset="-122"/>
                <a:cs typeface="Montserrat" pitchFamily="34" charset="-120"/>
              </a:rPr>
              <a:t>↓</a:t>
            </a:r>
            <a:endParaRPr lang="en-US" sz="1600" dirty="0"/>
          </a:p>
        </p:txBody>
      </p:sp>
      <p:sp>
        <p:nvSpPr>
          <p:cNvPr id="16" name="Text 14"/>
          <p:cNvSpPr/>
          <p:nvPr/>
        </p:nvSpPr>
        <p:spPr>
          <a:xfrm>
            <a:off x="457200" y="3797300"/>
            <a:ext cx="571500" cy="393700"/>
          </a:xfrm>
          <a:prstGeom prst="rect">
            <a:avLst/>
          </a:prstGeom>
          <a:noFill/>
          <a:ln/>
        </p:spPr>
        <p:txBody>
          <a:bodyPr wrap="square" lIns="0" tIns="0" rIns="0" bIns="0" rtlCol="0" anchor="t"/>
          <a:lstStyle/>
          <a:p>
            <a:pPr indent="0" marL="0">
              <a:lnSpc>
                <a:spcPct val="112000"/>
              </a:lnSpc>
              <a:buNone/>
            </a:pPr>
            <a:r>
              <a:rPr lang="en-US" sz="2000" b="1" dirty="0">
                <a:solidFill>
                  <a:srgbClr val="514E48"/>
                </a:solidFill>
                <a:latin typeface="Montserrat" pitchFamily="34" charset="0"/>
                <a:ea typeface="Montserrat" pitchFamily="34" charset="-122"/>
                <a:cs typeface="Montserrat" pitchFamily="34" charset="-120"/>
              </a:rPr>
              <a:t>02</a:t>
            </a:r>
            <a:endParaRPr lang="en-US" sz="2000" dirty="0"/>
          </a:p>
        </p:txBody>
      </p:sp>
      <p:sp>
        <p:nvSpPr>
          <p:cNvPr id="17" name="Text 15"/>
          <p:cNvSpPr/>
          <p:nvPr/>
        </p:nvSpPr>
        <p:spPr>
          <a:xfrm>
            <a:off x="1282700" y="3797300"/>
            <a:ext cx="58166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Infrastructure</a:t>
            </a:r>
            <a:endParaRPr lang="en-US" sz="1500" dirty="0"/>
          </a:p>
        </p:txBody>
      </p:sp>
      <p:sp>
        <p:nvSpPr>
          <p:cNvPr id="18" name="Text 16"/>
          <p:cNvSpPr/>
          <p:nvPr/>
        </p:nvSpPr>
        <p:spPr>
          <a:xfrm>
            <a:off x="1282700" y="4178300"/>
            <a:ext cx="5715000" cy="330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Reliable connections reduce practical bottlenecks.</a:t>
            </a:r>
            <a:endParaRPr lang="en-US" sz="1050" dirty="0"/>
          </a:p>
        </p:txBody>
      </p:sp>
      <p:sp>
        <p:nvSpPr>
          <p:cNvPr id="19" name="Text 17"/>
          <p:cNvSpPr/>
          <p:nvPr/>
        </p:nvSpPr>
        <p:spPr>
          <a:xfrm>
            <a:off x="609600" y="4254500"/>
            <a:ext cx="304800" cy="342900"/>
          </a:xfrm>
          <a:prstGeom prst="rect">
            <a:avLst/>
          </a:prstGeom>
          <a:noFill/>
          <a:ln/>
        </p:spPr>
        <p:txBody>
          <a:bodyPr wrap="square" lIns="0" tIns="0" rIns="0" bIns="0" rtlCol="0" anchor="t"/>
          <a:lstStyle/>
          <a:p>
            <a:pPr indent="0" marL="0">
              <a:lnSpc>
                <a:spcPct val="112000"/>
              </a:lnSpc>
              <a:buNone/>
            </a:pPr>
            <a:r>
              <a:rPr lang="en-US" sz="1600" dirty="0">
                <a:solidFill>
                  <a:srgbClr val="252525"/>
                </a:solidFill>
                <a:latin typeface="Montserrat" pitchFamily="34" charset="0"/>
                <a:ea typeface="Montserrat" pitchFamily="34" charset="-122"/>
                <a:cs typeface="Montserrat" pitchFamily="34" charset="-120"/>
              </a:rPr>
              <a:t>↓</a:t>
            </a:r>
            <a:endParaRPr lang="en-US" sz="1600" dirty="0"/>
          </a:p>
        </p:txBody>
      </p:sp>
      <p:sp>
        <p:nvSpPr>
          <p:cNvPr id="20" name="Text 18"/>
          <p:cNvSpPr/>
          <p:nvPr/>
        </p:nvSpPr>
        <p:spPr>
          <a:xfrm>
            <a:off x="457200" y="4660900"/>
            <a:ext cx="571500" cy="393700"/>
          </a:xfrm>
          <a:prstGeom prst="rect">
            <a:avLst/>
          </a:prstGeom>
          <a:noFill/>
          <a:ln/>
        </p:spPr>
        <p:txBody>
          <a:bodyPr wrap="square" lIns="0" tIns="0" rIns="0" bIns="0" rtlCol="0" anchor="t"/>
          <a:lstStyle/>
          <a:p>
            <a:pPr indent="0" marL="0">
              <a:lnSpc>
                <a:spcPct val="112000"/>
              </a:lnSpc>
              <a:buNone/>
            </a:pPr>
            <a:r>
              <a:rPr lang="en-US" sz="2000" b="1" dirty="0">
                <a:solidFill>
                  <a:srgbClr val="514E48"/>
                </a:solidFill>
                <a:latin typeface="Montserrat" pitchFamily="34" charset="0"/>
                <a:ea typeface="Montserrat" pitchFamily="34" charset="-122"/>
                <a:cs typeface="Montserrat" pitchFamily="34" charset="-120"/>
              </a:rPr>
              <a:t>03</a:t>
            </a:r>
            <a:endParaRPr lang="en-US" sz="2000" dirty="0"/>
          </a:p>
        </p:txBody>
      </p:sp>
      <p:sp>
        <p:nvSpPr>
          <p:cNvPr id="21" name="Text 19"/>
          <p:cNvSpPr/>
          <p:nvPr/>
        </p:nvSpPr>
        <p:spPr>
          <a:xfrm>
            <a:off x="1282700" y="4660900"/>
            <a:ext cx="58166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Firms and suppliers</a:t>
            </a:r>
            <a:endParaRPr lang="en-US" sz="1500" dirty="0"/>
          </a:p>
        </p:txBody>
      </p:sp>
      <p:sp>
        <p:nvSpPr>
          <p:cNvPr id="22" name="Text 20"/>
          <p:cNvSpPr/>
          <p:nvPr/>
        </p:nvSpPr>
        <p:spPr>
          <a:xfrm>
            <a:off x="1282700" y="5041900"/>
            <a:ext cx="5715000" cy="330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Capabilities need organisations and domestic links.</a:t>
            </a:r>
            <a:endParaRPr lang="en-US" sz="1050" dirty="0"/>
          </a:p>
        </p:txBody>
      </p:sp>
      <p:sp>
        <p:nvSpPr>
          <p:cNvPr id="23" name="Text 21"/>
          <p:cNvSpPr/>
          <p:nvPr/>
        </p:nvSpPr>
        <p:spPr>
          <a:xfrm>
            <a:off x="609600" y="5118100"/>
            <a:ext cx="304800" cy="342900"/>
          </a:xfrm>
          <a:prstGeom prst="rect">
            <a:avLst/>
          </a:prstGeom>
          <a:noFill/>
          <a:ln/>
        </p:spPr>
        <p:txBody>
          <a:bodyPr wrap="square" lIns="0" tIns="0" rIns="0" bIns="0" rtlCol="0" anchor="t"/>
          <a:lstStyle/>
          <a:p>
            <a:pPr indent="0" marL="0">
              <a:lnSpc>
                <a:spcPct val="112000"/>
              </a:lnSpc>
              <a:buNone/>
            </a:pPr>
            <a:r>
              <a:rPr lang="en-US" sz="1600" dirty="0">
                <a:solidFill>
                  <a:srgbClr val="252525"/>
                </a:solidFill>
                <a:latin typeface="Montserrat" pitchFamily="34" charset="0"/>
                <a:ea typeface="Montserrat" pitchFamily="34" charset="-122"/>
                <a:cs typeface="Montserrat" pitchFamily="34" charset="-120"/>
              </a:rPr>
              <a:t>↓</a:t>
            </a:r>
            <a:endParaRPr lang="en-US" sz="1600" dirty="0"/>
          </a:p>
        </p:txBody>
      </p:sp>
      <p:sp>
        <p:nvSpPr>
          <p:cNvPr id="24" name="Text 22"/>
          <p:cNvSpPr/>
          <p:nvPr/>
        </p:nvSpPr>
        <p:spPr>
          <a:xfrm>
            <a:off x="457200" y="5524500"/>
            <a:ext cx="571500" cy="393700"/>
          </a:xfrm>
          <a:prstGeom prst="rect">
            <a:avLst/>
          </a:prstGeom>
          <a:noFill/>
          <a:ln/>
        </p:spPr>
        <p:txBody>
          <a:bodyPr wrap="square" lIns="0" tIns="0" rIns="0" bIns="0" rtlCol="0" anchor="t"/>
          <a:lstStyle/>
          <a:p>
            <a:pPr indent="0" marL="0">
              <a:lnSpc>
                <a:spcPct val="112000"/>
              </a:lnSpc>
              <a:buNone/>
            </a:pPr>
            <a:r>
              <a:rPr lang="en-US" sz="2000" b="1" dirty="0">
                <a:solidFill>
                  <a:srgbClr val="514E48"/>
                </a:solidFill>
                <a:latin typeface="Montserrat" pitchFamily="34" charset="0"/>
                <a:ea typeface="Montserrat" pitchFamily="34" charset="-122"/>
                <a:cs typeface="Montserrat" pitchFamily="34" charset="-120"/>
              </a:rPr>
              <a:t>04</a:t>
            </a:r>
            <a:endParaRPr lang="en-US" sz="2000" dirty="0"/>
          </a:p>
        </p:txBody>
      </p:sp>
      <p:sp>
        <p:nvSpPr>
          <p:cNvPr id="25" name="Text 23"/>
          <p:cNvSpPr/>
          <p:nvPr/>
        </p:nvSpPr>
        <p:spPr>
          <a:xfrm>
            <a:off x="1282700" y="5524500"/>
            <a:ext cx="58166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Production</a:t>
            </a:r>
            <a:endParaRPr lang="en-US" sz="1500" dirty="0"/>
          </a:p>
        </p:txBody>
      </p:sp>
      <p:sp>
        <p:nvSpPr>
          <p:cNvPr id="26" name="Text 24"/>
          <p:cNvSpPr/>
          <p:nvPr/>
        </p:nvSpPr>
        <p:spPr>
          <a:xfrm>
            <a:off x="1282700" y="5905500"/>
            <a:ext cx="5715000" cy="330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Standards, routines and coordination are tested.</a:t>
            </a:r>
            <a:endParaRPr lang="en-US" sz="1050" dirty="0"/>
          </a:p>
        </p:txBody>
      </p:sp>
      <p:sp>
        <p:nvSpPr>
          <p:cNvPr id="27" name="Text 25"/>
          <p:cNvSpPr/>
          <p:nvPr/>
        </p:nvSpPr>
        <p:spPr>
          <a:xfrm>
            <a:off x="609600" y="5981700"/>
            <a:ext cx="304800" cy="342900"/>
          </a:xfrm>
          <a:prstGeom prst="rect">
            <a:avLst/>
          </a:prstGeom>
          <a:noFill/>
          <a:ln/>
        </p:spPr>
        <p:txBody>
          <a:bodyPr wrap="square" lIns="0" tIns="0" rIns="0" bIns="0" rtlCol="0" anchor="t"/>
          <a:lstStyle/>
          <a:p>
            <a:pPr indent="0" marL="0">
              <a:lnSpc>
                <a:spcPct val="112000"/>
              </a:lnSpc>
              <a:buNone/>
            </a:pPr>
            <a:r>
              <a:rPr lang="en-US" sz="1600" dirty="0">
                <a:solidFill>
                  <a:srgbClr val="252525"/>
                </a:solidFill>
                <a:latin typeface="Montserrat" pitchFamily="34" charset="0"/>
                <a:ea typeface="Montserrat" pitchFamily="34" charset="-122"/>
                <a:cs typeface="Montserrat" pitchFamily="34" charset="-120"/>
              </a:rPr>
              <a:t>↓</a:t>
            </a:r>
            <a:endParaRPr lang="en-US" sz="1600" dirty="0"/>
          </a:p>
        </p:txBody>
      </p:sp>
      <p:sp>
        <p:nvSpPr>
          <p:cNvPr id="28" name="Text 26"/>
          <p:cNvSpPr/>
          <p:nvPr/>
        </p:nvSpPr>
        <p:spPr>
          <a:xfrm>
            <a:off x="457200" y="6388100"/>
            <a:ext cx="571500" cy="393700"/>
          </a:xfrm>
          <a:prstGeom prst="rect">
            <a:avLst/>
          </a:prstGeom>
          <a:noFill/>
          <a:ln/>
        </p:spPr>
        <p:txBody>
          <a:bodyPr wrap="square" lIns="0" tIns="0" rIns="0" bIns="0" rtlCol="0" anchor="t"/>
          <a:lstStyle/>
          <a:p>
            <a:pPr indent="0" marL="0">
              <a:lnSpc>
                <a:spcPct val="112000"/>
              </a:lnSpc>
              <a:buNone/>
            </a:pPr>
            <a:r>
              <a:rPr lang="en-US" sz="2000" b="1" dirty="0">
                <a:solidFill>
                  <a:srgbClr val="514E48"/>
                </a:solidFill>
                <a:latin typeface="Montserrat" pitchFamily="34" charset="0"/>
                <a:ea typeface="Montserrat" pitchFamily="34" charset="-122"/>
                <a:cs typeface="Montserrat" pitchFamily="34" charset="-120"/>
              </a:rPr>
              <a:t>05</a:t>
            </a:r>
            <a:endParaRPr lang="en-US" sz="2000" dirty="0"/>
          </a:p>
        </p:txBody>
      </p:sp>
      <p:sp>
        <p:nvSpPr>
          <p:cNvPr id="29" name="Text 27"/>
          <p:cNvSpPr/>
          <p:nvPr/>
        </p:nvSpPr>
        <p:spPr>
          <a:xfrm>
            <a:off x="1282700" y="6388100"/>
            <a:ext cx="58166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Exports and learning</a:t>
            </a:r>
            <a:endParaRPr lang="en-US" sz="1500" dirty="0"/>
          </a:p>
        </p:txBody>
      </p:sp>
      <p:sp>
        <p:nvSpPr>
          <p:cNvPr id="30" name="Text 28"/>
          <p:cNvSpPr/>
          <p:nvPr/>
        </p:nvSpPr>
        <p:spPr>
          <a:xfrm>
            <a:off x="1282700" y="6769100"/>
            <a:ext cx="5715000" cy="330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Markets can bring scale, technology and feedback.</a:t>
            </a:r>
            <a:endParaRPr lang="en-US" sz="1050" dirty="0"/>
          </a:p>
        </p:txBody>
      </p:sp>
      <p:sp>
        <p:nvSpPr>
          <p:cNvPr id="31" name="Text 29"/>
          <p:cNvSpPr/>
          <p:nvPr/>
        </p:nvSpPr>
        <p:spPr>
          <a:xfrm>
            <a:off x="609600" y="6845300"/>
            <a:ext cx="304800" cy="342900"/>
          </a:xfrm>
          <a:prstGeom prst="rect">
            <a:avLst/>
          </a:prstGeom>
          <a:noFill/>
          <a:ln/>
        </p:spPr>
        <p:txBody>
          <a:bodyPr wrap="square" lIns="0" tIns="0" rIns="0" bIns="0" rtlCol="0" anchor="t"/>
          <a:lstStyle/>
          <a:p>
            <a:pPr indent="0" marL="0">
              <a:lnSpc>
                <a:spcPct val="112000"/>
              </a:lnSpc>
              <a:buNone/>
            </a:pPr>
            <a:r>
              <a:rPr lang="en-US" sz="1600" dirty="0">
                <a:solidFill>
                  <a:srgbClr val="252525"/>
                </a:solidFill>
                <a:latin typeface="Montserrat" pitchFamily="34" charset="0"/>
                <a:ea typeface="Montserrat" pitchFamily="34" charset="-122"/>
                <a:cs typeface="Montserrat" pitchFamily="34" charset="-120"/>
              </a:rPr>
              <a:t>↓</a:t>
            </a:r>
            <a:endParaRPr lang="en-US" sz="1600" dirty="0"/>
          </a:p>
        </p:txBody>
      </p:sp>
      <p:sp>
        <p:nvSpPr>
          <p:cNvPr id="32" name="Text 30"/>
          <p:cNvSpPr/>
          <p:nvPr/>
        </p:nvSpPr>
        <p:spPr>
          <a:xfrm>
            <a:off x="457200" y="7251700"/>
            <a:ext cx="571500" cy="393700"/>
          </a:xfrm>
          <a:prstGeom prst="rect">
            <a:avLst/>
          </a:prstGeom>
          <a:noFill/>
          <a:ln/>
        </p:spPr>
        <p:txBody>
          <a:bodyPr wrap="square" lIns="0" tIns="0" rIns="0" bIns="0" rtlCol="0" anchor="t"/>
          <a:lstStyle/>
          <a:p>
            <a:pPr indent="0" marL="0">
              <a:lnSpc>
                <a:spcPct val="112000"/>
              </a:lnSpc>
              <a:buNone/>
            </a:pPr>
            <a:r>
              <a:rPr lang="en-US" sz="2000" b="1" dirty="0">
                <a:solidFill>
                  <a:srgbClr val="514E48"/>
                </a:solidFill>
                <a:latin typeface="Montserrat" pitchFamily="34" charset="0"/>
                <a:ea typeface="Montserrat" pitchFamily="34" charset="-122"/>
                <a:cs typeface="Montserrat" pitchFamily="34" charset="-120"/>
              </a:rPr>
              <a:t>06</a:t>
            </a:r>
            <a:endParaRPr lang="en-US" sz="2000" dirty="0"/>
          </a:p>
        </p:txBody>
      </p:sp>
      <p:sp>
        <p:nvSpPr>
          <p:cNvPr id="33" name="Text 31"/>
          <p:cNvSpPr/>
          <p:nvPr/>
        </p:nvSpPr>
        <p:spPr>
          <a:xfrm>
            <a:off x="1282700" y="7251700"/>
            <a:ext cx="5816600" cy="3175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Reinvestment and upgrading</a:t>
            </a:r>
            <a:endParaRPr lang="en-US" sz="1500" dirty="0"/>
          </a:p>
        </p:txBody>
      </p:sp>
      <p:sp>
        <p:nvSpPr>
          <p:cNvPr id="34" name="Text 32"/>
          <p:cNvSpPr/>
          <p:nvPr/>
        </p:nvSpPr>
        <p:spPr>
          <a:xfrm>
            <a:off x="1282700" y="7632700"/>
            <a:ext cx="5715000" cy="330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Returns must build new skills—not just protect rents.</a:t>
            </a:r>
            <a:endParaRPr lang="en-US" sz="1050" dirty="0"/>
          </a:p>
        </p:txBody>
      </p:sp>
      <p:sp>
        <p:nvSpPr>
          <p:cNvPr id="35" name="Shape 33"/>
          <p:cNvSpPr/>
          <p:nvPr/>
        </p:nvSpPr>
        <p:spPr>
          <a:xfrm flipV="1">
            <a:off x="7010400" y="2870200"/>
            <a:ext cx="0" cy="5118100"/>
          </a:xfrm>
          <a:prstGeom prst="line">
            <a:avLst/>
          </a:prstGeom>
          <a:noFill/>
          <a:ln w="10160">
            <a:solidFill>
              <a:srgbClr val="514E48"/>
            </a:solidFill>
            <a:prstDash val="dash"/>
          </a:ln>
        </p:spPr>
      </p:sp>
      <p:sp>
        <p:nvSpPr>
          <p:cNvPr id="36" name="Text 34"/>
          <p:cNvSpPr/>
          <p:nvPr/>
        </p:nvSpPr>
        <p:spPr>
          <a:xfrm>
            <a:off x="6908800" y="2781300"/>
            <a:ext cx="215900" cy="2413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a:t>
            </a:r>
            <a:endParaRPr lang="en-US" sz="1200" dirty="0"/>
          </a:p>
        </p:txBody>
      </p:sp>
      <p:sp>
        <p:nvSpPr>
          <p:cNvPr id="37" name="Text 35"/>
          <p:cNvSpPr/>
          <p:nvPr/>
        </p:nvSpPr>
        <p:spPr>
          <a:xfrm>
            <a:off x="1282700" y="8102600"/>
            <a:ext cx="5524500" cy="2032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Learning feeds back; links can break.</a:t>
            </a:r>
            <a:endParaRPr lang="en-US" sz="800" dirty="0"/>
          </a:p>
        </p:txBody>
      </p:sp>
      <p:sp>
        <p:nvSpPr>
          <p:cNvPr id="38" name="Text 36"/>
          <p:cNvSpPr/>
          <p:nvPr/>
        </p:nvSpPr>
        <p:spPr>
          <a:xfrm>
            <a:off x="457200" y="8305800"/>
            <a:ext cx="6642100" cy="482600"/>
          </a:xfrm>
          <a:prstGeom prst="rect">
            <a:avLst/>
          </a:prstGeom>
          <a:noFill/>
          <a:ln/>
        </p:spPr>
        <p:txBody>
          <a:bodyPr wrap="square" lIns="0" tIns="0" rIns="0" bIns="0" rtlCol="0" anchor="t"/>
          <a:lstStyle/>
          <a:p>
            <a:pPr indent="0" marL="0">
              <a:lnSpc>
                <a:spcPct val="112000"/>
              </a:lnSpc>
              <a:buNone/>
            </a:pPr>
            <a:r>
              <a:rPr lang="en-US" sz="900" b="1" dirty="0">
                <a:solidFill>
                  <a:srgbClr val="252525"/>
                </a:solidFill>
                <a:latin typeface="Montserrat" pitchFamily="34" charset="0"/>
                <a:ea typeface="Montserrat" pitchFamily="34" charset="-122"/>
                <a:cs typeface="Montserrat" pitchFamily="34" charset="-120"/>
              </a:rPr>
              <a:t>BREAK POINTS: unreliable services · weak feedback · imported inputs without local learning · protected failure. External conditions shape every link.</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03 / FOLLOW THE PRODUCT</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A product label does not reveal value added</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“Made here”, “exported from here” and “capability retained here” answer different questions.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(2020, Box 2, pp. 44–47); Nasution (2000, pp. 19–20, Table 9); World Bank (1993, pp. 20–26). Journey is a conceptual diagram, not measured product shares or a six-country export series.</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13</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A photograph or gross export total cannot identify domestic value captured, supplier depth, ownership, wages, technological capability or causality.</a:t>
            </a:r>
            <a:endParaRPr lang="en-US" sz="900" dirty="0"/>
          </a:p>
        </p:txBody>
      </p:sp>
      <p:sp>
        <p:nvSpPr>
          <p:cNvPr id="12" name="Shape 10"/>
          <p:cNvSpPr/>
          <p:nvPr/>
        </p:nvSpPr>
        <p:spPr>
          <a:xfrm>
            <a:off x="457200" y="3009900"/>
            <a:ext cx="3975100" cy="0"/>
          </a:xfrm>
          <a:prstGeom prst="line">
            <a:avLst/>
          </a:prstGeom>
          <a:noFill/>
          <a:ln w="7620">
            <a:solidFill>
              <a:srgbClr val="B7B0A4"/>
            </a:solidFill>
            <a:prstDash val="solid"/>
          </a:ln>
        </p:spPr>
      </p:sp>
      <p:sp>
        <p:nvSpPr>
          <p:cNvPr id="13" name="Text 11"/>
          <p:cNvSpPr/>
          <p:nvPr/>
        </p:nvSpPr>
        <p:spPr>
          <a:xfrm>
            <a:off x="457200" y="3162300"/>
            <a:ext cx="381000" cy="355600"/>
          </a:xfrm>
          <a:prstGeom prst="rect">
            <a:avLst/>
          </a:prstGeom>
          <a:noFill/>
          <a:ln/>
        </p:spPr>
        <p:txBody>
          <a:bodyPr wrap="square" lIns="0" tIns="0" rIns="0" bIns="0" rtlCol="0" anchor="t"/>
          <a:lstStyle/>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1</a:t>
            </a:r>
            <a:endParaRPr lang="en-US" sz="1800" dirty="0"/>
          </a:p>
        </p:txBody>
      </p:sp>
      <p:sp>
        <p:nvSpPr>
          <p:cNvPr id="14" name="Text 12"/>
          <p:cNvSpPr/>
          <p:nvPr/>
        </p:nvSpPr>
        <p:spPr>
          <a:xfrm>
            <a:off x="990600" y="3111500"/>
            <a:ext cx="3429000" cy="3175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Imported inputs</a:t>
            </a:r>
            <a:endParaRPr lang="en-US" sz="1200" dirty="0"/>
          </a:p>
        </p:txBody>
      </p:sp>
      <p:sp>
        <p:nvSpPr>
          <p:cNvPr id="15" name="Text 13"/>
          <p:cNvSpPr/>
          <p:nvPr/>
        </p:nvSpPr>
        <p:spPr>
          <a:xfrm>
            <a:off x="990600" y="3441700"/>
            <a:ext cx="3429000" cy="4064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Value may originate abroad.</a:t>
            </a:r>
            <a:endParaRPr lang="en-US" sz="1000" dirty="0"/>
          </a:p>
        </p:txBody>
      </p:sp>
      <p:sp>
        <p:nvSpPr>
          <p:cNvPr id="16" name="Shape 14"/>
          <p:cNvSpPr/>
          <p:nvPr/>
        </p:nvSpPr>
        <p:spPr>
          <a:xfrm>
            <a:off x="457200" y="3848100"/>
            <a:ext cx="3975100" cy="0"/>
          </a:xfrm>
          <a:prstGeom prst="line">
            <a:avLst/>
          </a:prstGeom>
          <a:noFill/>
          <a:ln w="7620">
            <a:solidFill>
              <a:srgbClr val="B7B0A4"/>
            </a:solidFill>
            <a:prstDash val="solid"/>
          </a:ln>
        </p:spPr>
      </p:sp>
      <p:sp>
        <p:nvSpPr>
          <p:cNvPr id="17" name="Text 15"/>
          <p:cNvSpPr/>
          <p:nvPr/>
        </p:nvSpPr>
        <p:spPr>
          <a:xfrm>
            <a:off x="457200" y="4000500"/>
            <a:ext cx="381000" cy="355600"/>
          </a:xfrm>
          <a:prstGeom prst="rect">
            <a:avLst/>
          </a:prstGeom>
          <a:noFill/>
          <a:ln/>
        </p:spPr>
        <p:txBody>
          <a:bodyPr wrap="square" lIns="0" tIns="0" rIns="0" bIns="0" rtlCol="0" anchor="t"/>
          <a:lstStyle/>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2</a:t>
            </a:r>
            <a:endParaRPr lang="en-US" sz="1800" dirty="0"/>
          </a:p>
        </p:txBody>
      </p:sp>
      <p:sp>
        <p:nvSpPr>
          <p:cNvPr id="18" name="Text 16"/>
          <p:cNvSpPr/>
          <p:nvPr/>
        </p:nvSpPr>
        <p:spPr>
          <a:xfrm>
            <a:off x="990600" y="3949700"/>
            <a:ext cx="3429000" cy="3175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Assembly</a:t>
            </a:r>
            <a:endParaRPr lang="en-US" sz="1200" dirty="0"/>
          </a:p>
        </p:txBody>
      </p:sp>
      <p:sp>
        <p:nvSpPr>
          <p:cNvPr id="19" name="Text 17"/>
          <p:cNvSpPr/>
          <p:nvPr/>
        </p:nvSpPr>
        <p:spPr>
          <a:xfrm>
            <a:off x="990600" y="4279900"/>
            <a:ext cx="3429000" cy="4064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Domestic activity, but not the whole product value.</a:t>
            </a:r>
            <a:endParaRPr lang="en-US" sz="1000" dirty="0"/>
          </a:p>
        </p:txBody>
      </p:sp>
      <p:sp>
        <p:nvSpPr>
          <p:cNvPr id="20" name="Shape 18"/>
          <p:cNvSpPr/>
          <p:nvPr/>
        </p:nvSpPr>
        <p:spPr>
          <a:xfrm>
            <a:off x="457200" y="4686300"/>
            <a:ext cx="3975100" cy="0"/>
          </a:xfrm>
          <a:prstGeom prst="line">
            <a:avLst/>
          </a:prstGeom>
          <a:noFill/>
          <a:ln w="7620">
            <a:solidFill>
              <a:srgbClr val="B7B0A4"/>
            </a:solidFill>
            <a:prstDash val="solid"/>
          </a:ln>
        </p:spPr>
      </p:sp>
      <p:sp>
        <p:nvSpPr>
          <p:cNvPr id="21" name="Text 19"/>
          <p:cNvSpPr/>
          <p:nvPr/>
        </p:nvSpPr>
        <p:spPr>
          <a:xfrm>
            <a:off x="457200" y="4838700"/>
            <a:ext cx="381000" cy="355600"/>
          </a:xfrm>
          <a:prstGeom prst="rect">
            <a:avLst/>
          </a:prstGeom>
          <a:noFill/>
          <a:ln/>
        </p:spPr>
        <p:txBody>
          <a:bodyPr wrap="square" lIns="0" tIns="0" rIns="0" bIns="0" rtlCol="0" anchor="t"/>
          <a:lstStyle/>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3</a:t>
            </a:r>
            <a:endParaRPr lang="en-US" sz="1800" dirty="0"/>
          </a:p>
        </p:txBody>
      </p:sp>
      <p:sp>
        <p:nvSpPr>
          <p:cNvPr id="22" name="Text 20"/>
          <p:cNvSpPr/>
          <p:nvPr/>
        </p:nvSpPr>
        <p:spPr>
          <a:xfrm>
            <a:off x="990600" y="4787900"/>
            <a:ext cx="3429000" cy="3175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Logistics and services</a:t>
            </a:r>
            <a:endParaRPr lang="en-US" sz="1200" dirty="0"/>
          </a:p>
        </p:txBody>
      </p:sp>
      <p:sp>
        <p:nvSpPr>
          <p:cNvPr id="23" name="Text 21"/>
          <p:cNvSpPr/>
          <p:nvPr/>
        </p:nvSpPr>
        <p:spPr>
          <a:xfrm>
            <a:off x="990600" y="5118100"/>
            <a:ext cx="3429000" cy="4064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Transport, design and business services also matter.</a:t>
            </a:r>
            <a:endParaRPr lang="en-US" sz="1000" dirty="0"/>
          </a:p>
        </p:txBody>
      </p:sp>
      <p:sp>
        <p:nvSpPr>
          <p:cNvPr id="24" name="Shape 22"/>
          <p:cNvSpPr/>
          <p:nvPr/>
        </p:nvSpPr>
        <p:spPr>
          <a:xfrm>
            <a:off x="457200" y="5524500"/>
            <a:ext cx="3975100" cy="0"/>
          </a:xfrm>
          <a:prstGeom prst="line">
            <a:avLst/>
          </a:prstGeom>
          <a:noFill/>
          <a:ln w="7620">
            <a:solidFill>
              <a:srgbClr val="B7B0A4"/>
            </a:solidFill>
            <a:prstDash val="solid"/>
          </a:ln>
        </p:spPr>
      </p:sp>
      <p:sp>
        <p:nvSpPr>
          <p:cNvPr id="25" name="Text 23"/>
          <p:cNvSpPr/>
          <p:nvPr/>
        </p:nvSpPr>
        <p:spPr>
          <a:xfrm>
            <a:off x="457200" y="5676900"/>
            <a:ext cx="381000" cy="355600"/>
          </a:xfrm>
          <a:prstGeom prst="rect">
            <a:avLst/>
          </a:prstGeom>
          <a:noFill/>
          <a:ln/>
        </p:spPr>
        <p:txBody>
          <a:bodyPr wrap="square" lIns="0" tIns="0" rIns="0" bIns="0" rtlCol="0" anchor="t"/>
          <a:lstStyle/>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4</a:t>
            </a:r>
            <a:endParaRPr lang="en-US" sz="1800" dirty="0"/>
          </a:p>
        </p:txBody>
      </p:sp>
      <p:sp>
        <p:nvSpPr>
          <p:cNvPr id="26" name="Text 24"/>
          <p:cNvSpPr/>
          <p:nvPr/>
        </p:nvSpPr>
        <p:spPr>
          <a:xfrm>
            <a:off x="990600" y="5626100"/>
            <a:ext cx="3429000" cy="3175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Local suppliers</a:t>
            </a:r>
            <a:endParaRPr lang="en-US" sz="1200" dirty="0"/>
          </a:p>
        </p:txBody>
      </p:sp>
      <p:sp>
        <p:nvSpPr>
          <p:cNvPr id="27" name="Text 25"/>
          <p:cNvSpPr/>
          <p:nvPr/>
        </p:nvSpPr>
        <p:spPr>
          <a:xfrm>
            <a:off x="990600" y="5956300"/>
            <a:ext cx="3429000" cy="4064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Domestic linkages can deepen—or remain thin.</a:t>
            </a:r>
            <a:endParaRPr lang="en-US" sz="1000" dirty="0"/>
          </a:p>
        </p:txBody>
      </p:sp>
      <p:sp>
        <p:nvSpPr>
          <p:cNvPr id="28" name="Shape 26"/>
          <p:cNvSpPr/>
          <p:nvPr/>
        </p:nvSpPr>
        <p:spPr>
          <a:xfrm>
            <a:off x="457200" y="6362700"/>
            <a:ext cx="3975100" cy="0"/>
          </a:xfrm>
          <a:prstGeom prst="line">
            <a:avLst/>
          </a:prstGeom>
          <a:noFill/>
          <a:ln w="7620">
            <a:solidFill>
              <a:srgbClr val="B7B0A4"/>
            </a:solidFill>
            <a:prstDash val="solid"/>
          </a:ln>
        </p:spPr>
      </p:sp>
      <p:sp>
        <p:nvSpPr>
          <p:cNvPr id="29" name="Text 27"/>
          <p:cNvSpPr/>
          <p:nvPr/>
        </p:nvSpPr>
        <p:spPr>
          <a:xfrm>
            <a:off x="457200" y="6515100"/>
            <a:ext cx="381000" cy="355600"/>
          </a:xfrm>
          <a:prstGeom prst="rect">
            <a:avLst/>
          </a:prstGeom>
          <a:noFill/>
          <a:ln/>
        </p:spPr>
        <p:txBody>
          <a:bodyPr wrap="square" lIns="0" tIns="0" rIns="0" bIns="0" rtlCol="0" anchor="t"/>
          <a:lstStyle/>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5</a:t>
            </a:r>
            <a:endParaRPr lang="en-US" sz="1800" dirty="0"/>
          </a:p>
        </p:txBody>
      </p:sp>
      <p:sp>
        <p:nvSpPr>
          <p:cNvPr id="30" name="Text 28"/>
          <p:cNvSpPr/>
          <p:nvPr/>
        </p:nvSpPr>
        <p:spPr>
          <a:xfrm>
            <a:off x="990600" y="6464300"/>
            <a:ext cx="3429000" cy="3175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Retained value and learning</a:t>
            </a:r>
            <a:endParaRPr lang="en-US" sz="1200" dirty="0"/>
          </a:p>
        </p:txBody>
      </p:sp>
      <p:sp>
        <p:nvSpPr>
          <p:cNvPr id="31" name="Text 29"/>
          <p:cNvSpPr/>
          <p:nvPr/>
        </p:nvSpPr>
        <p:spPr>
          <a:xfrm>
            <a:off x="990600" y="6794500"/>
            <a:ext cx="3429000" cy="4064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Ask what remains, who receives it and what improves.</a:t>
            </a:r>
            <a:endParaRPr lang="en-US" sz="1000" dirty="0"/>
          </a:p>
        </p:txBody>
      </p:sp>
      <p:pic>
        <p:nvPicPr>
          <p:cNvPr id="32" name="Image 0" descr="/Users/marcusgrude-grodem/Documents/GitHub/USIL/africa-asia-development-magazine/design/canva_editorial_draft/assets/print/malaysia_port_klang.jpg">    </p:cNvPr>
          <p:cNvPicPr>
            <a:picLocks noChangeAspect="1"/>
          </p:cNvPicPr>
          <p:nvPr/>
        </p:nvPicPr>
        <p:blipFill>
          <a:blip r:embed="rId1"/>
          <a:stretch>
            <a:fillRect/>
          </a:stretch>
        </p:blipFill>
        <p:spPr>
          <a:xfrm>
            <a:off x="4826000" y="3104928"/>
            <a:ext cx="2273300" cy="1511745"/>
          </a:xfrm>
          <a:prstGeom prst="rect">
            <a:avLst/>
          </a:prstGeom>
        </p:spPr>
      </p:pic>
      <p:sp>
        <p:nvSpPr>
          <p:cNvPr id="33" name="Text 30"/>
          <p:cNvSpPr/>
          <p:nvPr/>
        </p:nvSpPr>
        <p:spPr>
          <a:xfrm>
            <a:off x="4826000" y="4813300"/>
            <a:ext cx="2273300" cy="850900"/>
          </a:xfrm>
          <a:prstGeom prst="rect">
            <a:avLst/>
          </a:prstGeom>
          <a:noFill/>
          <a:ln/>
        </p:spPr>
        <p:txBody>
          <a:bodyPr wrap="square" lIns="0" tIns="0" rIns="0" bIns="0" rtlCol="0" anchor="t"/>
          <a:lstStyle/>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Port Klang, Malaysia · 2009</a:t>
            </a:r>
            <a:endParaRPr lang="en-US" sz="800" dirty="0"/>
          </a:p>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Containers show movement, not local value captured. jgmorard; CC BY 2.0.</a:t>
            </a:r>
            <a:endParaRPr lang="en-US" sz="800" dirty="0"/>
          </a:p>
        </p:txBody>
      </p:sp>
      <p:pic>
        <p:nvPicPr>
          <p:cNvPr id="34" name="Image 1" descr="/Users/marcusgrude-grodem/Documents/GitHub/USIL/africa-asia-development-magazine/design/canva_editorial_draft/assets/print/philippines_dampa.jpg">    </p:cNvPr>
          <p:cNvPicPr>
            <a:picLocks noChangeAspect="1"/>
          </p:cNvPicPr>
          <p:nvPr/>
        </p:nvPicPr>
        <p:blipFill>
          <a:blip r:embed="rId2"/>
          <a:stretch>
            <a:fillRect/>
          </a:stretch>
        </p:blipFill>
        <p:spPr>
          <a:xfrm>
            <a:off x="4837861" y="5753100"/>
            <a:ext cx="2249579" cy="1511300"/>
          </a:xfrm>
          <a:prstGeom prst="rect">
            <a:avLst/>
          </a:prstGeom>
        </p:spPr>
      </p:pic>
      <p:sp>
        <p:nvSpPr>
          <p:cNvPr id="35" name="Text 31"/>
          <p:cNvSpPr/>
          <p:nvPr/>
        </p:nvSpPr>
        <p:spPr>
          <a:xfrm>
            <a:off x="4826000" y="7366000"/>
            <a:ext cx="2273300" cy="762000"/>
          </a:xfrm>
          <a:prstGeom prst="rect">
            <a:avLst/>
          </a:prstGeom>
          <a:noFill/>
          <a:ln/>
        </p:spPr>
        <p:txBody>
          <a:bodyPr wrap="square" lIns="0" tIns="0" rIns="0" bIns="0" rtlCol="0" anchor="t"/>
          <a:lstStyle/>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Dampa Seaside Market, Metro Manila · 2013</a:t>
            </a:r>
            <a:endParaRPr lang="en-US" sz="800" dirty="0"/>
          </a:p>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Everyday exchange, not a national productivity measure. george ruiz; CC BY 2.0.</a:t>
            </a:r>
            <a:endParaRPr lang="en-US" sz="800" dirty="0"/>
          </a:p>
        </p:txBody>
      </p:sp>
      <p:sp>
        <p:nvSpPr>
          <p:cNvPr id="36" name="Text 32"/>
          <p:cNvSpPr/>
          <p:nvPr/>
        </p:nvSpPr>
        <p:spPr>
          <a:xfrm>
            <a:off x="457200" y="7493000"/>
            <a:ext cx="4076700" cy="927100"/>
          </a:xfrm>
          <a:prstGeom prst="rect">
            <a:avLst/>
          </a:prstGeom>
          <a:noFill/>
          <a:ln/>
        </p:spPr>
        <p:txBody>
          <a:bodyPr wrap="square" lIns="0" tIns="0" rIns="0" bIns="0" rtlCol="0" anchor="t"/>
          <a:lstStyle/>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Manufactured exports ≠</a:t>
            </a:r>
            <a:endParaRPr lang="en-US" sz="1600" dirty="0"/>
          </a:p>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manufacturing value added ≠</a:t>
            </a:r>
            <a:endParaRPr lang="en-US" sz="1600" dirty="0"/>
          </a:p>
          <a:p>
            <a:pPr indent="0" marL="0">
              <a:lnSpc>
                <a:spcPct val="112000"/>
              </a:lnSpc>
              <a:buNone/>
            </a:pPr>
            <a:r>
              <a:rPr lang="en-US" sz="1600" b="1" dirty="0">
                <a:solidFill>
                  <a:srgbClr val="252525"/>
                </a:solidFill>
                <a:latin typeface="Montserrat" pitchFamily="34" charset="0"/>
                <a:ea typeface="Montserrat" pitchFamily="34" charset="-122"/>
                <a:cs typeface="Montserrat" pitchFamily="34" charset="-120"/>
              </a:rPr>
              <a:t>domestic technological capability.</a:t>
            </a:r>
            <a:endParaRPr lang="en-US" sz="1600" dirty="0"/>
          </a:p>
        </p:txBody>
      </p:sp>
      <p:sp>
        <p:nvSpPr>
          <p:cNvPr id="37" name="Text 33"/>
          <p:cNvSpPr/>
          <p:nvPr/>
        </p:nvSpPr>
        <p:spPr>
          <a:xfrm>
            <a:off x="457200" y="8458200"/>
            <a:ext cx="6642100" cy="3556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Malaysia and the Philippines show why assembly connections must be examined alongside imported inputs and domestic suppliers.</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03 / SOUTH KOREA</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Capability built over time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South Korea’s sequence combined recovery, coordinated investment, performance pressure and learning. It also contained costly mistakes.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(1993, pp. 20–26, 127–130, 159–161, 242). Interpretive dispute: Rodrik (1995), investment-coordination argument (registered working-paper abstract, not a page-specific causal estimate).</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14</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 sequence is multi-causal. It does not establish culture as the cause or mean that another country can copy the same national model or international setting.</a:t>
            </a:r>
            <a:endParaRPr lang="en-US" sz="900" dirty="0"/>
          </a:p>
        </p:txBody>
      </p:sp>
      <p:sp>
        <p:nvSpPr>
          <p:cNvPr id="12" name="Shape 10"/>
          <p:cNvSpPr/>
          <p:nvPr/>
        </p:nvSpPr>
        <p:spPr>
          <a:xfrm>
            <a:off x="914400" y="3098800"/>
            <a:ext cx="0" cy="1130300"/>
          </a:xfrm>
          <a:prstGeom prst="line">
            <a:avLst/>
          </a:prstGeom>
          <a:noFill/>
          <a:ln w="20320">
            <a:solidFill>
              <a:srgbClr val="315A78"/>
            </a:solidFill>
            <a:prstDash val="solid"/>
          </a:ln>
        </p:spPr>
      </p:sp>
      <p:sp>
        <p:nvSpPr>
          <p:cNvPr id="13" name="Shape 11"/>
          <p:cNvSpPr/>
          <p:nvPr/>
        </p:nvSpPr>
        <p:spPr>
          <a:xfrm>
            <a:off x="850900" y="3035300"/>
            <a:ext cx="127000" cy="127000"/>
          </a:xfrm>
          <a:prstGeom prst="diamond">
            <a:avLst/>
          </a:prstGeom>
          <a:solidFill>
            <a:srgbClr val="315A78"/>
          </a:solidFill>
          <a:ln w="7620">
            <a:solidFill>
              <a:srgbClr val="252525"/>
            </a:solidFill>
            <a:prstDash val="solid"/>
          </a:ln>
        </p:spPr>
      </p:sp>
      <p:sp>
        <p:nvSpPr>
          <p:cNvPr id="14" name="Text 12"/>
          <p:cNvSpPr/>
          <p:nvPr/>
        </p:nvSpPr>
        <p:spPr>
          <a:xfrm>
            <a:off x="1257300" y="2946400"/>
            <a:ext cx="1778000" cy="355600"/>
          </a:xfrm>
          <a:prstGeom prst="rect">
            <a:avLst/>
          </a:prstGeom>
          <a:noFill/>
          <a:ln/>
        </p:spPr>
        <p:txBody>
          <a:bodyPr wrap="square" lIns="0" tIns="0" rIns="0" bIns="0" rtlCol="0" anchor="t"/>
          <a:lstStyle/>
          <a:p>
            <a:pPr indent="0" marL="0">
              <a:lnSpc>
                <a:spcPct val="112000"/>
              </a:lnSpc>
              <a:buNone/>
            </a:pPr>
            <a:r>
              <a:rPr lang="en-US" sz="2100" b="1" dirty="0">
                <a:solidFill>
                  <a:srgbClr val="252525"/>
                </a:solidFill>
                <a:latin typeface="Montserrat" pitchFamily="34" charset="0"/>
                <a:ea typeface="Montserrat" pitchFamily="34" charset="-122"/>
                <a:cs typeface="Montserrat" pitchFamily="34" charset="-120"/>
              </a:rPr>
              <a:t>1950s</a:t>
            </a:r>
            <a:endParaRPr lang="en-US" sz="2100" dirty="0"/>
          </a:p>
        </p:txBody>
      </p:sp>
      <p:sp>
        <p:nvSpPr>
          <p:cNvPr id="15" name="Text 13"/>
          <p:cNvSpPr/>
          <p:nvPr/>
        </p:nvSpPr>
        <p:spPr>
          <a:xfrm>
            <a:off x="3175000" y="2946400"/>
            <a:ext cx="3924300" cy="3175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Recovery and foundations</a:t>
            </a:r>
            <a:endParaRPr lang="en-US" sz="1400" dirty="0"/>
          </a:p>
        </p:txBody>
      </p:sp>
      <p:sp>
        <p:nvSpPr>
          <p:cNvPr id="16" name="Text 14"/>
          <p:cNvSpPr/>
          <p:nvPr/>
        </p:nvSpPr>
        <p:spPr>
          <a:xfrm>
            <a:off x="3175000" y="3390900"/>
            <a:ext cx="3924300" cy="8255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Recovery, agricultural change, education and infrastructure shaped the capacity to industrialise.</a:t>
            </a:r>
            <a:endParaRPr lang="en-US" sz="1050" dirty="0"/>
          </a:p>
        </p:txBody>
      </p:sp>
      <p:sp>
        <p:nvSpPr>
          <p:cNvPr id="17" name="Shape 15"/>
          <p:cNvSpPr/>
          <p:nvPr/>
        </p:nvSpPr>
        <p:spPr>
          <a:xfrm>
            <a:off x="914400" y="4419600"/>
            <a:ext cx="0" cy="1130300"/>
          </a:xfrm>
          <a:prstGeom prst="line">
            <a:avLst/>
          </a:prstGeom>
          <a:noFill/>
          <a:ln w="20320">
            <a:solidFill>
              <a:srgbClr val="315A78"/>
            </a:solidFill>
            <a:prstDash val="solid"/>
          </a:ln>
        </p:spPr>
      </p:sp>
      <p:sp>
        <p:nvSpPr>
          <p:cNvPr id="18" name="Shape 16"/>
          <p:cNvSpPr/>
          <p:nvPr/>
        </p:nvSpPr>
        <p:spPr>
          <a:xfrm>
            <a:off x="850900" y="4356100"/>
            <a:ext cx="127000" cy="127000"/>
          </a:xfrm>
          <a:prstGeom prst="diamond">
            <a:avLst/>
          </a:prstGeom>
          <a:solidFill>
            <a:srgbClr val="315A78"/>
          </a:solidFill>
          <a:ln w="7620">
            <a:solidFill>
              <a:srgbClr val="252525"/>
            </a:solidFill>
            <a:prstDash val="solid"/>
          </a:ln>
        </p:spPr>
      </p:sp>
      <p:sp>
        <p:nvSpPr>
          <p:cNvPr id="19" name="Text 17"/>
          <p:cNvSpPr/>
          <p:nvPr/>
        </p:nvSpPr>
        <p:spPr>
          <a:xfrm>
            <a:off x="1257300" y="4267200"/>
            <a:ext cx="1778000" cy="355600"/>
          </a:xfrm>
          <a:prstGeom prst="rect">
            <a:avLst/>
          </a:prstGeom>
          <a:noFill/>
          <a:ln/>
        </p:spPr>
        <p:txBody>
          <a:bodyPr wrap="square" lIns="0" tIns="0" rIns="0" bIns="0" rtlCol="0" anchor="t"/>
          <a:lstStyle/>
          <a:p>
            <a:pPr indent="0" marL="0">
              <a:lnSpc>
                <a:spcPct val="112000"/>
              </a:lnSpc>
              <a:buNone/>
            </a:pPr>
            <a:r>
              <a:rPr lang="en-US" sz="2100" b="1" dirty="0">
                <a:solidFill>
                  <a:srgbClr val="252525"/>
                </a:solidFill>
                <a:latin typeface="Montserrat" pitchFamily="34" charset="0"/>
                <a:ea typeface="Montserrat" pitchFamily="34" charset="-122"/>
                <a:cs typeface="Montserrat" pitchFamily="34" charset="-120"/>
              </a:rPr>
              <a:t>1960s</a:t>
            </a:r>
            <a:endParaRPr lang="en-US" sz="2100" dirty="0"/>
          </a:p>
        </p:txBody>
      </p:sp>
      <p:sp>
        <p:nvSpPr>
          <p:cNvPr id="20" name="Text 18"/>
          <p:cNvSpPr/>
          <p:nvPr/>
        </p:nvSpPr>
        <p:spPr>
          <a:xfrm>
            <a:off x="3175000" y="4267200"/>
            <a:ext cx="3924300" cy="3175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Coordination and discipline</a:t>
            </a:r>
            <a:endParaRPr lang="en-US" sz="1400" dirty="0"/>
          </a:p>
        </p:txBody>
      </p:sp>
      <p:sp>
        <p:nvSpPr>
          <p:cNvPr id="21" name="Text 19"/>
          <p:cNvSpPr/>
          <p:nvPr/>
        </p:nvSpPr>
        <p:spPr>
          <a:xfrm>
            <a:off x="3175000" y="4711700"/>
            <a:ext cx="3924300" cy="8255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Credit and investment coordination accompanied export incentives and performance pressure.</a:t>
            </a:r>
            <a:endParaRPr lang="en-US" sz="1050" dirty="0"/>
          </a:p>
        </p:txBody>
      </p:sp>
      <p:sp>
        <p:nvSpPr>
          <p:cNvPr id="22" name="Shape 20"/>
          <p:cNvSpPr/>
          <p:nvPr/>
        </p:nvSpPr>
        <p:spPr>
          <a:xfrm>
            <a:off x="914400" y="5740400"/>
            <a:ext cx="0" cy="1130300"/>
          </a:xfrm>
          <a:prstGeom prst="line">
            <a:avLst/>
          </a:prstGeom>
          <a:noFill/>
          <a:ln w="20320">
            <a:solidFill>
              <a:srgbClr val="315A78"/>
            </a:solidFill>
            <a:prstDash val="solid"/>
          </a:ln>
        </p:spPr>
      </p:sp>
      <p:sp>
        <p:nvSpPr>
          <p:cNvPr id="23" name="Shape 21"/>
          <p:cNvSpPr/>
          <p:nvPr/>
        </p:nvSpPr>
        <p:spPr>
          <a:xfrm>
            <a:off x="850900" y="5676900"/>
            <a:ext cx="127000" cy="127000"/>
          </a:xfrm>
          <a:prstGeom prst="diamond">
            <a:avLst/>
          </a:prstGeom>
          <a:solidFill>
            <a:srgbClr val="315A78"/>
          </a:solidFill>
          <a:ln w="7620">
            <a:solidFill>
              <a:srgbClr val="252525"/>
            </a:solidFill>
            <a:prstDash val="solid"/>
          </a:ln>
        </p:spPr>
      </p:sp>
      <p:sp>
        <p:nvSpPr>
          <p:cNvPr id="24" name="Text 22"/>
          <p:cNvSpPr/>
          <p:nvPr/>
        </p:nvSpPr>
        <p:spPr>
          <a:xfrm>
            <a:off x="1257300" y="5588000"/>
            <a:ext cx="1778000" cy="355600"/>
          </a:xfrm>
          <a:prstGeom prst="rect">
            <a:avLst/>
          </a:prstGeom>
          <a:noFill/>
          <a:ln/>
        </p:spPr>
        <p:txBody>
          <a:bodyPr wrap="square" lIns="0" tIns="0" rIns="0" bIns="0" rtlCol="0" anchor="t"/>
          <a:lstStyle/>
          <a:p>
            <a:pPr indent="0" marL="0">
              <a:lnSpc>
                <a:spcPct val="112000"/>
              </a:lnSpc>
              <a:buNone/>
            </a:pPr>
            <a:r>
              <a:rPr lang="en-US" sz="2100" b="1" dirty="0">
                <a:solidFill>
                  <a:srgbClr val="252525"/>
                </a:solidFill>
                <a:latin typeface="Montserrat" pitchFamily="34" charset="0"/>
                <a:ea typeface="Montserrat" pitchFamily="34" charset="-122"/>
                <a:cs typeface="Montserrat" pitchFamily="34" charset="-120"/>
              </a:rPr>
              <a:t>1970s</a:t>
            </a:r>
            <a:endParaRPr lang="en-US" sz="2100" dirty="0"/>
          </a:p>
        </p:txBody>
      </p:sp>
      <p:sp>
        <p:nvSpPr>
          <p:cNvPr id="25" name="Text 23"/>
          <p:cNvSpPr/>
          <p:nvPr/>
        </p:nvSpPr>
        <p:spPr>
          <a:xfrm>
            <a:off x="3175000" y="5588000"/>
            <a:ext cx="3924300" cy="3175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Heavy industry—and costs</a:t>
            </a:r>
            <a:endParaRPr lang="en-US" sz="1400" dirty="0"/>
          </a:p>
        </p:txBody>
      </p:sp>
      <p:sp>
        <p:nvSpPr>
          <p:cNvPr id="26" name="Text 24"/>
          <p:cNvSpPr/>
          <p:nvPr/>
        </p:nvSpPr>
        <p:spPr>
          <a:xfrm>
            <a:off x="3175000" y="6032500"/>
            <a:ext cx="3924300" cy="8255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Heavy and chemical industry expanded; policy also generated pressures, debt and bottlenecks.</a:t>
            </a:r>
            <a:endParaRPr lang="en-US" sz="1050" dirty="0"/>
          </a:p>
        </p:txBody>
      </p:sp>
      <p:sp>
        <p:nvSpPr>
          <p:cNvPr id="27" name="Shape 25"/>
          <p:cNvSpPr/>
          <p:nvPr/>
        </p:nvSpPr>
        <p:spPr>
          <a:xfrm>
            <a:off x="914400" y="7061200"/>
            <a:ext cx="0" cy="1130300"/>
          </a:xfrm>
          <a:prstGeom prst="line">
            <a:avLst/>
          </a:prstGeom>
          <a:noFill/>
          <a:ln w="20320">
            <a:solidFill>
              <a:srgbClr val="315A78"/>
            </a:solidFill>
            <a:prstDash val="solid"/>
          </a:ln>
        </p:spPr>
      </p:sp>
      <p:sp>
        <p:nvSpPr>
          <p:cNvPr id="28" name="Shape 26"/>
          <p:cNvSpPr/>
          <p:nvPr/>
        </p:nvSpPr>
        <p:spPr>
          <a:xfrm>
            <a:off x="850900" y="6997700"/>
            <a:ext cx="127000" cy="127000"/>
          </a:xfrm>
          <a:prstGeom prst="diamond">
            <a:avLst/>
          </a:prstGeom>
          <a:solidFill>
            <a:srgbClr val="315A78"/>
          </a:solidFill>
          <a:ln w="7620">
            <a:solidFill>
              <a:srgbClr val="252525"/>
            </a:solidFill>
            <a:prstDash val="solid"/>
          </a:ln>
        </p:spPr>
      </p:sp>
      <p:sp>
        <p:nvSpPr>
          <p:cNvPr id="29" name="Text 27"/>
          <p:cNvSpPr/>
          <p:nvPr/>
        </p:nvSpPr>
        <p:spPr>
          <a:xfrm>
            <a:off x="1257300" y="6908800"/>
            <a:ext cx="1778000" cy="355600"/>
          </a:xfrm>
          <a:prstGeom prst="rect">
            <a:avLst/>
          </a:prstGeom>
          <a:noFill/>
          <a:ln/>
        </p:spPr>
        <p:txBody>
          <a:bodyPr wrap="square" lIns="0" tIns="0" rIns="0" bIns="0" rtlCol="0" anchor="t"/>
          <a:lstStyle/>
          <a:p>
            <a:pPr indent="0" marL="0">
              <a:lnSpc>
                <a:spcPct val="112000"/>
              </a:lnSpc>
              <a:buNone/>
            </a:pPr>
            <a:r>
              <a:rPr lang="en-US" sz="2100" b="1" dirty="0">
                <a:solidFill>
                  <a:srgbClr val="252525"/>
                </a:solidFill>
                <a:latin typeface="Montserrat" pitchFamily="34" charset="0"/>
                <a:ea typeface="Montserrat" pitchFamily="34" charset="-122"/>
                <a:cs typeface="Montserrat" pitchFamily="34" charset="-120"/>
              </a:rPr>
              <a:t>1980s</a:t>
            </a:r>
            <a:endParaRPr lang="en-US" sz="2100" dirty="0"/>
          </a:p>
        </p:txBody>
      </p:sp>
      <p:sp>
        <p:nvSpPr>
          <p:cNvPr id="30" name="Text 28"/>
          <p:cNvSpPr/>
          <p:nvPr/>
        </p:nvSpPr>
        <p:spPr>
          <a:xfrm>
            <a:off x="3175000" y="6908800"/>
            <a:ext cx="3924300" cy="3175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Correction and upgrading</a:t>
            </a:r>
            <a:endParaRPr lang="en-US" sz="1400" dirty="0"/>
          </a:p>
        </p:txBody>
      </p:sp>
      <p:sp>
        <p:nvSpPr>
          <p:cNvPr id="31" name="Text 29"/>
          <p:cNvSpPr/>
          <p:nvPr/>
        </p:nvSpPr>
        <p:spPr>
          <a:xfrm>
            <a:off x="3175000" y="7353300"/>
            <a:ext cx="3924300" cy="8255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Adjustment and liberalisation accompanied deeper firm learning and technological upgrading.</a:t>
            </a:r>
            <a:endParaRPr lang="en-US" sz="1050" dirty="0"/>
          </a:p>
        </p:txBody>
      </p:sp>
      <p:sp>
        <p:nvSpPr>
          <p:cNvPr id="32" name="Text 30"/>
          <p:cNvSpPr/>
          <p:nvPr/>
        </p:nvSpPr>
        <p:spPr>
          <a:xfrm>
            <a:off x="457200" y="8394700"/>
            <a:ext cx="6642100" cy="4699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Durable direction mattered only if institutions could</a:t>
            </a:r>
            <a:endParaRPr lang="en-US" sz="1200" dirty="0"/>
          </a:p>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learn from failure and change what was not working.</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03 / THE CENTRAL COMPARISON</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Ghana and South Korea: comparison, not experiment</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GDP per capita · constant 2015 US dollars per person · three observed anchors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(2026), World Development Indicators (SRC-WDI-001). Frozen release: 13 July 2026; retrieved 6 October 2026. Data and locators: project CSVs; reference p. 28. NY.GDP.PCAP.KD; pair CSV retrieved 4 October 2026. Straight connectors guide the eye only; no annual values are estimated. 2020 is the COVID-19 year.</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15</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A two-country trajectory cannot isolate culture, colonial rule, policy, institutions or any single cause.</a:t>
            </a:r>
            <a:endParaRPr lang="en-US" sz="900" dirty="0"/>
          </a:p>
        </p:txBody>
      </p:sp>
      <p:sp>
        <p:nvSpPr>
          <p:cNvPr id="12" name="Shape 10"/>
          <p:cNvSpPr/>
          <p:nvPr/>
        </p:nvSpPr>
        <p:spPr>
          <a:xfrm>
            <a:off x="1054100" y="7264400"/>
            <a:ext cx="5372100" cy="0"/>
          </a:xfrm>
          <a:prstGeom prst="line">
            <a:avLst/>
          </a:prstGeom>
          <a:noFill/>
          <a:ln w="7620">
            <a:solidFill>
              <a:srgbClr val="B7B0A4"/>
            </a:solidFill>
            <a:prstDash val="solid"/>
          </a:ln>
        </p:spPr>
      </p:sp>
      <p:sp>
        <p:nvSpPr>
          <p:cNvPr id="13" name="Text 11"/>
          <p:cNvSpPr/>
          <p:nvPr/>
        </p:nvSpPr>
        <p:spPr>
          <a:xfrm>
            <a:off x="457200" y="7200900"/>
            <a:ext cx="520700" cy="190500"/>
          </a:xfrm>
          <a:prstGeom prst="rect">
            <a:avLst/>
          </a:prstGeom>
          <a:noFill/>
          <a:ln/>
        </p:spPr>
        <p:txBody>
          <a:bodyPr wrap="square" lIns="0" tIns="0" rIns="0" bIns="0" rtlCol="0" anchor="t"/>
          <a:lstStyle/>
          <a:p>
            <a:pPr algn="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0</a:t>
            </a:r>
            <a:endParaRPr lang="en-US" sz="800" dirty="0"/>
          </a:p>
        </p:txBody>
      </p:sp>
      <p:sp>
        <p:nvSpPr>
          <p:cNvPr id="14" name="Shape 12"/>
          <p:cNvSpPr/>
          <p:nvPr/>
        </p:nvSpPr>
        <p:spPr>
          <a:xfrm>
            <a:off x="1054100" y="6154057"/>
            <a:ext cx="5372100" cy="0"/>
          </a:xfrm>
          <a:prstGeom prst="line">
            <a:avLst/>
          </a:prstGeom>
          <a:noFill/>
          <a:ln w="7620">
            <a:solidFill>
              <a:srgbClr val="B7B0A4"/>
            </a:solidFill>
            <a:prstDash val="solid"/>
          </a:ln>
        </p:spPr>
      </p:sp>
      <p:sp>
        <p:nvSpPr>
          <p:cNvPr id="15" name="Text 13"/>
          <p:cNvSpPr/>
          <p:nvPr/>
        </p:nvSpPr>
        <p:spPr>
          <a:xfrm>
            <a:off x="457200" y="6090557"/>
            <a:ext cx="520700" cy="190500"/>
          </a:xfrm>
          <a:prstGeom prst="rect">
            <a:avLst/>
          </a:prstGeom>
          <a:noFill/>
          <a:ln/>
        </p:spPr>
        <p:txBody>
          <a:bodyPr wrap="square" lIns="0" tIns="0" rIns="0" bIns="0" rtlCol="0" anchor="t"/>
          <a:lstStyle/>
          <a:p>
            <a:pPr algn="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10,000</a:t>
            </a:r>
            <a:endParaRPr lang="en-US" sz="800" dirty="0"/>
          </a:p>
        </p:txBody>
      </p:sp>
      <p:sp>
        <p:nvSpPr>
          <p:cNvPr id="16" name="Shape 14"/>
          <p:cNvSpPr/>
          <p:nvPr/>
        </p:nvSpPr>
        <p:spPr>
          <a:xfrm>
            <a:off x="1054100" y="5043714"/>
            <a:ext cx="5372100" cy="0"/>
          </a:xfrm>
          <a:prstGeom prst="line">
            <a:avLst/>
          </a:prstGeom>
          <a:noFill/>
          <a:ln w="7620">
            <a:solidFill>
              <a:srgbClr val="B7B0A4"/>
            </a:solidFill>
            <a:prstDash val="solid"/>
          </a:ln>
        </p:spPr>
      </p:sp>
      <p:sp>
        <p:nvSpPr>
          <p:cNvPr id="17" name="Text 15"/>
          <p:cNvSpPr/>
          <p:nvPr/>
        </p:nvSpPr>
        <p:spPr>
          <a:xfrm>
            <a:off x="457200" y="4980214"/>
            <a:ext cx="520700" cy="190500"/>
          </a:xfrm>
          <a:prstGeom prst="rect">
            <a:avLst/>
          </a:prstGeom>
          <a:noFill/>
          <a:ln/>
        </p:spPr>
        <p:txBody>
          <a:bodyPr wrap="square" lIns="0" tIns="0" rIns="0" bIns="0" rtlCol="0" anchor="t"/>
          <a:lstStyle/>
          <a:p>
            <a:pPr algn="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20,000</a:t>
            </a:r>
            <a:endParaRPr lang="en-US" sz="800" dirty="0"/>
          </a:p>
        </p:txBody>
      </p:sp>
      <p:sp>
        <p:nvSpPr>
          <p:cNvPr id="18" name="Shape 16"/>
          <p:cNvSpPr/>
          <p:nvPr/>
        </p:nvSpPr>
        <p:spPr>
          <a:xfrm>
            <a:off x="1054100" y="3933371"/>
            <a:ext cx="5372100" cy="0"/>
          </a:xfrm>
          <a:prstGeom prst="line">
            <a:avLst/>
          </a:prstGeom>
          <a:noFill/>
          <a:ln w="7620">
            <a:solidFill>
              <a:srgbClr val="B7B0A4"/>
            </a:solidFill>
            <a:prstDash val="solid"/>
          </a:ln>
        </p:spPr>
      </p:sp>
      <p:sp>
        <p:nvSpPr>
          <p:cNvPr id="19" name="Text 17"/>
          <p:cNvSpPr/>
          <p:nvPr/>
        </p:nvSpPr>
        <p:spPr>
          <a:xfrm>
            <a:off x="457200" y="3869871"/>
            <a:ext cx="520700" cy="190500"/>
          </a:xfrm>
          <a:prstGeom prst="rect">
            <a:avLst/>
          </a:prstGeom>
          <a:noFill/>
          <a:ln/>
        </p:spPr>
        <p:txBody>
          <a:bodyPr wrap="square" lIns="0" tIns="0" rIns="0" bIns="0" rtlCol="0" anchor="t"/>
          <a:lstStyle/>
          <a:p>
            <a:pPr algn="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30,000</a:t>
            </a:r>
            <a:endParaRPr lang="en-US" sz="800" dirty="0"/>
          </a:p>
        </p:txBody>
      </p:sp>
      <p:sp>
        <p:nvSpPr>
          <p:cNvPr id="20" name="Shape 18"/>
          <p:cNvSpPr/>
          <p:nvPr/>
        </p:nvSpPr>
        <p:spPr>
          <a:xfrm>
            <a:off x="1054100" y="3378200"/>
            <a:ext cx="5372100" cy="0"/>
          </a:xfrm>
          <a:prstGeom prst="line">
            <a:avLst/>
          </a:prstGeom>
          <a:noFill/>
          <a:ln w="7620">
            <a:solidFill>
              <a:srgbClr val="B7B0A4"/>
            </a:solidFill>
            <a:prstDash val="solid"/>
          </a:ln>
        </p:spPr>
      </p:sp>
      <p:sp>
        <p:nvSpPr>
          <p:cNvPr id="21" name="Text 19"/>
          <p:cNvSpPr/>
          <p:nvPr/>
        </p:nvSpPr>
        <p:spPr>
          <a:xfrm>
            <a:off x="457200" y="3314700"/>
            <a:ext cx="520700" cy="190500"/>
          </a:xfrm>
          <a:prstGeom prst="rect">
            <a:avLst/>
          </a:prstGeom>
          <a:noFill/>
          <a:ln/>
        </p:spPr>
        <p:txBody>
          <a:bodyPr wrap="square" lIns="0" tIns="0" rIns="0" bIns="0" rtlCol="0" anchor="t"/>
          <a:lstStyle/>
          <a:p>
            <a:pPr algn="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35,000</a:t>
            </a:r>
            <a:endParaRPr lang="en-US" sz="800" dirty="0"/>
          </a:p>
        </p:txBody>
      </p:sp>
      <p:sp>
        <p:nvSpPr>
          <p:cNvPr id="22" name="Shape 20"/>
          <p:cNvSpPr/>
          <p:nvPr/>
        </p:nvSpPr>
        <p:spPr>
          <a:xfrm>
            <a:off x="1104900" y="7142178"/>
            <a:ext cx="2628900" cy="27193"/>
          </a:xfrm>
          <a:prstGeom prst="line">
            <a:avLst/>
          </a:prstGeom>
          <a:noFill/>
          <a:ln w="25400">
            <a:solidFill>
              <a:srgbClr val="B95332"/>
            </a:solidFill>
            <a:prstDash val="solid"/>
          </a:ln>
        </p:spPr>
      </p:sp>
      <p:sp>
        <p:nvSpPr>
          <p:cNvPr id="23" name="Shape 21"/>
          <p:cNvSpPr/>
          <p:nvPr/>
        </p:nvSpPr>
        <p:spPr>
          <a:xfrm flipV="1">
            <a:off x="3733800" y="7045641"/>
            <a:ext cx="2628900" cy="123730"/>
          </a:xfrm>
          <a:prstGeom prst="line">
            <a:avLst/>
          </a:prstGeom>
          <a:noFill/>
          <a:ln w="25400">
            <a:solidFill>
              <a:srgbClr val="B95332"/>
            </a:solidFill>
            <a:prstDash val="solid"/>
          </a:ln>
        </p:spPr>
      </p:sp>
      <p:sp>
        <p:nvSpPr>
          <p:cNvPr id="24" name="Shape 22"/>
          <p:cNvSpPr/>
          <p:nvPr/>
        </p:nvSpPr>
        <p:spPr>
          <a:xfrm>
            <a:off x="1054100" y="7091378"/>
            <a:ext cx="101600" cy="101600"/>
          </a:xfrm>
          <a:prstGeom prst="ellipse">
            <a:avLst/>
          </a:prstGeom>
          <a:solidFill>
            <a:srgbClr val="B95332"/>
          </a:solidFill>
          <a:ln w="7620">
            <a:solidFill>
              <a:srgbClr val="252525"/>
            </a:solidFill>
            <a:prstDash val="solid"/>
          </a:ln>
        </p:spPr>
      </p:sp>
      <p:sp>
        <p:nvSpPr>
          <p:cNvPr id="25" name="Shape 23"/>
          <p:cNvSpPr/>
          <p:nvPr/>
        </p:nvSpPr>
        <p:spPr>
          <a:xfrm>
            <a:off x="3683000" y="7118571"/>
            <a:ext cx="101600" cy="101600"/>
          </a:xfrm>
          <a:prstGeom prst="ellipse">
            <a:avLst/>
          </a:prstGeom>
          <a:solidFill>
            <a:srgbClr val="B95332"/>
          </a:solidFill>
          <a:ln w="7620">
            <a:solidFill>
              <a:srgbClr val="252525"/>
            </a:solidFill>
            <a:prstDash val="solid"/>
          </a:ln>
        </p:spPr>
      </p:sp>
      <p:sp>
        <p:nvSpPr>
          <p:cNvPr id="26" name="Shape 24"/>
          <p:cNvSpPr/>
          <p:nvPr/>
        </p:nvSpPr>
        <p:spPr>
          <a:xfrm>
            <a:off x="6311900" y="6994841"/>
            <a:ext cx="101600" cy="101600"/>
          </a:xfrm>
          <a:prstGeom prst="ellipse">
            <a:avLst/>
          </a:prstGeom>
          <a:solidFill>
            <a:srgbClr val="B95332"/>
          </a:solidFill>
          <a:ln w="7620">
            <a:solidFill>
              <a:srgbClr val="252525"/>
            </a:solidFill>
            <a:prstDash val="solid"/>
          </a:ln>
        </p:spPr>
      </p:sp>
      <p:sp>
        <p:nvSpPr>
          <p:cNvPr id="27" name="Shape 25"/>
          <p:cNvSpPr/>
          <p:nvPr/>
        </p:nvSpPr>
        <p:spPr>
          <a:xfrm flipV="1">
            <a:off x="1104900" y="6190412"/>
            <a:ext cx="2628900" cy="958764"/>
          </a:xfrm>
          <a:prstGeom prst="line">
            <a:avLst/>
          </a:prstGeom>
          <a:noFill/>
          <a:ln w="25400">
            <a:solidFill>
              <a:srgbClr val="315A78"/>
            </a:solidFill>
            <a:prstDash val="dash"/>
          </a:ln>
        </p:spPr>
      </p:sp>
      <p:sp>
        <p:nvSpPr>
          <p:cNvPr id="28" name="Shape 26"/>
          <p:cNvSpPr/>
          <p:nvPr/>
        </p:nvSpPr>
        <p:spPr>
          <a:xfrm flipV="1">
            <a:off x="3733800" y="3576293"/>
            <a:ext cx="2628900" cy="2614119"/>
          </a:xfrm>
          <a:prstGeom prst="line">
            <a:avLst/>
          </a:prstGeom>
          <a:noFill/>
          <a:ln w="25400">
            <a:solidFill>
              <a:srgbClr val="315A78"/>
            </a:solidFill>
            <a:prstDash val="dash"/>
          </a:ln>
        </p:spPr>
      </p:sp>
      <p:sp>
        <p:nvSpPr>
          <p:cNvPr id="29" name="Shape 27"/>
          <p:cNvSpPr/>
          <p:nvPr/>
        </p:nvSpPr>
        <p:spPr>
          <a:xfrm>
            <a:off x="1054100" y="7098377"/>
            <a:ext cx="101600" cy="101600"/>
          </a:xfrm>
          <a:prstGeom prst="diamond">
            <a:avLst/>
          </a:prstGeom>
          <a:solidFill>
            <a:srgbClr val="315A78"/>
          </a:solidFill>
          <a:ln w="7620">
            <a:solidFill>
              <a:srgbClr val="252525"/>
            </a:solidFill>
            <a:prstDash val="solid"/>
          </a:ln>
        </p:spPr>
      </p:sp>
      <p:sp>
        <p:nvSpPr>
          <p:cNvPr id="30" name="Shape 28"/>
          <p:cNvSpPr/>
          <p:nvPr/>
        </p:nvSpPr>
        <p:spPr>
          <a:xfrm>
            <a:off x="3683000" y="6139612"/>
            <a:ext cx="101600" cy="101600"/>
          </a:xfrm>
          <a:prstGeom prst="diamond">
            <a:avLst/>
          </a:prstGeom>
          <a:solidFill>
            <a:srgbClr val="315A78"/>
          </a:solidFill>
          <a:ln w="7620">
            <a:solidFill>
              <a:srgbClr val="252525"/>
            </a:solidFill>
            <a:prstDash val="solid"/>
          </a:ln>
        </p:spPr>
      </p:sp>
      <p:sp>
        <p:nvSpPr>
          <p:cNvPr id="31" name="Shape 29"/>
          <p:cNvSpPr/>
          <p:nvPr/>
        </p:nvSpPr>
        <p:spPr>
          <a:xfrm>
            <a:off x="6311900" y="3525493"/>
            <a:ext cx="101600" cy="101600"/>
          </a:xfrm>
          <a:prstGeom prst="diamond">
            <a:avLst/>
          </a:prstGeom>
          <a:solidFill>
            <a:srgbClr val="315A78"/>
          </a:solidFill>
          <a:ln w="7620">
            <a:solidFill>
              <a:srgbClr val="252525"/>
            </a:solidFill>
            <a:prstDash val="solid"/>
          </a:ln>
        </p:spPr>
      </p:sp>
      <p:sp>
        <p:nvSpPr>
          <p:cNvPr id="32" name="Text 30"/>
          <p:cNvSpPr/>
          <p:nvPr/>
        </p:nvSpPr>
        <p:spPr>
          <a:xfrm>
            <a:off x="800100" y="7467600"/>
            <a:ext cx="609600" cy="266700"/>
          </a:xfrm>
          <a:prstGeom prst="rect">
            <a:avLst/>
          </a:prstGeom>
          <a:noFill/>
          <a:ln/>
        </p:spPr>
        <p:txBody>
          <a:bodyPr wrap="square" lIns="0" tIns="0" rIns="0" bIns="0" rtlCol="0" anchor="t"/>
          <a:lstStyle/>
          <a:p>
            <a:pPr algn="ct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1960</a:t>
            </a:r>
            <a:endParaRPr lang="en-US" sz="1000" dirty="0"/>
          </a:p>
        </p:txBody>
      </p:sp>
      <p:sp>
        <p:nvSpPr>
          <p:cNvPr id="33" name="Text 31"/>
          <p:cNvSpPr/>
          <p:nvPr/>
        </p:nvSpPr>
        <p:spPr>
          <a:xfrm>
            <a:off x="3429000" y="7467600"/>
            <a:ext cx="609600" cy="266700"/>
          </a:xfrm>
          <a:prstGeom prst="rect">
            <a:avLst/>
          </a:prstGeom>
          <a:noFill/>
          <a:ln/>
        </p:spPr>
        <p:txBody>
          <a:bodyPr wrap="square" lIns="0" tIns="0" rIns="0" bIns="0" rtlCol="0" anchor="t"/>
          <a:lstStyle/>
          <a:p>
            <a:pPr algn="ct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1990</a:t>
            </a:r>
            <a:endParaRPr lang="en-US" sz="1000" dirty="0"/>
          </a:p>
        </p:txBody>
      </p:sp>
      <p:sp>
        <p:nvSpPr>
          <p:cNvPr id="34" name="Text 32"/>
          <p:cNvSpPr/>
          <p:nvPr/>
        </p:nvSpPr>
        <p:spPr>
          <a:xfrm>
            <a:off x="6057900" y="7467600"/>
            <a:ext cx="609600" cy="266700"/>
          </a:xfrm>
          <a:prstGeom prst="rect">
            <a:avLst/>
          </a:prstGeom>
          <a:noFill/>
          <a:ln/>
        </p:spPr>
        <p:txBody>
          <a:bodyPr wrap="square" lIns="0" tIns="0" rIns="0" bIns="0" rtlCol="0" anchor="t"/>
          <a:lstStyle/>
          <a:p>
            <a:pPr algn="ct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2020</a:t>
            </a:r>
            <a:endParaRPr lang="en-US" sz="1000" dirty="0"/>
          </a:p>
        </p:txBody>
      </p:sp>
      <p:sp>
        <p:nvSpPr>
          <p:cNvPr id="35" name="Text 33"/>
          <p:cNvSpPr/>
          <p:nvPr/>
        </p:nvSpPr>
        <p:spPr>
          <a:xfrm>
            <a:off x="1104900" y="6159500"/>
            <a:ext cx="1485900" cy="5715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Ghana</a:t>
            </a:r>
            <a:endParaRPr lang="en-US" sz="1000" dirty="0"/>
          </a:p>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US$1,101</a:t>
            </a:r>
            <a:endParaRPr lang="en-US" sz="1000" dirty="0"/>
          </a:p>
        </p:txBody>
      </p:sp>
      <p:sp>
        <p:nvSpPr>
          <p:cNvPr id="36" name="Text 34"/>
          <p:cNvSpPr/>
          <p:nvPr/>
        </p:nvSpPr>
        <p:spPr>
          <a:xfrm>
            <a:off x="1104900" y="7797800"/>
            <a:ext cx="1828800" cy="5461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South Korea</a:t>
            </a:r>
            <a:endParaRPr lang="en-US" sz="1000" dirty="0"/>
          </a:p>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US$1,038</a:t>
            </a:r>
            <a:endParaRPr lang="en-US" sz="1000" dirty="0"/>
          </a:p>
        </p:txBody>
      </p:sp>
      <p:sp>
        <p:nvSpPr>
          <p:cNvPr id="37" name="Text 35"/>
          <p:cNvSpPr/>
          <p:nvPr/>
        </p:nvSpPr>
        <p:spPr>
          <a:xfrm>
            <a:off x="3581400" y="5758565"/>
            <a:ext cx="1676400" cy="3048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US$9,673</a:t>
            </a:r>
            <a:endParaRPr lang="en-US" sz="1100" dirty="0"/>
          </a:p>
        </p:txBody>
      </p:sp>
      <p:sp>
        <p:nvSpPr>
          <p:cNvPr id="38" name="Text 36"/>
          <p:cNvSpPr/>
          <p:nvPr/>
        </p:nvSpPr>
        <p:spPr>
          <a:xfrm>
            <a:off x="3340100" y="6788355"/>
            <a:ext cx="1371600" cy="279400"/>
          </a:xfrm>
          <a:prstGeom prst="rect">
            <a:avLst/>
          </a:prstGeom>
          <a:noFill/>
          <a:ln/>
        </p:spPr>
        <p:txBody>
          <a:bodyPr wrap="square" lIns="0" tIns="0" rIns="0" bIns="0" rtlCol="0" anchor="t"/>
          <a:lstStyle/>
          <a:p>
            <a:pPr indent="0" marL="0">
              <a:lnSpc>
                <a:spcPct val="112000"/>
              </a:lnSpc>
              <a:buNone/>
            </a:pPr>
            <a:r>
              <a:rPr lang="en-US" sz="1000" b="1" dirty="0">
                <a:solidFill>
                  <a:srgbClr val="252525"/>
                </a:solidFill>
                <a:latin typeface="Montserrat" pitchFamily="34" charset="0"/>
                <a:ea typeface="Montserrat" pitchFamily="34" charset="-122"/>
                <a:cs typeface="Montserrat" pitchFamily="34" charset="-120"/>
              </a:rPr>
              <a:t>US$856</a:t>
            </a:r>
            <a:endParaRPr lang="en-US" sz="1000" dirty="0"/>
          </a:p>
        </p:txBody>
      </p:sp>
      <p:sp>
        <p:nvSpPr>
          <p:cNvPr id="39" name="Text 37"/>
          <p:cNvSpPr/>
          <p:nvPr/>
        </p:nvSpPr>
        <p:spPr>
          <a:xfrm>
            <a:off x="4762500" y="2857500"/>
            <a:ext cx="2324100" cy="5207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US$33,216</a:t>
            </a:r>
            <a:endParaRPr lang="en-US" sz="1200" dirty="0"/>
          </a:p>
        </p:txBody>
      </p:sp>
      <p:sp>
        <p:nvSpPr>
          <p:cNvPr id="40" name="Text 38"/>
          <p:cNvSpPr/>
          <p:nvPr/>
        </p:nvSpPr>
        <p:spPr>
          <a:xfrm>
            <a:off x="5257800" y="6502400"/>
            <a:ext cx="1816100" cy="5461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Ghana</a:t>
            </a:r>
            <a:endParaRPr lang="en-US" sz="1100" dirty="0"/>
          </a:p>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US$1,970</a:t>
            </a:r>
            <a:endParaRPr lang="en-US" sz="1100" dirty="0"/>
          </a:p>
        </p:txBody>
      </p:sp>
      <p:sp>
        <p:nvSpPr>
          <p:cNvPr id="41" name="Text 39"/>
          <p:cNvSpPr/>
          <p:nvPr/>
        </p:nvSpPr>
        <p:spPr>
          <a:xfrm>
            <a:off x="3733800" y="7759700"/>
            <a:ext cx="3365500" cy="698500"/>
          </a:xfrm>
          <a:prstGeom prst="rect">
            <a:avLst/>
          </a:prstGeom>
          <a:noFill/>
          <a:ln/>
        </p:spPr>
        <p:txBody>
          <a:bodyPr wrap="square" lIns="0" tIns="0" rIns="0" bIns="0" rtlCol="0" anchor="t"/>
          <a:lstStyle/>
          <a:p>
            <a:pPr indent="0" marL="0">
              <a:lnSpc>
                <a:spcPct val="112000"/>
              </a:lnSpc>
              <a:buNone/>
            </a:pPr>
            <a:r>
              <a:rPr lang="en-US" sz="4100" b="1" dirty="0">
                <a:solidFill>
                  <a:srgbClr val="252525"/>
                </a:solidFill>
                <a:latin typeface="Montserrat Black" pitchFamily="34" charset="0"/>
                <a:ea typeface="Montserrat Black" pitchFamily="34" charset="-122"/>
                <a:cs typeface="Montserrat Black" pitchFamily="34" charset="-120"/>
              </a:rPr>
              <a:t>16.9 : 1</a:t>
            </a:r>
            <a:endParaRPr lang="en-US" sz="4100" dirty="0"/>
          </a:p>
        </p:txBody>
      </p:sp>
      <p:sp>
        <p:nvSpPr>
          <p:cNvPr id="42" name="Text 40"/>
          <p:cNvSpPr/>
          <p:nvPr/>
        </p:nvSpPr>
        <p:spPr>
          <a:xfrm>
            <a:off x="3733800" y="8458200"/>
            <a:ext cx="3365500" cy="2921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Approximate 2020 ratio—not a causal estimate.</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04 / CULTURE UNDER EXAMINATION</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Six dimensions, one warning label</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National averages are historical, country-level lenses—not individual personalities, timeless truths or causal scores.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Hofstede (2011, pp. 6–8 and 9–16); McSweeney (2002, pp. 93–107). Definitions paraphrased, not reproduced. No country scores invented; missing country rows are not replaced with regional averages.</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16</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Country-level averages cannot describe every individual. Associations between national indices and income do not establish cultural causation.</a:t>
            </a:r>
            <a:endParaRPr lang="en-US" sz="900" dirty="0"/>
          </a:p>
        </p:txBody>
      </p:sp>
      <p:sp>
        <p:nvSpPr>
          <p:cNvPr id="12" name="Shape 10"/>
          <p:cNvSpPr/>
          <p:nvPr/>
        </p:nvSpPr>
        <p:spPr>
          <a:xfrm>
            <a:off x="457200" y="3022600"/>
            <a:ext cx="6642100" cy="0"/>
          </a:xfrm>
          <a:prstGeom prst="line">
            <a:avLst/>
          </a:prstGeom>
          <a:noFill/>
          <a:ln w="7620">
            <a:solidFill>
              <a:srgbClr val="B7B0A4"/>
            </a:solidFill>
            <a:prstDash val="solid"/>
          </a:ln>
        </p:spPr>
      </p:sp>
      <p:sp>
        <p:nvSpPr>
          <p:cNvPr id="13" name="Text 11"/>
          <p:cNvSpPr/>
          <p:nvPr/>
        </p:nvSpPr>
        <p:spPr>
          <a:xfrm>
            <a:off x="457200" y="3175000"/>
            <a:ext cx="444500" cy="317500"/>
          </a:xfrm>
          <a:prstGeom prst="rect">
            <a:avLst/>
          </a:prstGeom>
          <a:noFill/>
          <a:ln/>
        </p:spPr>
        <p:txBody>
          <a:bodyPr wrap="square" lIns="0" tIns="0" rIns="0" bIns="0" rtlCol="0" anchor="t"/>
          <a:lstStyle/>
          <a:p>
            <a:pPr indent="0" marL="0">
              <a:lnSpc>
                <a:spcPct val="112000"/>
              </a:lnSpc>
              <a:buNone/>
            </a:pPr>
            <a:r>
              <a:rPr lang="en-US" sz="1400" b="1" dirty="0">
                <a:solidFill>
                  <a:srgbClr val="514E48"/>
                </a:solidFill>
                <a:latin typeface="Montserrat" pitchFamily="34" charset="0"/>
                <a:ea typeface="Montserrat" pitchFamily="34" charset="-122"/>
                <a:cs typeface="Montserrat" pitchFamily="34" charset="-120"/>
              </a:rPr>
              <a:t>01</a:t>
            </a:r>
            <a:endParaRPr lang="en-US" sz="1400" dirty="0"/>
          </a:p>
        </p:txBody>
      </p:sp>
      <p:sp>
        <p:nvSpPr>
          <p:cNvPr id="14" name="Text 12"/>
          <p:cNvSpPr/>
          <p:nvPr/>
        </p:nvSpPr>
        <p:spPr>
          <a:xfrm>
            <a:off x="1155700" y="3149600"/>
            <a:ext cx="2730500" cy="6731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Power distance</a:t>
            </a:r>
            <a:endParaRPr lang="en-US" sz="1300" dirty="0"/>
          </a:p>
        </p:txBody>
      </p:sp>
      <p:sp>
        <p:nvSpPr>
          <p:cNvPr id="15" name="Text 13"/>
          <p:cNvSpPr/>
          <p:nvPr/>
        </p:nvSpPr>
        <p:spPr>
          <a:xfrm>
            <a:off x="4076700" y="3149600"/>
            <a:ext cx="3022600" cy="7366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Acceptance of unequal power. Tested only as a conditional mechanism.</a:t>
            </a:r>
            <a:endParaRPr lang="en-US" sz="1000" dirty="0"/>
          </a:p>
        </p:txBody>
      </p:sp>
      <p:sp>
        <p:nvSpPr>
          <p:cNvPr id="16" name="Shape 14"/>
          <p:cNvSpPr/>
          <p:nvPr/>
        </p:nvSpPr>
        <p:spPr>
          <a:xfrm>
            <a:off x="457200" y="3937000"/>
            <a:ext cx="6642100" cy="0"/>
          </a:xfrm>
          <a:prstGeom prst="line">
            <a:avLst/>
          </a:prstGeom>
          <a:noFill/>
          <a:ln w="7620">
            <a:solidFill>
              <a:srgbClr val="B7B0A4"/>
            </a:solidFill>
            <a:prstDash val="solid"/>
          </a:ln>
        </p:spPr>
      </p:sp>
      <p:sp>
        <p:nvSpPr>
          <p:cNvPr id="17" name="Text 15"/>
          <p:cNvSpPr/>
          <p:nvPr/>
        </p:nvSpPr>
        <p:spPr>
          <a:xfrm>
            <a:off x="457200" y="4089400"/>
            <a:ext cx="444500" cy="317500"/>
          </a:xfrm>
          <a:prstGeom prst="rect">
            <a:avLst/>
          </a:prstGeom>
          <a:noFill/>
          <a:ln/>
        </p:spPr>
        <p:txBody>
          <a:bodyPr wrap="square" lIns="0" tIns="0" rIns="0" bIns="0" rtlCol="0" anchor="t"/>
          <a:lstStyle/>
          <a:p>
            <a:pPr indent="0" marL="0">
              <a:lnSpc>
                <a:spcPct val="112000"/>
              </a:lnSpc>
              <a:buNone/>
            </a:pPr>
            <a:r>
              <a:rPr lang="en-US" sz="1400" b="1" dirty="0">
                <a:solidFill>
                  <a:srgbClr val="514E48"/>
                </a:solidFill>
                <a:latin typeface="Montserrat" pitchFamily="34" charset="0"/>
                <a:ea typeface="Montserrat" pitchFamily="34" charset="-122"/>
                <a:cs typeface="Montserrat" pitchFamily="34" charset="-120"/>
              </a:rPr>
              <a:t>02</a:t>
            </a:r>
            <a:endParaRPr lang="en-US" sz="1400" dirty="0"/>
          </a:p>
        </p:txBody>
      </p:sp>
      <p:sp>
        <p:nvSpPr>
          <p:cNvPr id="18" name="Text 16"/>
          <p:cNvSpPr/>
          <p:nvPr/>
        </p:nvSpPr>
        <p:spPr>
          <a:xfrm>
            <a:off x="1155700" y="4064000"/>
            <a:ext cx="2730500" cy="6731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Individualism / collectivism</a:t>
            </a:r>
            <a:endParaRPr lang="en-US" sz="1300" dirty="0"/>
          </a:p>
        </p:txBody>
      </p:sp>
      <p:sp>
        <p:nvSpPr>
          <p:cNvPr id="19" name="Text 17"/>
          <p:cNvSpPr/>
          <p:nvPr/>
        </p:nvSpPr>
        <p:spPr>
          <a:xfrm>
            <a:off x="4076700" y="4064000"/>
            <a:ext cx="3022600" cy="7366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Integration into groups and obligations to them. Not a trust score. Conditional lens.</a:t>
            </a:r>
            <a:endParaRPr lang="en-US" sz="1000" dirty="0"/>
          </a:p>
        </p:txBody>
      </p:sp>
      <p:sp>
        <p:nvSpPr>
          <p:cNvPr id="20" name="Shape 18"/>
          <p:cNvSpPr/>
          <p:nvPr/>
        </p:nvSpPr>
        <p:spPr>
          <a:xfrm>
            <a:off x="457200" y="4851400"/>
            <a:ext cx="6642100" cy="0"/>
          </a:xfrm>
          <a:prstGeom prst="line">
            <a:avLst/>
          </a:prstGeom>
          <a:noFill/>
          <a:ln w="7620">
            <a:solidFill>
              <a:srgbClr val="B7B0A4"/>
            </a:solidFill>
            <a:prstDash val="solid"/>
          </a:ln>
        </p:spPr>
      </p:sp>
      <p:sp>
        <p:nvSpPr>
          <p:cNvPr id="21" name="Text 19"/>
          <p:cNvSpPr/>
          <p:nvPr/>
        </p:nvSpPr>
        <p:spPr>
          <a:xfrm>
            <a:off x="457200" y="5003800"/>
            <a:ext cx="444500" cy="317500"/>
          </a:xfrm>
          <a:prstGeom prst="rect">
            <a:avLst/>
          </a:prstGeom>
          <a:noFill/>
          <a:ln/>
        </p:spPr>
        <p:txBody>
          <a:bodyPr wrap="square" lIns="0" tIns="0" rIns="0" bIns="0" rtlCol="0" anchor="t"/>
          <a:lstStyle/>
          <a:p>
            <a:pPr indent="0" marL="0">
              <a:lnSpc>
                <a:spcPct val="112000"/>
              </a:lnSpc>
              <a:buNone/>
            </a:pPr>
            <a:r>
              <a:rPr lang="en-US" sz="1400" b="1" dirty="0">
                <a:solidFill>
                  <a:srgbClr val="514E48"/>
                </a:solidFill>
                <a:latin typeface="Montserrat" pitchFamily="34" charset="0"/>
                <a:ea typeface="Montserrat" pitchFamily="34" charset="-122"/>
                <a:cs typeface="Montserrat" pitchFamily="34" charset="-120"/>
              </a:rPr>
              <a:t>03</a:t>
            </a:r>
            <a:endParaRPr lang="en-US" sz="1400" dirty="0"/>
          </a:p>
        </p:txBody>
      </p:sp>
      <p:sp>
        <p:nvSpPr>
          <p:cNvPr id="22" name="Text 20"/>
          <p:cNvSpPr/>
          <p:nvPr/>
        </p:nvSpPr>
        <p:spPr>
          <a:xfrm>
            <a:off x="1155700" y="4978400"/>
            <a:ext cx="2730500" cy="6731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Masculinity / femininity</a:t>
            </a:r>
            <a:endParaRPr lang="en-US" sz="1300" dirty="0"/>
          </a:p>
        </p:txBody>
      </p:sp>
      <p:sp>
        <p:nvSpPr>
          <p:cNvPr id="23" name="Text 21"/>
          <p:cNvSpPr/>
          <p:nvPr/>
        </p:nvSpPr>
        <p:spPr>
          <a:xfrm>
            <a:off x="4076700" y="4978400"/>
            <a:ext cx="3022600" cy="7366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Achievement and competition versus care and quality of life; historically gendered labels. Context only.</a:t>
            </a:r>
            <a:endParaRPr lang="en-US" sz="1000" dirty="0"/>
          </a:p>
        </p:txBody>
      </p:sp>
      <p:sp>
        <p:nvSpPr>
          <p:cNvPr id="24" name="Shape 22"/>
          <p:cNvSpPr/>
          <p:nvPr/>
        </p:nvSpPr>
        <p:spPr>
          <a:xfrm>
            <a:off x="457200" y="5765800"/>
            <a:ext cx="6642100" cy="0"/>
          </a:xfrm>
          <a:prstGeom prst="line">
            <a:avLst/>
          </a:prstGeom>
          <a:noFill/>
          <a:ln w="7620">
            <a:solidFill>
              <a:srgbClr val="B7B0A4"/>
            </a:solidFill>
            <a:prstDash val="solid"/>
          </a:ln>
        </p:spPr>
      </p:sp>
      <p:sp>
        <p:nvSpPr>
          <p:cNvPr id="25" name="Text 23"/>
          <p:cNvSpPr/>
          <p:nvPr/>
        </p:nvSpPr>
        <p:spPr>
          <a:xfrm>
            <a:off x="457200" y="5918200"/>
            <a:ext cx="444500" cy="317500"/>
          </a:xfrm>
          <a:prstGeom prst="rect">
            <a:avLst/>
          </a:prstGeom>
          <a:noFill/>
          <a:ln/>
        </p:spPr>
        <p:txBody>
          <a:bodyPr wrap="square" lIns="0" tIns="0" rIns="0" bIns="0" rtlCol="0" anchor="t"/>
          <a:lstStyle/>
          <a:p>
            <a:pPr indent="0" marL="0">
              <a:lnSpc>
                <a:spcPct val="112000"/>
              </a:lnSpc>
              <a:buNone/>
            </a:pPr>
            <a:r>
              <a:rPr lang="en-US" sz="1400" b="1" dirty="0">
                <a:solidFill>
                  <a:srgbClr val="514E48"/>
                </a:solidFill>
                <a:latin typeface="Montserrat" pitchFamily="34" charset="0"/>
                <a:ea typeface="Montserrat" pitchFamily="34" charset="-122"/>
                <a:cs typeface="Montserrat" pitchFamily="34" charset="-120"/>
              </a:rPr>
              <a:t>04</a:t>
            </a:r>
            <a:endParaRPr lang="en-US" sz="1400" dirty="0"/>
          </a:p>
        </p:txBody>
      </p:sp>
      <p:sp>
        <p:nvSpPr>
          <p:cNvPr id="26" name="Text 24"/>
          <p:cNvSpPr/>
          <p:nvPr/>
        </p:nvSpPr>
        <p:spPr>
          <a:xfrm>
            <a:off x="1155700" y="5892800"/>
            <a:ext cx="2730500" cy="6731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Uncertainty avoidance</a:t>
            </a:r>
            <a:endParaRPr lang="en-US" sz="1300" dirty="0"/>
          </a:p>
        </p:txBody>
      </p:sp>
      <p:sp>
        <p:nvSpPr>
          <p:cNvPr id="27" name="Text 25"/>
          <p:cNvSpPr/>
          <p:nvPr/>
        </p:nvSpPr>
        <p:spPr>
          <a:xfrm>
            <a:off x="4076700" y="5892800"/>
            <a:ext cx="3022600" cy="7366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Responses to ambiguity and uncertainty—not simply willingness to take risks. Context only.</a:t>
            </a:r>
            <a:endParaRPr lang="en-US" sz="1000" dirty="0"/>
          </a:p>
        </p:txBody>
      </p:sp>
      <p:sp>
        <p:nvSpPr>
          <p:cNvPr id="28" name="Shape 26"/>
          <p:cNvSpPr/>
          <p:nvPr/>
        </p:nvSpPr>
        <p:spPr>
          <a:xfrm>
            <a:off x="457200" y="6680200"/>
            <a:ext cx="6642100" cy="0"/>
          </a:xfrm>
          <a:prstGeom prst="line">
            <a:avLst/>
          </a:prstGeom>
          <a:noFill/>
          <a:ln w="7620">
            <a:solidFill>
              <a:srgbClr val="B7B0A4"/>
            </a:solidFill>
            <a:prstDash val="solid"/>
          </a:ln>
        </p:spPr>
      </p:sp>
      <p:sp>
        <p:nvSpPr>
          <p:cNvPr id="29" name="Text 27"/>
          <p:cNvSpPr/>
          <p:nvPr/>
        </p:nvSpPr>
        <p:spPr>
          <a:xfrm>
            <a:off x="457200" y="6832600"/>
            <a:ext cx="444500" cy="317500"/>
          </a:xfrm>
          <a:prstGeom prst="rect">
            <a:avLst/>
          </a:prstGeom>
          <a:noFill/>
          <a:ln/>
        </p:spPr>
        <p:txBody>
          <a:bodyPr wrap="square" lIns="0" tIns="0" rIns="0" bIns="0" rtlCol="0" anchor="t"/>
          <a:lstStyle/>
          <a:p>
            <a:pPr indent="0" marL="0">
              <a:lnSpc>
                <a:spcPct val="112000"/>
              </a:lnSpc>
              <a:buNone/>
            </a:pPr>
            <a:r>
              <a:rPr lang="en-US" sz="1400" b="1" dirty="0">
                <a:solidFill>
                  <a:srgbClr val="514E48"/>
                </a:solidFill>
                <a:latin typeface="Montserrat" pitchFamily="34" charset="0"/>
                <a:ea typeface="Montserrat" pitchFamily="34" charset="-122"/>
                <a:cs typeface="Montserrat" pitchFamily="34" charset="-120"/>
              </a:rPr>
              <a:t>05</a:t>
            </a:r>
            <a:endParaRPr lang="en-US" sz="1400" dirty="0"/>
          </a:p>
        </p:txBody>
      </p:sp>
      <p:sp>
        <p:nvSpPr>
          <p:cNvPr id="30" name="Text 28"/>
          <p:cNvSpPr/>
          <p:nvPr/>
        </p:nvSpPr>
        <p:spPr>
          <a:xfrm>
            <a:off x="1155700" y="6807200"/>
            <a:ext cx="2730500" cy="6731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Long-term orientation</a:t>
            </a:r>
            <a:endParaRPr lang="en-US" sz="1300" dirty="0"/>
          </a:p>
        </p:txBody>
      </p:sp>
      <p:sp>
        <p:nvSpPr>
          <p:cNvPr id="31" name="Text 29"/>
          <p:cNvSpPr/>
          <p:nvPr/>
        </p:nvSpPr>
        <p:spPr>
          <a:xfrm>
            <a:off x="4076700" y="6807200"/>
            <a:ext cx="3022600" cy="7366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Future-oriented adaptation and perseverance versus present/past obligations. Not policy duration. Conditional lens.</a:t>
            </a:r>
            <a:endParaRPr lang="en-US" sz="1000" dirty="0"/>
          </a:p>
        </p:txBody>
      </p:sp>
      <p:sp>
        <p:nvSpPr>
          <p:cNvPr id="32" name="Shape 30"/>
          <p:cNvSpPr/>
          <p:nvPr/>
        </p:nvSpPr>
        <p:spPr>
          <a:xfrm>
            <a:off x="457200" y="7594600"/>
            <a:ext cx="6642100" cy="0"/>
          </a:xfrm>
          <a:prstGeom prst="line">
            <a:avLst/>
          </a:prstGeom>
          <a:noFill/>
          <a:ln w="7620">
            <a:solidFill>
              <a:srgbClr val="B7B0A4"/>
            </a:solidFill>
            <a:prstDash val="solid"/>
          </a:ln>
        </p:spPr>
      </p:sp>
      <p:sp>
        <p:nvSpPr>
          <p:cNvPr id="33" name="Text 31"/>
          <p:cNvSpPr/>
          <p:nvPr/>
        </p:nvSpPr>
        <p:spPr>
          <a:xfrm>
            <a:off x="457200" y="7747000"/>
            <a:ext cx="444500" cy="317500"/>
          </a:xfrm>
          <a:prstGeom prst="rect">
            <a:avLst/>
          </a:prstGeom>
          <a:noFill/>
          <a:ln/>
        </p:spPr>
        <p:txBody>
          <a:bodyPr wrap="square" lIns="0" tIns="0" rIns="0" bIns="0" rtlCol="0" anchor="t"/>
          <a:lstStyle/>
          <a:p>
            <a:pPr indent="0" marL="0">
              <a:lnSpc>
                <a:spcPct val="112000"/>
              </a:lnSpc>
              <a:buNone/>
            </a:pPr>
            <a:r>
              <a:rPr lang="en-US" sz="1400" b="1" dirty="0">
                <a:solidFill>
                  <a:srgbClr val="514E48"/>
                </a:solidFill>
                <a:latin typeface="Montserrat" pitchFamily="34" charset="0"/>
                <a:ea typeface="Montserrat" pitchFamily="34" charset="-122"/>
                <a:cs typeface="Montserrat" pitchFamily="34" charset="-120"/>
              </a:rPr>
              <a:t>06</a:t>
            </a:r>
            <a:endParaRPr lang="en-US" sz="1400" dirty="0"/>
          </a:p>
        </p:txBody>
      </p:sp>
      <p:sp>
        <p:nvSpPr>
          <p:cNvPr id="34" name="Text 32"/>
          <p:cNvSpPr/>
          <p:nvPr/>
        </p:nvSpPr>
        <p:spPr>
          <a:xfrm>
            <a:off x="1155700" y="7721600"/>
            <a:ext cx="2730500" cy="673100"/>
          </a:xfrm>
          <a:prstGeom prst="rect">
            <a:avLst/>
          </a:prstGeom>
          <a:noFill/>
          <a:ln/>
        </p:spPr>
        <p:txBody>
          <a:bodyPr wrap="square" lIns="0" tIns="0" rIns="0" bIns="0" rtlCol="0" anchor="t"/>
          <a:lstStyle/>
          <a:p>
            <a:pPr indent="0" marL="0">
              <a:lnSpc>
                <a:spcPct val="112000"/>
              </a:lnSpc>
              <a:buNone/>
            </a:pPr>
            <a:r>
              <a:rPr lang="en-US" sz="1300" b="1" dirty="0">
                <a:solidFill>
                  <a:srgbClr val="252525"/>
                </a:solidFill>
                <a:latin typeface="Montserrat" pitchFamily="34" charset="0"/>
                <a:ea typeface="Montserrat" pitchFamily="34" charset="-122"/>
                <a:cs typeface="Montserrat" pitchFamily="34" charset="-120"/>
              </a:rPr>
              <a:t>Indulgence / restraint</a:t>
            </a:r>
            <a:endParaRPr lang="en-US" sz="1300" dirty="0"/>
          </a:p>
        </p:txBody>
      </p:sp>
      <p:sp>
        <p:nvSpPr>
          <p:cNvPr id="35" name="Text 33"/>
          <p:cNvSpPr/>
          <p:nvPr/>
        </p:nvSpPr>
        <p:spPr>
          <a:xfrm>
            <a:off x="4076700" y="7721600"/>
            <a:ext cx="3022600" cy="7366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Social regulation of gratification. Not a measure of work ethic. Context only.</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04 / MEASURE BEFORE COMPARING</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How far can trust travel?</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The target matters. A response about a bank, a neighbour or “most people” is not the same observation.</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Organisation for Economic Co-operation and Development [OECD] (2017, pp. 41–44, 62–79); World Bank (2026), WGI methodological distinction; approved trust evidence pack and Radius of Trust matrix.</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17</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There is no approved common six-country trust scale here. Contemporary responses cannot be back-cast to 1960 or used alone to explain national growth.</a:t>
            </a:r>
            <a:endParaRPr lang="en-US" sz="900" dirty="0"/>
          </a:p>
        </p:txBody>
      </p:sp>
      <p:sp>
        <p:nvSpPr>
          <p:cNvPr id="12" name="Shape 10"/>
          <p:cNvSpPr/>
          <p:nvPr/>
        </p:nvSpPr>
        <p:spPr>
          <a:xfrm>
            <a:off x="457200" y="2984500"/>
            <a:ext cx="6642100" cy="0"/>
          </a:xfrm>
          <a:prstGeom prst="line">
            <a:avLst/>
          </a:prstGeom>
          <a:noFill/>
          <a:ln w="10160">
            <a:solidFill>
              <a:srgbClr val="252525"/>
            </a:solidFill>
            <a:prstDash val="solid"/>
          </a:ln>
        </p:spPr>
      </p:sp>
      <p:sp>
        <p:nvSpPr>
          <p:cNvPr id="13" name="Text 11"/>
          <p:cNvSpPr/>
          <p:nvPr/>
        </p:nvSpPr>
        <p:spPr>
          <a:xfrm>
            <a:off x="457200" y="3136900"/>
            <a:ext cx="1778000" cy="8255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Personal / generalized</a:t>
            </a:r>
            <a:endParaRPr lang="en-US" sz="1100" dirty="0"/>
          </a:p>
        </p:txBody>
      </p:sp>
      <p:sp>
        <p:nvSpPr>
          <p:cNvPr id="14" name="Text 12"/>
          <p:cNvSpPr/>
          <p:nvPr/>
        </p:nvSpPr>
        <p:spPr>
          <a:xfrm>
            <a:off x="2425700" y="3124200"/>
            <a:ext cx="4673600" cy="838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A judgement about other people; a familiar person and “most people” are different targets.</a:t>
            </a:r>
            <a:endParaRPr lang="en-US" sz="1050" dirty="0"/>
          </a:p>
        </p:txBody>
      </p:sp>
      <p:sp>
        <p:nvSpPr>
          <p:cNvPr id="15" name="Shape 13"/>
          <p:cNvSpPr/>
          <p:nvPr/>
        </p:nvSpPr>
        <p:spPr>
          <a:xfrm>
            <a:off x="457200" y="4051300"/>
            <a:ext cx="6642100" cy="0"/>
          </a:xfrm>
          <a:prstGeom prst="line">
            <a:avLst/>
          </a:prstGeom>
          <a:noFill/>
          <a:ln w="10160">
            <a:solidFill>
              <a:srgbClr val="252525"/>
            </a:solidFill>
            <a:prstDash val="solid"/>
          </a:ln>
        </p:spPr>
      </p:sp>
      <p:sp>
        <p:nvSpPr>
          <p:cNvPr id="16" name="Text 14"/>
          <p:cNvSpPr/>
          <p:nvPr/>
        </p:nvSpPr>
        <p:spPr>
          <a:xfrm>
            <a:off x="457200" y="4203700"/>
            <a:ext cx="1778000" cy="8255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Family / close network</a:t>
            </a:r>
            <a:endParaRPr lang="en-US" sz="1100" dirty="0"/>
          </a:p>
        </p:txBody>
      </p:sp>
      <p:sp>
        <p:nvSpPr>
          <p:cNvPr id="17" name="Text 15"/>
          <p:cNvSpPr/>
          <p:nvPr/>
        </p:nvSpPr>
        <p:spPr>
          <a:xfrm>
            <a:off x="2425700" y="4191000"/>
            <a:ext cx="4673600" cy="838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Cooperation with known ties; not automatically the opposite of wider cooperation.</a:t>
            </a:r>
            <a:endParaRPr lang="en-US" sz="1050" dirty="0"/>
          </a:p>
        </p:txBody>
      </p:sp>
      <p:sp>
        <p:nvSpPr>
          <p:cNvPr id="18" name="Shape 16"/>
          <p:cNvSpPr/>
          <p:nvPr/>
        </p:nvSpPr>
        <p:spPr>
          <a:xfrm>
            <a:off x="457200" y="5118100"/>
            <a:ext cx="6642100" cy="0"/>
          </a:xfrm>
          <a:prstGeom prst="line">
            <a:avLst/>
          </a:prstGeom>
          <a:noFill/>
          <a:ln w="10160">
            <a:solidFill>
              <a:srgbClr val="252525"/>
            </a:solidFill>
            <a:prstDash val="solid"/>
          </a:ln>
        </p:spPr>
      </p:sp>
      <p:sp>
        <p:nvSpPr>
          <p:cNvPr id="19" name="Text 17"/>
          <p:cNvSpPr/>
          <p:nvPr/>
        </p:nvSpPr>
        <p:spPr>
          <a:xfrm>
            <a:off x="457200" y="5270500"/>
            <a:ext cx="1778000" cy="8255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Named institutions</a:t>
            </a:r>
            <a:endParaRPr lang="en-US" sz="1100" dirty="0"/>
          </a:p>
        </p:txBody>
      </p:sp>
      <p:sp>
        <p:nvSpPr>
          <p:cNvPr id="20" name="Text 18"/>
          <p:cNvSpPr/>
          <p:nvPr/>
        </p:nvSpPr>
        <p:spPr>
          <a:xfrm>
            <a:off x="2425700" y="5257800"/>
            <a:ext cx="4673600" cy="838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Trust in courts, banks or government must name the institution and the question.</a:t>
            </a:r>
            <a:endParaRPr lang="en-US" sz="1050" dirty="0"/>
          </a:p>
        </p:txBody>
      </p:sp>
      <p:sp>
        <p:nvSpPr>
          <p:cNvPr id="21" name="Shape 19"/>
          <p:cNvSpPr/>
          <p:nvPr/>
        </p:nvSpPr>
        <p:spPr>
          <a:xfrm>
            <a:off x="457200" y="6184900"/>
            <a:ext cx="6642100" cy="0"/>
          </a:xfrm>
          <a:prstGeom prst="line">
            <a:avLst/>
          </a:prstGeom>
          <a:noFill/>
          <a:ln w="10160">
            <a:solidFill>
              <a:srgbClr val="252525"/>
            </a:solidFill>
            <a:prstDash val="solid"/>
          </a:ln>
        </p:spPr>
      </p:sp>
      <p:sp>
        <p:nvSpPr>
          <p:cNvPr id="22" name="Text 20"/>
          <p:cNvSpPr/>
          <p:nvPr/>
        </p:nvSpPr>
        <p:spPr>
          <a:xfrm>
            <a:off x="457200" y="6337300"/>
            <a:ext cx="1778000" cy="8255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Governance perceptions</a:t>
            </a:r>
            <a:endParaRPr lang="en-US" sz="1100" dirty="0"/>
          </a:p>
        </p:txBody>
      </p:sp>
      <p:sp>
        <p:nvSpPr>
          <p:cNvPr id="23" name="Text 21"/>
          <p:cNvSpPr/>
          <p:nvPr/>
        </p:nvSpPr>
        <p:spPr>
          <a:xfrm>
            <a:off x="2425700" y="6324600"/>
            <a:ext cx="4673600" cy="838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Institutional-performance indicators are not measures of interpersonal trust.</a:t>
            </a:r>
            <a:endParaRPr lang="en-US" sz="1050" dirty="0"/>
          </a:p>
        </p:txBody>
      </p:sp>
      <p:sp>
        <p:nvSpPr>
          <p:cNvPr id="24" name="Shape 22"/>
          <p:cNvSpPr/>
          <p:nvPr/>
        </p:nvSpPr>
        <p:spPr>
          <a:xfrm>
            <a:off x="457200" y="7251700"/>
            <a:ext cx="6642100" cy="0"/>
          </a:xfrm>
          <a:prstGeom prst="line">
            <a:avLst/>
          </a:prstGeom>
          <a:noFill/>
          <a:ln w="10160">
            <a:solidFill>
              <a:srgbClr val="252525"/>
            </a:solidFill>
            <a:prstDash val="solid"/>
          </a:ln>
        </p:spPr>
      </p:sp>
      <p:sp>
        <p:nvSpPr>
          <p:cNvPr id="25" name="Text 23"/>
          <p:cNvSpPr/>
          <p:nvPr/>
        </p:nvSpPr>
        <p:spPr>
          <a:xfrm>
            <a:off x="457200" y="7404100"/>
            <a:ext cx="1778000" cy="8255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Survey responses</a:t>
            </a:r>
            <a:endParaRPr lang="en-US" sz="1100" dirty="0"/>
          </a:p>
        </p:txBody>
      </p:sp>
      <p:sp>
        <p:nvSpPr>
          <p:cNvPr id="26" name="Text 24"/>
          <p:cNvSpPr/>
          <p:nvPr/>
        </p:nvSpPr>
        <p:spPr>
          <a:xfrm>
            <a:off x="2425700" y="7391400"/>
            <a:ext cx="4673600" cy="838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Question wording, year, population, weights and context shape the reported measure.</a:t>
            </a:r>
            <a:endParaRPr lang="en-US" sz="1050" dirty="0"/>
          </a:p>
        </p:txBody>
      </p:sp>
      <p:sp>
        <p:nvSpPr>
          <p:cNvPr id="27" name="Text 25"/>
          <p:cNvSpPr/>
          <p:nvPr/>
        </p:nvSpPr>
        <p:spPr>
          <a:xfrm>
            <a:off x="457200" y="8432800"/>
            <a:ext cx="6642100" cy="4318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Radius of Trust asks about cooperation beyond close ties.</a:t>
            </a:r>
            <a:endParaRPr lang="en-US" sz="1050" dirty="0"/>
          </a:p>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The present evidence cannot establish its strong causal form.</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04 / A CONDITIONAL MECHANISM</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Close networks: strength, boundary—or both?</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A network can be a source of resilience and a boundary on cooperation. Neither outcome follows automatically from “collectivism”.</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Hofstede (2011, p. 11); OECD (2017, pp. 41–44); Svirydzenka and Petri (2014, pp. 5–8, 12). Approved theory matrix: Radius of Trust. The discussion question is not national evidence.</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18</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 diagram is a conditional hypothesis. It does not rank national cultures, equate family loyalty with corruption, or measure trust in any country.</a:t>
            </a:r>
            <a:endParaRPr lang="en-US" sz="900" dirty="0"/>
          </a:p>
        </p:txBody>
      </p:sp>
      <p:sp>
        <p:nvSpPr>
          <p:cNvPr id="12" name="Text 10"/>
          <p:cNvSpPr/>
          <p:nvPr/>
        </p:nvSpPr>
        <p:spPr>
          <a:xfrm>
            <a:off x="457200" y="2984500"/>
            <a:ext cx="30480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What close ties can provide</a:t>
            </a:r>
            <a:endParaRPr lang="en-US" sz="1400" dirty="0"/>
          </a:p>
        </p:txBody>
      </p:sp>
      <p:sp>
        <p:nvSpPr>
          <p:cNvPr id="13" name="Text 11"/>
          <p:cNvSpPr/>
          <p:nvPr/>
        </p:nvSpPr>
        <p:spPr>
          <a:xfrm>
            <a:off x="457200" y="3429000"/>
            <a:ext cx="3048000" cy="12065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Credit, labour, mutual help, survival and resilience when formal systems are absent or costly.</a:t>
            </a:r>
            <a:endParaRPr lang="en-US" sz="1050" dirty="0"/>
          </a:p>
        </p:txBody>
      </p:sp>
      <p:sp>
        <p:nvSpPr>
          <p:cNvPr id="14" name="Text 12"/>
          <p:cNvSpPr/>
          <p:nvPr/>
        </p:nvSpPr>
        <p:spPr>
          <a:xfrm>
            <a:off x="3962400" y="2984500"/>
            <a:ext cx="31369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Where a boundary may appear</a:t>
            </a:r>
            <a:endParaRPr lang="en-US" sz="1400" dirty="0"/>
          </a:p>
        </p:txBody>
      </p:sp>
      <p:sp>
        <p:nvSpPr>
          <p:cNvPr id="15" name="Text 13"/>
          <p:cNvSpPr/>
          <p:nvPr/>
        </p:nvSpPr>
        <p:spPr>
          <a:xfrm>
            <a:off x="3962400" y="3429000"/>
            <a:ext cx="3136900" cy="12065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Delegation to unfamiliar people and impersonal scaling may become harder—depending on organisations and enforcement.</a:t>
            </a:r>
            <a:endParaRPr lang="en-US" sz="1050" dirty="0"/>
          </a:p>
        </p:txBody>
      </p:sp>
      <p:sp>
        <p:nvSpPr>
          <p:cNvPr id="16" name="Shape 14"/>
          <p:cNvSpPr/>
          <p:nvPr/>
        </p:nvSpPr>
        <p:spPr>
          <a:xfrm>
            <a:off x="457200" y="5054600"/>
            <a:ext cx="6642100" cy="0"/>
          </a:xfrm>
          <a:prstGeom prst="line">
            <a:avLst/>
          </a:prstGeom>
          <a:noFill/>
          <a:ln w="7620">
            <a:solidFill>
              <a:srgbClr val="B7B0A4"/>
            </a:solidFill>
            <a:prstDash val="solid"/>
          </a:ln>
        </p:spPr>
      </p:sp>
      <p:sp>
        <p:nvSpPr>
          <p:cNvPr id="17" name="Text 15"/>
          <p:cNvSpPr/>
          <p:nvPr/>
        </p:nvSpPr>
        <p:spPr>
          <a:xfrm>
            <a:off x="457200" y="5346700"/>
            <a:ext cx="6604000" cy="1130300"/>
          </a:xfrm>
          <a:prstGeom prst="rect">
            <a:avLst/>
          </a:prstGeom>
          <a:noFill/>
          <a:ln/>
        </p:spPr>
        <p:txBody>
          <a:bodyPr wrap="square" lIns="0" tIns="0" rIns="0" bIns="0" rtlCol="0" anchor="t"/>
          <a:lstStyle/>
          <a:p>
            <a:pPr indent="0" marL="0">
              <a:lnSpc>
                <a:spcPct val="112000"/>
              </a:lnSpc>
              <a:buNone/>
            </a:pPr>
            <a:r>
              <a:rPr lang="en-US" sz="3100" b="1" dirty="0">
                <a:solidFill>
                  <a:srgbClr val="252525"/>
                </a:solidFill>
                <a:latin typeface="Montserrat" pitchFamily="34" charset="0"/>
                <a:ea typeface="Montserrat" pitchFamily="34" charset="-122"/>
                <a:cs typeface="Montserrat" pitchFamily="34" charset="-120"/>
              </a:rPr>
              <a:t>Who would you trust</a:t>
            </a:r>
            <a:endParaRPr lang="en-US" sz="3100" dirty="0"/>
          </a:p>
          <a:p>
            <a:pPr indent="0" marL="0">
              <a:lnSpc>
                <a:spcPct val="112000"/>
              </a:lnSpc>
              <a:buNone/>
            </a:pPr>
            <a:r>
              <a:rPr lang="en-US" sz="3100" b="1" dirty="0">
                <a:solidFill>
                  <a:srgbClr val="252525"/>
                </a:solidFill>
                <a:latin typeface="Montserrat" pitchFamily="34" charset="0"/>
                <a:ea typeface="Montserrat" pitchFamily="34" charset="-122"/>
                <a:cs typeface="Montserrat" pitchFamily="34" charset="-120"/>
              </a:rPr>
              <a:t>with money?</a:t>
            </a:r>
            <a:endParaRPr lang="en-US" sz="3100" dirty="0"/>
          </a:p>
        </p:txBody>
      </p:sp>
      <p:sp>
        <p:nvSpPr>
          <p:cNvPr id="18" name="Text 16"/>
          <p:cNvSpPr/>
          <p:nvPr/>
        </p:nvSpPr>
        <p:spPr>
          <a:xfrm>
            <a:off x="457200" y="6794500"/>
            <a:ext cx="6604000" cy="698500"/>
          </a:xfrm>
          <a:prstGeom prst="rect">
            <a:avLst/>
          </a:prstGeom>
          <a:noFill/>
          <a:ln/>
        </p:spPr>
        <p:txBody>
          <a:bodyPr wrap="square" lIns="0" tIns="0" rIns="0" bIns="0" rtlCol="0" anchor="t"/>
          <a:lstStyle/>
          <a:p>
            <a:pPr indent="0" marL="0">
              <a:lnSpc>
                <a:spcPct val="112000"/>
              </a:lnSpc>
              <a:buNone/>
            </a:pPr>
            <a:r>
              <a:rPr lang="en-US" sz="1500" dirty="0">
                <a:solidFill>
                  <a:srgbClr val="252525"/>
                </a:solidFill>
                <a:latin typeface="Montserrat" pitchFamily="34" charset="0"/>
                <a:ea typeface="Montserrat" pitchFamily="34" charset="-122"/>
                <a:cs typeface="Montserrat" pitchFamily="34" charset="-120"/>
              </a:rPr>
              <a:t>Family · a friend · a bank · a court-enforced contract</a:t>
            </a:r>
            <a:endParaRPr lang="en-US" sz="1500" dirty="0"/>
          </a:p>
          <a:p>
            <a:pPr indent="0" marL="0">
              <a:lnSpc>
                <a:spcPct val="112000"/>
              </a:lnSpc>
              <a:buNone/>
            </a:pPr>
            <a:r>
              <a:rPr lang="en-US" sz="1500" dirty="0">
                <a:solidFill>
                  <a:srgbClr val="252525"/>
                </a:solidFill>
                <a:latin typeface="Montserrat" pitchFamily="34" charset="0"/>
                <a:ea typeface="Montserrat" pitchFamily="34" charset="-122"/>
                <a:cs typeface="Montserrat" pitchFamily="34" charset="-120"/>
              </a:rPr>
              <a:t>or an unfamiliar business partner?</a:t>
            </a:r>
            <a:endParaRPr lang="en-US" sz="1500" dirty="0"/>
          </a:p>
        </p:txBody>
      </p:sp>
      <p:sp>
        <p:nvSpPr>
          <p:cNvPr id="19" name="Text 17"/>
          <p:cNvSpPr/>
          <p:nvPr/>
        </p:nvSpPr>
        <p:spPr>
          <a:xfrm>
            <a:off x="457200" y="7823200"/>
            <a:ext cx="6642100" cy="2413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DISCUSS, THEN CHANGE ONE CONDITION</a:t>
            </a:r>
            <a:endParaRPr lang="en-US" sz="800" dirty="0"/>
          </a:p>
        </p:txBody>
      </p:sp>
      <p:sp>
        <p:nvSpPr>
          <p:cNvPr id="20" name="Text 18"/>
          <p:cNvSpPr/>
          <p:nvPr/>
        </p:nvSpPr>
        <p:spPr>
          <a:xfrm>
            <a:off x="457200" y="8178800"/>
            <a:ext cx="6642100" cy="596900"/>
          </a:xfrm>
          <a:prstGeom prst="rect">
            <a:avLst/>
          </a:prstGeom>
          <a:noFill/>
          <a:ln/>
        </p:spPr>
        <p:txBody>
          <a:bodyPr wrap="square" lIns="0" tIns="0" rIns="0" bIns="0" rtlCol="0" anchor="t"/>
          <a:lstStyle/>
          <a:p>
            <a:pPr indent="0" marL="0">
              <a:lnSpc>
                <a:spcPct val="112000"/>
              </a:lnSpc>
              <a:buNone/>
            </a:pPr>
            <a:r>
              <a:rPr lang="en-US" sz="1100" dirty="0">
                <a:solidFill>
                  <a:srgbClr val="252525"/>
                </a:solidFill>
                <a:latin typeface="Montserrat" pitchFamily="34" charset="0"/>
                <a:ea typeface="Montserrat" pitchFamily="34" charset="-122"/>
                <a:cs typeface="Montserrat" pitchFamily="34" charset="-120"/>
              </a:rPr>
              <a:t>Would your answer change with a reliable court, a guarantee, a long trading relationship or a different amount at risk?</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04 / THE EVIDENCE BOUNDARY</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Authority, time horizons and missing evidence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Test power distance and long-term orientation as conditional mechanisms. Keep unsupported growth stories closed.</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Hofstede (2011, pp. 9–16); McSweeney (2002, pp. 101–107); approved Hofstede critique pack and THEORY_EVIDENCE_MATRIX.md. No dimension is treated as a causal score.</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19</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National cultural measures cannot substitute for observed organisational behaviour, policy duration, investment or feedback. Mechanisms need their own evidence.</a:t>
            </a:r>
            <a:endParaRPr lang="en-US" sz="900" dirty="0"/>
          </a:p>
        </p:txBody>
      </p:sp>
      <p:sp>
        <p:nvSpPr>
          <p:cNvPr id="12" name="Text 10"/>
          <p:cNvSpPr/>
          <p:nvPr/>
        </p:nvSpPr>
        <p:spPr>
          <a:xfrm>
            <a:off x="457200" y="2933700"/>
            <a:ext cx="31242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Authority: coordination or silence?</a:t>
            </a:r>
            <a:endParaRPr lang="en-US" sz="1400" dirty="0"/>
          </a:p>
        </p:txBody>
      </p:sp>
      <p:sp>
        <p:nvSpPr>
          <p:cNvPr id="13" name="Text 11"/>
          <p:cNvSpPr/>
          <p:nvPr/>
        </p:nvSpPr>
        <p:spPr>
          <a:xfrm>
            <a:off x="457200" y="3378200"/>
            <a:ext cx="3124200" cy="13208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Hierarchy may organise action, but it may also weaken feedback. Test who can challenge decisions and whether errors are corrected.</a:t>
            </a:r>
            <a:endParaRPr lang="en-US" sz="1050" dirty="0"/>
          </a:p>
        </p:txBody>
      </p:sp>
      <p:sp>
        <p:nvSpPr>
          <p:cNvPr id="14" name="Text 12"/>
          <p:cNvSpPr/>
          <p:nvPr/>
        </p:nvSpPr>
        <p:spPr>
          <a:xfrm>
            <a:off x="3975100" y="2933700"/>
            <a:ext cx="31242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Time horizons: whose horizon?</a:t>
            </a:r>
            <a:endParaRPr lang="en-US" sz="1400" dirty="0"/>
          </a:p>
        </p:txBody>
      </p:sp>
      <p:sp>
        <p:nvSpPr>
          <p:cNvPr id="15" name="Text 13"/>
          <p:cNvSpPr/>
          <p:nvPr/>
        </p:nvSpPr>
        <p:spPr>
          <a:xfrm>
            <a:off x="3975100" y="3378200"/>
            <a:ext cx="3124200" cy="13208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Long-term orientation is not a policy-duration measure. Test observed investment, learning and correction over time.</a:t>
            </a:r>
            <a:endParaRPr lang="en-US" sz="1050" dirty="0"/>
          </a:p>
        </p:txBody>
      </p:sp>
      <p:sp>
        <p:nvSpPr>
          <p:cNvPr id="16" name="Shape 14"/>
          <p:cNvSpPr/>
          <p:nvPr/>
        </p:nvSpPr>
        <p:spPr>
          <a:xfrm>
            <a:off x="457200" y="5003800"/>
            <a:ext cx="6642100" cy="0"/>
          </a:xfrm>
          <a:prstGeom prst="line">
            <a:avLst/>
          </a:prstGeom>
          <a:noFill/>
          <a:ln w="7620">
            <a:solidFill>
              <a:srgbClr val="B7B0A4"/>
            </a:solidFill>
            <a:prstDash val="solid"/>
          </a:ln>
        </p:spPr>
      </p:sp>
      <p:sp>
        <p:nvSpPr>
          <p:cNvPr id="17" name="Text 15"/>
          <p:cNvSpPr/>
          <p:nvPr/>
        </p:nvSpPr>
        <p:spPr>
          <a:xfrm>
            <a:off x="457200" y="5156200"/>
            <a:ext cx="2946400" cy="3810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Uncertainty avoidance</a:t>
            </a:r>
            <a:endParaRPr lang="en-US" sz="1200" dirty="0"/>
          </a:p>
        </p:txBody>
      </p:sp>
      <p:sp>
        <p:nvSpPr>
          <p:cNvPr id="18" name="Text 16"/>
          <p:cNvSpPr/>
          <p:nvPr/>
        </p:nvSpPr>
        <p:spPr>
          <a:xfrm>
            <a:off x="3886200" y="5181600"/>
            <a:ext cx="3213100" cy="2540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INSUFFICIENT</a:t>
            </a:r>
            <a:endParaRPr lang="en-US" sz="800" dirty="0"/>
          </a:p>
        </p:txBody>
      </p:sp>
      <p:sp>
        <p:nvSpPr>
          <p:cNvPr id="19" name="Text 17"/>
          <p:cNvSpPr/>
          <p:nvPr/>
        </p:nvSpPr>
        <p:spPr>
          <a:xfrm>
            <a:off x="457200" y="5600700"/>
            <a:ext cx="6642100" cy="5080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Reopen with a specified direction, observed behaviour and matched timing—not a generic risk-taking story.</a:t>
            </a:r>
            <a:endParaRPr lang="en-US" sz="1000" dirty="0"/>
          </a:p>
        </p:txBody>
      </p:sp>
      <p:sp>
        <p:nvSpPr>
          <p:cNvPr id="20" name="Shape 18"/>
          <p:cNvSpPr/>
          <p:nvPr/>
        </p:nvSpPr>
        <p:spPr>
          <a:xfrm>
            <a:off x="457200" y="6184900"/>
            <a:ext cx="6642100" cy="0"/>
          </a:xfrm>
          <a:prstGeom prst="line">
            <a:avLst/>
          </a:prstGeom>
          <a:noFill/>
          <a:ln w="7620">
            <a:solidFill>
              <a:srgbClr val="B7B0A4"/>
            </a:solidFill>
            <a:prstDash val="solid"/>
          </a:ln>
        </p:spPr>
      </p:sp>
      <p:sp>
        <p:nvSpPr>
          <p:cNvPr id="21" name="Text 19"/>
          <p:cNvSpPr/>
          <p:nvPr/>
        </p:nvSpPr>
        <p:spPr>
          <a:xfrm>
            <a:off x="457200" y="6337300"/>
            <a:ext cx="2946400" cy="3810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Masculinity / femininity</a:t>
            </a:r>
            <a:endParaRPr lang="en-US" sz="1200" dirty="0"/>
          </a:p>
        </p:txBody>
      </p:sp>
      <p:sp>
        <p:nvSpPr>
          <p:cNvPr id="22" name="Text 20"/>
          <p:cNvSpPr/>
          <p:nvPr/>
        </p:nvSpPr>
        <p:spPr>
          <a:xfrm>
            <a:off x="3886200" y="6362700"/>
            <a:ext cx="3213100" cy="2540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INSUFFICIENT</a:t>
            </a:r>
            <a:endParaRPr lang="en-US" sz="800" dirty="0"/>
          </a:p>
        </p:txBody>
      </p:sp>
      <p:sp>
        <p:nvSpPr>
          <p:cNvPr id="23" name="Text 21"/>
          <p:cNvSpPr/>
          <p:nvPr/>
        </p:nvSpPr>
        <p:spPr>
          <a:xfrm>
            <a:off x="457200" y="6781800"/>
            <a:ext cx="6642100" cy="5080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Reopen with a valid contemporary measure, a clear mechanism and tests against institutional and economic alternatives.</a:t>
            </a:r>
            <a:endParaRPr lang="en-US" sz="1000" dirty="0"/>
          </a:p>
        </p:txBody>
      </p:sp>
      <p:sp>
        <p:nvSpPr>
          <p:cNvPr id="24" name="Shape 22"/>
          <p:cNvSpPr/>
          <p:nvPr/>
        </p:nvSpPr>
        <p:spPr>
          <a:xfrm>
            <a:off x="457200" y="7366000"/>
            <a:ext cx="6642100" cy="0"/>
          </a:xfrm>
          <a:prstGeom prst="line">
            <a:avLst/>
          </a:prstGeom>
          <a:noFill/>
          <a:ln w="7620">
            <a:solidFill>
              <a:srgbClr val="B7B0A4"/>
            </a:solidFill>
            <a:prstDash val="solid"/>
          </a:ln>
        </p:spPr>
      </p:sp>
      <p:sp>
        <p:nvSpPr>
          <p:cNvPr id="25" name="Text 23"/>
          <p:cNvSpPr/>
          <p:nvPr/>
        </p:nvSpPr>
        <p:spPr>
          <a:xfrm>
            <a:off x="457200" y="7518400"/>
            <a:ext cx="2946400" cy="3810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Indulgence / restraint</a:t>
            </a:r>
            <a:endParaRPr lang="en-US" sz="1200" dirty="0"/>
          </a:p>
        </p:txBody>
      </p:sp>
      <p:sp>
        <p:nvSpPr>
          <p:cNvPr id="26" name="Text 24"/>
          <p:cNvSpPr/>
          <p:nvPr/>
        </p:nvSpPr>
        <p:spPr>
          <a:xfrm>
            <a:off x="3886200" y="7543800"/>
            <a:ext cx="3213100" cy="2540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INSUFFICIENT</a:t>
            </a:r>
            <a:endParaRPr lang="en-US" sz="800" dirty="0"/>
          </a:p>
        </p:txBody>
      </p:sp>
      <p:sp>
        <p:nvSpPr>
          <p:cNvPr id="27" name="Text 25"/>
          <p:cNvSpPr/>
          <p:nvPr/>
        </p:nvSpPr>
        <p:spPr>
          <a:xfrm>
            <a:off x="457200" y="7962900"/>
            <a:ext cx="6642100" cy="5080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Reopen with a direct, timed link to saving or investment. Do not infer work ethic from income outcomes.</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05 / THREE IDEAS ON TRIAL</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Can our three ideas survive the evidence?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Original group hypotheses—not established academic theories, national scores or causal estimates.</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Approved research/THEORY_EVIDENCE_MATRIX.md; data/charts/theory_evidence_matrix.csv; claim and source registries. Evidence includes World Bank (1993, 2020), Maipose (2008), Svirydzenka and Petri (2014), and OECD (2017).</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20</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Qualitative consistency is not causal identification. A supporting case can fit several competing explanations; an unresolved cell must remain unresolved.</a:t>
            </a:r>
            <a:endParaRPr lang="en-US" sz="900" dirty="0"/>
          </a:p>
        </p:txBody>
      </p:sp>
      <p:sp>
        <p:nvSpPr>
          <p:cNvPr id="12" name="Text 10"/>
          <p:cNvSpPr/>
          <p:nvPr/>
        </p:nvSpPr>
        <p:spPr>
          <a:xfrm>
            <a:off x="457200" y="2946400"/>
            <a:ext cx="6642100" cy="254000"/>
          </a:xfrm>
          <a:prstGeom prst="rect">
            <a:avLst/>
          </a:prstGeom>
          <a:noFill/>
          <a:ln/>
        </p:spPr>
        <p:txBody>
          <a:bodyPr wrap="square" lIns="0" tIns="0" rIns="0" bIns="0" rtlCol="0" anchor="t"/>
          <a:lstStyle/>
          <a:p>
            <a:pPr indent="0" marL="0">
              <a:lnSpc>
                <a:spcPct val="112000"/>
              </a:lnSpc>
              <a:buNone/>
            </a:pPr>
            <a:r>
              <a:rPr lang="en-US" sz="900" b="1" dirty="0">
                <a:solidFill>
                  <a:srgbClr val="252525"/>
                </a:solidFill>
                <a:latin typeface="Montserrat" pitchFamily="34" charset="0"/>
                <a:ea typeface="Montserrat" pitchFamily="34" charset="-122"/>
                <a:cs typeface="Montserrat" pitchFamily="34" charset="-120"/>
              </a:rPr>
              <a:t>THE TEST STANDARD</a:t>
            </a:r>
            <a:endParaRPr lang="en-US" sz="900" dirty="0"/>
          </a:p>
        </p:txBody>
      </p:sp>
      <p:sp>
        <p:nvSpPr>
          <p:cNvPr id="13" name="Text 11"/>
          <p:cNvSpPr/>
          <p:nvPr/>
        </p:nvSpPr>
        <p:spPr>
          <a:xfrm>
            <a:off x="457200" y="3390900"/>
            <a:ext cx="6642100" cy="1079500"/>
          </a:xfrm>
          <a:prstGeom prst="rect">
            <a:avLst/>
          </a:prstGeom>
          <a:noFill/>
          <a:ln/>
        </p:spPr>
        <p:txBody>
          <a:bodyPr wrap="square" lIns="0" tIns="0" rIns="0" bIns="0" rtlCol="0" anchor="t"/>
          <a:lstStyle/>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Mechanism → prediction → supporting evidence →</a:t>
            </a:r>
            <a:endParaRPr lang="en-US" sz="1800" dirty="0"/>
          </a:p>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challenging case → alternative explanation →</a:t>
            </a:r>
            <a:endParaRPr lang="en-US" sz="1800" dirty="0"/>
          </a:p>
          <a:p>
            <a:pPr indent="0" marL="0">
              <a:lnSpc>
                <a:spcPct val="112000"/>
              </a:lnSpc>
              <a:buNone/>
            </a:pPr>
            <a:r>
              <a:rPr lang="en-US" sz="1800" b="1" dirty="0">
                <a:solidFill>
                  <a:srgbClr val="252525"/>
                </a:solidFill>
                <a:latin typeface="Montserrat" pitchFamily="34" charset="0"/>
                <a:ea typeface="Montserrat" pitchFamily="34" charset="-122"/>
                <a:cs typeface="Montserrat" pitchFamily="34" charset="-120"/>
              </a:rPr>
              <a:t>limitation → revision condition</a:t>
            </a:r>
            <a:endParaRPr lang="en-US" sz="1800" dirty="0"/>
          </a:p>
        </p:txBody>
      </p:sp>
      <p:sp>
        <p:nvSpPr>
          <p:cNvPr id="14" name="Text 12"/>
          <p:cNvSpPr/>
          <p:nvPr/>
        </p:nvSpPr>
        <p:spPr>
          <a:xfrm>
            <a:off x="457200" y="4991100"/>
            <a:ext cx="1384300" cy="317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COUNTRY</a:t>
            </a:r>
            <a:endParaRPr lang="en-US" sz="800" dirty="0"/>
          </a:p>
        </p:txBody>
      </p:sp>
      <p:sp>
        <p:nvSpPr>
          <p:cNvPr id="15" name="Text 13"/>
          <p:cNvSpPr/>
          <p:nvPr/>
        </p:nvSpPr>
        <p:spPr>
          <a:xfrm>
            <a:off x="2006600" y="4991100"/>
            <a:ext cx="1536700" cy="317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CONNECTED</a:t>
            </a:r>
            <a:endParaRPr lang="en-US" sz="800" dirty="0"/>
          </a:p>
        </p:txBody>
      </p:sp>
      <p:sp>
        <p:nvSpPr>
          <p:cNvPr id="16" name="Text 14"/>
          <p:cNvSpPr/>
          <p:nvPr/>
        </p:nvSpPr>
        <p:spPr>
          <a:xfrm>
            <a:off x="3771900" y="4991100"/>
            <a:ext cx="1549400" cy="317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TRUST</a:t>
            </a:r>
            <a:endParaRPr lang="en-US" sz="800" dirty="0"/>
          </a:p>
        </p:txBody>
      </p:sp>
      <p:sp>
        <p:nvSpPr>
          <p:cNvPr id="17" name="Text 15"/>
          <p:cNvSpPr/>
          <p:nvPr/>
        </p:nvSpPr>
        <p:spPr>
          <a:xfrm>
            <a:off x="5524500" y="4991100"/>
            <a:ext cx="1574800" cy="317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CONTINUITY</a:t>
            </a:r>
            <a:endParaRPr lang="en-US" sz="800" dirty="0"/>
          </a:p>
        </p:txBody>
      </p:sp>
      <p:sp>
        <p:nvSpPr>
          <p:cNvPr id="18" name="Shape 16"/>
          <p:cNvSpPr/>
          <p:nvPr/>
        </p:nvSpPr>
        <p:spPr>
          <a:xfrm>
            <a:off x="457200" y="5346700"/>
            <a:ext cx="6642100" cy="0"/>
          </a:xfrm>
          <a:prstGeom prst="line">
            <a:avLst/>
          </a:prstGeom>
          <a:noFill/>
          <a:ln w="7620">
            <a:solidFill>
              <a:srgbClr val="B7B0A4"/>
            </a:solidFill>
            <a:prstDash val="solid"/>
          </a:ln>
        </p:spPr>
      </p:sp>
      <p:sp>
        <p:nvSpPr>
          <p:cNvPr id="19" name="Shape 17"/>
          <p:cNvSpPr/>
          <p:nvPr/>
        </p:nvSpPr>
        <p:spPr>
          <a:xfrm>
            <a:off x="457200" y="5486400"/>
            <a:ext cx="127000" cy="127000"/>
          </a:xfrm>
          <a:prstGeom prst="ellipse">
            <a:avLst/>
          </a:prstGeom>
          <a:solidFill>
            <a:srgbClr val="B95332"/>
          </a:solidFill>
          <a:ln w="7620">
            <a:solidFill>
              <a:srgbClr val="252525"/>
            </a:solidFill>
            <a:prstDash val="solid"/>
          </a:ln>
        </p:spPr>
      </p:sp>
      <p:sp>
        <p:nvSpPr>
          <p:cNvPr id="20" name="Text 18"/>
          <p:cNvSpPr/>
          <p:nvPr/>
        </p:nvSpPr>
        <p:spPr>
          <a:xfrm>
            <a:off x="711200" y="5435600"/>
            <a:ext cx="1244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21" name="Text 19"/>
          <p:cNvSpPr/>
          <p:nvPr/>
        </p:nvSpPr>
        <p:spPr>
          <a:xfrm>
            <a:off x="2006600" y="54356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Consistent; not causal</a:t>
            </a:r>
            <a:endParaRPr lang="en-US" sz="850" dirty="0"/>
          </a:p>
        </p:txBody>
      </p:sp>
      <p:sp>
        <p:nvSpPr>
          <p:cNvPr id="22" name="Text 20"/>
          <p:cNvSpPr/>
          <p:nvPr/>
        </p:nvSpPr>
        <p:spPr>
          <a:xfrm>
            <a:off x="3771900" y="54356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Unresolved</a:t>
            </a:r>
            <a:endParaRPr lang="en-US" sz="850" dirty="0"/>
          </a:p>
        </p:txBody>
      </p:sp>
      <p:sp>
        <p:nvSpPr>
          <p:cNvPr id="23" name="Text 21"/>
          <p:cNvSpPr/>
          <p:nvPr/>
        </p:nvSpPr>
        <p:spPr>
          <a:xfrm>
            <a:off x="5524500" y="5435600"/>
            <a:ext cx="15748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Unresolved</a:t>
            </a:r>
            <a:endParaRPr lang="en-US" sz="850" dirty="0"/>
          </a:p>
        </p:txBody>
      </p:sp>
      <p:sp>
        <p:nvSpPr>
          <p:cNvPr id="24" name="Shape 22"/>
          <p:cNvSpPr/>
          <p:nvPr/>
        </p:nvSpPr>
        <p:spPr>
          <a:xfrm>
            <a:off x="457200" y="5829300"/>
            <a:ext cx="6642100" cy="0"/>
          </a:xfrm>
          <a:prstGeom prst="line">
            <a:avLst/>
          </a:prstGeom>
          <a:noFill/>
          <a:ln w="7620">
            <a:solidFill>
              <a:srgbClr val="B7B0A4"/>
            </a:solidFill>
            <a:prstDash val="solid"/>
          </a:ln>
        </p:spPr>
      </p:sp>
      <p:sp>
        <p:nvSpPr>
          <p:cNvPr id="25" name="Shape 23"/>
          <p:cNvSpPr/>
          <p:nvPr/>
        </p:nvSpPr>
        <p:spPr>
          <a:xfrm>
            <a:off x="457200" y="5969000"/>
            <a:ext cx="127000" cy="127000"/>
          </a:xfrm>
          <a:prstGeom prst="rect">
            <a:avLst/>
          </a:prstGeom>
          <a:solidFill>
            <a:srgbClr val="3F684E"/>
          </a:solidFill>
          <a:ln w="7620">
            <a:solidFill>
              <a:srgbClr val="252525"/>
            </a:solidFill>
            <a:prstDash val="solid"/>
          </a:ln>
        </p:spPr>
      </p:sp>
      <p:sp>
        <p:nvSpPr>
          <p:cNvPr id="26" name="Text 24"/>
          <p:cNvSpPr/>
          <p:nvPr/>
        </p:nvSpPr>
        <p:spPr>
          <a:xfrm>
            <a:off x="711200" y="5918200"/>
            <a:ext cx="1244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27" name="Text 25"/>
          <p:cNvSpPr/>
          <p:nvPr/>
        </p:nvSpPr>
        <p:spPr>
          <a:xfrm>
            <a:off x="2006600" y="59182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Strong exception</a:t>
            </a:r>
            <a:endParaRPr lang="en-US" sz="850" dirty="0"/>
          </a:p>
        </p:txBody>
      </p:sp>
      <p:sp>
        <p:nvSpPr>
          <p:cNvPr id="28" name="Text 26"/>
          <p:cNvSpPr/>
          <p:nvPr/>
        </p:nvSpPr>
        <p:spPr>
          <a:xfrm>
            <a:off x="3771900" y="59182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Plausible mechanism</a:t>
            </a:r>
            <a:endParaRPr lang="en-US" sz="850" dirty="0"/>
          </a:p>
        </p:txBody>
      </p:sp>
      <p:sp>
        <p:nvSpPr>
          <p:cNvPr id="29" name="Text 27"/>
          <p:cNvSpPr/>
          <p:nvPr/>
        </p:nvSpPr>
        <p:spPr>
          <a:xfrm>
            <a:off x="5524500" y="5918200"/>
            <a:ext cx="15748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Accumulation warning</a:t>
            </a:r>
            <a:endParaRPr lang="en-US" sz="850" dirty="0"/>
          </a:p>
        </p:txBody>
      </p:sp>
      <p:sp>
        <p:nvSpPr>
          <p:cNvPr id="30" name="Shape 28"/>
          <p:cNvSpPr/>
          <p:nvPr/>
        </p:nvSpPr>
        <p:spPr>
          <a:xfrm>
            <a:off x="457200" y="6311900"/>
            <a:ext cx="6642100" cy="0"/>
          </a:xfrm>
          <a:prstGeom prst="line">
            <a:avLst/>
          </a:prstGeom>
          <a:noFill/>
          <a:ln w="7620">
            <a:solidFill>
              <a:srgbClr val="B7B0A4"/>
            </a:solidFill>
            <a:prstDash val="solid"/>
          </a:ln>
        </p:spPr>
      </p:sp>
      <p:sp>
        <p:nvSpPr>
          <p:cNvPr id="31" name="Shape 29"/>
          <p:cNvSpPr/>
          <p:nvPr/>
        </p:nvSpPr>
        <p:spPr>
          <a:xfrm>
            <a:off x="457200" y="6451600"/>
            <a:ext cx="127000" cy="127000"/>
          </a:xfrm>
          <a:prstGeom prst="triangle">
            <a:avLst/>
          </a:prstGeom>
          <a:solidFill>
            <a:srgbClr val="D6A23A"/>
          </a:solidFill>
          <a:ln w="7620">
            <a:solidFill>
              <a:srgbClr val="252525"/>
            </a:solidFill>
            <a:prstDash val="solid"/>
          </a:ln>
        </p:spPr>
      </p:sp>
      <p:sp>
        <p:nvSpPr>
          <p:cNvPr id="32" name="Text 30"/>
          <p:cNvSpPr/>
          <p:nvPr/>
        </p:nvSpPr>
        <p:spPr>
          <a:xfrm>
            <a:off x="711200" y="6400800"/>
            <a:ext cx="1244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33" name="Text 31"/>
          <p:cNvSpPr/>
          <p:nvPr/>
        </p:nvSpPr>
        <p:spPr>
          <a:xfrm>
            <a:off x="2006600" y="64008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Conditional support</a:t>
            </a:r>
            <a:endParaRPr lang="en-US" sz="850" dirty="0"/>
          </a:p>
        </p:txBody>
      </p:sp>
      <p:sp>
        <p:nvSpPr>
          <p:cNvPr id="34" name="Text 32"/>
          <p:cNvSpPr/>
          <p:nvPr/>
        </p:nvSpPr>
        <p:spPr>
          <a:xfrm>
            <a:off x="3771900" y="64008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Substitutes qualified</a:t>
            </a:r>
            <a:endParaRPr lang="en-US" sz="850" dirty="0"/>
          </a:p>
        </p:txBody>
      </p:sp>
      <p:sp>
        <p:nvSpPr>
          <p:cNvPr id="35" name="Text 33"/>
          <p:cNvSpPr/>
          <p:nvPr/>
        </p:nvSpPr>
        <p:spPr>
          <a:xfrm>
            <a:off x="5524500" y="6400800"/>
            <a:ext cx="15748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Strong qualified support</a:t>
            </a:r>
            <a:endParaRPr lang="en-US" sz="850" dirty="0"/>
          </a:p>
        </p:txBody>
      </p:sp>
      <p:sp>
        <p:nvSpPr>
          <p:cNvPr id="36" name="Shape 34"/>
          <p:cNvSpPr/>
          <p:nvPr/>
        </p:nvSpPr>
        <p:spPr>
          <a:xfrm>
            <a:off x="457200" y="6794500"/>
            <a:ext cx="6642100" cy="0"/>
          </a:xfrm>
          <a:prstGeom prst="line">
            <a:avLst/>
          </a:prstGeom>
          <a:noFill/>
          <a:ln w="7620">
            <a:solidFill>
              <a:srgbClr val="B7B0A4"/>
            </a:solidFill>
            <a:prstDash val="solid"/>
          </a:ln>
        </p:spPr>
      </p:sp>
      <p:sp>
        <p:nvSpPr>
          <p:cNvPr id="37" name="Shape 35"/>
          <p:cNvSpPr/>
          <p:nvPr/>
        </p:nvSpPr>
        <p:spPr>
          <a:xfrm>
            <a:off x="457200" y="6934200"/>
            <a:ext cx="127000" cy="127000"/>
          </a:xfrm>
          <a:prstGeom prst="diamond">
            <a:avLst/>
          </a:prstGeom>
          <a:solidFill>
            <a:srgbClr val="315A78"/>
          </a:solidFill>
          <a:ln w="7620">
            <a:solidFill>
              <a:srgbClr val="252525"/>
            </a:solidFill>
            <a:prstDash val="solid"/>
          </a:ln>
        </p:spPr>
      </p:sp>
      <p:sp>
        <p:nvSpPr>
          <p:cNvPr id="38" name="Text 36"/>
          <p:cNvSpPr/>
          <p:nvPr/>
        </p:nvSpPr>
        <p:spPr>
          <a:xfrm>
            <a:off x="711200" y="6883400"/>
            <a:ext cx="1244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39" name="Text 37"/>
          <p:cNvSpPr/>
          <p:nvPr/>
        </p:nvSpPr>
        <p:spPr>
          <a:xfrm>
            <a:off x="2006600" y="68834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Multi-causal support</a:t>
            </a:r>
            <a:endParaRPr lang="en-US" sz="850" dirty="0"/>
          </a:p>
        </p:txBody>
      </p:sp>
      <p:sp>
        <p:nvSpPr>
          <p:cNvPr id="40" name="Text 38"/>
          <p:cNvSpPr/>
          <p:nvPr/>
        </p:nvSpPr>
        <p:spPr>
          <a:xfrm>
            <a:off x="3771900" y="68834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Unresolved channel</a:t>
            </a:r>
            <a:endParaRPr lang="en-US" sz="850" dirty="0"/>
          </a:p>
        </p:txBody>
      </p:sp>
      <p:sp>
        <p:nvSpPr>
          <p:cNvPr id="41" name="Text 39"/>
          <p:cNvSpPr/>
          <p:nvPr/>
        </p:nvSpPr>
        <p:spPr>
          <a:xfrm>
            <a:off x="5524500" y="6883400"/>
            <a:ext cx="15748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Duration + correction</a:t>
            </a:r>
            <a:endParaRPr lang="en-US" sz="850" dirty="0"/>
          </a:p>
        </p:txBody>
      </p:sp>
      <p:sp>
        <p:nvSpPr>
          <p:cNvPr id="42" name="Shape 40"/>
          <p:cNvSpPr/>
          <p:nvPr/>
        </p:nvSpPr>
        <p:spPr>
          <a:xfrm>
            <a:off x="457200" y="7277100"/>
            <a:ext cx="6642100" cy="0"/>
          </a:xfrm>
          <a:prstGeom prst="line">
            <a:avLst/>
          </a:prstGeom>
          <a:noFill/>
          <a:ln w="7620">
            <a:solidFill>
              <a:srgbClr val="B7B0A4"/>
            </a:solidFill>
            <a:prstDash val="solid"/>
          </a:ln>
        </p:spPr>
      </p:sp>
      <p:sp>
        <p:nvSpPr>
          <p:cNvPr id="43" name="Shape 41"/>
          <p:cNvSpPr/>
          <p:nvPr/>
        </p:nvSpPr>
        <p:spPr>
          <a:xfrm>
            <a:off x="457200" y="7416800"/>
            <a:ext cx="127000" cy="127000"/>
          </a:xfrm>
          <a:prstGeom prst="hexagon">
            <a:avLst/>
          </a:prstGeom>
          <a:solidFill>
            <a:srgbClr val="3E7568"/>
          </a:solidFill>
          <a:ln w="7620">
            <a:solidFill>
              <a:srgbClr val="252525"/>
            </a:solidFill>
            <a:prstDash val="solid"/>
          </a:ln>
        </p:spPr>
      </p:sp>
      <p:sp>
        <p:nvSpPr>
          <p:cNvPr id="44" name="Text 42"/>
          <p:cNvSpPr/>
          <p:nvPr/>
        </p:nvSpPr>
        <p:spPr>
          <a:xfrm>
            <a:off x="711200" y="7366000"/>
            <a:ext cx="1244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45" name="Text 43"/>
          <p:cNvSpPr/>
          <p:nvPr/>
        </p:nvSpPr>
        <p:spPr>
          <a:xfrm>
            <a:off x="2006600" y="73660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Qualified support</a:t>
            </a:r>
            <a:endParaRPr lang="en-US" sz="850" dirty="0"/>
          </a:p>
        </p:txBody>
      </p:sp>
      <p:sp>
        <p:nvSpPr>
          <p:cNvPr id="46" name="Text 44"/>
          <p:cNvSpPr/>
          <p:nvPr/>
        </p:nvSpPr>
        <p:spPr>
          <a:xfrm>
            <a:off x="3771900" y="73660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Plausible substitutes</a:t>
            </a:r>
            <a:endParaRPr lang="en-US" sz="850" dirty="0"/>
          </a:p>
        </p:txBody>
      </p:sp>
      <p:sp>
        <p:nvSpPr>
          <p:cNvPr id="47" name="Text 45"/>
          <p:cNvSpPr/>
          <p:nvPr/>
        </p:nvSpPr>
        <p:spPr>
          <a:xfrm>
            <a:off x="5524500" y="7366000"/>
            <a:ext cx="15748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Qualified support</a:t>
            </a:r>
            <a:endParaRPr lang="en-US" sz="850" dirty="0"/>
          </a:p>
        </p:txBody>
      </p:sp>
      <p:sp>
        <p:nvSpPr>
          <p:cNvPr id="48" name="Shape 46"/>
          <p:cNvSpPr/>
          <p:nvPr/>
        </p:nvSpPr>
        <p:spPr>
          <a:xfrm>
            <a:off x="457200" y="7759700"/>
            <a:ext cx="6642100" cy="0"/>
          </a:xfrm>
          <a:prstGeom prst="line">
            <a:avLst/>
          </a:prstGeom>
          <a:noFill/>
          <a:ln w="7620">
            <a:solidFill>
              <a:srgbClr val="B7B0A4"/>
            </a:solidFill>
            <a:prstDash val="solid"/>
          </a:ln>
        </p:spPr>
      </p:sp>
      <p:sp>
        <p:nvSpPr>
          <p:cNvPr id="49" name="Shape 47"/>
          <p:cNvSpPr/>
          <p:nvPr/>
        </p:nvSpPr>
        <p:spPr>
          <a:xfrm>
            <a:off x="457200" y="7962900"/>
            <a:ext cx="127000" cy="0"/>
          </a:xfrm>
          <a:prstGeom prst="line">
            <a:avLst/>
          </a:prstGeom>
          <a:noFill/>
          <a:ln w="40640">
            <a:solidFill>
              <a:srgbClr val="252525"/>
            </a:solidFill>
            <a:prstDash val="solid"/>
          </a:ln>
        </p:spPr>
      </p:sp>
      <p:sp>
        <p:nvSpPr>
          <p:cNvPr id="50" name="Shape 48"/>
          <p:cNvSpPr/>
          <p:nvPr/>
        </p:nvSpPr>
        <p:spPr>
          <a:xfrm>
            <a:off x="520700" y="7899400"/>
            <a:ext cx="0" cy="127000"/>
          </a:xfrm>
          <a:prstGeom prst="line">
            <a:avLst/>
          </a:prstGeom>
          <a:noFill/>
          <a:ln w="40640">
            <a:solidFill>
              <a:srgbClr val="252525"/>
            </a:solidFill>
            <a:prstDash val="solid"/>
          </a:ln>
        </p:spPr>
      </p:sp>
      <p:sp>
        <p:nvSpPr>
          <p:cNvPr id="51" name="Shape 49"/>
          <p:cNvSpPr/>
          <p:nvPr/>
        </p:nvSpPr>
        <p:spPr>
          <a:xfrm>
            <a:off x="457200" y="7962900"/>
            <a:ext cx="127000" cy="0"/>
          </a:xfrm>
          <a:prstGeom prst="line">
            <a:avLst/>
          </a:prstGeom>
          <a:noFill/>
          <a:ln w="22860">
            <a:solidFill>
              <a:srgbClr val="A63A3A"/>
            </a:solidFill>
            <a:prstDash val="solid"/>
          </a:ln>
        </p:spPr>
      </p:sp>
      <p:sp>
        <p:nvSpPr>
          <p:cNvPr id="52" name="Shape 50"/>
          <p:cNvSpPr/>
          <p:nvPr/>
        </p:nvSpPr>
        <p:spPr>
          <a:xfrm>
            <a:off x="520700" y="7899400"/>
            <a:ext cx="0" cy="127000"/>
          </a:xfrm>
          <a:prstGeom prst="line">
            <a:avLst/>
          </a:prstGeom>
          <a:noFill/>
          <a:ln w="22860">
            <a:solidFill>
              <a:srgbClr val="A63A3A"/>
            </a:solidFill>
            <a:prstDash val="solid"/>
          </a:ln>
        </p:spPr>
      </p:sp>
      <p:sp>
        <p:nvSpPr>
          <p:cNvPr id="53" name="Text 51"/>
          <p:cNvSpPr/>
          <p:nvPr/>
        </p:nvSpPr>
        <p:spPr>
          <a:xfrm>
            <a:off x="711200" y="7848600"/>
            <a:ext cx="12446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54" name="Text 52"/>
          <p:cNvSpPr/>
          <p:nvPr/>
        </p:nvSpPr>
        <p:spPr>
          <a:xfrm>
            <a:off x="2006600" y="78486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Not sufficient</a:t>
            </a:r>
            <a:endParaRPr lang="en-US" sz="850" dirty="0"/>
          </a:p>
        </p:txBody>
      </p:sp>
      <p:sp>
        <p:nvSpPr>
          <p:cNvPr id="55" name="Text 53"/>
          <p:cNvSpPr/>
          <p:nvPr/>
        </p:nvSpPr>
        <p:spPr>
          <a:xfrm>
            <a:off x="3771900" y="7848600"/>
            <a:ext cx="15621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Challenges strong form</a:t>
            </a:r>
            <a:endParaRPr lang="en-US" sz="850" dirty="0"/>
          </a:p>
        </p:txBody>
      </p:sp>
      <p:sp>
        <p:nvSpPr>
          <p:cNvPr id="56" name="Text 54"/>
          <p:cNvSpPr/>
          <p:nvPr/>
        </p:nvSpPr>
        <p:spPr>
          <a:xfrm>
            <a:off x="5524500" y="7848600"/>
            <a:ext cx="1574800" cy="4064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Support with warning</a:t>
            </a:r>
            <a:endParaRPr lang="en-US" sz="850" dirty="0"/>
          </a:p>
        </p:txBody>
      </p:sp>
      <p:sp>
        <p:nvSpPr>
          <p:cNvPr id="57" name="Text 55"/>
          <p:cNvSpPr/>
          <p:nvPr/>
        </p:nvSpPr>
        <p:spPr>
          <a:xfrm>
            <a:off x="457200" y="8521700"/>
            <a:ext cx="66421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Next: inspect the strongest challenge—not only the best fit.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05 / TEST 1</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Connected Development</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What if the decisive difference was not how much infrastructure existed, but whom it connected?</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(1993, pp. 20–26); World Bank (2020, Box 2, pp. 44–47); Svirydzenka and Petri (2014, pp. 5–8); Maipose (2008, pp. 3–5, 8–11); Nasution (2000, pp. 19–20). Original group hypothesis.</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21</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Connection alone neither establishes causality nor guarantees diversification. Investment, skills, institutions, resources and market access are bundled alternatives.</a:t>
            </a:r>
            <a:endParaRPr lang="en-US" sz="900" dirty="0"/>
          </a:p>
        </p:txBody>
      </p:sp>
      <p:sp>
        <p:nvSpPr>
          <p:cNvPr id="12" name="Text 10"/>
          <p:cNvSpPr/>
          <p:nvPr/>
        </p:nvSpPr>
        <p:spPr>
          <a:xfrm>
            <a:off x="457200" y="2946400"/>
            <a:ext cx="6642100" cy="1028700"/>
          </a:xfrm>
          <a:prstGeom prst="rect">
            <a:avLst/>
          </a:prstGeom>
          <a:noFill/>
          <a:ln/>
        </p:spPr>
        <p:txBody>
          <a:bodyPr wrap="square" lIns="0" tIns="0" rIns="0" bIns="0" rtlCol="0" anchor="t"/>
          <a:lstStyle/>
          <a:p>
            <a:pPr indent="0" marL="0">
              <a:lnSpc>
                <a:spcPct val="112000"/>
              </a:lnSpc>
              <a:buNone/>
            </a:pPr>
            <a:r>
              <a:rPr lang="en-US" sz="2900" b="1" dirty="0">
                <a:solidFill>
                  <a:srgbClr val="252525"/>
                </a:solidFill>
                <a:latin typeface="Montserrat" pitchFamily="34" charset="0"/>
                <a:ea typeface="Montserrat" pitchFamily="34" charset="-122"/>
                <a:cs typeface="Montserrat" pitchFamily="34" charset="-120"/>
              </a:rPr>
              <a:t>SUPPORTED</a:t>
            </a:r>
            <a:endParaRPr lang="en-US" sz="2900" dirty="0"/>
          </a:p>
          <a:p>
            <a:pPr indent="0" marL="0">
              <a:lnSpc>
                <a:spcPct val="112000"/>
              </a:lnSpc>
              <a:buNone/>
            </a:pPr>
            <a:r>
              <a:rPr lang="en-US" sz="2900" b="1" dirty="0">
                <a:solidFill>
                  <a:srgbClr val="252525"/>
                </a:solidFill>
                <a:latin typeface="Montserrat" pitchFamily="34" charset="0"/>
                <a:ea typeface="Montserrat" pitchFamily="34" charset="-122"/>
                <a:cs typeface="Montserrat" pitchFamily="34" charset="-120"/>
              </a:rPr>
              <a:t>WITH EXCEPTIONS</a:t>
            </a:r>
            <a:endParaRPr lang="en-US" sz="2900" dirty="0"/>
          </a:p>
        </p:txBody>
      </p:sp>
      <p:sp>
        <p:nvSpPr>
          <p:cNvPr id="13" name="Shape 11"/>
          <p:cNvSpPr/>
          <p:nvPr/>
        </p:nvSpPr>
        <p:spPr>
          <a:xfrm>
            <a:off x="457200" y="4368800"/>
            <a:ext cx="6642100" cy="0"/>
          </a:xfrm>
          <a:prstGeom prst="line">
            <a:avLst/>
          </a:prstGeom>
          <a:noFill/>
          <a:ln w="10160">
            <a:solidFill>
              <a:srgbClr val="252525"/>
            </a:solidFill>
            <a:prstDash val="solid"/>
          </a:ln>
        </p:spPr>
      </p:sp>
      <p:sp>
        <p:nvSpPr>
          <p:cNvPr id="14" name="Text 12"/>
          <p:cNvSpPr/>
          <p:nvPr/>
        </p:nvSpPr>
        <p:spPr>
          <a:xfrm>
            <a:off x="457200" y="4521200"/>
            <a:ext cx="1778000" cy="8890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Consistent evidence</a:t>
            </a:r>
            <a:endParaRPr lang="en-US" sz="1100" dirty="0"/>
          </a:p>
        </p:txBody>
      </p:sp>
      <p:sp>
        <p:nvSpPr>
          <p:cNvPr id="15" name="Text 13"/>
          <p:cNvSpPr/>
          <p:nvPr/>
        </p:nvSpPr>
        <p:spPr>
          <a:xfrm>
            <a:off x="2425700" y="4508500"/>
            <a:ext cx="4673600" cy="901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South Korea, Malaysia and Mauritius fit a productive-network account: skills, firms, infrastructure and market access worked together.</a:t>
            </a:r>
            <a:endParaRPr lang="en-US" sz="1050" dirty="0"/>
          </a:p>
        </p:txBody>
      </p:sp>
      <p:sp>
        <p:nvSpPr>
          <p:cNvPr id="16" name="Shape 14"/>
          <p:cNvSpPr/>
          <p:nvPr/>
        </p:nvSpPr>
        <p:spPr>
          <a:xfrm>
            <a:off x="457200" y="5549900"/>
            <a:ext cx="6642100" cy="0"/>
          </a:xfrm>
          <a:prstGeom prst="line">
            <a:avLst/>
          </a:prstGeom>
          <a:noFill/>
          <a:ln w="10160">
            <a:solidFill>
              <a:srgbClr val="252525"/>
            </a:solidFill>
            <a:prstDash val="solid"/>
          </a:ln>
        </p:spPr>
      </p:sp>
      <p:sp>
        <p:nvSpPr>
          <p:cNvPr id="17" name="Text 15"/>
          <p:cNvSpPr/>
          <p:nvPr/>
        </p:nvSpPr>
        <p:spPr>
          <a:xfrm>
            <a:off x="457200" y="5702300"/>
            <a:ext cx="1778000" cy="8890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Challenging case</a:t>
            </a:r>
            <a:endParaRPr lang="en-US" sz="1100" dirty="0"/>
          </a:p>
        </p:txBody>
      </p:sp>
      <p:sp>
        <p:nvSpPr>
          <p:cNvPr id="18" name="Text 16"/>
          <p:cNvSpPr/>
          <p:nvPr/>
        </p:nvSpPr>
        <p:spPr>
          <a:xfrm>
            <a:off x="2425700" y="5689600"/>
            <a:ext cx="4673600" cy="901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Botswana’s income gains challenge inherited infrastructure as a prerequisite. Mineral rents and institutions complicate the network story.</a:t>
            </a:r>
            <a:endParaRPr lang="en-US" sz="1050" dirty="0"/>
          </a:p>
        </p:txBody>
      </p:sp>
      <p:sp>
        <p:nvSpPr>
          <p:cNvPr id="19" name="Shape 17"/>
          <p:cNvSpPr/>
          <p:nvPr/>
        </p:nvSpPr>
        <p:spPr>
          <a:xfrm>
            <a:off x="457200" y="6731000"/>
            <a:ext cx="6642100" cy="0"/>
          </a:xfrm>
          <a:prstGeom prst="line">
            <a:avLst/>
          </a:prstGeom>
          <a:noFill/>
          <a:ln w="10160">
            <a:solidFill>
              <a:srgbClr val="252525"/>
            </a:solidFill>
            <a:prstDash val="solid"/>
          </a:ln>
        </p:spPr>
      </p:sp>
      <p:sp>
        <p:nvSpPr>
          <p:cNvPr id="20" name="Text 18"/>
          <p:cNvSpPr/>
          <p:nvPr/>
        </p:nvSpPr>
        <p:spPr>
          <a:xfrm>
            <a:off x="457200" y="6883400"/>
            <a:ext cx="1778000" cy="8890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Sufficiency fails</a:t>
            </a:r>
            <a:endParaRPr lang="en-US" sz="1100" dirty="0"/>
          </a:p>
        </p:txBody>
      </p:sp>
      <p:sp>
        <p:nvSpPr>
          <p:cNvPr id="21" name="Text 19"/>
          <p:cNvSpPr/>
          <p:nvPr/>
        </p:nvSpPr>
        <p:spPr>
          <a:xfrm>
            <a:off x="2425700" y="6870700"/>
            <a:ext cx="4673600" cy="901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The Philippines shows that global connection can coexist with shallow domestic linkages. Export access is not the same as domestic learning.</a:t>
            </a:r>
            <a:endParaRPr lang="en-US" sz="1050" dirty="0"/>
          </a:p>
        </p:txBody>
      </p:sp>
      <p:sp>
        <p:nvSpPr>
          <p:cNvPr id="22" name="Text 20"/>
          <p:cNvSpPr/>
          <p:nvPr/>
        </p:nvSpPr>
        <p:spPr>
          <a:xfrm>
            <a:off x="457200" y="8178800"/>
            <a:ext cx="6642100" cy="2286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REVISE / REJECT IF</a:t>
            </a:r>
            <a:endParaRPr lang="en-US" sz="800" dirty="0"/>
          </a:p>
        </p:txBody>
      </p:sp>
      <p:sp>
        <p:nvSpPr>
          <p:cNvPr id="23" name="Text 21"/>
          <p:cNvSpPr/>
          <p:nvPr/>
        </p:nvSpPr>
        <p:spPr>
          <a:xfrm>
            <a:off x="457200" y="8483600"/>
            <a:ext cx="6642100" cy="3429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Revise to the measured channel. Reject the causal ordering if deeper networks followed upgrading rather than preceding it.</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05 / TEST 2</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Radius of Trust</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How far beyond family and close networks can economic cooperation scale?</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OECD (2017, pp. 41–44, 62–79); Svirydzenka and Petri (2014, pp. 5–8, 12); approved trust evidence pack and six-country theory matrix. WGI is retained only as governance context.</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22</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This evidence cannot show that generalized trust caused firm scale or national growth. Governance indicators cannot close direct-trust gaps.</a:t>
            </a:r>
            <a:endParaRPr lang="en-US" sz="900" dirty="0"/>
          </a:p>
        </p:txBody>
      </p:sp>
      <p:sp>
        <p:nvSpPr>
          <p:cNvPr id="12" name="Text 10"/>
          <p:cNvSpPr/>
          <p:nvPr/>
        </p:nvSpPr>
        <p:spPr>
          <a:xfrm>
            <a:off x="457200" y="3009900"/>
            <a:ext cx="6642100" cy="825500"/>
          </a:xfrm>
          <a:prstGeom prst="rect">
            <a:avLst/>
          </a:prstGeom>
          <a:noFill/>
          <a:ln/>
        </p:spPr>
        <p:txBody>
          <a:bodyPr wrap="square" lIns="0" tIns="0" rIns="0" bIns="0" rtlCol="0" anchor="t"/>
          <a:lstStyle/>
          <a:p>
            <a:pPr indent="0" marL="0">
              <a:lnSpc>
                <a:spcPct val="112000"/>
              </a:lnSpc>
              <a:buNone/>
            </a:pPr>
            <a:r>
              <a:rPr lang="en-US" sz="3800" b="1" dirty="0">
                <a:solidFill>
                  <a:srgbClr val="252525"/>
                </a:solidFill>
                <a:latin typeface="Montserrat" pitchFamily="34" charset="0"/>
                <a:ea typeface="Montserrat" pitchFamily="34" charset="-122"/>
                <a:cs typeface="Montserrat" pitchFamily="34" charset="-120"/>
              </a:rPr>
              <a:t>INCONCLUSIVE</a:t>
            </a:r>
            <a:endParaRPr lang="en-US" sz="3800" dirty="0"/>
          </a:p>
        </p:txBody>
      </p:sp>
      <p:sp>
        <p:nvSpPr>
          <p:cNvPr id="13" name="Text 11"/>
          <p:cNvSpPr/>
          <p:nvPr/>
        </p:nvSpPr>
        <p:spPr>
          <a:xfrm>
            <a:off x="457200" y="4279900"/>
            <a:ext cx="31115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What remains plausible</a:t>
            </a:r>
            <a:endParaRPr lang="en-US" sz="1400" dirty="0"/>
          </a:p>
        </p:txBody>
      </p:sp>
      <p:sp>
        <p:nvSpPr>
          <p:cNvPr id="14" name="Text 12"/>
          <p:cNvSpPr/>
          <p:nvPr/>
        </p:nvSpPr>
        <p:spPr>
          <a:xfrm>
            <a:off x="457200" y="4724400"/>
            <a:ext cx="3111500" cy="18288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Institutions and organisations may extend cooperation beyond close networks. Contracts, firms and other arrangements may substitute for personal familiarity.</a:t>
            </a:r>
            <a:endParaRPr lang="en-US" sz="1050" dirty="0"/>
          </a:p>
        </p:txBody>
      </p:sp>
      <p:sp>
        <p:nvSpPr>
          <p:cNvPr id="15" name="Text 13"/>
          <p:cNvSpPr/>
          <p:nvPr/>
        </p:nvSpPr>
        <p:spPr>
          <a:xfrm>
            <a:off x="3937000" y="4279900"/>
            <a:ext cx="3162300" cy="3683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What remains missing</a:t>
            </a:r>
            <a:endParaRPr lang="en-US" sz="1400" dirty="0"/>
          </a:p>
        </p:txBody>
      </p:sp>
      <p:sp>
        <p:nvSpPr>
          <p:cNvPr id="16" name="Text 14"/>
          <p:cNvSpPr/>
          <p:nvPr/>
        </p:nvSpPr>
        <p:spPr>
          <a:xfrm>
            <a:off x="3937000" y="4724400"/>
            <a:ext cx="3162300" cy="18288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Direct trust measures differ by target, question and year. Ghana and South Korea remain direct-trust gaps. There is no harmonised historical six-country test.</a:t>
            </a:r>
            <a:endParaRPr lang="en-US" sz="1050" dirty="0"/>
          </a:p>
        </p:txBody>
      </p:sp>
      <p:sp>
        <p:nvSpPr>
          <p:cNvPr id="17" name="Shape 15"/>
          <p:cNvSpPr/>
          <p:nvPr/>
        </p:nvSpPr>
        <p:spPr>
          <a:xfrm>
            <a:off x="457200" y="6794500"/>
            <a:ext cx="6642100" cy="0"/>
          </a:xfrm>
          <a:prstGeom prst="line">
            <a:avLst/>
          </a:prstGeom>
          <a:noFill/>
          <a:ln w="7620">
            <a:solidFill>
              <a:srgbClr val="B7B0A4"/>
            </a:solidFill>
            <a:prstDash val="solid"/>
          </a:ln>
        </p:spPr>
      </p:sp>
      <p:sp>
        <p:nvSpPr>
          <p:cNvPr id="18" name="Text 16"/>
          <p:cNvSpPr/>
          <p:nvPr/>
        </p:nvSpPr>
        <p:spPr>
          <a:xfrm>
            <a:off x="457200" y="7112000"/>
            <a:ext cx="6642100" cy="990600"/>
          </a:xfrm>
          <a:prstGeom prst="rect">
            <a:avLst/>
          </a:prstGeom>
          <a:noFill/>
          <a:ln/>
        </p:spPr>
        <p:txBody>
          <a:bodyPr wrap="square" lIns="0" tIns="0" rIns="0" bIns="0" rtlCol="0" anchor="t"/>
          <a:lstStyle/>
          <a:p>
            <a:pPr indent="0" marL="0">
              <a:lnSpc>
                <a:spcPct val="112000"/>
              </a:lnSpc>
              <a:buNone/>
            </a:pPr>
            <a:r>
              <a:rPr lang="en-US" sz="2700" b="1" dirty="0">
                <a:solidFill>
                  <a:srgbClr val="252525"/>
                </a:solidFill>
                <a:latin typeface="Montserrat" pitchFamily="34" charset="0"/>
                <a:ea typeface="Montserrat" pitchFamily="34" charset="-122"/>
                <a:cs typeface="Montserrat" pitchFamily="34" charset="-120"/>
              </a:rPr>
              <a:t>Do not turn an evidence gap</a:t>
            </a:r>
            <a:endParaRPr lang="en-US" sz="2700" dirty="0"/>
          </a:p>
          <a:p>
            <a:pPr indent="0" marL="0">
              <a:lnSpc>
                <a:spcPct val="112000"/>
              </a:lnSpc>
              <a:buNone/>
            </a:pPr>
            <a:r>
              <a:rPr lang="en-US" sz="2700" b="1" dirty="0">
                <a:solidFill>
                  <a:srgbClr val="252525"/>
                </a:solidFill>
                <a:latin typeface="Montserrat" pitchFamily="34" charset="0"/>
                <a:ea typeface="Montserrat" pitchFamily="34" charset="-122"/>
                <a:cs typeface="Montserrat" pitchFamily="34" charset="-120"/>
              </a:rPr>
              <a:t>into a cultural verdict.</a:t>
            </a:r>
            <a:endParaRPr lang="en-US" sz="2700" dirty="0"/>
          </a:p>
        </p:txBody>
      </p:sp>
      <p:sp>
        <p:nvSpPr>
          <p:cNvPr id="19" name="Text 17"/>
          <p:cNvSpPr/>
          <p:nvPr/>
        </p:nvSpPr>
        <p:spPr>
          <a:xfrm>
            <a:off x="457200" y="8318500"/>
            <a:ext cx="6642100" cy="5080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REOPEN ONLY WITH comparable, weighted trust measures linked in time to firm-scale outcomes—and tests net of institutional substitutes.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05 / TEST 3</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Continuity + Adaptation</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Can a country learn industrially if direction changes every few years—and can continuity correct failure?</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World Bank (1993, pp. 127–130, 159–161, 242); Svirydzenka and Petri (2014, pp. 5–8, 17); World Bank (2020, Box 2); approved theory matrix for Malaysia and the Philippines. Maipose (2008, pp. 8–11).</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23</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Cases cannot isolate duration from state capacity, mineral rents, FDI, market access, shocks or prior success. Hofstede long-term orientation is not a duration measure.</a:t>
            </a:r>
            <a:endParaRPr lang="en-US" sz="900" dirty="0"/>
          </a:p>
        </p:txBody>
      </p:sp>
      <p:sp>
        <p:nvSpPr>
          <p:cNvPr id="12" name="Text 10"/>
          <p:cNvSpPr/>
          <p:nvPr/>
        </p:nvSpPr>
        <p:spPr>
          <a:xfrm>
            <a:off x="457200" y="2946400"/>
            <a:ext cx="6642100" cy="1028700"/>
          </a:xfrm>
          <a:prstGeom prst="rect">
            <a:avLst/>
          </a:prstGeom>
          <a:noFill/>
          <a:ln/>
        </p:spPr>
        <p:txBody>
          <a:bodyPr wrap="square" lIns="0" tIns="0" rIns="0" bIns="0" rtlCol="0" anchor="t"/>
          <a:lstStyle/>
          <a:p>
            <a:pPr indent="0" marL="0">
              <a:lnSpc>
                <a:spcPct val="112000"/>
              </a:lnSpc>
              <a:buNone/>
            </a:pPr>
            <a:r>
              <a:rPr lang="en-US" sz="2900" b="1" dirty="0">
                <a:solidFill>
                  <a:srgbClr val="252525"/>
                </a:solidFill>
                <a:latin typeface="Montserrat" pitchFamily="34" charset="0"/>
                <a:ea typeface="Montserrat" pitchFamily="34" charset="-122"/>
                <a:cs typeface="Montserrat" pitchFamily="34" charset="-120"/>
              </a:rPr>
              <a:t>SUPPORTED</a:t>
            </a:r>
            <a:endParaRPr lang="en-US" sz="2900" dirty="0"/>
          </a:p>
          <a:p>
            <a:pPr indent="0" marL="0">
              <a:lnSpc>
                <a:spcPct val="112000"/>
              </a:lnSpc>
              <a:buNone/>
            </a:pPr>
            <a:r>
              <a:rPr lang="en-US" sz="2900" b="1" dirty="0">
                <a:solidFill>
                  <a:srgbClr val="252525"/>
                </a:solidFill>
                <a:latin typeface="Montserrat" pitchFamily="34" charset="0"/>
                <a:ea typeface="Montserrat" pitchFamily="34" charset="-122"/>
                <a:cs typeface="Montserrat" pitchFamily="34" charset="-120"/>
              </a:rPr>
              <a:t>WITH EXCEPTIONS</a:t>
            </a:r>
            <a:endParaRPr lang="en-US" sz="2900" dirty="0"/>
          </a:p>
        </p:txBody>
      </p:sp>
      <p:sp>
        <p:nvSpPr>
          <p:cNvPr id="13" name="Shape 11"/>
          <p:cNvSpPr/>
          <p:nvPr/>
        </p:nvSpPr>
        <p:spPr>
          <a:xfrm>
            <a:off x="457200" y="4356100"/>
            <a:ext cx="6642100" cy="0"/>
          </a:xfrm>
          <a:prstGeom prst="line">
            <a:avLst/>
          </a:prstGeom>
          <a:noFill/>
          <a:ln w="10160">
            <a:solidFill>
              <a:srgbClr val="252525"/>
            </a:solidFill>
            <a:prstDash val="solid"/>
          </a:ln>
        </p:spPr>
      </p:sp>
      <p:sp>
        <p:nvSpPr>
          <p:cNvPr id="14" name="Text 12"/>
          <p:cNvSpPr/>
          <p:nvPr/>
        </p:nvSpPr>
        <p:spPr>
          <a:xfrm>
            <a:off x="457200" y="4508500"/>
            <a:ext cx="1778000" cy="8890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Duration + correction</a:t>
            </a:r>
            <a:endParaRPr lang="en-US" sz="1100" dirty="0"/>
          </a:p>
        </p:txBody>
      </p:sp>
      <p:sp>
        <p:nvSpPr>
          <p:cNvPr id="15" name="Text 13"/>
          <p:cNvSpPr/>
          <p:nvPr/>
        </p:nvSpPr>
        <p:spPr>
          <a:xfrm>
            <a:off x="2425700" y="4495800"/>
            <a:ext cx="4673600" cy="901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South Korea, Mauritius, Malaysia and the Philippines are consistent with durable direction plus feedback, learning and adaptation.</a:t>
            </a:r>
            <a:endParaRPr lang="en-US" sz="1050" dirty="0"/>
          </a:p>
        </p:txBody>
      </p:sp>
      <p:sp>
        <p:nvSpPr>
          <p:cNvPr id="16" name="Shape 14"/>
          <p:cNvSpPr/>
          <p:nvPr/>
        </p:nvSpPr>
        <p:spPr>
          <a:xfrm>
            <a:off x="457200" y="5588000"/>
            <a:ext cx="6642100" cy="0"/>
          </a:xfrm>
          <a:prstGeom prst="line">
            <a:avLst/>
          </a:prstGeom>
          <a:noFill/>
          <a:ln w="10160">
            <a:solidFill>
              <a:srgbClr val="252525"/>
            </a:solidFill>
            <a:prstDash val="solid"/>
          </a:ln>
        </p:spPr>
      </p:sp>
      <p:sp>
        <p:nvSpPr>
          <p:cNvPr id="17" name="Text 15"/>
          <p:cNvSpPr/>
          <p:nvPr/>
        </p:nvSpPr>
        <p:spPr>
          <a:xfrm>
            <a:off x="457200" y="5740400"/>
            <a:ext cx="1778000" cy="8255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Continuity can fail</a:t>
            </a:r>
            <a:endParaRPr lang="en-US" sz="1100" dirty="0"/>
          </a:p>
        </p:txBody>
      </p:sp>
      <p:sp>
        <p:nvSpPr>
          <p:cNvPr id="18" name="Text 16"/>
          <p:cNvSpPr/>
          <p:nvPr/>
        </p:nvSpPr>
        <p:spPr>
          <a:xfrm>
            <a:off x="2425700" y="5727700"/>
            <a:ext cx="4673600" cy="8382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Stable policy may protect weak firms or ineffective programmes. Continuing the same failure is not industrial learning.</a:t>
            </a:r>
            <a:endParaRPr lang="en-US" sz="1050" dirty="0"/>
          </a:p>
        </p:txBody>
      </p:sp>
      <p:sp>
        <p:nvSpPr>
          <p:cNvPr id="19" name="Shape 17"/>
          <p:cNvSpPr/>
          <p:nvPr/>
        </p:nvSpPr>
        <p:spPr>
          <a:xfrm>
            <a:off x="457200" y="6769100"/>
            <a:ext cx="6642100" cy="0"/>
          </a:xfrm>
          <a:prstGeom prst="line">
            <a:avLst/>
          </a:prstGeom>
          <a:noFill/>
          <a:ln w="10160">
            <a:solidFill>
              <a:srgbClr val="252525"/>
            </a:solidFill>
            <a:prstDash val="solid"/>
          </a:ln>
        </p:spPr>
      </p:sp>
      <p:sp>
        <p:nvSpPr>
          <p:cNvPr id="20" name="Text 18"/>
          <p:cNvSpPr/>
          <p:nvPr/>
        </p:nvSpPr>
        <p:spPr>
          <a:xfrm>
            <a:off x="457200" y="6921500"/>
            <a:ext cx="1778000" cy="8890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Botswana’s warning</a:t>
            </a:r>
            <a:endParaRPr lang="en-US" sz="1100" dirty="0"/>
          </a:p>
        </p:txBody>
      </p:sp>
      <p:sp>
        <p:nvSpPr>
          <p:cNvPr id="21" name="Text 19"/>
          <p:cNvSpPr/>
          <p:nvPr/>
        </p:nvSpPr>
        <p:spPr>
          <a:xfrm>
            <a:off x="2425700" y="6908800"/>
            <a:ext cx="4673600" cy="901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Accumulation without broad diversification is a warning—not a direct policy-duration test. Resources and institutional choices remain central.</a:t>
            </a:r>
            <a:endParaRPr lang="en-US" sz="1050" dirty="0"/>
          </a:p>
        </p:txBody>
      </p:sp>
      <p:sp>
        <p:nvSpPr>
          <p:cNvPr id="22" name="Text 20"/>
          <p:cNvSpPr/>
          <p:nvPr/>
        </p:nvSpPr>
        <p:spPr>
          <a:xfrm>
            <a:off x="457200" y="8191500"/>
            <a:ext cx="6642100" cy="2286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REVISE / REJECT IF</a:t>
            </a:r>
            <a:endParaRPr lang="en-US" sz="800" dirty="0"/>
          </a:p>
        </p:txBody>
      </p:sp>
      <p:sp>
        <p:nvSpPr>
          <p:cNvPr id="23" name="Text 21"/>
          <p:cNvSpPr/>
          <p:nvPr/>
        </p:nvSpPr>
        <p:spPr>
          <a:xfrm>
            <a:off x="457200" y="8483600"/>
            <a:ext cx="6642100" cy="342900"/>
          </a:xfrm>
          <a:prstGeom prst="rect">
            <a:avLst/>
          </a:prstGeom>
          <a:noFill/>
          <a:ln/>
        </p:spPr>
        <p:txBody>
          <a:bodyPr wrap="square" lIns="0" tIns="0" rIns="0" bIns="0" rtlCol="0" anchor="t"/>
          <a:lstStyle/>
          <a:p>
            <a:pPr indent="0" marL="0">
              <a:lnSpc>
                <a:spcPct val="112000"/>
              </a:lnSpc>
              <a:buNone/>
            </a:pPr>
            <a:r>
              <a:rPr lang="en-US" sz="1000" dirty="0">
                <a:solidFill>
                  <a:srgbClr val="252525"/>
                </a:solidFill>
                <a:latin typeface="Montserrat" pitchFamily="34" charset="0"/>
                <a:ea typeface="Montserrat" pitchFamily="34" charset="-122"/>
                <a:cs typeface="Montserrat" pitchFamily="34" charset="-120"/>
              </a:rPr>
              <a:t>Revise if continuity yields accumulation without variety; reject a strong claim when durable direction repeatedly preserves failure.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05 / THE EXCEPTIONS MATTER</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The counterexamples change the answer</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Four cases make a uniform continental story untenable. Each challenges a different shortcut.</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Maipose (2008, pp. 3–5, 8–11); Svirydzenka and Petri (2014, pp. 5–8); World Bank (2020, Box 2, pp. 44–47); Nasution (2000, pp. 19–20); approved theory matrix. Photographs: credits p. 30.</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24</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These cases do not isolate culture or a universal growth formula. An exception changes the scope of a claim; it does not automatically establish its rival.</a:t>
            </a:r>
            <a:endParaRPr lang="en-US" sz="900" dirty="0"/>
          </a:p>
        </p:txBody>
      </p:sp>
      <p:sp>
        <p:nvSpPr>
          <p:cNvPr id="12" name="Shape 10"/>
          <p:cNvSpPr/>
          <p:nvPr/>
        </p:nvSpPr>
        <p:spPr>
          <a:xfrm>
            <a:off x="457200" y="2971800"/>
            <a:ext cx="127000" cy="127000"/>
          </a:xfrm>
          <a:prstGeom prst="rect">
            <a:avLst/>
          </a:prstGeom>
          <a:solidFill>
            <a:srgbClr val="3F684E"/>
          </a:solidFill>
          <a:ln w="7620">
            <a:solidFill>
              <a:srgbClr val="252525"/>
            </a:solidFill>
            <a:prstDash val="solid"/>
          </a:ln>
        </p:spPr>
      </p:sp>
      <p:sp>
        <p:nvSpPr>
          <p:cNvPr id="13" name="Text 11"/>
          <p:cNvSpPr/>
          <p:nvPr/>
        </p:nvSpPr>
        <p:spPr>
          <a:xfrm>
            <a:off x="711200" y="2921000"/>
            <a:ext cx="2413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pic>
        <p:nvPicPr>
          <p:cNvPr id="14" name="Image 0" descr="/Users/marcusgrude-grodem/Documents/GitHub/USIL/africa-asia-development-magazine/design/canva_editorial_draft/assets/print/botswana_mochudi.jpg">    </p:cNvPr>
          <p:cNvPicPr>
            <a:picLocks noChangeAspect="1"/>
          </p:cNvPicPr>
          <p:nvPr/>
        </p:nvPicPr>
        <p:blipFill>
          <a:blip r:embed="rId1"/>
          <a:stretch>
            <a:fillRect/>
          </a:stretch>
        </p:blipFill>
        <p:spPr>
          <a:xfrm>
            <a:off x="539750" y="3390900"/>
            <a:ext cx="1905000" cy="1270000"/>
          </a:xfrm>
          <a:prstGeom prst="rect">
            <a:avLst/>
          </a:prstGeom>
        </p:spPr>
      </p:pic>
      <p:sp>
        <p:nvSpPr>
          <p:cNvPr id="15" name="Text 12"/>
          <p:cNvSpPr/>
          <p:nvPr/>
        </p:nvSpPr>
        <p:spPr>
          <a:xfrm>
            <a:off x="457200" y="4711700"/>
            <a:ext cx="2235200" cy="292100"/>
          </a:xfrm>
          <a:prstGeom prst="rect">
            <a:avLst/>
          </a:prstGeom>
          <a:noFill/>
          <a:ln/>
        </p:spPr>
        <p:txBody>
          <a:bodyPr wrap="square" lIns="0" tIns="0" rIns="0" bIns="0" rtlCol="0" anchor="t"/>
          <a:lstStyle/>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Mochudi solar pumping · 2018</a:t>
            </a:r>
            <a:endParaRPr lang="en-US" sz="800" dirty="0"/>
          </a:p>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Small-scale infrastructure context; outcomes unmeasured.</a:t>
            </a:r>
            <a:endParaRPr lang="en-US" sz="800" dirty="0"/>
          </a:p>
        </p:txBody>
      </p:sp>
      <p:sp>
        <p:nvSpPr>
          <p:cNvPr id="16" name="Text 13"/>
          <p:cNvSpPr/>
          <p:nvPr/>
        </p:nvSpPr>
        <p:spPr>
          <a:xfrm>
            <a:off x="2781300" y="3352800"/>
            <a:ext cx="4318000" cy="12700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Supports: resource management and investment.</a:t>
            </a:r>
            <a:endParaRPr lang="en-US" sz="1050" dirty="0"/>
          </a:p>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Challenges: inherited infrastructure as a prerequisite.</a:t>
            </a:r>
            <a:endParaRPr lang="en-US" sz="1050" dirty="0"/>
          </a:p>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Cannot prove: broad diversification or a cultural cause.</a:t>
            </a:r>
            <a:endParaRPr lang="en-US" sz="1050" dirty="0"/>
          </a:p>
        </p:txBody>
      </p:sp>
      <p:sp>
        <p:nvSpPr>
          <p:cNvPr id="17" name="Shape 14"/>
          <p:cNvSpPr/>
          <p:nvPr/>
        </p:nvSpPr>
        <p:spPr>
          <a:xfrm>
            <a:off x="457200" y="5029200"/>
            <a:ext cx="6642100" cy="0"/>
          </a:xfrm>
          <a:prstGeom prst="line">
            <a:avLst/>
          </a:prstGeom>
          <a:noFill/>
          <a:ln w="7620">
            <a:solidFill>
              <a:srgbClr val="B7B0A4"/>
            </a:solidFill>
            <a:prstDash val="solid"/>
          </a:ln>
        </p:spPr>
      </p:sp>
      <p:sp>
        <p:nvSpPr>
          <p:cNvPr id="18" name="Shape 15"/>
          <p:cNvSpPr/>
          <p:nvPr/>
        </p:nvSpPr>
        <p:spPr>
          <a:xfrm>
            <a:off x="457200" y="5257800"/>
            <a:ext cx="127000" cy="127000"/>
          </a:xfrm>
          <a:prstGeom prst="triangle">
            <a:avLst/>
          </a:prstGeom>
          <a:solidFill>
            <a:srgbClr val="D6A23A"/>
          </a:solidFill>
          <a:ln w="7620">
            <a:solidFill>
              <a:srgbClr val="252525"/>
            </a:solidFill>
            <a:prstDash val="solid"/>
          </a:ln>
        </p:spPr>
      </p:sp>
      <p:sp>
        <p:nvSpPr>
          <p:cNvPr id="19" name="Text 16"/>
          <p:cNvSpPr/>
          <p:nvPr/>
        </p:nvSpPr>
        <p:spPr>
          <a:xfrm>
            <a:off x="711200" y="5207000"/>
            <a:ext cx="24130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20" name="Text 17"/>
          <p:cNvSpPr/>
          <p:nvPr/>
        </p:nvSpPr>
        <p:spPr>
          <a:xfrm>
            <a:off x="457200" y="5689600"/>
            <a:ext cx="3949700" cy="11811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Supports: adaptation and diversification.</a:t>
            </a:r>
            <a:endParaRPr lang="en-US" sz="1050" dirty="0"/>
          </a:p>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Challenges: fixed cultural destiny.</a:t>
            </a:r>
            <a:endParaRPr lang="en-US" sz="1050" dirty="0"/>
          </a:p>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Cannot prove: continuity alone caused growth.</a:t>
            </a:r>
            <a:endParaRPr lang="en-US" sz="1050" dirty="0"/>
          </a:p>
        </p:txBody>
      </p:sp>
      <p:pic>
        <p:nvPicPr>
          <p:cNvPr id="21" name="Image 1" descr="/Users/marcusgrude-grodem/Documents/GitHub/USIL/africa-asia-development-magazine/design/canva_editorial_draft/assets/print/mauritius_sugar.jpg">    </p:cNvPr>
          <p:cNvPicPr>
            <a:picLocks noChangeAspect="1"/>
          </p:cNvPicPr>
          <p:nvPr/>
        </p:nvPicPr>
        <p:blipFill>
          <a:blip r:embed="rId2"/>
          <a:stretch>
            <a:fillRect/>
          </a:stretch>
        </p:blipFill>
        <p:spPr>
          <a:xfrm>
            <a:off x="5122333" y="5219700"/>
            <a:ext cx="1896533" cy="1422400"/>
          </a:xfrm>
          <a:prstGeom prst="rect">
            <a:avLst/>
          </a:prstGeom>
        </p:spPr>
      </p:pic>
      <p:sp>
        <p:nvSpPr>
          <p:cNvPr id="22" name="Text 18"/>
          <p:cNvSpPr/>
          <p:nvPr/>
        </p:nvSpPr>
        <p:spPr>
          <a:xfrm>
            <a:off x="5041900" y="6705600"/>
            <a:ext cx="2057400" cy="292100"/>
          </a:xfrm>
          <a:prstGeom prst="rect">
            <a:avLst/>
          </a:prstGeom>
          <a:noFill/>
          <a:ln/>
        </p:spPr>
        <p:txBody>
          <a:bodyPr wrap="square" lIns="0" tIns="0" rIns="0" bIns="0" rtlCol="0" anchor="t"/>
          <a:lstStyle/>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Port Louis sugar terminal · 2025</a:t>
            </a:r>
            <a:endParaRPr lang="en-US" sz="800" dirty="0"/>
          </a:p>
          <a:p>
            <a:pPr indent="0" marL="0">
              <a:lnSpc>
                <a:spcPct val="112000"/>
              </a:lnSpc>
              <a:buNone/>
            </a:pPr>
            <a:r>
              <a:rPr lang="en-US" sz="800" dirty="0">
                <a:solidFill>
                  <a:srgbClr val="252525"/>
                </a:solidFill>
                <a:latin typeface="Montserrat" pitchFamily="34" charset="0"/>
                <a:ea typeface="Montserrat" pitchFamily="34" charset="-122"/>
                <a:cs typeface="Montserrat" pitchFamily="34" charset="-120"/>
              </a:rPr>
              <a:t>Trade infrastructure; not a history series.</a:t>
            </a:r>
            <a:endParaRPr lang="en-US" sz="800" dirty="0"/>
          </a:p>
        </p:txBody>
      </p:sp>
      <p:sp>
        <p:nvSpPr>
          <p:cNvPr id="23" name="Shape 19"/>
          <p:cNvSpPr/>
          <p:nvPr/>
        </p:nvSpPr>
        <p:spPr>
          <a:xfrm>
            <a:off x="457200" y="7023100"/>
            <a:ext cx="6642100" cy="0"/>
          </a:xfrm>
          <a:prstGeom prst="line">
            <a:avLst/>
          </a:prstGeom>
          <a:noFill/>
          <a:ln w="7620">
            <a:solidFill>
              <a:srgbClr val="B7B0A4"/>
            </a:solidFill>
            <a:prstDash val="solid"/>
          </a:ln>
        </p:spPr>
      </p:sp>
      <p:sp>
        <p:nvSpPr>
          <p:cNvPr id="24" name="Shape 20"/>
          <p:cNvSpPr/>
          <p:nvPr/>
        </p:nvSpPr>
        <p:spPr>
          <a:xfrm>
            <a:off x="457200" y="7264400"/>
            <a:ext cx="127000" cy="127000"/>
          </a:xfrm>
          <a:prstGeom prst="hexagon">
            <a:avLst/>
          </a:prstGeom>
          <a:solidFill>
            <a:srgbClr val="3E7568"/>
          </a:solidFill>
          <a:ln w="7620">
            <a:solidFill>
              <a:srgbClr val="252525"/>
            </a:solidFill>
            <a:prstDash val="solid"/>
          </a:ln>
        </p:spPr>
      </p:sp>
      <p:sp>
        <p:nvSpPr>
          <p:cNvPr id="25" name="Text 21"/>
          <p:cNvSpPr/>
          <p:nvPr/>
        </p:nvSpPr>
        <p:spPr>
          <a:xfrm>
            <a:off x="711200" y="7213600"/>
            <a:ext cx="28702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26" name="Shape 22"/>
          <p:cNvSpPr/>
          <p:nvPr/>
        </p:nvSpPr>
        <p:spPr>
          <a:xfrm>
            <a:off x="3975100" y="7327900"/>
            <a:ext cx="127000" cy="0"/>
          </a:xfrm>
          <a:prstGeom prst="line">
            <a:avLst/>
          </a:prstGeom>
          <a:noFill/>
          <a:ln w="40640">
            <a:solidFill>
              <a:srgbClr val="252525"/>
            </a:solidFill>
            <a:prstDash val="solid"/>
          </a:ln>
        </p:spPr>
      </p:sp>
      <p:sp>
        <p:nvSpPr>
          <p:cNvPr id="27" name="Shape 23"/>
          <p:cNvSpPr/>
          <p:nvPr/>
        </p:nvSpPr>
        <p:spPr>
          <a:xfrm>
            <a:off x="4038600" y="7264400"/>
            <a:ext cx="0" cy="127000"/>
          </a:xfrm>
          <a:prstGeom prst="line">
            <a:avLst/>
          </a:prstGeom>
          <a:noFill/>
          <a:ln w="40640">
            <a:solidFill>
              <a:srgbClr val="252525"/>
            </a:solidFill>
            <a:prstDash val="solid"/>
          </a:ln>
        </p:spPr>
      </p:sp>
      <p:sp>
        <p:nvSpPr>
          <p:cNvPr id="28" name="Shape 24"/>
          <p:cNvSpPr/>
          <p:nvPr/>
        </p:nvSpPr>
        <p:spPr>
          <a:xfrm>
            <a:off x="3975100" y="7327900"/>
            <a:ext cx="127000" cy="0"/>
          </a:xfrm>
          <a:prstGeom prst="line">
            <a:avLst/>
          </a:prstGeom>
          <a:noFill/>
          <a:ln w="22860">
            <a:solidFill>
              <a:srgbClr val="A63A3A"/>
            </a:solidFill>
            <a:prstDash val="solid"/>
          </a:ln>
        </p:spPr>
      </p:sp>
      <p:sp>
        <p:nvSpPr>
          <p:cNvPr id="29" name="Shape 25"/>
          <p:cNvSpPr/>
          <p:nvPr/>
        </p:nvSpPr>
        <p:spPr>
          <a:xfrm>
            <a:off x="4038600" y="7264400"/>
            <a:ext cx="0" cy="127000"/>
          </a:xfrm>
          <a:prstGeom prst="line">
            <a:avLst/>
          </a:prstGeom>
          <a:noFill/>
          <a:ln w="22860">
            <a:solidFill>
              <a:srgbClr val="A63A3A"/>
            </a:solidFill>
            <a:prstDash val="solid"/>
          </a:ln>
        </p:spPr>
      </p:sp>
      <p:sp>
        <p:nvSpPr>
          <p:cNvPr id="30" name="Text 26"/>
          <p:cNvSpPr/>
          <p:nvPr/>
        </p:nvSpPr>
        <p:spPr>
          <a:xfrm>
            <a:off x="4229100" y="7213600"/>
            <a:ext cx="28702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31" name="Text 27"/>
          <p:cNvSpPr/>
          <p:nvPr/>
        </p:nvSpPr>
        <p:spPr>
          <a:xfrm>
            <a:off x="457200" y="7721600"/>
            <a:ext cx="3124200" cy="9652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Supports: coordinated productive links.</a:t>
            </a:r>
            <a:endParaRPr lang="en-US" sz="950" dirty="0"/>
          </a:p>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Challenges: exports = local capability.</a:t>
            </a:r>
            <a:endParaRPr lang="en-US" sz="950" dirty="0"/>
          </a:p>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Cannot prove: FDI guarantees upgrading.</a:t>
            </a:r>
            <a:endParaRPr lang="en-US" sz="950" dirty="0"/>
          </a:p>
        </p:txBody>
      </p:sp>
      <p:sp>
        <p:nvSpPr>
          <p:cNvPr id="32" name="Text 28"/>
          <p:cNvSpPr/>
          <p:nvPr/>
        </p:nvSpPr>
        <p:spPr>
          <a:xfrm>
            <a:off x="3975100" y="7721600"/>
            <a:ext cx="3124200" cy="9652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Supports: the need for deeper linkages.</a:t>
            </a:r>
            <a:endParaRPr lang="en-US" sz="950" dirty="0"/>
          </a:p>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Challenges: one successful “Asia” model.</a:t>
            </a:r>
            <a:endParaRPr lang="en-US" sz="950" dirty="0"/>
          </a:p>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Cannot prove: culture caused interruption.</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06 / SYNTHESIS</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What the combined evidence says</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The strongest bounded explanation centres on productive capability—not fixed regional culture.</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Original group synthesis of approved theory matrix and evidence packs. World Bank (1993, pp. 4–7, 20–26, 79–80); World Bank (2020); Maipose (2008); Svirydzenka and Petri (2014); Hofstede (2011).</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25</a:t>
            </a:r>
            <a:endParaRPr lang="en-US" sz="1100" dirty="0"/>
          </a:p>
        </p:txBody>
      </p:sp>
      <p:sp>
        <p:nvSpPr>
          <p:cNvPr id="10" name="Text 8"/>
          <p:cNvSpPr/>
          <p:nvPr/>
        </p:nvSpPr>
        <p:spPr>
          <a:xfrm>
            <a:off x="457200" y="8864600"/>
            <a:ext cx="6642100" cy="190500"/>
          </a:xfrm>
          <a:prstGeom prst="rect">
            <a:avLst/>
          </a:prstGeom>
          <a:noFill/>
          <a:ln/>
        </p:spPr>
        <p:txBody>
          <a:bodyPr wrap="square" lIns="0" tIns="0" rIns="0" bIns="0" rtlCol="0" anchor="t"/>
          <a:lstStyle/>
          <a:p>
            <a:pPr indent="0" marL="0">
              <a:lnSpc>
                <a:spcPct val="112000"/>
              </a:lnSpc>
              <a:buNone/>
            </a:pPr>
            <a:r>
              <a:rPr lang="en-US" sz="800" b="1" dirty="0">
                <a:solidFill>
                  <a:srgbClr val="252525"/>
                </a:solidFill>
                <a:latin typeface="Montserrat" pitchFamily="34" charset="0"/>
                <a:ea typeface="Montserrat" pitchFamily="34" charset="-122"/>
                <a:cs typeface="Montserrat" pitchFamily="34" charset="-120"/>
              </a:rPr>
              <a:t>WHAT THIS CANNOT PROVE</a:t>
            </a:r>
            <a:endParaRPr lang="en-US" sz="800" dirty="0"/>
          </a:p>
        </p:txBody>
      </p:sp>
      <p:sp>
        <p:nvSpPr>
          <p:cNvPr id="11" name="Text 9"/>
          <p:cNvSpPr/>
          <p:nvPr/>
        </p:nvSpPr>
        <p:spPr>
          <a:xfrm>
            <a:off x="457200" y="9080500"/>
            <a:ext cx="6642100" cy="431800"/>
          </a:xfrm>
          <a:prstGeom prst="rect">
            <a:avLst/>
          </a:prstGeom>
          <a:noFill/>
          <a:ln/>
        </p:spPr>
        <p:txBody>
          <a:bodyPr wrap="square" lIns="0" tIns="0" rIns="0" bIns="0" rtlCol="0" anchor="t"/>
          <a:lstStyle/>
          <a:p>
            <a:pPr indent="0" marL="0">
              <a:lnSpc>
                <a:spcPct val="112000"/>
              </a:lnSpc>
              <a:buNone/>
            </a:pPr>
            <a:r>
              <a:rPr lang="en-US" sz="900" dirty="0">
                <a:solidFill>
                  <a:srgbClr val="514E48"/>
                </a:solidFill>
                <a:latin typeface="Montserrat" pitchFamily="34" charset="0"/>
                <a:ea typeface="Montserrat" pitchFamily="34" charset="-122"/>
                <a:cs typeface="Montserrat" pitchFamily="34" charset="-120"/>
              </a:rPr>
              <a:t>This is a bounded comparative interpretation, not an estimated causal decomposition. The six cases cannot represent every African or Asian economy.</a:t>
            </a:r>
            <a:endParaRPr lang="en-US" sz="900" dirty="0"/>
          </a:p>
        </p:txBody>
      </p:sp>
      <p:sp>
        <p:nvSpPr>
          <p:cNvPr id="12" name="Text 10"/>
          <p:cNvSpPr/>
          <p:nvPr/>
        </p:nvSpPr>
        <p:spPr>
          <a:xfrm>
            <a:off x="457200" y="3009900"/>
            <a:ext cx="6642100" cy="1168400"/>
          </a:xfrm>
          <a:prstGeom prst="rect">
            <a:avLst/>
          </a:prstGeom>
          <a:noFill/>
          <a:ln/>
        </p:spPr>
        <p:txBody>
          <a:bodyPr wrap="square" lIns="0" tIns="0" rIns="0" bIns="0" rtlCol="0" anchor="t"/>
          <a:lstStyle/>
          <a:p>
            <a:pPr indent="0" marL="0">
              <a:lnSpc>
                <a:spcPct val="112000"/>
              </a:lnSpc>
              <a:buNone/>
            </a:pPr>
            <a:r>
              <a:rPr lang="en-US" sz="3800" b="1" dirty="0">
                <a:solidFill>
                  <a:srgbClr val="252525"/>
                </a:solidFill>
                <a:latin typeface="Montserrat" pitchFamily="34" charset="0"/>
                <a:ea typeface="Montserrat" pitchFamily="34" charset="-122"/>
                <a:cs typeface="Montserrat" pitchFamily="34" charset="-120"/>
              </a:rPr>
              <a:t>PRODUCTIVE</a:t>
            </a:r>
            <a:endParaRPr lang="en-US" sz="3800" dirty="0"/>
          </a:p>
          <a:p>
            <a:pPr indent="0" marL="0">
              <a:lnSpc>
                <a:spcPct val="112000"/>
              </a:lnSpc>
              <a:buNone/>
            </a:pPr>
            <a:r>
              <a:rPr lang="en-US" sz="3800" b="1" dirty="0">
                <a:solidFill>
                  <a:srgbClr val="252525"/>
                </a:solidFill>
                <a:latin typeface="Montserrat" pitchFamily="34" charset="0"/>
                <a:ea typeface="Montserrat" pitchFamily="34" charset="-122"/>
                <a:cs typeface="Montserrat" pitchFamily="34" charset="-120"/>
              </a:rPr>
              <a:t>CAPABILITY</a:t>
            </a:r>
            <a:endParaRPr lang="en-US" sz="3800" dirty="0"/>
          </a:p>
        </p:txBody>
      </p:sp>
      <p:sp>
        <p:nvSpPr>
          <p:cNvPr id="13" name="Text 11"/>
          <p:cNvSpPr/>
          <p:nvPr/>
        </p:nvSpPr>
        <p:spPr>
          <a:xfrm>
            <a:off x="457200" y="4394200"/>
            <a:ext cx="6642100" cy="596900"/>
          </a:xfrm>
          <a:prstGeom prst="rect">
            <a:avLst/>
          </a:prstGeom>
          <a:noFill/>
          <a:ln/>
        </p:spPr>
        <p:txBody>
          <a:bodyPr wrap="square" lIns="0" tIns="0" rIns="0" bIns="0" rtlCol="0" anchor="t"/>
          <a:lstStyle/>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History · institutions · resources · markets · policy</a:t>
            </a:r>
            <a:endParaRPr lang="en-US" sz="1400" dirty="0"/>
          </a:p>
          <a:p>
            <a:pPr indent="0" marL="0">
              <a:lnSpc>
                <a:spcPct val="112000"/>
              </a:lnSpc>
              <a:buNone/>
            </a:pPr>
            <a:r>
              <a:rPr lang="en-US" sz="1400" b="1" dirty="0">
                <a:solidFill>
                  <a:srgbClr val="252525"/>
                </a:solidFill>
                <a:latin typeface="Montserrat" pitchFamily="34" charset="0"/>
                <a:ea typeface="Montserrat" pitchFamily="34" charset="-122"/>
                <a:cs typeface="Montserrat" pitchFamily="34" charset="-120"/>
              </a:rPr>
              <a:t>external conditions · culture</a:t>
            </a:r>
            <a:endParaRPr lang="en-US" sz="1400" dirty="0"/>
          </a:p>
        </p:txBody>
      </p:sp>
      <p:sp>
        <p:nvSpPr>
          <p:cNvPr id="14" name="Text 12"/>
          <p:cNvSpPr/>
          <p:nvPr/>
        </p:nvSpPr>
        <p:spPr>
          <a:xfrm>
            <a:off x="457200" y="5384800"/>
            <a:ext cx="6642100" cy="19431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Divergence depended less on fixed regional culture than on whether states, firms, workers and external partners built and disciplined productive capabilities over time. Education, agricultural change, infrastructure, investment coordination, technology access and exports mattered in different sequences. Their effects depended on institutions, resources, distribution, history and international conditions. Culture may influence coordination, legitimacy and organisational practice, but it is not a stand-alone explanation.</a:t>
            </a:r>
            <a:endParaRPr lang="en-US" sz="1200" dirty="0"/>
          </a:p>
        </p:txBody>
      </p:sp>
      <p:sp>
        <p:nvSpPr>
          <p:cNvPr id="15" name="Shape 13"/>
          <p:cNvSpPr/>
          <p:nvPr/>
        </p:nvSpPr>
        <p:spPr>
          <a:xfrm>
            <a:off x="457200" y="7543800"/>
            <a:ext cx="6642100" cy="0"/>
          </a:xfrm>
          <a:prstGeom prst="line">
            <a:avLst/>
          </a:prstGeom>
          <a:noFill/>
          <a:ln w="7620">
            <a:solidFill>
              <a:srgbClr val="B7B0A4"/>
            </a:solidFill>
            <a:prstDash val="solid"/>
          </a:ln>
        </p:spPr>
      </p:sp>
      <p:sp>
        <p:nvSpPr>
          <p:cNvPr id="16" name="Text 14"/>
          <p:cNvSpPr/>
          <p:nvPr/>
        </p:nvSpPr>
        <p:spPr>
          <a:xfrm>
            <a:off x="457200" y="7620000"/>
            <a:ext cx="3327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Connected Development</a:t>
            </a:r>
            <a:endParaRPr lang="en-US" sz="1050" dirty="0"/>
          </a:p>
        </p:txBody>
      </p:sp>
      <p:sp>
        <p:nvSpPr>
          <p:cNvPr id="17" name="Text 15"/>
          <p:cNvSpPr/>
          <p:nvPr/>
        </p:nvSpPr>
        <p:spPr>
          <a:xfrm>
            <a:off x="3937000" y="7620000"/>
            <a:ext cx="3162300" cy="2794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Supported with exceptions</a:t>
            </a:r>
            <a:endParaRPr lang="en-US" sz="1050" dirty="0"/>
          </a:p>
        </p:txBody>
      </p:sp>
      <p:sp>
        <p:nvSpPr>
          <p:cNvPr id="18" name="Shape 16"/>
          <p:cNvSpPr/>
          <p:nvPr/>
        </p:nvSpPr>
        <p:spPr>
          <a:xfrm>
            <a:off x="457200" y="7924800"/>
            <a:ext cx="6642100" cy="0"/>
          </a:xfrm>
          <a:prstGeom prst="line">
            <a:avLst/>
          </a:prstGeom>
          <a:noFill/>
          <a:ln w="7620">
            <a:solidFill>
              <a:srgbClr val="B7B0A4"/>
            </a:solidFill>
            <a:prstDash val="solid"/>
          </a:ln>
        </p:spPr>
      </p:sp>
      <p:sp>
        <p:nvSpPr>
          <p:cNvPr id="19" name="Text 17"/>
          <p:cNvSpPr/>
          <p:nvPr/>
        </p:nvSpPr>
        <p:spPr>
          <a:xfrm>
            <a:off x="457200" y="8001000"/>
            <a:ext cx="3327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Radius of Trust</a:t>
            </a:r>
            <a:endParaRPr lang="en-US" sz="1050" dirty="0"/>
          </a:p>
        </p:txBody>
      </p:sp>
      <p:sp>
        <p:nvSpPr>
          <p:cNvPr id="20" name="Text 18"/>
          <p:cNvSpPr/>
          <p:nvPr/>
        </p:nvSpPr>
        <p:spPr>
          <a:xfrm>
            <a:off x="3937000" y="8001000"/>
            <a:ext cx="3162300" cy="2794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Inconclusive</a:t>
            </a:r>
            <a:endParaRPr lang="en-US" sz="1050" dirty="0"/>
          </a:p>
        </p:txBody>
      </p:sp>
      <p:sp>
        <p:nvSpPr>
          <p:cNvPr id="21" name="Shape 19"/>
          <p:cNvSpPr/>
          <p:nvPr/>
        </p:nvSpPr>
        <p:spPr>
          <a:xfrm>
            <a:off x="457200" y="8305800"/>
            <a:ext cx="6642100" cy="0"/>
          </a:xfrm>
          <a:prstGeom prst="line">
            <a:avLst/>
          </a:prstGeom>
          <a:noFill/>
          <a:ln w="7620">
            <a:solidFill>
              <a:srgbClr val="B7B0A4"/>
            </a:solidFill>
            <a:prstDash val="solid"/>
          </a:ln>
        </p:spPr>
      </p:sp>
      <p:sp>
        <p:nvSpPr>
          <p:cNvPr id="22" name="Text 20"/>
          <p:cNvSpPr/>
          <p:nvPr/>
        </p:nvSpPr>
        <p:spPr>
          <a:xfrm>
            <a:off x="457200" y="8382000"/>
            <a:ext cx="3327400" cy="279400"/>
          </a:xfrm>
          <a:prstGeom prst="rect">
            <a:avLst/>
          </a:prstGeom>
          <a:noFill/>
          <a:ln/>
        </p:spPr>
        <p:txBody>
          <a:bodyPr wrap="square" lIns="0" tIns="0" rIns="0" bIns="0" rtlCol="0" anchor="t"/>
          <a:lstStyle/>
          <a:p>
            <a:pPr indent="0" marL="0">
              <a:lnSpc>
                <a:spcPct val="112000"/>
              </a:lnSpc>
              <a:buNone/>
            </a:pPr>
            <a:r>
              <a:rPr lang="en-US" sz="1050" b="1" dirty="0">
                <a:solidFill>
                  <a:srgbClr val="252525"/>
                </a:solidFill>
                <a:latin typeface="Montserrat" pitchFamily="34" charset="0"/>
                <a:ea typeface="Montserrat" pitchFamily="34" charset="-122"/>
                <a:cs typeface="Montserrat" pitchFamily="34" charset="-120"/>
              </a:rPr>
              <a:t>Continuity + Adaptation</a:t>
            </a:r>
            <a:endParaRPr lang="en-US" sz="1050" dirty="0"/>
          </a:p>
        </p:txBody>
      </p:sp>
      <p:sp>
        <p:nvSpPr>
          <p:cNvPr id="23" name="Text 21"/>
          <p:cNvSpPr/>
          <p:nvPr/>
        </p:nvSpPr>
        <p:spPr>
          <a:xfrm>
            <a:off x="3937000" y="8382000"/>
            <a:ext cx="3162300" cy="2794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Supported with exceptions</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06 / TRANSFER MECHANISMS</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What can travel—and what must adapt?</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Lessons are conditional mechanisms to examine, not national models to transplant.</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Original group conclusions grounded in the approved theory matrix: World Bank (1993, 2020); Maipose (2008); Svirydzenka and Petri (2014); OECD (2017). These are reasoned implications, not independently identified causal effects.</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26</a:t>
            </a:r>
            <a:endParaRPr lang="en-US" sz="1100" dirty="0"/>
          </a:p>
        </p:txBody>
      </p:sp>
      <p:sp>
        <p:nvSpPr>
          <p:cNvPr id="10" name="Text 8"/>
          <p:cNvSpPr/>
          <p:nvPr/>
        </p:nvSpPr>
        <p:spPr>
          <a:xfrm>
            <a:off x="457200" y="2908300"/>
            <a:ext cx="647700" cy="444500"/>
          </a:xfrm>
          <a:prstGeom prst="rect">
            <a:avLst/>
          </a:prstGeom>
          <a:noFill/>
          <a:ln/>
        </p:spPr>
        <p:txBody>
          <a:bodyPr wrap="square" lIns="0" tIns="0" rIns="0" bIns="0" rtlCol="0" anchor="t"/>
          <a:lstStyle/>
          <a:p>
            <a:pPr indent="0" marL="0">
              <a:lnSpc>
                <a:spcPct val="112000"/>
              </a:lnSpc>
              <a:buNone/>
            </a:pPr>
            <a:r>
              <a:rPr lang="en-US" sz="2400" b="1" dirty="0">
                <a:solidFill>
                  <a:srgbClr val="514E48"/>
                </a:solidFill>
                <a:latin typeface="Montserrat" pitchFamily="34" charset="0"/>
                <a:ea typeface="Montserrat" pitchFamily="34" charset="-122"/>
                <a:cs typeface="Montserrat" pitchFamily="34" charset="-120"/>
              </a:rPr>
              <a:t>01</a:t>
            </a:r>
            <a:endParaRPr lang="en-US" sz="2400" dirty="0"/>
          </a:p>
        </p:txBody>
      </p:sp>
      <p:sp>
        <p:nvSpPr>
          <p:cNvPr id="11" name="Text 9"/>
          <p:cNvSpPr/>
          <p:nvPr/>
        </p:nvSpPr>
        <p:spPr>
          <a:xfrm>
            <a:off x="1320800" y="2908300"/>
            <a:ext cx="5778500" cy="3683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Build productive capabilities</a:t>
            </a:r>
            <a:endParaRPr lang="en-US" sz="1500" dirty="0"/>
          </a:p>
        </p:txBody>
      </p:sp>
      <p:sp>
        <p:nvSpPr>
          <p:cNvPr id="12" name="Text 10"/>
          <p:cNvSpPr/>
          <p:nvPr/>
        </p:nvSpPr>
        <p:spPr>
          <a:xfrm>
            <a:off x="1320800" y="3378200"/>
            <a:ext cx="5778500" cy="520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Not only visible infrastructure. Ask whether people and firms can use it reliably and learn.</a:t>
            </a:r>
            <a:endParaRPr lang="en-US" sz="1050" dirty="0"/>
          </a:p>
        </p:txBody>
      </p:sp>
      <p:sp>
        <p:nvSpPr>
          <p:cNvPr id="13" name="Text 11"/>
          <p:cNvSpPr/>
          <p:nvPr/>
        </p:nvSpPr>
        <p:spPr>
          <a:xfrm>
            <a:off x="457200" y="3975100"/>
            <a:ext cx="647700" cy="444500"/>
          </a:xfrm>
          <a:prstGeom prst="rect">
            <a:avLst/>
          </a:prstGeom>
          <a:noFill/>
          <a:ln/>
        </p:spPr>
        <p:txBody>
          <a:bodyPr wrap="square" lIns="0" tIns="0" rIns="0" bIns="0" rtlCol="0" anchor="t"/>
          <a:lstStyle/>
          <a:p>
            <a:pPr indent="0" marL="0">
              <a:lnSpc>
                <a:spcPct val="112000"/>
              </a:lnSpc>
              <a:buNone/>
            </a:pPr>
            <a:r>
              <a:rPr lang="en-US" sz="2400" b="1" dirty="0">
                <a:solidFill>
                  <a:srgbClr val="514E48"/>
                </a:solidFill>
                <a:latin typeface="Montserrat" pitchFamily="34" charset="0"/>
                <a:ea typeface="Montserrat" pitchFamily="34" charset="-122"/>
                <a:cs typeface="Montserrat" pitchFamily="34" charset="-120"/>
              </a:rPr>
              <a:t>02</a:t>
            </a:r>
            <a:endParaRPr lang="en-US" sz="2400" dirty="0"/>
          </a:p>
        </p:txBody>
      </p:sp>
      <p:sp>
        <p:nvSpPr>
          <p:cNvPr id="14" name="Text 12"/>
          <p:cNvSpPr/>
          <p:nvPr/>
        </p:nvSpPr>
        <p:spPr>
          <a:xfrm>
            <a:off x="1320800" y="3975100"/>
            <a:ext cx="5778500" cy="3683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Connect the domestic economy</a:t>
            </a:r>
            <a:endParaRPr lang="en-US" sz="1500" dirty="0"/>
          </a:p>
        </p:txBody>
      </p:sp>
      <p:sp>
        <p:nvSpPr>
          <p:cNvPr id="15" name="Text 13"/>
          <p:cNvSpPr/>
          <p:nvPr/>
        </p:nvSpPr>
        <p:spPr>
          <a:xfrm>
            <a:off x="1320800" y="4445000"/>
            <a:ext cx="5778500" cy="520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Link suppliers, workers, skills and markets—not just a port to the world.</a:t>
            </a:r>
            <a:endParaRPr lang="en-US" sz="1050" dirty="0"/>
          </a:p>
        </p:txBody>
      </p:sp>
      <p:sp>
        <p:nvSpPr>
          <p:cNvPr id="16" name="Text 14"/>
          <p:cNvSpPr/>
          <p:nvPr/>
        </p:nvSpPr>
        <p:spPr>
          <a:xfrm>
            <a:off x="457200" y="5041900"/>
            <a:ext cx="647700" cy="444500"/>
          </a:xfrm>
          <a:prstGeom prst="rect">
            <a:avLst/>
          </a:prstGeom>
          <a:noFill/>
          <a:ln/>
        </p:spPr>
        <p:txBody>
          <a:bodyPr wrap="square" lIns="0" tIns="0" rIns="0" bIns="0" rtlCol="0" anchor="t"/>
          <a:lstStyle/>
          <a:p>
            <a:pPr indent="0" marL="0">
              <a:lnSpc>
                <a:spcPct val="112000"/>
              </a:lnSpc>
              <a:buNone/>
            </a:pPr>
            <a:r>
              <a:rPr lang="en-US" sz="2400" b="1" dirty="0">
                <a:solidFill>
                  <a:srgbClr val="514E48"/>
                </a:solidFill>
                <a:latin typeface="Montserrat" pitchFamily="34" charset="0"/>
                <a:ea typeface="Montserrat" pitchFamily="34" charset="-122"/>
                <a:cs typeface="Montserrat" pitchFamily="34" charset="-120"/>
              </a:rPr>
              <a:t>03</a:t>
            </a:r>
            <a:endParaRPr lang="en-US" sz="2400" dirty="0"/>
          </a:p>
        </p:txBody>
      </p:sp>
      <p:sp>
        <p:nvSpPr>
          <p:cNvPr id="17" name="Text 15"/>
          <p:cNvSpPr/>
          <p:nvPr/>
        </p:nvSpPr>
        <p:spPr>
          <a:xfrm>
            <a:off x="1320800" y="5041900"/>
            <a:ext cx="5778500" cy="3683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Combine continuity with correction</a:t>
            </a:r>
            <a:endParaRPr lang="en-US" sz="1500" dirty="0"/>
          </a:p>
        </p:txBody>
      </p:sp>
      <p:sp>
        <p:nvSpPr>
          <p:cNvPr id="18" name="Text 16"/>
          <p:cNvSpPr/>
          <p:nvPr/>
        </p:nvSpPr>
        <p:spPr>
          <a:xfrm>
            <a:off x="1320800" y="5511800"/>
            <a:ext cx="5778500" cy="520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Keep a direction long enough to learn; change policies that protect failure.</a:t>
            </a:r>
            <a:endParaRPr lang="en-US" sz="1050" dirty="0"/>
          </a:p>
        </p:txBody>
      </p:sp>
      <p:sp>
        <p:nvSpPr>
          <p:cNvPr id="19" name="Text 17"/>
          <p:cNvSpPr/>
          <p:nvPr/>
        </p:nvSpPr>
        <p:spPr>
          <a:xfrm>
            <a:off x="457200" y="6108700"/>
            <a:ext cx="647700" cy="444500"/>
          </a:xfrm>
          <a:prstGeom prst="rect">
            <a:avLst/>
          </a:prstGeom>
          <a:noFill/>
          <a:ln/>
        </p:spPr>
        <p:txBody>
          <a:bodyPr wrap="square" lIns="0" tIns="0" rIns="0" bIns="0" rtlCol="0" anchor="t"/>
          <a:lstStyle/>
          <a:p>
            <a:pPr indent="0" marL="0">
              <a:lnSpc>
                <a:spcPct val="112000"/>
              </a:lnSpc>
              <a:buNone/>
            </a:pPr>
            <a:r>
              <a:rPr lang="en-US" sz="2400" b="1" dirty="0">
                <a:solidFill>
                  <a:srgbClr val="514E48"/>
                </a:solidFill>
                <a:latin typeface="Montserrat" pitchFamily="34" charset="0"/>
                <a:ea typeface="Montserrat" pitchFamily="34" charset="-122"/>
                <a:cs typeface="Montserrat" pitchFamily="34" charset="-120"/>
              </a:rPr>
              <a:t>04</a:t>
            </a:r>
            <a:endParaRPr lang="en-US" sz="2400" dirty="0"/>
          </a:p>
        </p:txBody>
      </p:sp>
      <p:sp>
        <p:nvSpPr>
          <p:cNvPr id="20" name="Text 18"/>
          <p:cNvSpPr/>
          <p:nvPr/>
        </p:nvSpPr>
        <p:spPr>
          <a:xfrm>
            <a:off x="1320800" y="6108700"/>
            <a:ext cx="5778500" cy="3683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Support cooperation beyond close ties</a:t>
            </a:r>
            <a:endParaRPr lang="en-US" sz="1500" dirty="0"/>
          </a:p>
        </p:txBody>
      </p:sp>
      <p:sp>
        <p:nvSpPr>
          <p:cNvPr id="21" name="Text 19"/>
          <p:cNvSpPr/>
          <p:nvPr/>
        </p:nvSpPr>
        <p:spPr>
          <a:xfrm>
            <a:off x="1320800" y="6578600"/>
            <a:ext cx="5778500" cy="520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Use institutions and organisations; do not assume national trust scores explain growth.</a:t>
            </a:r>
            <a:endParaRPr lang="en-US" sz="1050" dirty="0"/>
          </a:p>
        </p:txBody>
      </p:sp>
      <p:sp>
        <p:nvSpPr>
          <p:cNvPr id="22" name="Text 20"/>
          <p:cNvSpPr/>
          <p:nvPr/>
        </p:nvSpPr>
        <p:spPr>
          <a:xfrm>
            <a:off x="457200" y="7175500"/>
            <a:ext cx="647700" cy="444500"/>
          </a:xfrm>
          <a:prstGeom prst="rect">
            <a:avLst/>
          </a:prstGeom>
          <a:noFill/>
          <a:ln/>
        </p:spPr>
        <p:txBody>
          <a:bodyPr wrap="square" lIns="0" tIns="0" rIns="0" bIns="0" rtlCol="0" anchor="t"/>
          <a:lstStyle/>
          <a:p>
            <a:pPr indent="0" marL="0">
              <a:lnSpc>
                <a:spcPct val="112000"/>
              </a:lnSpc>
              <a:buNone/>
            </a:pPr>
            <a:r>
              <a:rPr lang="en-US" sz="2400" b="1" dirty="0">
                <a:solidFill>
                  <a:srgbClr val="514E48"/>
                </a:solidFill>
                <a:latin typeface="Montserrat" pitchFamily="34" charset="0"/>
                <a:ea typeface="Montserrat" pitchFamily="34" charset="-122"/>
                <a:cs typeface="Montserrat" pitchFamily="34" charset="-120"/>
              </a:rPr>
              <a:t>05</a:t>
            </a:r>
            <a:endParaRPr lang="en-US" sz="2400" dirty="0"/>
          </a:p>
        </p:txBody>
      </p:sp>
      <p:sp>
        <p:nvSpPr>
          <p:cNvPr id="23" name="Text 21"/>
          <p:cNvSpPr/>
          <p:nvPr/>
        </p:nvSpPr>
        <p:spPr>
          <a:xfrm>
            <a:off x="1320800" y="7175500"/>
            <a:ext cx="5778500" cy="368300"/>
          </a:xfrm>
          <a:prstGeom prst="rect">
            <a:avLst/>
          </a:prstGeom>
          <a:noFill/>
          <a:ln/>
        </p:spPr>
        <p:txBody>
          <a:bodyPr wrap="square" lIns="0" tIns="0" rIns="0" bIns="0" rtlCol="0" anchor="t"/>
          <a:lstStyle/>
          <a:p>
            <a:pPr indent="0" marL="0">
              <a:lnSpc>
                <a:spcPct val="112000"/>
              </a:lnSpc>
              <a:buNone/>
            </a:pPr>
            <a:r>
              <a:rPr lang="en-US" sz="1500" b="1" dirty="0">
                <a:solidFill>
                  <a:srgbClr val="252525"/>
                </a:solidFill>
                <a:latin typeface="Montserrat" pitchFamily="34" charset="0"/>
                <a:ea typeface="Montserrat" pitchFamily="34" charset="-122"/>
                <a:cs typeface="Montserrat" pitchFamily="34" charset="-120"/>
              </a:rPr>
              <a:t>Adapt to the starting conditions</a:t>
            </a:r>
            <a:endParaRPr lang="en-US" sz="1500" dirty="0"/>
          </a:p>
        </p:txBody>
      </p:sp>
      <p:sp>
        <p:nvSpPr>
          <p:cNvPr id="24" name="Text 22"/>
          <p:cNvSpPr/>
          <p:nvPr/>
        </p:nvSpPr>
        <p:spPr>
          <a:xfrm>
            <a:off x="1320800" y="7645400"/>
            <a:ext cx="5778500" cy="5207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Resources, history, scale and international conditions shape what is feasible.</a:t>
            </a:r>
            <a:endParaRPr lang="en-US" sz="1050" dirty="0"/>
          </a:p>
        </p:txBody>
      </p:sp>
      <p:sp>
        <p:nvSpPr>
          <p:cNvPr id="25" name="Text 23"/>
          <p:cNvSpPr/>
          <p:nvPr/>
        </p:nvSpPr>
        <p:spPr>
          <a:xfrm>
            <a:off x="457200" y="8636000"/>
            <a:ext cx="6642100" cy="774700"/>
          </a:xfrm>
          <a:prstGeom prst="rect">
            <a:avLst/>
          </a:prstGeom>
          <a:noFill/>
          <a:ln/>
        </p:spPr>
        <p:txBody>
          <a:bodyPr wrap="square" lIns="0" tIns="0" rIns="0" bIns="0" rtlCol="0" anchor="t"/>
          <a:lstStyle/>
          <a:p>
            <a:pPr indent="0" marL="0">
              <a:lnSpc>
                <a:spcPct val="112000"/>
              </a:lnSpc>
              <a:buNone/>
            </a:pPr>
            <a:r>
              <a:rPr lang="en-US" sz="2100" b="1" dirty="0">
                <a:solidFill>
                  <a:srgbClr val="252525"/>
                </a:solidFill>
                <a:latin typeface="Montserrat" pitchFamily="34" charset="0"/>
                <a:ea typeface="Montserrat" pitchFamily="34" charset="-122"/>
                <a:cs typeface="Montserrat" pitchFamily="34" charset="-120"/>
              </a:rPr>
              <a:t>Transfer mechanisms, not myths.</a:t>
            </a:r>
            <a:endParaRPr lang="en-US" sz="2100" dirty="0"/>
          </a:p>
          <a:p>
            <a:pPr indent="0" marL="0">
              <a:lnSpc>
                <a:spcPct val="112000"/>
              </a:lnSpc>
              <a:buNone/>
            </a:pPr>
            <a:r>
              <a:rPr lang="en-US" sz="2100" b="1" dirty="0">
                <a:solidFill>
                  <a:srgbClr val="252525"/>
                </a:solidFill>
                <a:latin typeface="Montserrat" pitchFamily="34" charset="0"/>
                <a:ea typeface="Montserrat" pitchFamily="34" charset="-122"/>
                <a:cs typeface="Montserrat" pitchFamily="34" charset="-120"/>
              </a:rPr>
              <a:t>Adapt lessons, not entire national models.</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06 / THE OPEN QUESTION</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If culture matters, can culture change?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Culture may shape economic organisation and also change with institutions, opportunities and experience.</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Hofstede (2011, pp. 6–8, 16); Beugelsdijk and Welzel (2018, pp. 1469–1475, Figures 7–9). Essential references continue on p. 28; image credits on p. 30.</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27</a:t>
            </a:r>
            <a:endParaRPr lang="en-US" sz="1100" dirty="0"/>
          </a:p>
        </p:txBody>
      </p:sp>
      <p:sp>
        <p:nvSpPr>
          <p:cNvPr id="10" name="Text 8"/>
          <p:cNvSpPr/>
          <p:nvPr/>
        </p:nvSpPr>
        <p:spPr>
          <a:xfrm>
            <a:off x="457200" y="3035300"/>
            <a:ext cx="6642100" cy="2070100"/>
          </a:xfrm>
          <a:prstGeom prst="rect">
            <a:avLst/>
          </a:prstGeom>
          <a:noFill/>
          <a:ln/>
        </p:spPr>
        <p:txBody>
          <a:bodyPr wrap="square" lIns="0" tIns="0" rIns="0" bIns="0" rtlCol="0" anchor="t"/>
          <a:lstStyle/>
          <a:p>
            <a:pPr indent="0" marL="0">
              <a:lnSpc>
                <a:spcPct val="112000"/>
              </a:lnSpc>
              <a:buNone/>
            </a:pPr>
            <a:r>
              <a:rPr lang="en-US" sz="3100" b="1" dirty="0">
                <a:solidFill>
                  <a:srgbClr val="252525"/>
                </a:solidFill>
                <a:latin typeface="Montserrat" pitchFamily="34" charset="0"/>
                <a:ea typeface="Montserrat" pitchFamily="34" charset="-122"/>
                <a:cs typeface="Montserrat" pitchFamily="34" charset="-120"/>
              </a:rPr>
              <a:t>Do not confuse a</a:t>
            </a:r>
            <a:endParaRPr lang="en-US" sz="3100" dirty="0"/>
          </a:p>
          <a:p>
            <a:pPr indent="0" marL="0">
              <a:lnSpc>
                <a:spcPct val="112000"/>
              </a:lnSpc>
              <a:buNone/>
            </a:pPr>
            <a:r>
              <a:rPr lang="en-US" sz="3100" b="1" dirty="0">
                <a:solidFill>
                  <a:srgbClr val="252525"/>
                </a:solidFill>
                <a:latin typeface="Montserrat" pitchFamily="34" charset="0"/>
                <a:ea typeface="Montserrat" pitchFamily="34" charset="-122"/>
                <a:cs typeface="Montserrat" pitchFamily="34" charset="-120"/>
              </a:rPr>
              <a:t>historical pattern</a:t>
            </a:r>
            <a:endParaRPr lang="en-US" sz="3100" dirty="0"/>
          </a:p>
          <a:p>
            <a:pPr indent="0" marL="0">
              <a:lnSpc>
                <a:spcPct val="112000"/>
              </a:lnSpc>
              <a:buNone/>
            </a:pPr>
            <a:r>
              <a:rPr lang="en-US" sz="3100" b="1" dirty="0">
                <a:solidFill>
                  <a:srgbClr val="252525"/>
                </a:solidFill>
                <a:latin typeface="Montserrat" pitchFamily="34" charset="0"/>
                <a:ea typeface="Montserrat" pitchFamily="34" charset="-122"/>
                <a:cs typeface="Montserrat" pitchFamily="34" charset="-120"/>
              </a:rPr>
              <a:t>with a permanent</a:t>
            </a:r>
            <a:endParaRPr lang="en-US" sz="3100" dirty="0"/>
          </a:p>
          <a:p>
            <a:pPr indent="0" marL="0">
              <a:lnSpc>
                <a:spcPct val="112000"/>
              </a:lnSpc>
              <a:buNone/>
            </a:pPr>
            <a:r>
              <a:rPr lang="en-US" sz="3100" b="1" dirty="0">
                <a:solidFill>
                  <a:srgbClr val="252525"/>
                </a:solidFill>
                <a:latin typeface="Montserrat" pitchFamily="34" charset="0"/>
                <a:ea typeface="Montserrat" pitchFamily="34" charset="-122"/>
                <a:cs typeface="Montserrat" pitchFamily="34" charset="-120"/>
              </a:rPr>
              <a:t>national personality.</a:t>
            </a:r>
            <a:endParaRPr lang="en-US" sz="3100" dirty="0"/>
          </a:p>
        </p:txBody>
      </p:sp>
      <p:sp>
        <p:nvSpPr>
          <p:cNvPr id="11" name="Text 9"/>
          <p:cNvSpPr/>
          <p:nvPr/>
        </p:nvSpPr>
        <p:spPr>
          <a:xfrm>
            <a:off x="457200" y="5499100"/>
            <a:ext cx="6642100" cy="11303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Culture is neither irrelevant nor sufficient. Cohort and historical change challenge a timeless reading of national averages (Beugelsdijk &amp; Welzel, 2018). Our next question should name a mechanism, a context and evidence that could change our minds.</a:t>
            </a:r>
            <a:endParaRPr lang="en-US" sz="1200" dirty="0"/>
          </a:p>
        </p:txBody>
      </p:sp>
      <p:sp>
        <p:nvSpPr>
          <p:cNvPr id="12" name="Shape 10"/>
          <p:cNvSpPr/>
          <p:nvPr/>
        </p:nvSpPr>
        <p:spPr>
          <a:xfrm>
            <a:off x="457200" y="7035800"/>
            <a:ext cx="6642100" cy="0"/>
          </a:xfrm>
          <a:prstGeom prst="line">
            <a:avLst/>
          </a:prstGeom>
          <a:noFill/>
          <a:ln w="10160">
            <a:solidFill>
              <a:srgbClr val="252525"/>
            </a:solidFill>
            <a:prstDash val="solid"/>
          </a:ln>
        </p:spPr>
      </p:sp>
      <p:sp>
        <p:nvSpPr>
          <p:cNvPr id="13" name="Text 11"/>
          <p:cNvSpPr/>
          <p:nvPr/>
        </p:nvSpPr>
        <p:spPr>
          <a:xfrm>
            <a:off x="457200" y="7188200"/>
            <a:ext cx="1778000" cy="7239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Draft status</a:t>
            </a:r>
            <a:endParaRPr lang="en-US" sz="1100" dirty="0"/>
          </a:p>
        </p:txBody>
      </p:sp>
      <p:sp>
        <p:nvSpPr>
          <p:cNvPr id="14" name="Text 12"/>
          <p:cNvSpPr/>
          <p:nvPr/>
        </p:nvSpPr>
        <p:spPr>
          <a:xfrm>
            <a:off x="2425700" y="7175500"/>
            <a:ext cx="4673600" cy="736600"/>
          </a:xfrm>
          <a:prstGeom prst="rect">
            <a:avLst/>
          </a:prstGeom>
          <a:noFill/>
          <a:ln/>
        </p:spPr>
        <p:txBody>
          <a:bodyPr wrap="square" lIns="0" tIns="0" rIns="0" bIns="0" rtlCol="0" anchor="t"/>
          <a:lstStyle/>
          <a:p>
            <a:pPr indent="0" marL="0">
              <a:lnSpc>
                <a:spcPct val="112000"/>
              </a:lnSpc>
              <a:buNone/>
            </a:pPr>
            <a:r>
              <a:rPr lang="en-US" sz="1050" dirty="0">
                <a:solidFill>
                  <a:srgbClr val="252525"/>
                </a:solidFill>
                <a:latin typeface="Montserrat" pitchFamily="34" charset="0"/>
                <a:ea typeface="Montserrat" pitchFamily="34" charset="-122"/>
                <a:cs typeface="Montserrat" pitchFamily="34" charset="-120"/>
              </a:rPr>
              <a:t>Complete editorial draft — final evidence, rights and physical-print checks pending.</a:t>
            </a:r>
            <a:endParaRPr lang="en-US" sz="1050" dirty="0"/>
          </a:p>
        </p:txBody>
      </p:sp>
      <p:sp>
        <p:nvSpPr>
          <p:cNvPr id="15" name="Text 13"/>
          <p:cNvSpPr/>
          <p:nvPr/>
        </p:nvSpPr>
        <p:spPr>
          <a:xfrm>
            <a:off x="457200" y="8267700"/>
            <a:ext cx="6642100" cy="279400"/>
          </a:xfrm>
          <a:prstGeom prst="rect">
            <a:avLst/>
          </a:prstGeom>
          <a:noFill/>
          <a:ln/>
        </p:spPr>
        <p:txBody>
          <a:bodyPr wrap="square" lIns="0" tIns="0" rIns="0" bIns="0" rtlCol="0" anchor="t"/>
          <a:lstStyle/>
          <a:p>
            <a:pP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TEAM NAME: [TO BE CONFIRMED]</a:t>
            </a:r>
            <a:endParaRPr lang="en-US" sz="1100" dirty="0"/>
          </a:p>
        </p:txBody>
      </p:sp>
      <p:sp>
        <p:nvSpPr>
          <p:cNvPr id="16" name="Text 14"/>
          <p:cNvSpPr/>
          <p:nvPr/>
        </p:nvSpPr>
        <p:spPr>
          <a:xfrm>
            <a:off x="457200" y="8763000"/>
            <a:ext cx="6642100" cy="6985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Complete source appendix: [LINK / QR PLACEHOLDER]</a:t>
            </a:r>
            <a:endParaRPr lang="en-US" sz="900" dirty="0"/>
          </a:p>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No live appendix address is approved. The local source registry, claim registry and chart CSVs remain the traceable master records.</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SOURCE APPENDIX</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Essential references</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APA references for the evidence spine. Exact locators are in page source bands and the approved source registry.</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Reference text is copied from research/source_registry.csv, not generated by Canva. Additional supporting sources and verification status remain in the complete local registry.</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28</a:t>
            </a:r>
            <a:endParaRPr lang="en-US" sz="1100" dirty="0"/>
          </a:p>
        </p:txBody>
      </p:sp>
      <p:sp>
        <p:nvSpPr>
          <p:cNvPr id="10" name="Text 8"/>
          <p:cNvSpPr/>
          <p:nvPr/>
        </p:nvSpPr>
        <p:spPr>
          <a:xfrm>
            <a:off x="457200" y="2959100"/>
            <a:ext cx="6642100" cy="3429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World Bank. (2026). World Development Indicators [Data set]. Retrieved October 6, 2026, from</a:t>
            </a:r>
            <a:endParaRPr lang="en-US" sz="900" dirty="0"/>
          </a:p>
        </p:txBody>
      </p:sp>
      <p:sp>
        <p:nvSpPr>
          <p:cNvPr id="11" name="Text 9">
            <a:hlinkClick r:id="rId1" tooltip=""/>
          </p:cNvPr>
          <p:cNvSpPr/>
          <p:nvPr/>
        </p:nvSpPr>
        <p:spPr>
          <a:xfrm>
            <a:off x="457200" y="31496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12" name="Text 10"/>
          <p:cNvSpPr/>
          <p:nvPr/>
        </p:nvSpPr>
        <p:spPr>
          <a:xfrm>
            <a:off x="457200" y="3340100"/>
            <a:ext cx="6642100" cy="3429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World Bank. (1993). The East Asian miracle: Economic growth and public policy. Oxford University Press.</a:t>
            </a:r>
            <a:endParaRPr lang="en-US" sz="900" dirty="0"/>
          </a:p>
        </p:txBody>
      </p:sp>
      <p:sp>
        <p:nvSpPr>
          <p:cNvPr id="13" name="Text 11">
            <a:hlinkClick r:id="rId2" tooltip=""/>
          </p:cNvPr>
          <p:cNvSpPr/>
          <p:nvPr/>
        </p:nvSpPr>
        <p:spPr>
          <a:xfrm>
            <a:off x="457200" y="35306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2"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14" name="Text 12"/>
          <p:cNvSpPr/>
          <p:nvPr/>
        </p:nvSpPr>
        <p:spPr>
          <a:xfrm>
            <a:off x="457200" y="3721100"/>
            <a:ext cx="6642100" cy="3429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World Bank. (2020). Structural transformation and labor market performance in Ghana.</a:t>
            </a:r>
            <a:endParaRPr lang="en-US" sz="900" dirty="0"/>
          </a:p>
        </p:txBody>
      </p:sp>
      <p:sp>
        <p:nvSpPr>
          <p:cNvPr id="15" name="Text 13">
            <a:hlinkClick r:id="rId3" tooltip=""/>
          </p:cNvPr>
          <p:cNvSpPr/>
          <p:nvPr/>
        </p:nvSpPr>
        <p:spPr>
          <a:xfrm>
            <a:off x="457200" y="39116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3"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16" name="Text 14"/>
          <p:cNvSpPr/>
          <p:nvPr/>
        </p:nvSpPr>
        <p:spPr>
          <a:xfrm>
            <a:off x="457200" y="4102100"/>
            <a:ext cx="6642100" cy="3429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World Bank. (1985). Ghana: Industrial policy, performance and recovery (Report No. 5716-GH).</a:t>
            </a:r>
            <a:endParaRPr lang="en-US" sz="900" dirty="0"/>
          </a:p>
        </p:txBody>
      </p:sp>
      <p:sp>
        <p:nvSpPr>
          <p:cNvPr id="17" name="Text 15">
            <a:hlinkClick r:id="rId4" tooltip=""/>
          </p:cNvPr>
          <p:cNvSpPr/>
          <p:nvPr/>
        </p:nvSpPr>
        <p:spPr>
          <a:xfrm>
            <a:off x="457200" y="42926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4"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18" name="Text 16"/>
          <p:cNvSpPr/>
          <p:nvPr/>
        </p:nvSpPr>
        <p:spPr>
          <a:xfrm>
            <a:off x="457200" y="4483100"/>
            <a:ext cx="6642100" cy="4826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Maipose, G. S. (2008). Policy and institutional dynamics of sustained development in Botswana (Commission on Growth and Development Working Paper No. 35). World Bank.</a:t>
            </a:r>
            <a:endParaRPr lang="en-US" sz="900" dirty="0"/>
          </a:p>
        </p:txBody>
      </p:sp>
      <p:sp>
        <p:nvSpPr>
          <p:cNvPr id="19" name="Text 17">
            <a:hlinkClick r:id="rId5" tooltip=""/>
          </p:cNvPr>
          <p:cNvSpPr/>
          <p:nvPr/>
        </p:nvSpPr>
        <p:spPr>
          <a:xfrm>
            <a:off x="457200" y="48133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5"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20" name="Text 18"/>
          <p:cNvSpPr/>
          <p:nvPr/>
        </p:nvSpPr>
        <p:spPr>
          <a:xfrm>
            <a:off x="457200" y="5003800"/>
            <a:ext cx="6642100" cy="4826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Svirydzenka, K., &amp; Petri, M. (2014). Mauritius: The drivers of growth-Can the past be extended? (IMF Working Paper No. 14/134). International Monetary Fund.</a:t>
            </a:r>
            <a:endParaRPr lang="en-US" sz="900" dirty="0"/>
          </a:p>
        </p:txBody>
      </p:sp>
      <p:sp>
        <p:nvSpPr>
          <p:cNvPr id="21" name="Text 19">
            <a:hlinkClick r:id="rId6" tooltip=""/>
          </p:cNvPr>
          <p:cNvSpPr/>
          <p:nvPr/>
        </p:nvSpPr>
        <p:spPr>
          <a:xfrm>
            <a:off x="457200" y="53340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6"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22" name="Text 20"/>
          <p:cNvSpPr/>
          <p:nvPr/>
        </p:nvSpPr>
        <p:spPr>
          <a:xfrm>
            <a:off x="457200" y="5524500"/>
            <a:ext cx="6642100" cy="4826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Jedwab, R., &amp; Moradi, A. (2012). Colonial investments and long-term development in Africa: Evidence from Ghanaian railways [Working paper]. Northeast Universities Development Consortium.</a:t>
            </a:r>
            <a:endParaRPr lang="en-US" sz="900" dirty="0"/>
          </a:p>
        </p:txBody>
      </p:sp>
      <p:sp>
        <p:nvSpPr>
          <p:cNvPr id="23" name="Text 21">
            <a:hlinkClick r:id="rId7" tooltip=""/>
          </p:cNvPr>
          <p:cNvSpPr/>
          <p:nvPr/>
        </p:nvSpPr>
        <p:spPr>
          <a:xfrm>
            <a:off x="457200" y="58547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7"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24" name="Text 22"/>
          <p:cNvSpPr/>
          <p:nvPr/>
        </p:nvSpPr>
        <p:spPr>
          <a:xfrm>
            <a:off x="457200" y="6045200"/>
            <a:ext cx="6642100" cy="4826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Hofstede, G. (2011). Dimensionalizing cultures: The Hofstede model in context. Online Readings in Psychology and Culture, 2(1), Article 8.</a:t>
            </a:r>
            <a:endParaRPr lang="en-US" sz="900" dirty="0"/>
          </a:p>
        </p:txBody>
      </p:sp>
      <p:sp>
        <p:nvSpPr>
          <p:cNvPr id="25" name="Text 23">
            <a:hlinkClick r:id="rId8" tooltip=""/>
          </p:cNvPr>
          <p:cNvSpPr/>
          <p:nvPr/>
        </p:nvSpPr>
        <p:spPr>
          <a:xfrm>
            <a:off x="457200" y="63754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8"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26" name="Text 24"/>
          <p:cNvSpPr/>
          <p:nvPr/>
        </p:nvSpPr>
        <p:spPr>
          <a:xfrm>
            <a:off x="457200" y="6565900"/>
            <a:ext cx="6642100" cy="4826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McSweeney, B. (2002). Hofstede's model of national cultural differences and their consequences: A triumph of faith—a failure of analysis. Human Relations, 55(1), 89–118.</a:t>
            </a:r>
            <a:endParaRPr lang="en-US" sz="900" dirty="0"/>
          </a:p>
        </p:txBody>
      </p:sp>
      <p:sp>
        <p:nvSpPr>
          <p:cNvPr id="27" name="Text 25">
            <a:hlinkClick r:id="rId9" tooltip=""/>
          </p:cNvPr>
          <p:cNvSpPr/>
          <p:nvPr/>
        </p:nvSpPr>
        <p:spPr>
          <a:xfrm>
            <a:off x="457200" y="68961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9"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28" name="Text 26"/>
          <p:cNvSpPr/>
          <p:nvPr/>
        </p:nvSpPr>
        <p:spPr>
          <a:xfrm>
            <a:off x="457200" y="7086600"/>
            <a:ext cx="6642100" cy="482600"/>
          </a:xfrm>
          <a:prstGeom prst="rect">
            <a:avLst/>
          </a:prstGeom>
          <a:noFill/>
          <a:ln/>
        </p:spPr>
        <p:txBody>
          <a:bodyPr wrap="square" lIns="0" tIns="0" rIns="0" bIns="0" rtlCol="0" anchor="t"/>
          <a:lstStyle/>
          <a:p>
            <a:pPr indent="0" marL="0">
              <a:lnSpc>
                <a:spcPct val="112000"/>
              </a:lnSpc>
              <a:buNone/>
            </a:pPr>
            <a:r>
              <a:rPr lang="en-US" sz="900" dirty="0">
                <a:solidFill>
                  <a:srgbClr val="252525"/>
                </a:solidFill>
                <a:latin typeface="Montserrat" pitchFamily="34" charset="0"/>
                <a:ea typeface="Montserrat" pitchFamily="34" charset="-122"/>
                <a:cs typeface="Montserrat" pitchFamily="34" charset="-120"/>
              </a:rPr>
              <a:t>Organisation for Economic Co-operation and Development. (2017). OECD guidelines on measuring trust. OECD Publishing.</a:t>
            </a:r>
            <a:endParaRPr lang="en-US" sz="900" dirty="0"/>
          </a:p>
        </p:txBody>
      </p:sp>
      <p:sp>
        <p:nvSpPr>
          <p:cNvPr id="29" name="Text 27">
            <a:hlinkClick r:id="rId10" tooltip=""/>
          </p:cNvPr>
          <p:cNvSpPr/>
          <p:nvPr/>
        </p:nvSpPr>
        <p:spPr>
          <a:xfrm>
            <a:off x="457200" y="7416800"/>
            <a:ext cx="1079500" cy="1524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0" invalidUrl="" action="" tgtFrame="" tooltip="" history="1" highlightClick="0" endSnd="0">
                  <a:extLst>
                    <a:ext uri="{A12FA001-AC4F-418D-AE19-62706E023703}">
                      <ahyp:hlinkClr xmlns:ahyp="http://schemas.microsoft.com/office/drawing/2018/hyperlinkcolor" val="tx"/>
                    </a:ext>
                  </a:extLst>
                </a:hlinkClick>
              </a:rPr>
              <a:t>SOURCE ↗</a:t>
            </a:r>
            <a:endParaRPr lang="en-US" sz="800" dirty="0"/>
          </a:p>
        </p:txBody>
      </p:sp>
      <p:sp>
        <p:nvSpPr>
          <p:cNvPr id="30" name="Text 28"/>
          <p:cNvSpPr/>
          <p:nvPr/>
        </p:nvSpPr>
        <p:spPr>
          <a:xfrm>
            <a:off x="457200" y="8445500"/>
            <a:ext cx="6642100" cy="1003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Further cited works: Bolt et al. (2025); Cogneau et al. (2018); Huillery (2009); Kohli (1994); Haggard et al. (1997); Dolan (1993); Asadullah et al. (2024); Xenos (1970); Nasution (2000); McMillan et al. (2014); Beugelsdijk and Welzel (2018); National Archives Department (n.d.). Full registered APA entries accompany the production master; appendix placeholder p. 27.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CREDITS / COLOPHON</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Data, method and open gates</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The figures use the registered World Bank and ILO series; the locator map is contextual, not a development score.</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Data and figure credits: World Bank WDI / ILO modelled employment. Editable charts recreate approved frozen CSV values; no annual interpolation or composite trust score. Map geometry is Natural Earth 1:110m, Admin 0, v5.1.1. Photographic attributions continue on p. 30.</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29</a:t>
            </a:r>
            <a:endParaRPr lang="en-US" sz="1100" dirty="0"/>
          </a:p>
        </p:txBody>
      </p:sp>
      <p:sp>
        <p:nvSpPr>
          <p:cNvPr id="10" name="Text 8"/>
          <p:cNvSpPr/>
          <p:nvPr/>
        </p:nvSpPr>
        <p:spPr>
          <a:xfrm>
            <a:off x="457200" y="3022600"/>
            <a:ext cx="6642100" cy="736600"/>
          </a:xfrm>
          <a:prstGeom prst="rect">
            <a:avLst/>
          </a:prstGeom>
          <a:noFill/>
          <a:ln/>
        </p:spPr>
        <p:txBody>
          <a:bodyPr wrap="square" lIns="0" tIns="0" rIns="0" bIns="0" rtlCol="0" anchor="t"/>
          <a:lstStyle/>
          <a:p>
            <a:pPr indent="0" marL="0">
              <a:lnSpc>
                <a:spcPct val="112000"/>
              </a:lnSpc>
              <a:buNone/>
            </a:pPr>
            <a:r>
              <a:rPr lang="en-US" sz="2400" b="1" dirty="0">
                <a:solidFill>
                  <a:srgbClr val="252525"/>
                </a:solidFill>
                <a:latin typeface="Alegreya" pitchFamily="34" charset="0"/>
                <a:ea typeface="Alegreya" pitchFamily="34" charset="-122"/>
                <a:cs typeface="Alegreya" pitchFamily="34" charset="-120"/>
              </a:rPr>
              <a:t>Complete editorial draft — final evidence, rights and physical-print checks pending.</a:t>
            </a:r>
            <a:endParaRPr lang="en-US" sz="2400" dirty="0"/>
          </a:p>
        </p:txBody>
      </p:sp>
      <p:sp>
        <p:nvSpPr>
          <p:cNvPr id="11" name="Shape 9"/>
          <p:cNvSpPr/>
          <p:nvPr/>
        </p:nvSpPr>
        <p:spPr>
          <a:xfrm>
            <a:off x="457200" y="4470400"/>
            <a:ext cx="6642100" cy="0"/>
          </a:xfrm>
          <a:prstGeom prst="line">
            <a:avLst/>
          </a:prstGeom>
          <a:noFill/>
          <a:ln w="12700">
            <a:solidFill>
              <a:srgbClr val="252525"/>
            </a:solidFill>
            <a:prstDash val="solid"/>
          </a:ln>
        </p:spPr>
      </p:sp>
      <p:sp>
        <p:nvSpPr>
          <p:cNvPr id="12" name="Text 10"/>
          <p:cNvSpPr/>
          <p:nvPr/>
        </p:nvSpPr>
        <p:spPr>
          <a:xfrm>
            <a:off x="457200" y="4762500"/>
            <a:ext cx="1968500" cy="304800"/>
          </a:xfrm>
          <a:prstGeom prst="rect">
            <a:avLst/>
          </a:prstGeom>
          <a:noFill/>
          <a:ln/>
        </p:spPr>
        <p:txBody>
          <a:bodyPr wrap="square" lIns="0" tIns="0" rIns="0" bIns="0" rtlCol="0" anchor="t"/>
          <a:lstStyle/>
          <a:p>
            <a:pPr indent="0" marL="0">
              <a:lnSpc>
                <a:spcPct val="112000"/>
              </a:lnSpc>
              <a:buNone/>
            </a:pPr>
            <a:r>
              <a:rPr lang="en-US" sz="1000" b="1" dirty="0">
                <a:solidFill>
                  <a:srgbClr val="514E48"/>
                </a:solidFill>
                <a:latin typeface="Montserrat" pitchFamily="34" charset="0"/>
                <a:ea typeface="Montserrat" pitchFamily="34" charset="-122"/>
                <a:cs typeface="Montserrat" pitchFamily="34" charset="-120"/>
              </a:rPr>
              <a:t>OPEN GATES</a:t>
            </a:r>
            <a:endParaRPr lang="en-US" sz="1000" dirty="0"/>
          </a:p>
        </p:txBody>
      </p:sp>
      <p:sp>
        <p:nvSpPr>
          <p:cNvPr id="13" name="Text 11"/>
          <p:cNvSpPr/>
          <p:nvPr/>
        </p:nvSpPr>
        <p:spPr>
          <a:xfrm>
            <a:off x="2489200" y="4762500"/>
            <a:ext cx="4610100" cy="1219200"/>
          </a:xfrm>
          <a:prstGeom prst="rect">
            <a:avLst/>
          </a:prstGeom>
          <a:noFill/>
          <a:ln/>
        </p:spPr>
        <p:txBody>
          <a:bodyPr wrap="square" lIns="0" tIns="0" rIns="0" bIns="0" rtlCol="0" anchor="t"/>
          <a:lstStyle/>
          <a:p>
            <a:pPr indent="0" marL="0">
              <a:lnSpc>
                <a:spcPct val="112000"/>
              </a:lnSpc>
              <a:buNone/>
            </a:pPr>
            <a:r>
              <a:rPr lang="en-US" sz="1200" dirty="0">
                <a:solidFill>
                  <a:srgbClr val="252525"/>
                </a:solidFill>
                <a:latin typeface="Montserrat" pitchFamily="34" charset="0"/>
                <a:ea typeface="Montserrat" pitchFamily="34" charset="-122"/>
                <a:cs typeface="Montserrat" pitchFamily="34" charset="-120"/>
              </a:rPr>
              <a:t>1914 historical map raster and original legend; final source and rights review; physical A4 print, colour and classroom-screen checks. Team name and complete source-appendix link remain placeholders.</a:t>
            </a:r>
            <a:endParaRPr lang="en-US" sz="1200" dirty="0"/>
          </a:p>
        </p:txBody>
      </p:sp>
      <p:sp>
        <p:nvSpPr>
          <p:cNvPr id="14" name="Text 12"/>
          <p:cNvSpPr/>
          <p:nvPr/>
        </p:nvSpPr>
        <p:spPr>
          <a:xfrm>
            <a:off x="457200" y="6565900"/>
            <a:ext cx="6642100" cy="711200"/>
          </a:xfrm>
          <a:prstGeom prst="rect">
            <a:avLst/>
          </a:prstGeom>
          <a:noFill/>
          <a:ln/>
        </p:spPr>
        <p:txBody>
          <a:bodyPr wrap="square" lIns="0" tIns="0" rIns="0" bIns="0" rtlCol="0" anchor="t"/>
          <a:lstStyle/>
          <a:p>
            <a:pPr indent="0" marL="0">
              <a:lnSpc>
                <a:spcPct val="112000"/>
              </a:lnSpc>
              <a:buNone/>
            </a:pPr>
            <a:r>
              <a:rPr lang="en-US" sz="1100" dirty="0">
                <a:solidFill>
                  <a:srgbClr val="252525"/>
                </a:solidFill>
                <a:latin typeface="Montserrat" pitchFamily="34" charset="0"/>
                <a:ea typeface="Montserrat" pitchFamily="34" charset="-122"/>
                <a:cs typeface="Montserrat" pitchFamily="34" charset="-120"/>
              </a:rPr>
              <a:t>Photographs are credited separately on p. 30. They add place and human scale; they cannot prove culture, trust, productivity or causality.</a:t>
            </a:r>
            <a:endParaRPr lang="en-US" sz="1100" dirty="0"/>
          </a:p>
        </p:txBody>
      </p:sp>
      <p:sp>
        <p:nvSpPr>
          <p:cNvPr id="15" name="Text 13"/>
          <p:cNvSpPr/>
          <p:nvPr/>
        </p:nvSpPr>
        <p:spPr>
          <a:xfrm>
            <a:off x="457200" y="7747000"/>
            <a:ext cx="1143000" cy="254000"/>
          </a:xfrm>
          <a:prstGeom prst="rect">
            <a:avLst/>
          </a:prstGeom>
          <a:noFill/>
          <a:ln/>
        </p:spPr>
        <p:txBody>
          <a:bodyPr wrap="square" lIns="0" tIns="0" rIns="0" bIns="0" rtlCol="0" anchor="t"/>
          <a:lstStyle/>
          <a:p>
            <a:pPr indent="0" marL="0">
              <a:lnSpc>
                <a:spcPct val="112000"/>
              </a:lnSpc>
              <a:buNone/>
            </a:pPr>
            <a:r>
              <a:rPr lang="en-US" sz="900" b="1" dirty="0">
                <a:solidFill>
                  <a:srgbClr val="514E48"/>
                </a:solidFill>
                <a:latin typeface="Montserrat" pitchFamily="34" charset="0"/>
                <a:ea typeface="Montserrat" pitchFamily="34" charset="-122"/>
                <a:cs typeface="Montserrat" pitchFamily="34" charset="-120"/>
              </a:rPr>
              <a:t>MAP NOTE</a:t>
            </a:r>
            <a:endParaRPr lang="en-US" sz="900" dirty="0"/>
          </a:p>
        </p:txBody>
      </p:sp>
      <p:sp>
        <p:nvSpPr>
          <p:cNvPr id="16" name="Text 14"/>
          <p:cNvSpPr/>
          <p:nvPr/>
        </p:nvSpPr>
        <p:spPr>
          <a:xfrm>
            <a:off x="1714500" y="7747000"/>
            <a:ext cx="5384800" cy="685800"/>
          </a:xfrm>
          <a:prstGeom prst="rect">
            <a:avLst/>
          </a:prstGeom>
          <a:noFill/>
          <a:ln/>
        </p:spPr>
        <p:txBody>
          <a:bodyPr wrap="square" lIns="0" tIns="0" rIns="0" bIns="0" rtlCol="0" anchor="t"/>
          <a:lstStyle/>
          <a:p>
            <a:pPr indent="0" marL="0">
              <a:lnSpc>
                <a:spcPct val="112000"/>
              </a:lnSpc>
              <a:buNone/>
            </a:pPr>
            <a:r>
              <a:rPr lang="en-US" sz="950" dirty="0">
                <a:solidFill>
                  <a:srgbClr val="252525"/>
                </a:solidFill>
                <a:latin typeface="Montserrat" pitchFamily="34" charset="0"/>
                <a:ea typeface="Montserrat" pitchFamily="34" charset="-122"/>
                <a:cs typeface="Montserrat" pitchFamily="34" charset="-120"/>
              </a:rPr>
              <a:t>Natural Earth boundaries are generalized and present-day; they are not historical borders. At this scale Mauritius is represented by a location marker, not a visible island outline.</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0E7"/>
        </a:solidFill>
      </p:bgPr>
    </p:bg>
    <p:spTree>
      <p:nvGrpSpPr>
        <p:cNvPr id="1" name=""/>
        <p:cNvGrpSpPr/>
        <p:nvPr/>
      </p:nvGrpSpPr>
      <p:grpSpPr>
        <a:xfrm>
          <a:off x="0" y="0"/>
          <a:ext cx="0" cy="0"/>
          <a:chOff x="0" y="0"/>
          <a:chExt cx="0" cy="0"/>
        </a:xfrm>
      </p:grpSpPr>
      <p:sp>
        <p:nvSpPr>
          <p:cNvPr id="2" name="Text 0"/>
          <p:cNvSpPr/>
          <p:nvPr/>
        </p:nvSpPr>
        <p:spPr>
          <a:xfrm>
            <a:off x="457200" y="292100"/>
            <a:ext cx="6223000" cy="1778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AFRICA &amp; ASIA  /  CREDITS / COLOPHON</a:t>
            </a:r>
            <a:endParaRPr lang="en-US" sz="800" dirty="0"/>
          </a:p>
        </p:txBody>
      </p:sp>
      <p:sp>
        <p:nvSpPr>
          <p:cNvPr id="3" name="Shape 1"/>
          <p:cNvSpPr/>
          <p:nvPr/>
        </p:nvSpPr>
        <p:spPr>
          <a:xfrm>
            <a:off x="457200" y="571500"/>
            <a:ext cx="6642100" cy="0"/>
          </a:xfrm>
          <a:prstGeom prst="line">
            <a:avLst/>
          </a:prstGeom>
          <a:noFill/>
          <a:ln w="12700">
            <a:solidFill>
              <a:srgbClr val="252525"/>
            </a:solidFill>
            <a:prstDash val="solid"/>
          </a:ln>
        </p:spPr>
      </p:sp>
      <p:sp>
        <p:nvSpPr>
          <p:cNvPr id="4" name="Text 2"/>
          <p:cNvSpPr/>
          <p:nvPr/>
        </p:nvSpPr>
        <p:spPr>
          <a:xfrm>
            <a:off x="457200" y="812800"/>
            <a:ext cx="6642100" cy="1270000"/>
          </a:xfrm>
          <a:prstGeom prst="rect">
            <a:avLst/>
          </a:prstGeom>
          <a:noFill/>
          <a:ln/>
        </p:spPr>
        <p:txBody>
          <a:bodyPr wrap="square" lIns="0" tIns="0" rIns="0" bIns="0" rtlCol="0" anchor="t"/>
          <a:lstStyle/>
          <a:p>
            <a:pPr indent="0" marL="0">
              <a:lnSpc>
                <a:spcPct val="112000"/>
              </a:lnSpc>
              <a:buNone/>
            </a:pPr>
            <a:r>
              <a:rPr lang="en-US" sz="3600" b="1" dirty="0">
                <a:solidFill>
                  <a:srgbClr val="252525"/>
                </a:solidFill>
                <a:latin typeface="Alegreya" pitchFamily="34" charset="0"/>
                <a:ea typeface="Alegreya" pitchFamily="34" charset="-122"/>
                <a:cs typeface="Alegreya" pitchFamily="34" charset="-120"/>
              </a:rPr>
              <a:t>Photographs and map source</a:t>
            </a:r>
            <a:endParaRPr lang="en-US" sz="3600" dirty="0"/>
          </a:p>
        </p:txBody>
      </p:sp>
      <p:sp>
        <p:nvSpPr>
          <p:cNvPr id="5" name="Text 3"/>
          <p:cNvSpPr/>
          <p:nvPr/>
        </p:nvSpPr>
        <p:spPr>
          <a:xfrm>
            <a:off x="457200" y="2133600"/>
            <a:ext cx="6413500" cy="698500"/>
          </a:xfrm>
          <a:prstGeom prst="rect">
            <a:avLst/>
          </a:prstGeom>
          <a:noFill/>
          <a:ln/>
        </p:spPr>
        <p:txBody>
          <a:bodyPr wrap="square" lIns="0" tIns="0" rIns="0" bIns="0" rtlCol="0" anchor="t"/>
          <a:lstStyle/>
          <a:p>
            <a:pPr indent="0" marL="0">
              <a:lnSpc>
                <a:spcPct val="112000"/>
              </a:lnSpc>
              <a:buNone/>
            </a:pPr>
            <a:r>
              <a:rPr lang="en-US" sz="1100" dirty="0">
                <a:solidFill>
                  <a:srgbClr val="514E48"/>
                </a:solidFill>
                <a:latin typeface="Montserrat" pitchFamily="34" charset="0"/>
                <a:ea typeface="Montserrat" pitchFamily="34" charset="-122"/>
                <a:cs typeface="Montserrat" pitchFamily="34" charset="-120"/>
              </a:rPr>
              <a:t>Two country-specific photographs for each case. Each image remains contextual, not evidence of a national characteristic.</a:t>
            </a:r>
            <a:endParaRPr lang="en-US" sz="1100" dirty="0"/>
          </a:p>
        </p:txBody>
      </p:sp>
      <p:sp>
        <p:nvSpPr>
          <p:cNvPr id="6" name="Shape 4"/>
          <p:cNvSpPr/>
          <p:nvPr/>
        </p:nvSpPr>
        <p:spPr>
          <a:xfrm>
            <a:off x="457200" y="9575800"/>
            <a:ext cx="6642100" cy="0"/>
          </a:xfrm>
          <a:prstGeom prst="line">
            <a:avLst/>
          </a:prstGeom>
          <a:noFill/>
          <a:ln w="7620">
            <a:solidFill>
              <a:srgbClr val="B7B0A4"/>
            </a:solidFill>
            <a:prstDash val="solid"/>
          </a:ln>
        </p:spPr>
      </p:sp>
      <p:sp>
        <p:nvSpPr>
          <p:cNvPr id="7" name="Text 5"/>
          <p:cNvSpPr/>
          <p:nvPr/>
        </p:nvSpPr>
        <p:spPr>
          <a:xfrm>
            <a:off x="457200" y="9690100"/>
            <a:ext cx="6642100" cy="596900"/>
          </a:xfrm>
          <a:prstGeom prst="rect">
            <a:avLst/>
          </a:prstGeom>
          <a:noFill/>
          <a:ln/>
        </p:spPr>
        <p:txBody>
          <a:bodyPr wrap="square" lIns="0" tIns="0" rIns="0" bIns="0" rtlCol="0" anchor="t"/>
          <a:lstStyle/>
          <a:p>
            <a:pPr indent="0" marL="0">
              <a:lnSpc>
                <a:spcPct val="112000"/>
              </a:lnSpc>
              <a:buNone/>
            </a:pPr>
            <a:r>
              <a:rPr lang="en-US" sz="800" dirty="0">
                <a:solidFill>
                  <a:srgbClr val="514E48"/>
                </a:solidFill>
                <a:latin typeface="Montserrat" pitchFamily="34" charset="0"/>
                <a:ea typeface="Montserrat" pitchFamily="34" charset="-122"/>
                <a:cs typeface="Montserrat" pitchFamily="34" charset="-120"/>
              </a:rPr>
              <a:t>Rights audit and asset IDs: research/asset_rights_register.csv; country short-list and limits: research/country_photography_audit.md. The map locates cases only; photography cannot establish development outcomes or causality.</a:t>
            </a:r>
            <a:endParaRPr lang="en-US" sz="800" dirty="0"/>
          </a:p>
        </p:txBody>
      </p:sp>
      <p:sp>
        <p:nvSpPr>
          <p:cNvPr id="8" name="Text 6"/>
          <p:cNvSpPr/>
          <p:nvPr/>
        </p:nvSpPr>
        <p:spPr>
          <a:xfrm>
            <a:off x="457200" y="10388600"/>
            <a:ext cx="5461000" cy="152400"/>
          </a:xfrm>
          <a:prstGeom prst="rect">
            <a:avLst/>
          </a:prstGeom>
          <a:noFill/>
          <a:ln/>
        </p:spPr>
        <p:txBody>
          <a:bodyPr wrap="square" lIns="0" tIns="0" rIns="0" bIns="0" rtlCol="0" anchor="t"/>
          <a:lstStyle/>
          <a:p>
            <a:pPr indent="0" marL="0">
              <a:lnSpc>
                <a:spcPct val="112000"/>
              </a:lnSpc>
              <a:buNone/>
            </a:pPr>
            <a:r>
              <a:rPr lang="en-US" sz="800" b="1" dirty="0">
                <a:solidFill>
                  <a:srgbClr val="514E48"/>
                </a:solidFill>
                <a:latin typeface="Montserrat" pitchFamily="34" charset="0"/>
                <a:ea typeface="Montserrat" pitchFamily="34" charset="-122"/>
                <a:cs typeface="Montserrat" pitchFamily="34" charset="-120"/>
              </a:rPr>
              <a:t>EVIDENCE LEDGER  ·  EDITORIAL DRAFT</a:t>
            </a:r>
            <a:endParaRPr lang="en-US" sz="800" dirty="0"/>
          </a:p>
        </p:txBody>
      </p:sp>
      <p:sp>
        <p:nvSpPr>
          <p:cNvPr id="9" name="Text 7"/>
          <p:cNvSpPr/>
          <p:nvPr/>
        </p:nvSpPr>
        <p:spPr>
          <a:xfrm>
            <a:off x="6642100" y="10337800"/>
            <a:ext cx="457200" cy="241300"/>
          </a:xfrm>
          <a:prstGeom prst="rect">
            <a:avLst/>
          </a:prstGeom>
          <a:noFill/>
          <a:ln/>
        </p:spPr>
        <p:txBody>
          <a:bodyPr wrap="square" lIns="0" tIns="0" rIns="0" bIns="0" rtlCol="0" anchor="t"/>
          <a:lstStyle/>
          <a:p>
            <a:pPr algn="r" indent="0" marL="0">
              <a:lnSpc>
                <a:spcPct val="112000"/>
              </a:lnSpc>
              <a:buNone/>
            </a:pPr>
            <a:r>
              <a:rPr lang="en-US" sz="1100" b="1" dirty="0">
                <a:solidFill>
                  <a:srgbClr val="252525"/>
                </a:solidFill>
                <a:latin typeface="Montserrat" pitchFamily="34" charset="0"/>
                <a:ea typeface="Montserrat" pitchFamily="34" charset="-122"/>
                <a:cs typeface="Montserrat" pitchFamily="34" charset="-120"/>
              </a:rPr>
              <a:t>30</a:t>
            </a:r>
            <a:endParaRPr lang="en-US" sz="1100" dirty="0"/>
          </a:p>
        </p:txBody>
      </p:sp>
      <p:sp>
        <p:nvSpPr>
          <p:cNvPr id="10" name="Shape 8"/>
          <p:cNvSpPr/>
          <p:nvPr/>
        </p:nvSpPr>
        <p:spPr>
          <a:xfrm>
            <a:off x="457200" y="2971800"/>
            <a:ext cx="127000" cy="127000"/>
          </a:xfrm>
          <a:prstGeom prst="ellipse">
            <a:avLst/>
          </a:prstGeom>
          <a:solidFill>
            <a:srgbClr val="B95332"/>
          </a:solidFill>
          <a:ln w="7620">
            <a:solidFill>
              <a:srgbClr val="252525"/>
            </a:solidFill>
            <a:prstDash val="solid"/>
          </a:ln>
        </p:spPr>
      </p:sp>
      <p:sp>
        <p:nvSpPr>
          <p:cNvPr id="11" name="Text 9"/>
          <p:cNvSpPr/>
          <p:nvPr/>
        </p:nvSpPr>
        <p:spPr>
          <a:xfrm>
            <a:off x="711200" y="2921000"/>
            <a:ext cx="2349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Ghana</a:t>
            </a:r>
            <a:endParaRPr lang="en-US" sz="1200" dirty="0"/>
          </a:p>
        </p:txBody>
      </p:sp>
      <p:sp>
        <p:nvSpPr>
          <p:cNvPr id="12" name="Text 10"/>
          <p:cNvSpPr/>
          <p:nvPr/>
        </p:nvSpPr>
        <p:spPr>
          <a:xfrm>
            <a:off x="2768600" y="29337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JulianGrayscales (2020-02-08). Tema port · CC BY-SA 4.0.</a:t>
            </a:r>
            <a:endParaRPr lang="en-US" sz="850" dirty="0"/>
          </a:p>
        </p:txBody>
      </p:sp>
      <p:sp>
        <p:nvSpPr>
          <p:cNvPr id="13" name="Text 11"/>
          <p:cNvSpPr/>
          <p:nvPr/>
        </p:nvSpPr>
        <p:spPr>
          <a:xfrm>
            <a:off x="2768600" y="32004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Amuzujoe (2020-11-27). Market Accra · CC BY-SA 4.0.</a:t>
            </a:r>
            <a:endParaRPr lang="en-US" sz="850" dirty="0"/>
          </a:p>
        </p:txBody>
      </p:sp>
      <p:sp>
        <p:nvSpPr>
          <p:cNvPr id="14" name="Text 12">
            <a:hlinkClick r:id="rId1" tooltip=""/>
          </p:cNvPr>
          <p:cNvSpPr/>
          <p:nvPr/>
        </p:nvSpPr>
        <p:spPr>
          <a:xfrm>
            <a:off x="2768600" y="34671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Image A ↗</a:t>
            </a:r>
            <a:endParaRPr lang="en-US" sz="800" dirty="0"/>
          </a:p>
        </p:txBody>
      </p:sp>
      <p:sp>
        <p:nvSpPr>
          <p:cNvPr id="15" name="Text 13">
            <a:hlinkClick r:id="rId2" tooltip=""/>
          </p:cNvPr>
          <p:cNvSpPr/>
          <p:nvPr/>
        </p:nvSpPr>
        <p:spPr>
          <a:xfrm>
            <a:off x="3632200" y="34671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16" name="Text 14">
            <a:hlinkClick r:id="rId3" tooltip=""/>
          </p:cNvPr>
          <p:cNvSpPr/>
          <p:nvPr/>
        </p:nvSpPr>
        <p:spPr>
          <a:xfrm>
            <a:off x="4546600" y="34671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3" invalidUrl="" action="" tgtFrame="" tooltip="" history="1" highlightClick="0" endSnd="0">
                  <a:extLst>
                    <a:ext uri="{A12FA001-AC4F-418D-AE19-62706E023703}">
                      <ahyp:hlinkClr xmlns:ahyp="http://schemas.microsoft.com/office/drawing/2018/hyperlinkcolor" val="tx"/>
                    </a:ext>
                  </a:extLst>
                </a:hlinkClick>
              </a:rPr>
              <a:t>Image B ↗</a:t>
            </a:r>
            <a:endParaRPr lang="en-US" sz="800" dirty="0"/>
          </a:p>
        </p:txBody>
      </p:sp>
      <p:sp>
        <p:nvSpPr>
          <p:cNvPr id="17" name="Text 15">
            <a:hlinkClick r:id="rId4" tooltip=""/>
          </p:cNvPr>
          <p:cNvSpPr/>
          <p:nvPr/>
        </p:nvSpPr>
        <p:spPr>
          <a:xfrm>
            <a:off x="5435600" y="34671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4"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18" name="Shape 16"/>
          <p:cNvSpPr/>
          <p:nvPr/>
        </p:nvSpPr>
        <p:spPr>
          <a:xfrm>
            <a:off x="457200" y="3708400"/>
            <a:ext cx="6642100" cy="0"/>
          </a:xfrm>
          <a:prstGeom prst="line">
            <a:avLst/>
          </a:prstGeom>
          <a:noFill/>
          <a:ln w="5715">
            <a:solidFill>
              <a:srgbClr val="B7B0A4"/>
            </a:solidFill>
            <a:prstDash val="solid"/>
          </a:ln>
        </p:spPr>
      </p:sp>
      <p:sp>
        <p:nvSpPr>
          <p:cNvPr id="19" name="Shape 17"/>
          <p:cNvSpPr/>
          <p:nvPr/>
        </p:nvSpPr>
        <p:spPr>
          <a:xfrm>
            <a:off x="457200" y="3835400"/>
            <a:ext cx="127000" cy="127000"/>
          </a:xfrm>
          <a:prstGeom prst="rect">
            <a:avLst/>
          </a:prstGeom>
          <a:solidFill>
            <a:srgbClr val="3F684E"/>
          </a:solidFill>
          <a:ln w="7620">
            <a:solidFill>
              <a:srgbClr val="252525"/>
            </a:solidFill>
            <a:prstDash val="solid"/>
          </a:ln>
        </p:spPr>
      </p:sp>
      <p:sp>
        <p:nvSpPr>
          <p:cNvPr id="20" name="Text 18"/>
          <p:cNvSpPr/>
          <p:nvPr/>
        </p:nvSpPr>
        <p:spPr>
          <a:xfrm>
            <a:off x="711200" y="3784600"/>
            <a:ext cx="2349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Botswana</a:t>
            </a:r>
            <a:endParaRPr lang="en-US" sz="1200" dirty="0"/>
          </a:p>
        </p:txBody>
      </p:sp>
      <p:sp>
        <p:nvSpPr>
          <p:cNvPr id="21" name="Text 19"/>
          <p:cNvSpPr/>
          <p:nvPr/>
        </p:nvSpPr>
        <p:spPr>
          <a:xfrm>
            <a:off x="2768600" y="37973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Sarvesh Lutchmun (2015-08-06). Bus Terminal in Gaborone, Botswana · CC BY-SA 4.0.</a:t>
            </a:r>
            <a:endParaRPr lang="en-US" sz="850" dirty="0"/>
          </a:p>
        </p:txBody>
      </p:sp>
      <p:sp>
        <p:nvSpPr>
          <p:cNvPr id="22" name="Text 20"/>
          <p:cNvSpPr/>
          <p:nvPr/>
        </p:nvSpPr>
        <p:spPr>
          <a:xfrm>
            <a:off x="2768600" y="40640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Paul tk (2018-09-14). MochudiBotswanaSolarPanel · CC BY-SA 4.0.</a:t>
            </a:r>
            <a:endParaRPr lang="en-US" sz="850" dirty="0"/>
          </a:p>
        </p:txBody>
      </p:sp>
      <p:sp>
        <p:nvSpPr>
          <p:cNvPr id="23" name="Text 21">
            <a:hlinkClick r:id="rId5" tooltip=""/>
          </p:cNvPr>
          <p:cNvSpPr/>
          <p:nvPr/>
        </p:nvSpPr>
        <p:spPr>
          <a:xfrm>
            <a:off x="2768600" y="43307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5" invalidUrl="" action="" tgtFrame="" tooltip="" history="1" highlightClick="0" endSnd="0">
                  <a:extLst>
                    <a:ext uri="{A12FA001-AC4F-418D-AE19-62706E023703}">
                      <ahyp:hlinkClr xmlns:ahyp="http://schemas.microsoft.com/office/drawing/2018/hyperlinkcolor" val="tx"/>
                    </a:ext>
                  </a:extLst>
                </a:hlinkClick>
              </a:rPr>
              <a:t>Image A ↗</a:t>
            </a:r>
            <a:endParaRPr lang="en-US" sz="800" dirty="0"/>
          </a:p>
        </p:txBody>
      </p:sp>
      <p:sp>
        <p:nvSpPr>
          <p:cNvPr id="24" name="Text 22">
            <a:hlinkClick r:id="rId6" tooltip=""/>
          </p:cNvPr>
          <p:cNvSpPr/>
          <p:nvPr/>
        </p:nvSpPr>
        <p:spPr>
          <a:xfrm>
            <a:off x="3632200" y="43307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6"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25" name="Text 23">
            <a:hlinkClick r:id="rId7" tooltip=""/>
          </p:cNvPr>
          <p:cNvSpPr/>
          <p:nvPr/>
        </p:nvSpPr>
        <p:spPr>
          <a:xfrm>
            <a:off x="4546600" y="43307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7" invalidUrl="" action="" tgtFrame="" tooltip="" history="1" highlightClick="0" endSnd="0">
                  <a:extLst>
                    <a:ext uri="{A12FA001-AC4F-418D-AE19-62706E023703}">
                      <ahyp:hlinkClr xmlns:ahyp="http://schemas.microsoft.com/office/drawing/2018/hyperlinkcolor" val="tx"/>
                    </a:ext>
                  </a:extLst>
                </a:hlinkClick>
              </a:rPr>
              <a:t>Image B ↗</a:t>
            </a:r>
            <a:endParaRPr lang="en-US" sz="800" dirty="0"/>
          </a:p>
        </p:txBody>
      </p:sp>
      <p:sp>
        <p:nvSpPr>
          <p:cNvPr id="26" name="Text 24">
            <a:hlinkClick r:id="rId8" tooltip=""/>
          </p:cNvPr>
          <p:cNvSpPr/>
          <p:nvPr/>
        </p:nvSpPr>
        <p:spPr>
          <a:xfrm>
            <a:off x="5435600" y="43307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8"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27" name="Shape 25"/>
          <p:cNvSpPr/>
          <p:nvPr/>
        </p:nvSpPr>
        <p:spPr>
          <a:xfrm>
            <a:off x="457200" y="4572000"/>
            <a:ext cx="6642100" cy="0"/>
          </a:xfrm>
          <a:prstGeom prst="line">
            <a:avLst/>
          </a:prstGeom>
          <a:noFill/>
          <a:ln w="5715">
            <a:solidFill>
              <a:srgbClr val="B7B0A4"/>
            </a:solidFill>
            <a:prstDash val="solid"/>
          </a:ln>
        </p:spPr>
      </p:sp>
      <p:sp>
        <p:nvSpPr>
          <p:cNvPr id="28" name="Shape 26"/>
          <p:cNvSpPr/>
          <p:nvPr/>
        </p:nvSpPr>
        <p:spPr>
          <a:xfrm>
            <a:off x="457200" y="4699000"/>
            <a:ext cx="127000" cy="127000"/>
          </a:xfrm>
          <a:prstGeom prst="triangle">
            <a:avLst/>
          </a:prstGeom>
          <a:solidFill>
            <a:srgbClr val="D6A23A"/>
          </a:solidFill>
          <a:ln w="7620">
            <a:solidFill>
              <a:srgbClr val="252525"/>
            </a:solidFill>
            <a:prstDash val="solid"/>
          </a:ln>
        </p:spPr>
      </p:sp>
      <p:sp>
        <p:nvSpPr>
          <p:cNvPr id="29" name="Text 27"/>
          <p:cNvSpPr/>
          <p:nvPr/>
        </p:nvSpPr>
        <p:spPr>
          <a:xfrm>
            <a:off x="711200" y="4648200"/>
            <a:ext cx="2349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Mauritius</a:t>
            </a:r>
            <a:endParaRPr lang="en-US" sz="1200" dirty="0"/>
          </a:p>
        </p:txBody>
      </p:sp>
      <p:sp>
        <p:nvSpPr>
          <p:cNvPr id="30" name="Text 28"/>
          <p:cNvSpPr/>
          <p:nvPr/>
        </p:nvSpPr>
        <p:spPr>
          <a:xfrm>
            <a:off x="2768600" y="46609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Didier Baertschiger (2015-03-09). Mauritius - Port Louis (Central Market) · CC BY-SA 2.0.</a:t>
            </a:r>
            <a:endParaRPr lang="en-US" sz="850" dirty="0"/>
          </a:p>
        </p:txBody>
      </p:sp>
      <p:sp>
        <p:nvSpPr>
          <p:cNvPr id="31" name="Text 29"/>
          <p:cNvSpPr/>
          <p:nvPr/>
        </p:nvSpPr>
        <p:spPr>
          <a:xfrm>
            <a:off x="2768600" y="49276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Richard N Horne (2025-04-03). Port Louis, Mauritius, Bulk Sugar Terminal Quay · CC BY 4.0.</a:t>
            </a:r>
            <a:endParaRPr lang="en-US" sz="850" dirty="0"/>
          </a:p>
        </p:txBody>
      </p:sp>
      <p:sp>
        <p:nvSpPr>
          <p:cNvPr id="32" name="Text 30">
            <a:hlinkClick r:id="rId9" tooltip=""/>
          </p:cNvPr>
          <p:cNvSpPr/>
          <p:nvPr/>
        </p:nvSpPr>
        <p:spPr>
          <a:xfrm>
            <a:off x="2768600" y="51943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9" invalidUrl="" action="" tgtFrame="" tooltip="" history="1" highlightClick="0" endSnd="0">
                  <a:extLst>
                    <a:ext uri="{A12FA001-AC4F-418D-AE19-62706E023703}">
                      <ahyp:hlinkClr xmlns:ahyp="http://schemas.microsoft.com/office/drawing/2018/hyperlinkcolor" val="tx"/>
                    </a:ext>
                  </a:extLst>
                </a:hlinkClick>
              </a:rPr>
              <a:t>Image A ↗</a:t>
            </a:r>
            <a:endParaRPr lang="en-US" sz="800" dirty="0"/>
          </a:p>
        </p:txBody>
      </p:sp>
      <p:sp>
        <p:nvSpPr>
          <p:cNvPr id="33" name="Text 31">
            <a:hlinkClick r:id="rId10" tooltip=""/>
          </p:cNvPr>
          <p:cNvSpPr/>
          <p:nvPr/>
        </p:nvSpPr>
        <p:spPr>
          <a:xfrm>
            <a:off x="3632200" y="51943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0"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34" name="Text 32">
            <a:hlinkClick r:id="rId11" tooltip=""/>
          </p:cNvPr>
          <p:cNvSpPr/>
          <p:nvPr/>
        </p:nvSpPr>
        <p:spPr>
          <a:xfrm>
            <a:off x="4546600" y="51943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1" invalidUrl="" action="" tgtFrame="" tooltip="" history="1" highlightClick="0" endSnd="0">
                  <a:extLst>
                    <a:ext uri="{A12FA001-AC4F-418D-AE19-62706E023703}">
                      <ahyp:hlinkClr xmlns:ahyp="http://schemas.microsoft.com/office/drawing/2018/hyperlinkcolor" val="tx"/>
                    </a:ext>
                  </a:extLst>
                </a:hlinkClick>
              </a:rPr>
              <a:t>Image B ↗</a:t>
            </a:r>
            <a:endParaRPr lang="en-US" sz="800" dirty="0"/>
          </a:p>
        </p:txBody>
      </p:sp>
      <p:sp>
        <p:nvSpPr>
          <p:cNvPr id="35" name="Text 33">
            <a:hlinkClick r:id="rId12" tooltip=""/>
          </p:cNvPr>
          <p:cNvSpPr/>
          <p:nvPr/>
        </p:nvSpPr>
        <p:spPr>
          <a:xfrm>
            <a:off x="5435600" y="51943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2"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36" name="Shape 34"/>
          <p:cNvSpPr/>
          <p:nvPr/>
        </p:nvSpPr>
        <p:spPr>
          <a:xfrm>
            <a:off x="457200" y="5435600"/>
            <a:ext cx="6642100" cy="0"/>
          </a:xfrm>
          <a:prstGeom prst="line">
            <a:avLst/>
          </a:prstGeom>
          <a:noFill/>
          <a:ln w="5715">
            <a:solidFill>
              <a:srgbClr val="B7B0A4"/>
            </a:solidFill>
            <a:prstDash val="solid"/>
          </a:ln>
        </p:spPr>
      </p:sp>
      <p:sp>
        <p:nvSpPr>
          <p:cNvPr id="37" name="Shape 35"/>
          <p:cNvSpPr/>
          <p:nvPr/>
        </p:nvSpPr>
        <p:spPr>
          <a:xfrm>
            <a:off x="457200" y="5562600"/>
            <a:ext cx="127000" cy="127000"/>
          </a:xfrm>
          <a:prstGeom prst="diamond">
            <a:avLst/>
          </a:prstGeom>
          <a:solidFill>
            <a:srgbClr val="315A78"/>
          </a:solidFill>
          <a:ln w="7620">
            <a:solidFill>
              <a:srgbClr val="252525"/>
            </a:solidFill>
            <a:prstDash val="solid"/>
          </a:ln>
        </p:spPr>
      </p:sp>
      <p:sp>
        <p:nvSpPr>
          <p:cNvPr id="38" name="Text 36"/>
          <p:cNvSpPr/>
          <p:nvPr/>
        </p:nvSpPr>
        <p:spPr>
          <a:xfrm>
            <a:off x="711200" y="5511800"/>
            <a:ext cx="2349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South Korea</a:t>
            </a:r>
            <a:endParaRPr lang="en-US" sz="1200" dirty="0"/>
          </a:p>
        </p:txBody>
      </p:sp>
      <p:sp>
        <p:nvSpPr>
          <p:cNvPr id="39" name="Text 37"/>
          <p:cNvSpPr/>
          <p:nvPr/>
        </p:nvSpPr>
        <p:spPr>
          <a:xfrm>
            <a:off x="2768600" y="55245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Svwmal (2012-04-08). South Korea Busan harbour · CC BY-SA 3.0.</a:t>
            </a:r>
            <a:endParaRPr lang="en-US" sz="850" dirty="0"/>
          </a:p>
        </p:txBody>
      </p:sp>
      <p:sp>
        <p:nvSpPr>
          <p:cNvPr id="40" name="Text 38"/>
          <p:cNvSpPr/>
          <p:nvPr/>
        </p:nvSpPr>
        <p:spPr>
          <a:xfrm>
            <a:off x="2768600" y="57912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Gaël Chardon (2008-04-21). Korea-Seoul-Gyeongdong Market-01 · CC BY-SA 2.0.</a:t>
            </a:r>
            <a:endParaRPr lang="en-US" sz="850" dirty="0"/>
          </a:p>
        </p:txBody>
      </p:sp>
      <p:sp>
        <p:nvSpPr>
          <p:cNvPr id="41" name="Text 39">
            <a:hlinkClick r:id="rId13" tooltip=""/>
          </p:cNvPr>
          <p:cNvSpPr/>
          <p:nvPr/>
        </p:nvSpPr>
        <p:spPr>
          <a:xfrm>
            <a:off x="2768600" y="60579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3" invalidUrl="" action="" tgtFrame="" tooltip="" history="1" highlightClick="0" endSnd="0">
                  <a:extLst>
                    <a:ext uri="{A12FA001-AC4F-418D-AE19-62706E023703}">
                      <ahyp:hlinkClr xmlns:ahyp="http://schemas.microsoft.com/office/drawing/2018/hyperlinkcolor" val="tx"/>
                    </a:ext>
                  </a:extLst>
                </a:hlinkClick>
              </a:rPr>
              <a:t>Image A ↗</a:t>
            </a:r>
            <a:endParaRPr lang="en-US" sz="800" dirty="0"/>
          </a:p>
        </p:txBody>
      </p:sp>
      <p:sp>
        <p:nvSpPr>
          <p:cNvPr id="42" name="Text 40">
            <a:hlinkClick r:id="rId14" tooltip=""/>
          </p:cNvPr>
          <p:cNvSpPr/>
          <p:nvPr/>
        </p:nvSpPr>
        <p:spPr>
          <a:xfrm>
            <a:off x="3632200" y="60579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4"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43" name="Text 41">
            <a:hlinkClick r:id="rId15" tooltip=""/>
          </p:cNvPr>
          <p:cNvSpPr/>
          <p:nvPr/>
        </p:nvSpPr>
        <p:spPr>
          <a:xfrm>
            <a:off x="4546600" y="60579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5" invalidUrl="" action="" tgtFrame="" tooltip="" history="1" highlightClick="0" endSnd="0">
                  <a:extLst>
                    <a:ext uri="{A12FA001-AC4F-418D-AE19-62706E023703}">
                      <ahyp:hlinkClr xmlns:ahyp="http://schemas.microsoft.com/office/drawing/2018/hyperlinkcolor" val="tx"/>
                    </a:ext>
                  </a:extLst>
                </a:hlinkClick>
              </a:rPr>
              <a:t>Image B ↗</a:t>
            </a:r>
            <a:endParaRPr lang="en-US" sz="800" dirty="0"/>
          </a:p>
        </p:txBody>
      </p:sp>
      <p:sp>
        <p:nvSpPr>
          <p:cNvPr id="44" name="Text 42">
            <a:hlinkClick r:id="rId16" tooltip=""/>
          </p:cNvPr>
          <p:cNvSpPr/>
          <p:nvPr/>
        </p:nvSpPr>
        <p:spPr>
          <a:xfrm>
            <a:off x="5435600" y="60579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6"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45" name="Shape 43"/>
          <p:cNvSpPr/>
          <p:nvPr/>
        </p:nvSpPr>
        <p:spPr>
          <a:xfrm>
            <a:off x="457200" y="6299200"/>
            <a:ext cx="6642100" cy="0"/>
          </a:xfrm>
          <a:prstGeom prst="line">
            <a:avLst/>
          </a:prstGeom>
          <a:noFill/>
          <a:ln w="5715">
            <a:solidFill>
              <a:srgbClr val="B7B0A4"/>
            </a:solidFill>
            <a:prstDash val="solid"/>
          </a:ln>
        </p:spPr>
      </p:sp>
      <p:sp>
        <p:nvSpPr>
          <p:cNvPr id="46" name="Shape 44"/>
          <p:cNvSpPr/>
          <p:nvPr/>
        </p:nvSpPr>
        <p:spPr>
          <a:xfrm>
            <a:off x="457200" y="6426200"/>
            <a:ext cx="127000" cy="127000"/>
          </a:xfrm>
          <a:prstGeom prst="hexagon">
            <a:avLst/>
          </a:prstGeom>
          <a:solidFill>
            <a:srgbClr val="3E7568"/>
          </a:solidFill>
          <a:ln w="7620">
            <a:solidFill>
              <a:srgbClr val="252525"/>
            </a:solidFill>
            <a:prstDash val="solid"/>
          </a:ln>
        </p:spPr>
      </p:sp>
      <p:sp>
        <p:nvSpPr>
          <p:cNvPr id="47" name="Text 45"/>
          <p:cNvSpPr/>
          <p:nvPr/>
        </p:nvSpPr>
        <p:spPr>
          <a:xfrm>
            <a:off x="711200" y="6375400"/>
            <a:ext cx="2349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Malaysia</a:t>
            </a:r>
            <a:endParaRPr lang="en-US" sz="1200" dirty="0"/>
          </a:p>
        </p:txBody>
      </p:sp>
      <p:sp>
        <p:nvSpPr>
          <p:cNvPr id="48" name="Text 46"/>
          <p:cNvSpPr/>
          <p:nvPr/>
        </p:nvSpPr>
        <p:spPr>
          <a:xfrm>
            <a:off x="2768600" y="63881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HundenvonPenang (2024-01-27). Perai Industrial Zone, Seberang Perai, Penang · CC BY-SA 4.0.</a:t>
            </a:r>
            <a:endParaRPr lang="en-US" sz="850" dirty="0"/>
          </a:p>
        </p:txBody>
      </p:sp>
      <p:sp>
        <p:nvSpPr>
          <p:cNvPr id="49" name="Text 47"/>
          <p:cNvSpPr/>
          <p:nvPr/>
        </p:nvSpPr>
        <p:spPr>
          <a:xfrm>
            <a:off x="2768600" y="66548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jgmorard (2009-03-01). 090301.020.PortKlang · CC BY 2.0.</a:t>
            </a:r>
            <a:endParaRPr lang="en-US" sz="850" dirty="0"/>
          </a:p>
        </p:txBody>
      </p:sp>
      <p:sp>
        <p:nvSpPr>
          <p:cNvPr id="50" name="Text 48">
            <a:hlinkClick r:id="rId17" tooltip=""/>
          </p:cNvPr>
          <p:cNvSpPr/>
          <p:nvPr/>
        </p:nvSpPr>
        <p:spPr>
          <a:xfrm>
            <a:off x="2768600" y="69215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7" invalidUrl="" action="" tgtFrame="" tooltip="" history="1" highlightClick="0" endSnd="0">
                  <a:extLst>
                    <a:ext uri="{A12FA001-AC4F-418D-AE19-62706E023703}">
                      <ahyp:hlinkClr xmlns:ahyp="http://schemas.microsoft.com/office/drawing/2018/hyperlinkcolor" val="tx"/>
                    </a:ext>
                  </a:extLst>
                </a:hlinkClick>
              </a:rPr>
              <a:t>Image A ↗</a:t>
            </a:r>
            <a:endParaRPr lang="en-US" sz="800" dirty="0"/>
          </a:p>
        </p:txBody>
      </p:sp>
      <p:sp>
        <p:nvSpPr>
          <p:cNvPr id="51" name="Text 49">
            <a:hlinkClick r:id="rId18" tooltip=""/>
          </p:cNvPr>
          <p:cNvSpPr/>
          <p:nvPr/>
        </p:nvSpPr>
        <p:spPr>
          <a:xfrm>
            <a:off x="3632200" y="69215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8"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52" name="Text 50">
            <a:hlinkClick r:id="rId19" tooltip=""/>
          </p:cNvPr>
          <p:cNvSpPr/>
          <p:nvPr/>
        </p:nvSpPr>
        <p:spPr>
          <a:xfrm>
            <a:off x="4546600" y="69215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19" invalidUrl="" action="" tgtFrame="" tooltip="" history="1" highlightClick="0" endSnd="0">
                  <a:extLst>
                    <a:ext uri="{A12FA001-AC4F-418D-AE19-62706E023703}">
                      <ahyp:hlinkClr xmlns:ahyp="http://schemas.microsoft.com/office/drawing/2018/hyperlinkcolor" val="tx"/>
                    </a:ext>
                  </a:extLst>
                </a:hlinkClick>
              </a:rPr>
              <a:t>Image B ↗</a:t>
            </a:r>
            <a:endParaRPr lang="en-US" sz="800" dirty="0"/>
          </a:p>
        </p:txBody>
      </p:sp>
      <p:sp>
        <p:nvSpPr>
          <p:cNvPr id="53" name="Text 51">
            <a:hlinkClick r:id="rId20" tooltip=""/>
          </p:cNvPr>
          <p:cNvSpPr/>
          <p:nvPr/>
        </p:nvSpPr>
        <p:spPr>
          <a:xfrm>
            <a:off x="5435600" y="69215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20"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54" name="Shape 52"/>
          <p:cNvSpPr/>
          <p:nvPr/>
        </p:nvSpPr>
        <p:spPr>
          <a:xfrm>
            <a:off x="457200" y="7162800"/>
            <a:ext cx="6642100" cy="0"/>
          </a:xfrm>
          <a:prstGeom prst="line">
            <a:avLst/>
          </a:prstGeom>
          <a:noFill/>
          <a:ln w="5715">
            <a:solidFill>
              <a:srgbClr val="B7B0A4"/>
            </a:solidFill>
            <a:prstDash val="solid"/>
          </a:ln>
        </p:spPr>
      </p:sp>
      <p:sp>
        <p:nvSpPr>
          <p:cNvPr id="55" name="Shape 53"/>
          <p:cNvSpPr/>
          <p:nvPr/>
        </p:nvSpPr>
        <p:spPr>
          <a:xfrm>
            <a:off x="457200" y="7353300"/>
            <a:ext cx="127000" cy="0"/>
          </a:xfrm>
          <a:prstGeom prst="line">
            <a:avLst/>
          </a:prstGeom>
          <a:noFill/>
          <a:ln w="40640">
            <a:solidFill>
              <a:srgbClr val="252525"/>
            </a:solidFill>
            <a:prstDash val="solid"/>
          </a:ln>
        </p:spPr>
      </p:sp>
      <p:sp>
        <p:nvSpPr>
          <p:cNvPr id="56" name="Shape 54"/>
          <p:cNvSpPr/>
          <p:nvPr/>
        </p:nvSpPr>
        <p:spPr>
          <a:xfrm>
            <a:off x="520700" y="7289800"/>
            <a:ext cx="0" cy="127000"/>
          </a:xfrm>
          <a:prstGeom prst="line">
            <a:avLst/>
          </a:prstGeom>
          <a:noFill/>
          <a:ln w="40640">
            <a:solidFill>
              <a:srgbClr val="252525"/>
            </a:solidFill>
            <a:prstDash val="solid"/>
          </a:ln>
        </p:spPr>
      </p:sp>
      <p:sp>
        <p:nvSpPr>
          <p:cNvPr id="57" name="Shape 55"/>
          <p:cNvSpPr/>
          <p:nvPr/>
        </p:nvSpPr>
        <p:spPr>
          <a:xfrm>
            <a:off x="457200" y="7353300"/>
            <a:ext cx="127000" cy="0"/>
          </a:xfrm>
          <a:prstGeom prst="line">
            <a:avLst/>
          </a:prstGeom>
          <a:noFill/>
          <a:ln w="22860">
            <a:solidFill>
              <a:srgbClr val="A63A3A"/>
            </a:solidFill>
            <a:prstDash val="solid"/>
          </a:ln>
        </p:spPr>
      </p:sp>
      <p:sp>
        <p:nvSpPr>
          <p:cNvPr id="58" name="Shape 56"/>
          <p:cNvSpPr/>
          <p:nvPr/>
        </p:nvSpPr>
        <p:spPr>
          <a:xfrm>
            <a:off x="520700" y="7289800"/>
            <a:ext cx="0" cy="127000"/>
          </a:xfrm>
          <a:prstGeom prst="line">
            <a:avLst/>
          </a:prstGeom>
          <a:noFill/>
          <a:ln w="22860">
            <a:solidFill>
              <a:srgbClr val="A63A3A"/>
            </a:solidFill>
            <a:prstDash val="solid"/>
          </a:ln>
        </p:spPr>
      </p:sp>
      <p:sp>
        <p:nvSpPr>
          <p:cNvPr id="59" name="Text 57"/>
          <p:cNvSpPr/>
          <p:nvPr/>
        </p:nvSpPr>
        <p:spPr>
          <a:xfrm>
            <a:off x="711200" y="7239000"/>
            <a:ext cx="2349500" cy="304800"/>
          </a:xfrm>
          <a:prstGeom prst="rect">
            <a:avLst/>
          </a:prstGeom>
          <a:noFill/>
          <a:ln/>
        </p:spPr>
        <p:txBody>
          <a:bodyPr wrap="square" lIns="0" tIns="0" rIns="0" bIns="0" rtlCol="0" anchor="t"/>
          <a:lstStyle/>
          <a:p>
            <a:pPr indent="0" marL="0">
              <a:lnSpc>
                <a:spcPct val="112000"/>
              </a:lnSpc>
              <a:buNone/>
            </a:pPr>
            <a:r>
              <a:rPr lang="en-US" sz="1200" b="1" dirty="0">
                <a:solidFill>
                  <a:srgbClr val="252525"/>
                </a:solidFill>
                <a:latin typeface="Montserrat" pitchFamily="34" charset="0"/>
                <a:ea typeface="Montserrat" pitchFamily="34" charset="-122"/>
                <a:cs typeface="Montserrat" pitchFamily="34" charset="-120"/>
              </a:rPr>
              <a:t>Philippines</a:t>
            </a:r>
            <a:endParaRPr lang="en-US" sz="1200" dirty="0"/>
          </a:p>
        </p:txBody>
      </p:sp>
      <p:sp>
        <p:nvSpPr>
          <p:cNvPr id="60" name="Text 58"/>
          <p:cNvSpPr/>
          <p:nvPr/>
        </p:nvSpPr>
        <p:spPr>
          <a:xfrm>
            <a:off x="2768600" y="72517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Theurbanhistorian (2009-07-18). Port of Manila · CC BY-SA 3.0.</a:t>
            </a:r>
            <a:endParaRPr lang="en-US" sz="850" dirty="0"/>
          </a:p>
        </p:txBody>
      </p:sp>
      <p:sp>
        <p:nvSpPr>
          <p:cNvPr id="61" name="Text 59"/>
          <p:cNvSpPr/>
          <p:nvPr/>
        </p:nvSpPr>
        <p:spPr>
          <a:xfrm>
            <a:off x="2768600" y="7518400"/>
            <a:ext cx="4330700" cy="2413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george ruiz (2013-01-04). The Philippines — seaside market in Manila · CC BY 2.0.</a:t>
            </a:r>
            <a:endParaRPr lang="en-US" sz="850" dirty="0"/>
          </a:p>
        </p:txBody>
      </p:sp>
      <p:sp>
        <p:nvSpPr>
          <p:cNvPr id="62" name="Text 60">
            <a:hlinkClick r:id="rId21" tooltip=""/>
          </p:cNvPr>
          <p:cNvSpPr/>
          <p:nvPr/>
        </p:nvSpPr>
        <p:spPr>
          <a:xfrm>
            <a:off x="2768600" y="77851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21" invalidUrl="" action="" tgtFrame="" tooltip="" history="1" highlightClick="0" endSnd="0">
                  <a:extLst>
                    <a:ext uri="{A12FA001-AC4F-418D-AE19-62706E023703}">
                      <ahyp:hlinkClr xmlns:ahyp="http://schemas.microsoft.com/office/drawing/2018/hyperlinkcolor" val="tx"/>
                    </a:ext>
                  </a:extLst>
                </a:hlinkClick>
              </a:rPr>
              <a:t>Image A ↗</a:t>
            </a:r>
            <a:endParaRPr lang="en-US" sz="800" dirty="0"/>
          </a:p>
        </p:txBody>
      </p:sp>
      <p:sp>
        <p:nvSpPr>
          <p:cNvPr id="63" name="Text 61">
            <a:hlinkClick r:id="rId22" tooltip=""/>
          </p:cNvPr>
          <p:cNvSpPr/>
          <p:nvPr/>
        </p:nvSpPr>
        <p:spPr>
          <a:xfrm>
            <a:off x="3632200" y="77851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22"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64" name="Text 62">
            <a:hlinkClick r:id="rId23" tooltip=""/>
          </p:cNvPr>
          <p:cNvSpPr/>
          <p:nvPr/>
        </p:nvSpPr>
        <p:spPr>
          <a:xfrm>
            <a:off x="4546600" y="7785100"/>
            <a:ext cx="8382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23" invalidUrl="" action="" tgtFrame="" tooltip="" history="1" highlightClick="0" endSnd="0">
                  <a:extLst>
                    <a:ext uri="{A12FA001-AC4F-418D-AE19-62706E023703}">
                      <ahyp:hlinkClr xmlns:ahyp="http://schemas.microsoft.com/office/drawing/2018/hyperlinkcolor" val="tx"/>
                    </a:ext>
                  </a:extLst>
                </a:hlinkClick>
              </a:rPr>
              <a:t>Image B ↗</a:t>
            </a:r>
            <a:endParaRPr lang="en-US" sz="800" dirty="0"/>
          </a:p>
        </p:txBody>
      </p:sp>
      <p:sp>
        <p:nvSpPr>
          <p:cNvPr id="65" name="Text 63">
            <a:hlinkClick r:id="rId24" tooltip=""/>
          </p:cNvPr>
          <p:cNvSpPr/>
          <p:nvPr/>
        </p:nvSpPr>
        <p:spPr>
          <a:xfrm>
            <a:off x="5435600" y="7785100"/>
            <a:ext cx="749300" cy="177800"/>
          </a:xfrm>
          <a:prstGeom prst="rect">
            <a:avLst/>
          </a:prstGeom>
          <a:noFill/>
          <a:ln/>
        </p:spPr>
        <p:txBody>
          <a:bodyPr wrap="square" lIns="0" tIns="0" rIns="0" bIns="0" rtlCol="0" anchor="t"/>
          <a:lstStyle/>
          <a:p>
            <a:pPr indent="0" marL="0">
              <a:lnSpc>
                <a:spcPct val="112000"/>
              </a:lnSpc>
              <a:buNone/>
            </a:pPr>
            <a:r>
              <a:rPr lang="en-US" sz="800" b="1" u="sng" dirty="0">
                <a:solidFill>
                  <a:srgbClr val="514E48"/>
                </a:solidFill>
                <a:latin typeface="Montserrat" pitchFamily="34" charset="0"/>
                <a:ea typeface="Montserrat" pitchFamily="34" charset="-122"/>
                <a:cs typeface="Montserrat" pitchFamily="34" charset="-120"/>
                <a:hlinkClick r:id="rId24" invalidUrl="" action="" tgtFrame="" tooltip="" history="1" highlightClick="0" endSnd="0">
                  <a:extLst>
                    <a:ext uri="{A12FA001-AC4F-418D-AE19-62706E023703}">
                      <ahyp:hlinkClr xmlns:ahyp="http://schemas.microsoft.com/office/drawing/2018/hyperlinkcolor" val="tx"/>
                    </a:ext>
                  </a:extLst>
                </a:hlinkClick>
              </a:rPr>
              <a:t>Licence ↗</a:t>
            </a:r>
            <a:endParaRPr lang="en-US" sz="800" dirty="0"/>
          </a:p>
        </p:txBody>
      </p:sp>
      <p:sp>
        <p:nvSpPr>
          <p:cNvPr id="66" name="Shape 64"/>
          <p:cNvSpPr/>
          <p:nvPr/>
        </p:nvSpPr>
        <p:spPr>
          <a:xfrm>
            <a:off x="457200" y="8026400"/>
            <a:ext cx="6642100" cy="0"/>
          </a:xfrm>
          <a:prstGeom prst="line">
            <a:avLst/>
          </a:prstGeom>
          <a:noFill/>
          <a:ln w="5715">
            <a:solidFill>
              <a:srgbClr val="B7B0A4"/>
            </a:solidFill>
            <a:prstDash val="solid"/>
          </a:ln>
        </p:spPr>
      </p:sp>
      <p:sp>
        <p:nvSpPr>
          <p:cNvPr id="67" name="Text 65"/>
          <p:cNvSpPr/>
          <p:nvPr/>
        </p:nvSpPr>
        <p:spPr>
          <a:xfrm>
            <a:off x="457200" y="8255000"/>
            <a:ext cx="6642100" cy="4699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Map source: Natural Earth. (n.d.). Admin 0 – Countries, 1:110m Cultural Vectors (v5.1.1). https://www.naturalearthdata.com/downloads/110m-cultural-vectors/. Generalized present-day boundaries; public-domain data.</a:t>
            </a:r>
            <a:endParaRPr lang="en-US" sz="850" dirty="0"/>
          </a:p>
        </p:txBody>
      </p:sp>
      <p:sp>
        <p:nvSpPr>
          <p:cNvPr id="68" name="Text 66"/>
          <p:cNvSpPr/>
          <p:nvPr/>
        </p:nvSpPr>
        <p:spPr>
          <a:xfrm>
            <a:off x="457200" y="8953500"/>
            <a:ext cx="6642100" cy="381000"/>
          </a:xfrm>
          <a:prstGeom prst="rect">
            <a:avLst/>
          </a:prstGeom>
          <a:noFill/>
          <a:ln/>
        </p:spPr>
        <p:txBody>
          <a:bodyPr wrap="square" lIns="0" tIns="0" rIns="0" bIns="0" rtlCol="0" anchor="t"/>
          <a:lstStyle/>
          <a:p>
            <a:pPr indent="0" marL="0">
              <a:lnSpc>
                <a:spcPct val="112000"/>
              </a:lnSpc>
              <a:buNone/>
            </a:pPr>
            <a:r>
              <a:rPr lang="en-US" sz="850" dirty="0">
                <a:solidFill>
                  <a:srgbClr val="252525"/>
                </a:solidFill>
                <a:latin typeface="Montserrat" pitchFamily="34" charset="0"/>
                <a:ea typeface="Montserrat" pitchFamily="34" charset="-122"/>
                <a:cs typeface="Montserrat" pitchFamily="34" charset="-120"/>
              </a:rPr>
              <a:t>All photographs were resized and recompressed only; no content was removed or added. Check licence attribution and any future changes before redistribution.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legrey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ontserra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Editorial research magazine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Africa &amp; Asia: Why Did Their Economic Paths Diverge?</dc:title>
  <dc:subject>Six-country evidence-led comparison</dc:subject>
  <dc:creator>University project team — editorial draft</dc:creator>
  <cp:lastModifiedBy>University project team — editorial draft</cp:lastModifiedBy>
  <cp:revision>1</cp:revision>
  <dcterms:created xsi:type="dcterms:W3CDTF">2026-10-12T21:55:49Z</dcterms:created>
  <dcterms:modified xsi:type="dcterms:W3CDTF">2026-10-12T21:55:49Z</dcterms:modified>
</cp:coreProperties>
</file>