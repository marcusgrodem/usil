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7560005" cy="10692003"/>
  <p:notesSz cx="10692003" cy="756000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databank.worldbank.org/source/world-development-indicators" TargetMode="External"/><Relationship Id="rId2" Type="http://schemas.openxmlformats.org/officeDocument/2006/relationships/hyperlink" Target="https://documents.worldbank.org/en/publication/documents-reports/documentdetail/975081468244550798/the-east-asian-miracle-economic-growth-and-public-policy" TargetMode="External"/><Relationship Id="rId3" Type="http://schemas.openxmlformats.org/officeDocument/2006/relationships/hyperlink" Target="https://documents1.worldbank.org/curated/en/755321606255985947/pdf/Structural-Transformation-and-Labor-Market-Performance-in-Ghana.pdf" TargetMode="External"/><Relationship Id="rId4" Type="http://schemas.openxmlformats.org/officeDocument/2006/relationships/hyperlink" Target="https://documents.worldbank.org/curated/en/832361468032174119/pdf/multi0page.pdf" TargetMode="External"/><Relationship Id="rId5" Type="http://schemas.openxmlformats.org/officeDocument/2006/relationships/hyperlink" Target="https://documents.worldbank.org/curated/en/364701468330906042/pdf/577340NWP0Box353767B01PUBLIC10gcwp035web.pdf" TargetMode="External"/><Relationship Id="rId6" Type="http://schemas.openxmlformats.org/officeDocument/2006/relationships/hyperlink" Target="https://www.imf.org/external/pubs/ft/wp/2014/wp14134.pdf" TargetMode="External"/><Relationship Id="rId7" Type="http://schemas.openxmlformats.org/officeDocument/2006/relationships/hyperlink" Target="https://www.dartmouth.edu/neudc2012/docs/paper_34.pdf" TargetMode="External"/><Relationship Id="rId8" Type="http://schemas.openxmlformats.org/officeDocument/2006/relationships/hyperlink" Target="https://doi.org/10.9707/2307-0919.1014" TargetMode="External"/><Relationship Id="rId9" Type="http://schemas.openxmlformats.org/officeDocument/2006/relationships/hyperlink" Target="https://doi.org/10.1177/0018726702551004" TargetMode="External"/><Relationship Id="rId10" Type="http://schemas.openxmlformats.org/officeDocument/2006/relationships/hyperlink" Target="https://doi.org/10.1787/9789264278219-en" TargetMode="External"/><Relationship Id="rId11" Type="http://schemas.openxmlformats.org/officeDocument/2006/relationships/slideLayout" Target="../slideLayouts/slideLayout1.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ommons.wikimedia.org/wiki/File:Tema_port.jpg" TargetMode="External"/><Relationship Id="rId2" Type="http://schemas.openxmlformats.org/officeDocument/2006/relationships/hyperlink" Target="https://creativecommons.org/licenses/by-sa/4.0/" TargetMode="External"/><Relationship Id="rId3" Type="http://schemas.openxmlformats.org/officeDocument/2006/relationships/hyperlink" Target="https://commons.wikimedia.org/wiki/File:Market_Accra.jp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Sarvesh_Lutchmun_-_Bus_Terminal_in_Gaborone,_Botswana.jpg" TargetMode="External"/><Relationship Id="rId6" Type="http://schemas.openxmlformats.org/officeDocument/2006/relationships/hyperlink" Target="https://creativecommons.org/licenses/by-sa/4.0/" TargetMode="External"/><Relationship Id="rId7" Type="http://schemas.openxmlformats.org/officeDocument/2006/relationships/hyperlink" Target="https://commons.wikimedia.org/wiki/File:MochudiBotswanaSolarPanel.jpg" TargetMode="External"/><Relationship Id="rId8" Type="http://schemas.openxmlformats.org/officeDocument/2006/relationships/hyperlink" Target="https://creativecommons.org/licenses/by-sa/4.0/" TargetMode="External"/><Relationship Id="rId9" Type="http://schemas.openxmlformats.org/officeDocument/2006/relationships/hyperlink" Target="https://commons.wikimedia.org/wiki/File:Mauritius_-_Port_Louis_(Central_Market)_(17118303459).jpg" TargetMode="External"/><Relationship Id="rId10" Type="http://schemas.openxmlformats.org/officeDocument/2006/relationships/hyperlink" Target="https://creativecommons.org/licenses/by-sa/2.0/" TargetMode="External"/><Relationship Id="rId11" Type="http://schemas.openxmlformats.org/officeDocument/2006/relationships/hyperlink" Target="https://commons.wikimedia.org/wiki/File:Port_Louis,_Mauritius,_Bulk_Sugar_Terminal_Quay.jpg" TargetMode="External"/><Relationship Id="rId12" Type="http://schemas.openxmlformats.org/officeDocument/2006/relationships/hyperlink" Target="https://creativecommons.org/licenses/by/4.0/" TargetMode="External"/><Relationship Id="rId13" Type="http://schemas.openxmlformats.org/officeDocument/2006/relationships/hyperlink" Target="https://commons.wikimedia.org/wiki/File:South_Korea_Busan_harbour.jpg" TargetMode="External"/><Relationship Id="rId14" Type="http://schemas.openxmlformats.org/officeDocument/2006/relationships/hyperlink" Target="https://creativecommons.org/licenses/by-sa/3.0/" TargetMode="External"/><Relationship Id="rId15" Type="http://schemas.openxmlformats.org/officeDocument/2006/relationships/hyperlink" Target="https://commons.wikimedia.org/wiki/File:Korea-Seoul-Gyeongdong_Market-01.jpg" TargetMode="External"/><Relationship Id="rId16" Type="http://schemas.openxmlformats.org/officeDocument/2006/relationships/hyperlink" Target="https://creativecommons.org/licenses/by-sa/2.0/" TargetMode="External"/><Relationship Id="rId17" Type="http://schemas.openxmlformats.org/officeDocument/2006/relationships/hyperlink" Target="https://commons.wikimedia.org/wiki/File:Perai_Industrial_Zone,_Seberang_Perai,_Penang.jpg" TargetMode="External"/><Relationship Id="rId18" Type="http://schemas.openxmlformats.org/officeDocument/2006/relationships/hyperlink" Target="https://creativecommons.org/licenses/by-sa/4.0/" TargetMode="External"/><Relationship Id="rId19" Type="http://schemas.openxmlformats.org/officeDocument/2006/relationships/hyperlink" Target="https://commons.wikimedia.org/wiki/File:090301.020.PortKlang.jpg" TargetMode="External"/><Relationship Id="rId20" Type="http://schemas.openxmlformats.org/officeDocument/2006/relationships/hyperlink" Target="https://creativecommons.org/licenses/by/2.0/" TargetMode="External"/><Relationship Id="rId21" Type="http://schemas.openxmlformats.org/officeDocument/2006/relationships/hyperlink" Target="https://commons.wikimedia.org/wiki/File:Port_of_Manila.jpg" TargetMode="External"/><Relationship Id="rId22" Type="http://schemas.openxmlformats.org/officeDocument/2006/relationships/hyperlink" Target="https://creativecommons.org/licenses/by-sa/3.0/" TargetMode="External"/><Relationship Id="rId23" Type="http://schemas.openxmlformats.org/officeDocument/2006/relationships/hyperlink" Target="https://commons.wikimedia.org/wiki/File:2013-01-04_The_Philippines-_seaside_market_in_Manila.jpg" TargetMode="External"/><Relationship Id="rId24" Type="http://schemas.openxmlformats.org/officeDocument/2006/relationships/hyperlink" Target="https://creativecommons.org/licenses/by/2.0/" TargetMode="External"/><Relationship Id="rId25" Type="http://schemas.openxmlformats.org/officeDocument/2006/relationships/hyperlink" Target="https://www.naturalearthdata.com/downloads/110m-cultural-vectors/" TargetMode="External"/><Relationship Id="rId26" Type="http://schemas.openxmlformats.org/officeDocument/2006/relationships/slideLayout" Target="../slideLayouts/slideLayout1.xml"/><Relationship Id="rId27"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SIX COUNTRIES. ONE BIG QUESTION.</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Shape 2"/>
          <p:cNvSpPr/>
          <p:nvPr/>
        </p:nvSpPr>
        <p:spPr>
          <a:xfrm>
            <a:off x="457200" y="9660255"/>
            <a:ext cx="6642100" cy="8890"/>
          </a:xfrm>
          <a:prstGeom prst="rect">
            <a:avLst/>
          </a:prstGeom>
          <a:solidFill>
            <a:srgbClr val="252525"/>
          </a:solidFill>
          <a:ln w="12700">
            <a:solidFill>
              <a:srgbClr val="252525"/>
            </a:solidFill>
            <a:prstDash val="solid"/>
          </a:ln>
        </p:spPr>
      </p:sp>
      <p:sp>
        <p:nvSpPr>
          <p:cNvPr id="5" name="Text 3"/>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Photographs: JulianGrayscales (2020), Tema port; Svwmal (2012), Busan harbour. Context, not a regional ranking. Full credits and licences: p. 29.</a:t>
            </a:r>
            <a:endParaRPr lang="en-US" sz="800" dirty="0"/>
          </a:p>
        </p:txBody>
      </p:sp>
      <p:sp>
        <p:nvSpPr>
          <p:cNvPr id="6" name="Text 4"/>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7" name="Text 5"/>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01</a:t>
            </a:r>
            <a:endParaRPr lang="en-US" sz="1000" dirty="0"/>
          </a:p>
        </p:txBody>
      </p:sp>
      <p:sp>
        <p:nvSpPr>
          <p:cNvPr id="8" name="Text 6"/>
          <p:cNvSpPr/>
          <p:nvPr/>
        </p:nvSpPr>
        <p:spPr>
          <a:xfrm>
            <a:off x="457200" y="876300"/>
            <a:ext cx="6642100" cy="787400"/>
          </a:xfrm>
          <a:prstGeom prst="rect">
            <a:avLst/>
          </a:prstGeom>
          <a:noFill/>
          <a:ln/>
        </p:spPr>
        <p:txBody>
          <a:bodyPr wrap="square" lIns="0" tIns="0" rIns="0" bIns="0" rtlCol="0" anchor="t"/>
          <a:lstStyle/>
          <a:p>
            <a:pPr indent="0" marL="0">
              <a:lnSpc>
                <a:spcPct val="112000"/>
              </a:lnSpc>
              <a:buNone/>
            </a:pPr>
            <a:r>
              <a:rPr lang="en-US" sz="4700" b="1" dirty="0">
                <a:solidFill>
                  <a:srgbClr val="252525"/>
                </a:solidFill>
                <a:latin typeface="Alegreya" pitchFamily="34" charset="0"/>
                <a:ea typeface="Alegreya" pitchFamily="34" charset="-122"/>
                <a:cs typeface="Alegreya" pitchFamily="34" charset="-120"/>
              </a:rPr>
              <a:t>Africa &amp; Asia:</a:t>
            </a:r>
            <a:endParaRPr lang="en-US" sz="4700" dirty="0"/>
          </a:p>
        </p:txBody>
      </p:sp>
      <p:sp>
        <p:nvSpPr>
          <p:cNvPr id="9" name="Text 7"/>
          <p:cNvSpPr/>
          <p:nvPr/>
        </p:nvSpPr>
        <p:spPr>
          <a:xfrm>
            <a:off x="457200" y="1879600"/>
            <a:ext cx="6642100" cy="2324100"/>
          </a:xfrm>
          <a:prstGeom prst="rect">
            <a:avLst/>
          </a:prstGeom>
          <a:noFill/>
          <a:ln/>
        </p:spPr>
        <p:txBody>
          <a:bodyPr wrap="square" lIns="0" tIns="0" rIns="0" bIns="0" rtlCol="0" anchor="t"/>
          <a:lstStyle/>
          <a:p>
            <a:pPr indent="0" marL="0">
              <a:lnSpc>
                <a:spcPct val="112000"/>
              </a:lnSpc>
              <a:buNone/>
            </a:pPr>
            <a:r>
              <a:rPr lang="en-US" sz="4700" b="1" dirty="0">
                <a:solidFill>
                  <a:srgbClr val="252525"/>
                </a:solidFill>
                <a:latin typeface="Alegreya" pitchFamily="34" charset="0"/>
                <a:ea typeface="Alegreya" pitchFamily="34" charset="-122"/>
                <a:cs typeface="Alegreya" pitchFamily="34" charset="-120"/>
              </a:rPr>
              <a:t>Why Did Their</a:t>
            </a:r>
            <a:endParaRPr lang="en-US" sz="4700" dirty="0"/>
          </a:p>
          <a:p>
            <a:pPr indent="0" marL="0">
              <a:lnSpc>
                <a:spcPct val="112000"/>
              </a:lnSpc>
              <a:buNone/>
            </a:pPr>
            <a:r>
              <a:rPr lang="en-US" sz="4700" b="1" dirty="0">
                <a:solidFill>
                  <a:srgbClr val="252525"/>
                </a:solidFill>
                <a:latin typeface="Alegreya" pitchFamily="34" charset="0"/>
                <a:ea typeface="Alegreya" pitchFamily="34" charset="-122"/>
                <a:cs typeface="Alegreya" pitchFamily="34" charset="-120"/>
              </a:rPr>
              <a:t>Economic Paths</a:t>
            </a:r>
            <a:endParaRPr lang="en-US" sz="4700" dirty="0"/>
          </a:p>
          <a:p>
            <a:pPr indent="0" marL="0">
              <a:lnSpc>
                <a:spcPct val="112000"/>
              </a:lnSpc>
              <a:buNone/>
            </a:pPr>
            <a:r>
              <a:rPr lang="en-US" sz="4700" b="1" dirty="0">
                <a:solidFill>
                  <a:srgbClr val="252525"/>
                </a:solidFill>
                <a:latin typeface="Alegreya" pitchFamily="34" charset="0"/>
                <a:ea typeface="Alegreya" pitchFamily="34" charset="-122"/>
                <a:cs typeface="Alegreya" pitchFamily="34" charset="-120"/>
              </a:rPr>
              <a:t>Diverge?</a:t>
            </a:r>
            <a:endParaRPr lang="en-US" sz="4700" dirty="0"/>
          </a:p>
        </p:txBody>
      </p:sp>
      <p:sp>
        <p:nvSpPr>
          <p:cNvPr id="10" name="Text 8"/>
          <p:cNvSpPr/>
          <p:nvPr/>
        </p:nvSpPr>
        <p:spPr>
          <a:xfrm>
            <a:off x="457200" y="4445000"/>
            <a:ext cx="6642100" cy="647700"/>
          </a:xfrm>
          <a:prstGeom prst="rect">
            <a:avLst/>
          </a:prstGeom>
          <a:noFill/>
          <a:ln/>
        </p:spPr>
        <p:txBody>
          <a:bodyPr wrap="square" lIns="0" tIns="0" rIns="0" bIns="0" rtlCol="0" anchor="t"/>
          <a:lstStyle/>
          <a:p>
            <a:pPr indent="0" marL="0">
              <a:lnSpc>
                <a:spcPct val="112000"/>
              </a:lnSpc>
              <a:buNone/>
            </a:pPr>
            <a:r>
              <a:rPr lang="en-US" sz="1400" dirty="0">
                <a:solidFill>
                  <a:srgbClr val="252525"/>
                </a:solidFill>
                <a:latin typeface="Montserrat" pitchFamily="34" charset="0"/>
                <a:ea typeface="Montserrat" pitchFamily="34" charset="-122"/>
                <a:cs typeface="Montserrat" pitchFamily="34" charset="-120"/>
              </a:rPr>
              <a:t>Testing culture against history, institutions,</a:t>
            </a:r>
            <a:endParaRPr lang="en-US" sz="1400" dirty="0"/>
          </a:p>
          <a:p>
            <a:pPr indent="0" marL="0">
              <a:lnSpc>
                <a:spcPct val="112000"/>
              </a:lnSpc>
              <a:buNone/>
            </a:pPr>
            <a:r>
              <a:rPr lang="en-US" sz="1400" dirty="0">
                <a:solidFill>
                  <a:srgbClr val="252525"/>
                </a:solidFill>
                <a:latin typeface="Montserrat" pitchFamily="34" charset="0"/>
                <a:ea typeface="Montserrat" pitchFamily="34" charset="-122"/>
                <a:cs typeface="Montserrat" pitchFamily="34" charset="-120"/>
              </a:rPr>
              <a:t>policy and economic evidence.</a:t>
            </a:r>
            <a:endParaRPr lang="en-US" sz="1400" dirty="0"/>
          </a:p>
        </p:txBody>
      </p:sp>
      <p:pic>
        <p:nvPicPr>
          <p:cNvPr id="11" name="Image 0" descr="/Users/marcusgrude-grodem/Documents/GitHub/USIL/africa-asia-development-magazine/design/canva_editorial_draft/assets/print/ghana_tema.jpg">    </p:cNvPr>
          <p:cNvPicPr>
            <a:picLocks noChangeAspect="1"/>
          </p:cNvPicPr>
          <p:nvPr/>
        </p:nvPicPr>
        <p:blipFill>
          <a:blip r:embed="rId1"/>
          <a:stretch>
            <a:fillRect/>
          </a:stretch>
        </p:blipFill>
        <p:spPr>
          <a:xfrm>
            <a:off x="457200" y="5401548"/>
            <a:ext cx="3162300" cy="2100104"/>
          </a:xfrm>
          <a:prstGeom prst="rect">
            <a:avLst/>
          </a:prstGeom>
        </p:spPr>
      </p:pic>
      <p:pic>
        <p:nvPicPr>
          <p:cNvPr id="12" name="Image 1" descr="/Users/marcusgrude-grodem/Documents/GitHub/USIL/africa-asia-development-magazine/design/canva_editorial_draft/assets/print/korea_busan.jpg">    </p:cNvPr>
          <p:cNvPicPr>
            <a:picLocks noChangeAspect="1"/>
          </p:cNvPicPr>
          <p:nvPr/>
        </p:nvPicPr>
        <p:blipFill>
          <a:blip r:embed="rId2"/>
          <a:stretch>
            <a:fillRect/>
          </a:stretch>
        </p:blipFill>
        <p:spPr>
          <a:xfrm>
            <a:off x="4112683" y="5397500"/>
            <a:ext cx="2810933" cy="2108200"/>
          </a:xfrm>
          <a:prstGeom prst="rect">
            <a:avLst/>
          </a:prstGeom>
        </p:spPr>
      </p:pic>
      <p:sp>
        <p:nvSpPr>
          <p:cNvPr id="13" name="Shape 9"/>
          <p:cNvSpPr/>
          <p:nvPr/>
        </p:nvSpPr>
        <p:spPr>
          <a:xfrm>
            <a:off x="457200" y="7747000"/>
            <a:ext cx="127000" cy="127000"/>
          </a:xfrm>
          <a:prstGeom prst="ellipse">
            <a:avLst/>
          </a:prstGeom>
          <a:solidFill>
            <a:srgbClr val="B95332"/>
          </a:solidFill>
          <a:ln w="7620">
            <a:solidFill>
              <a:srgbClr val="252525"/>
            </a:solidFill>
            <a:prstDash val="solid"/>
          </a:ln>
        </p:spPr>
      </p:sp>
      <p:sp>
        <p:nvSpPr>
          <p:cNvPr id="14" name="Text 10"/>
          <p:cNvSpPr/>
          <p:nvPr/>
        </p:nvSpPr>
        <p:spPr>
          <a:xfrm>
            <a:off x="711200" y="76962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15" name="Shape 11"/>
          <p:cNvSpPr/>
          <p:nvPr/>
        </p:nvSpPr>
        <p:spPr>
          <a:xfrm>
            <a:off x="3937000" y="7747000"/>
            <a:ext cx="127000" cy="127000"/>
          </a:xfrm>
          <a:prstGeom prst="diamond">
            <a:avLst/>
          </a:prstGeom>
          <a:solidFill>
            <a:srgbClr val="315A78"/>
          </a:solidFill>
          <a:ln w="7620">
            <a:solidFill>
              <a:srgbClr val="252525"/>
            </a:solidFill>
            <a:prstDash val="solid"/>
          </a:ln>
        </p:spPr>
      </p:sp>
      <p:sp>
        <p:nvSpPr>
          <p:cNvPr id="16" name="Text 12"/>
          <p:cNvSpPr/>
          <p:nvPr/>
        </p:nvSpPr>
        <p:spPr>
          <a:xfrm>
            <a:off x="4191000" y="76962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17" name="Text 13"/>
          <p:cNvSpPr/>
          <p:nvPr/>
        </p:nvSpPr>
        <p:spPr>
          <a:xfrm>
            <a:off x="457200" y="8128000"/>
            <a:ext cx="31623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Tema port · 2020</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Trade and work in Ghana.</a:t>
            </a:r>
            <a:endParaRPr lang="en-US" sz="800" dirty="0"/>
          </a:p>
        </p:txBody>
      </p:sp>
      <p:sp>
        <p:nvSpPr>
          <p:cNvPr id="18" name="Text 14"/>
          <p:cNvSpPr/>
          <p:nvPr/>
        </p:nvSpPr>
        <p:spPr>
          <a:xfrm>
            <a:off x="3937000" y="8128000"/>
            <a:ext cx="31623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Busan harbour · 2012</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Trade and work in South Korea.</a:t>
            </a:r>
            <a:endParaRPr lang="en-US" sz="800" dirty="0"/>
          </a:p>
        </p:txBody>
      </p:sp>
      <p:sp>
        <p:nvSpPr>
          <p:cNvPr id="19" name="Text 15"/>
          <p:cNvSpPr/>
          <p:nvPr/>
        </p:nvSpPr>
        <p:spPr>
          <a:xfrm>
            <a:off x="457200" y="8775700"/>
            <a:ext cx="6642100" cy="749300"/>
          </a:xfrm>
          <a:prstGeom prst="rect">
            <a:avLst/>
          </a:prstGeom>
          <a:noFill/>
          <a:ln/>
        </p:spPr>
        <p:txBody>
          <a:bodyPr wrap="square" lIns="0" tIns="0" rIns="0" bIns="0" rtlCol="0" anchor="t"/>
          <a:lstStyle/>
          <a:p>
            <a:pPr indent="0" marL="0">
              <a:lnSpc>
                <a:spcPct val="112000"/>
              </a:lnSpc>
              <a:buNone/>
            </a:pPr>
            <a:r>
              <a:rPr lang="en-US" sz="2400" b="1" dirty="0">
                <a:solidFill>
                  <a:srgbClr val="252525"/>
                </a:solidFill>
                <a:latin typeface="Montserrat" pitchFamily="34" charset="0"/>
                <a:ea typeface="Montserrat" pitchFamily="34" charset="-122"/>
                <a:cs typeface="Montserrat" pitchFamily="34" charset="-120"/>
              </a:rPr>
              <a:t>DIFFERENT PATHS.</a:t>
            </a:r>
            <a:endParaRPr lang="en-US" sz="2400" dirty="0"/>
          </a:p>
          <a:p>
            <a:pPr indent="0" marL="0">
              <a:lnSpc>
                <a:spcPct val="112000"/>
              </a:lnSpc>
              <a:buNone/>
            </a:pPr>
            <a:r>
              <a:rPr lang="en-US" sz="2400" b="1" dirty="0">
                <a:solidFill>
                  <a:srgbClr val="252525"/>
                </a:solidFill>
                <a:latin typeface="Montserrat" pitchFamily="34" charset="0"/>
                <a:ea typeface="Montserrat" pitchFamily="34" charset="-122"/>
                <a:cs typeface="Montserrat" pitchFamily="34" charset="-120"/>
              </a:rPr>
              <a:t>NO EASY ANSWER.</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START HERE</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Culture—or a much bigger story?</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We started with a question. Six countries made the answer more complicated.</a:t>
            </a:r>
            <a:endParaRPr lang="en-US" sz="1150" dirty="0"/>
          </a:p>
        </p:txBody>
      </p:sp>
      <p:sp>
        <p:nvSpPr>
          <p:cNvPr id="6" name="Shape 4"/>
          <p:cNvSpPr/>
          <p:nvPr/>
        </p:nvSpPr>
        <p:spPr>
          <a:xfrm>
            <a:off x="457200" y="9660255"/>
            <a:ext cx="6642100" cy="8890"/>
          </a:xfrm>
          <a:prstGeom prst="rect">
            <a:avLst/>
          </a:prstGeom>
          <a:solidFill>
            <a:srgbClr val="252525"/>
          </a:solidFill>
          <a:ln w="12700">
            <a:solidFill>
              <a:srgbClr val="252525"/>
            </a:solidFill>
            <a:prstDash val="solid"/>
          </a:ln>
        </p:spPr>
      </p:sp>
      <p:sp>
        <p:nvSpPr>
          <p:cNvPr id="7" name="Text 5"/>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Hofstede (2011, pp. 6–8, 9–16); McSweeney (2002, pp. 93–107). National averages are not individual traits or causal scores. Full references: p. 27.</a:t>
            </a:r>
            <a:endParaRPr lang="en-US" sz="800" dirty="0"/>
          </a:p>
        </p:txBody>
      </p:sp>
      <p:sp>
        <p:nvSpPr>
          <p:cNvPr id="8" name="Text 6"/>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9" name="Text 7"/>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02</a:t>
            </a:r>
            <a:endParaRPr lang="en-US" sz="1000" dirty="0"/>
          </a:p>
        </p:txBody>
      </p:sp>
      <p:sp>
        <p:nvSpPr>
          <p:cNvPr id="10" name="Text 8"/>
          <p:cNvSpPr/>
          <p:nvPr/>
        </p:nvSpPr>
        <p:spPr>
          <a:xfrm>
            <a:off x="457200" y="3098800"/>
            <a:ext cx="6642100" cy="1346200"/>
          </a:xfrm>
          <a:prstGeom prst="rect">
            <a:avLst/>
          </a:prstGeom>
          <a:noFill/>
          <a:ln/>
        </p:spPr>
        <p:txBody>
          <a:bodyPr wrap="square" lIns="0" tIns="0" rIns="0" bIns="0" rtlCol="0" anchor="t"/>
          <a:lstStyle/>
          <a:p>
            <a:pPr indent="0" marL="0">
              <a:lnSpc>
                <a:spcPct val="112000"/>
              </a:lnSpc>
              <a:buNone/>
            </a:pPr>
            <a:r>
              <a:rPr lang="en-US" sz="4300" b="1" dirty="0">
                <a:solidFill>
                  <a:srgbClr val="252525"/>
                </a:solidFill>
                <a:latin typeface="Alegreya" pitchFamily="34" charset="0"/>
                <a:ea typeface="Alegreya" pitchFamily="34" charset="-122"/>
                <a:cs typeface="Alegreya" pitchFamily="34" charset="-120"/>
              </a:rPr>
              <a:t>Not one Africa.</a:t>
            </a:r>
            <a:endParaRPr lang="en-US" sz="4300" dirty="0"/>
          </a:p>
          <a:p>
            <a:pPr indent="0" marL="0">
              <a:lnSpc>
                <a:spcPct val="112000"/>
              </a:lnSpc>
              <a:buNone/>
            </a:pPr>
            <a:r>
              <a:rPr lang="en-US" sz="4300" b="1" dirty="0">
                <a:solidFill>
                  <a:srgbClr val="252525"/>
                </a:solidFill>
                <a:latin typeface="Alegreya" pitchFamily="34" charset="0"/>
                <a:ea typeface="Alegreya" pitchFamily="34" charset="-122"/>
                <a:cs typeface="Alegreya" pitchFamily="34" charset="-120"/>
              </a:rPr>
              <a:t>Not one Asia.</a:t>
            </a:r>
            <a:endParaRPr lang="en-US" sz="4300" dirty="0"/>
          </a:p>
        </p:txBody>
      </p:sp>
      <p:sp>
        <p:nvSpPr>
          <p:cNvPr id="11" name="Text 9"/>
          <p:cNvSpPr/>
          <p:nvPr/>
        </p:nvSpPr>
        <p:spPr>
          <a:xfrm>
            <a:off x="457200" y="4673600"/>
            <a:ext cx="6350000" cy="901700"/>
          </a:xfrm>
          <a:prstGeom prst="rect">
            <a:avLst/>
          </a:prstGeom>
          <a:noFill/>
          <a:ln/>
        </p:spPr>
        <p:txBody>
          <a:bodyPr wrap="square" lIns="0" tIns="0" rIns="0" bIns="0" rtlCol="0" anchor="t"/>
          <a:lstStyle/>
          <a:p>
            <a:pPr indent="0" marL="0">
              <a:lnSpc>
                <a:spcPct val="112000"/>
              </a:lnSpc>
              <a:buNone/>
            </a:pPr>
            <a:r>
              <a:rPr lang="en-US" sz="1300" dirty="0">
                <a:solidFill>
                  <a:srgbClr val="252525"/>
                </a:solidFill>
                <a:latin typeface="Montserrat" pitchFamily="34" charset="0"/>
                <a:ea typeface="Montserrat" pitchFamily="34" charset="-122"/>
                <a:cs typeface="Montserrat" pitchFamily="34" charset="-120"/>
              </a:rPr>
              <a:t>Ghana and South Korea give us a striking comparison. Botswana, Mauritius, Malaysia and the Philippines challenge the easy explanations.</a:t>
            </a:r>
            <a:endParaRPr lang="en-US" sz="1300" dirty="0"/>
          </a:p>
        </p:txBody>
      </p:sp>
      <p:sp>
        <p:nvSpPr>
          <p:cNvPr id="12" name="Text 10"/>
          <p:cNvSpPr/>
          <p:nvPr/>
        </p:nvSpPr>
        <p:spPr>
          <a:xfrm>
            <a:off x="457200" y="57912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01</a:t>
            </a:r>
            <a:endParaRPr lang="en-US" sz="900" dirty="0"/>
          </a:p>
        </p:txBody>
      </p:sp>
      <p:sp>
        <p:nvSpPr>
          <p:cNvPr id="13" name="Text 11"/>
          <p:cNvSpPr/>
          <p:nvPr/>
        </p:nvSpPr>
        <p:spPr>
          <a:xfrm>
            <a:off x="1041400" y="57912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The gap</a:t>
            </a:r>
            <a:endParaRPr lang="en-US" sz="1100" dirty="0"/>
          </a:p>
        </p:txBody>
      </p:sp>
      <p:sp>
        <p:nvSpPr>
          <p:cNvPr id="14" name="Text 12"/>
          <p:cNvSpPr/>
          <p:nvPr/>
        </p:nvSpPr>
        <p:spPr>
          <a:xfrm>
            <a:off x="6223000" y="57912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514E48"/>
                </a:solidFill>
                <a:latin typeface="Montserrat" pitchFamily="34" charset="0"/>
                <a:ea typeface="Montserrat" pitchFamily="34" charset="-122"/>
                <a:cs typeface="Montserrat" pitchFamily="34" charset="-120"/>
              </a:rPr>
              <a:t>03–04</a:t>
            </a:r>
            <a:endParaRPr lang="en-US" sz="900" dirty="0"/>
          </a:p>
        </p:txBody>
      </p:sp>
      <p:sp>
        <p:nvSpPr>
          <p:cNvPr id="15" name="Text 13"/>
          <p:cNvSpPr/>
          <p:nvPr/>
        </p:nvSpPr>
        <p:spPr>
          <a:xfrm>
            <a:off x="457200" y="61341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02</a:t>
            </a:r>
            <a:endParaRPr lang="en-US" sz="900" dirty="0"/>
          </a:p>
        </p:txBody>
      </p:sp>
      <p:sp>
        <p:nvSpPr>
          <p:cNvPr id="16" name="Text 14"/>
          <p:cNvSpPr/>
          <p:nvPr/>
        </p:nvSpPr>
        <p:spPr>
          <a:xfrm>
            <a:off x="1041400" y="61341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The starting line</a:t>
            </a:r>
            <a:endParaRPr lang="en-US" sz="1100" dirty="0"/>
          </a:p>
        </p:txBody>
      </p:sp>
      <p:sp>
        <p:nvSpPr>
          <p:cNvPr id="17" name="Text 15"/>
          <p:cNvSpPr/>
          <p:nvPr/>
        </p:nvSpPr>
        <p:spPr>
          <a:xfrm>
            <a:off x="6223000" y="61341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514E48"/>
                </a:solidFill>
                <a:latin typeface="Montserrat" pitchFamily="34" charset="0"/>
                <a:ea typeface="Montserrat" pitchFamily="34" charset="-122"/>
                <a:cs typeface="Montserrat" pitchFamily="34" charset="-120"/>
              </a:rPr>
              <a:t>05–08</a:t>
            </a:r>
            <a:endParaRPr lang="en-US" sz="900" dirty="0"/>
          </a:p>
        </p:txBody>
      </p:sp>
      <p:sp>
        <p:nvSpPr>
          <p:cNvPr id="18" name="Text 16"/>
          <p:cNvSpPr/>
          <p:nvPr/>
        </p:nvSpPr>
        <p:spPr>
          <a:xfrm>
            <a:off x="457200" y="64770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03</a:t>
            </a:r>
            <a:endParaRPr lang="en-US" sz="900" dirty="0"/>
          </a:p>
        </p:txBody>
      </p:sp>
      <p:sp>
        <p:nvSpPr>
          <p:cNvPr id="19" name="Text 17"/>
          <p:cNvSpPr/>
          <p:nvPr/>
        </p:nvSpPr>
        <p:spPr>
          <a:xfrm>
            <a:off x="1041400" y="64770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Work, income and learning</a:t>
            </a:r>
            <a:endParaRPr lang="en-US" sz="1100" dirty="0"/>
          </a:p>
        </p:txBody>
      </p:sp>
      <p:sp>
        <p:nvSpPr>
          <p:cNvPr id="20" name="Text 18"/>
          <p:cNvSpPr/>
          <p:nvPr/>
        </p:nvSpPr>
        <p:spPr>
          <a:xfrm>
            <a:off x="6223000" y="64770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514E48"/>
                </a:solidFill>
                <a:latin typeface="Montserrat" pitchFamily="34" charset="0"/>
                <a:ea typeface="Montserrat" pitchFamily="34" charset="-122"/>
                <a:cs typeface="Montserrat" pitchFamily="34" charset="-120"/>
              </a:rPr>
              <a:t>09–14</a:t>
            </a:r>
            <a:endParaRPr lang="en-US" sz="900" dirty="0"/>
          </a:p>
        </p:txBody>
      </p:sp>
      <p:sp>
        <p:nvSpPr>
          <p:cNvPr id="21" name="Text 19"/>
          <p:cNvSpPr/>
          <p:nvPr/>
        </p:nvSpPr>
        <p:spPr>
          <a:xfrm>
            <a:off x="457200" y="68199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04</a:t>
            </a:r>
            <a:endParaRPr lang="en-US" sz="900" dirty="0"/>
          </a:p>
        </p:txBody>
      </p:sp>
      <p:sp>
        <p:nvSpPr>
          <p:cNvPr id="22" name="Text 20"/>
          <p:cNvSpPr/>
          <p:nvPr/>
        </p:nvSpPr>
        <p:spPr>
          <a:xfrm>
            <a:off x="1041400" y="68199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Culture and trust</a:t>
            </a:r>
            <a:endParaRPr lang="en-US" sz="1100" dirty="0"/>
          </a:p>
        </p:txBody>
      </p:sp>
      <p:sp>
        <p:nvSpPr>
          <p:cNvPr id="23" name="Text 21"/>
          <p:cNvSpPr/>
          <p:nvPr/>
        </p:nvSpPr>
        <p:spPr>
          <a:xfrm>
            <a:off x="6223000" y="68199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514E48"/>
                </a:solidFill>
                <a:latin typeface="Montserrat" pitchFamily="34" charset="0"/>
                <a:ea typeface="Montserrat" pitchFamily="34" charset="-122"/>
                <a:cs typeface="Montserrat" pitchFamily="34" charset="-120"/>
              </a:rPr>
              <a:t>15–18</a:t>
            </a:r>
            <a:endParaRPr lang="en-US" sz="900" dirty="0"/>
          </a:p>
        </p:txBody>
      </p:sp>
      <p:sp>
        <p:nvSpPr>
          <p:cNvPr id="24" name="Text 22"/>
          <p:cNvSpPr/>
          <p:nvPr/>
        </p:nvSpPr>
        <p:spPr>
          <a:xfrm>
            <a:off x="457200" y="71628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05</a:t>
            </a:r>
            <a:endParaRPr lang="en-US" sz="900" dirty="0"/>
          </a:p>
        </p:txBody>
      </p:sp>
      <p:sp>
        <p:nvSpPr>
          <p:cNvPr id="25" name="Text 23"/>
          <p:cNvSpPr/>
          <p:nvPr/>
        </p:nvSpPr>
        <p:spPr>
          <a:xfrm>
            <a:off x="1041400" y="71628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Our ideas on trial</a:t>
            </a:r>
            <a:endParaRPr lang="en-US" sz="1100" dirty="0"/>
          </a:p>
        </p:txBody>
      </p:sp>
      <p:sp>
        <p:nvSpPr>
          <p:cNvPr id="26" name="Text 24"/>
          <p:cNvSpPr/>
          <p:nvPr/>
        </p:nvSpPr>
        <p:spPr>
          <a:xfrm>
            <a:off x="6223000" y="71628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514E48"/>
                </a:solidFill>
                <a:latin typeface="Montserrat" pitchFamily="34" charset="0"/>
                <a:ea typeface="Montserrat" pitchFamily="34" charset="-122"/>
                <a:cs typeface="Montserrat" pitchFamily="34" charset="-120"/>
              </a:rPr>
              <a:t>19–23</a:t>
            </a:r>
            <a:endParaRPr lang="en-US" sz="900" dirty="0"/>
          </a:p>
        </p:txBody>
      </p:sp>
      <p:sp>
        <p:nvSpPr>
          <p:cNvPr id="27" name="Text 25"/>
          <p:cNvSpPr/>
          <p:nvPr/>
        </p:nvSpPr>
        <p:spPr>
          <a:xfrm>
            <a:off x="457200" y="75057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06</a:t>
            </a:r>
            <a:endParaRPr lang="en-US" sz="900" dirty="0"/>
          </a:p>
        </p:txBody>
      </p:sp>
      <p:sp>
        <p:nvSpPr>
          <p:cNvPr id="28" name="Text 26"/>
          <p:cNvSpPr/>
          <p:nvPr/>
        </p:nvSpPr>
        <p:spPr>
          <a:xfrm>
            <a:off x="1041400" y="75057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What we think</a:t>
            </a:r>
            <a:endParaRPr lang="en-US" sz="1100" dirty="0"/>
          </a:p>
        </p:txBody>
      </p:sp>
      <p:sp>
        <p:nvSpPr>
          <p:cNvPr id="29" name="Text 27"/>
          <p:cNvSpPr/>
          <p:nvPr/>
        </p:nvSpPr>
        <p:spPr>
          <a:xfrm>
            <a:off x="6223000" y="75057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514E48"/>
                </a:solidFill>
                <a:latin typeface="Montserrat" pitchFamily="34" charset="0"/>
                <a:ea typeface="Montserrat" pitchFamily="34" charset="-122"/>
                <a:cs typeface="Montserrat" pitchFamily="34" charset="-120"/>
              </a:rPr>
              <a:t>24–26</a:t>
            </a:r>
            <a:endParaRPr lang="en-US" sz="900" dirty="0"/>
          </a:p>
        </p:txBody>
      </p:sp>
      <p:sp>
        <p:nvSpPr>
          <p:cNvPr id="30" name="Shape 28"/>
          <p:cNvSpPr/>
          <p:nvPr/>
        </p:nvSpPr>
        <p:spPr>
          <a:xfrm>
            <a:off x="457200" y="8039100"/>
            <a:ext cx="6642100" cy="1333500"/>
          </a:xfrm>
          <a:prstGeom prst="rect">
            <a:avLst/>
          </a:prstGeom>
          <a:solidFill>
            <a:srgbClr val="252525"/>
          </a:solidFill>
          <a:ln w="12700">
            <a:solidFill>
              <a:srgbClr val="252525"/>
            </a:solidFill>
            <a:prstDash val="solid"/>
          </a:ln>
        </p:spPr>
      </p:sp>
      <p:sp>
        <p:nvSpPr>
          <p:cNvPr id="31" name="Text 29"/>
          <p:cNvSpPr/>
          <p:nvPr/>
        </p:nvSpPr>
        <p:spPr>
          <a:xfrm>
            <a:off x="635000" y="8191500"/>
            <a:ext cx="62865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32" name="Text 30"/>
          <p:cNvSpPr/>
          <p:nvPr/>
        </p:nvSpPr>
        <p:spPr>
          <a:xfrm>
            <a:off x="635000" y="8470900"/>
            <a:ext cx="6286500" cy="8001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We think culture matters. But different histories, resources and starting points make “Africa versus Asia” the wrong shortcut.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THE GAP</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1960: almost level. Not identical.</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Ghana and South Korea were close in income per person—not in every starting condition.</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Income per person is an average, not a typical wage or a measure of inequality. Similar income does not mean the same history.</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03</a:t>
            </a:r>
            <a:endParaRPr lang="en-US" sz="1000" dirty="0"/>
          </a:p>
        </p:txBody>
      </p:sp>
      <p:sp>
        <p:nvSpPr>
          <p:cNvPr id="12" name="Text 10"/>
          <p:cNvSpPr/>
          <p:nvPr/>
        </p:nvSpPr>
        <p:spPr>
          <a:xfrm>
            <a:off x="457200" y="3035300"/>
            <a:ext cx="3162300" cy="685800"/>
          </a:xfrm>
          <a:prstGeom prst="rect">
            <a:avLst/>
          </a:prstGeom>
          <a:noFill/>
          <a:ln/>
        </p:spPr>
        <p:txBody>
          <a:bodyPr wrap="square" lIns="0" tIns="0" rIns="0" bIns="0" rtlCol="0" anchor="t"/>
          <a:lstStyle/>
          <a:p>
            <a:pPr indent="0" marL="0">
              <a:lnSpc>
                <a:spcPct val="112000"/>
              </a:lnSpc>
              <a:buNone/>
            </a:pPr>
            <a:r>
              <a:rPr lang="en-US" sz="3400" b="1" dirty="0">
                <a:solidFill>
                  <a:srgbClr val="B95332"/>
                </a:solidFill>
                <a:latin typeface="Montserrat" pitchFamily="34" charset="0"/>
                <a:ea typeface="Montserrat" pitchFamily="34" charset="-122"/>
                <a:cs typeface="Montserrat" pitchFamily="34" charset="-120"/>
              </a:rPr>
              <a:t>US$1,101</a:t>
            </a:r>
            <a:endParaRPr lang="en-US" sz="3400" dirty="0"/>
          </a:p>
        </p:txBody>
      </p:sp>
      <p:sp>
        <p:nvSpPr>
          <p:cNvPr id="13" name="Text 11"/>
          <p:cNvSpPr/>
          <p:nvPr/>
        </p:nvSpPr>
        <p:spPr>
          <a:xfrm>
            <a:off x="3937000" y="3035300"/>
            <a:ext cx="3162300" cy="685800"/>
          </a:xfrm>
          <a:prstGeom prst="rect">
            <a:avLst/>
          </a:prstGeom>
          <a:noFill/>
          <a:ln/>
        </p:spPr>
        <p:txBody>
          <a:bodyPr wrap="square" lIns="0" tIns="0" rIns="0" bIns="0" rtlCol="0" anchor="t"/>
          <a:lstStyle/>
          <a:p>
            <a:pPr indent="0" marL="0">
              <a:lnSpc>
                <a:spcPct val="112000"/>
              </a:lnSpc>
              <a:buNone/>
            </a:pPr>
            <a:r>
              <a:rPr lang="en-US" sz="3400" b="1" dirty="0">
                <a:solidFill>
                  <a:srgbClr val="315A78"/>
                </a:solidFill>
                <a:latin typeface="Montserrat" pitchFamily="34" charset="0"/>
                <a:ea typeface="Montserrat" pitchFamily="34" charset="-122"/>
                <a:cs typeface="Montserrat" pitchFamily="34" charset="-120"/>
              </a:rPr>
              <a:t>US$1,038</a:t>
            </a:r>
            <a:endParaRPr lang="en-US" sz="3400" dirty="0"/>
          </a:p>
        </p:txBody>
      </p:sp>
      <p:sp>
        <p:nvSpPr>
          <p:cNvPr id="14" name="Shape 12"/>
          <p:cNvSpPr/>
          <p:nvPr/>
        </p:nvSpPr>
        <p:spPr>
          <a:xfrm>
            <a:off x="457200" y="3886200"/>
            <a:ext cx="127000" cy="127000"/>
          </a:xfrm>
          <a:prstGeom prst="ellipse">
            <a:avLst/>
          </a:prstGeom>
          <a:solidFill>
            <a:srgbClr val="B95332"/>
          </a:solidFill>
          <a:ln w="7620">
            <a:solidFill>
              <a:srgbClr val="252525"/>
            </a:solidFill>
            <a:prstDash val="solid"/>
          </a:ln>
        </p:spPr>
      </p:sp>
      <p:sp>
        <p:nvSpPr>
          <p:cNvPr id="15" name="Text 13"/>
          <p:cNvSpPr/>
          <p:nvPr/>
        </p:nvSpPr>
        <p:spPr>
          <a:xfrm>
            <a:off x="711200" y="38354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16" name="Shape 14"/>
          <p:cNvSpPr/>
          <p:nvPr/>
        </p:nvSpPr>
        <p:spPr>
          <a:xfrm>
            <a:off x="3937000" y="3886200"/>
            <a:ext cx="127000" cy="127000"/>
          </a:xfrm>
          <a:prstGeom prst="diamond">
            <a:avLst/>
          </a:prstGeom>
          <a:solidFill>
            <a:srgbClr val="315A78"/>
          </a:solidFill>
          <a:ln w="7620">
            <a:solidFill>
              <a:srgbClr val="252525"/>
            </a:solidFill>
            <a:prstDash val="solid"/>
          </a:ln>
        </p:spPr>
      </p:sp>
      <p:sp>
        <p:nvSpPr>
          <p:cNvPr id="17" name="Text 15"/>
          <p:cNvSpPr/>
          <p:nvPr/>
        </p:nvSpPr>
        <p:spPr>
          <a:xfrm>
            <a:off x="4191000" y="38354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18" name="Text 16"/>
          <p:cNvSpPr/>
          <p:nvPr/>
        </p:nvSpPr>
        <p:spPr>
          <a:xfrm>
            <a:off x="457200" y="4406900"/>
            <a:ext cx="6642100" cy="4445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Montserrat" pitchFamily="34" charset="0"/>
                <a:ea typeface="Montserrat" pitchFamily="34" charset="-122"/>
                <a:cs typeface="Montserrat" pitchFamily="34" charset="-120"/>
              </a:rPr>
              <a:t>Just US$63 apart.</a:t>
            </a:r>
            <a:endParaRPr lang="en-US" sz="2100" dirty="0"/>
          </a:p>
        </p:txBody>
      </p:sp>
      <p:sp>
        <p:nvSpPr>
          <p:cNvPr id="19" name="Shape 17"/>
          <p:cNvSpPr/>
          <p:nvPr/>
        </p:nvSpPr>
        <p:spPr>
          <a:xfrm>
            <a:off x="457200" y="5232400"/>
            <a:ext cx="127000" cy="127000"/>
          </a:xfrm>
          <a:prstGeom prst="ellipse">
            <a:avLst/>
          </a:prstGeom>
          <a:solidFill>
            <a:srgbClr val="B95332"/>
          </a:solidFill>
          <a:ln w="7620">
            <a:solidFill>
              <a:srgbClr val="252525"/>
            </a:solidFill>
            <a:prstDash val="solid"/>
          </a:ln>
        </p:spPr>
      </p:sp>
      <p:sp>
        <p:nvSpPr>
          <p:cNvPr id="20" name="Text 18"/>
          <p:cNvSpPr/>
          <p:nvPr/>
        </p:nvSpPr>
        <p:spPr>
          <a:xfrm>
            <a:off x="711200" y="51816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21" name="Shape 19"/>
          <p:cNvSpPr/>
          <p:nvPr/>
        </p:nvSpPr>
        <p:spPr>
          <a:xfrm>
            <a:off x="2705100" y="5295900"/>
            <a:ext cx="2283349" cy="76200"/>
          </a:xfrm>
          <a:prstGeom prst="rect">
            <a:avLst/>
          </a:prstGeom>
          <a:solidFill>
            <a:srgbClr val="B95332"/>
          </a:solidFill>
          <a:ln w="12700">
            <a:solidFill>
              <a:srgbClr val="B95332"/>
            </a:solidFill>
            <a:prstDash val="solid"/>
          </a:ln>
        </p:spPr>
      </p:sp>
      <p:sp>
        <p:nvSpPr>
          <p:cNvPr id="22" name="Shape 20"/>
          <p:cNvSpPr/>
          <p:nvPr/>
        </p:nvSpPr>
        <p:spPr>
          <a:xfrm>
            <a:off x="4950349" y="5295900"/>
            <a:ext cx="76200" cy="76200"/>
          </a:xfrm>
          <a:prstGeom prst="ellipse">
            <a:avLst/>
          </a:prstGeom>
          <a:solidFill>
            <a:srgbClr val="B95332"/>
          </a:solidFill>
          <a:ln w="7620">
            <a:solidFill>
              <a:srgbClr val="252525"/>
            </a:solidFill>
            <a:prstDash val="solid"/>
          </a:ln>
        </p:spPr>
      </p:sp>
      <p:sp>
        <p:nvSpPr>
          <p:cNvPr id="23" name="Text 21"/>
          <p:cNvSpPr/>
          <p:nvPr/>
        </p:nvSpPr>
        <p:spPr>
          <a:xfrm>
            <a:off x="5956300" y="51943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US$1,101</a:t>
            </a:r>
            <a:endParaRPr lang="en-US" sz="950" dirty="0"/>
          </a:p>
        </p:txBody>
      </p:sp>
      <p:sp>
        <p:nvSpPr>
          <p:cNvPr id="24" name="Shape 22"/>
          <p:cNvSpPr/>
          <p:nvPr/>
        </p:nvSpPr>
        <p:spPr>
          <a:xfrm>
            <a:off x="457200" y="5727700"/>
            <a:ext cx="127000" cy="127000"/>
          </a:xfrm>
          <a:prstGeom prst="rect">
            <a:avLst/>
          </a:prstGeom>
          <a:solidFill>
            <a:srgbClr val="3F684E"/>
          </a:solidFill>
          <a:ln w="7620">
            <a:solidFill>
              <a:srgbClr val="252525"/>
            </a:solidFill>
            <a:prstDash val="solid"/>
          </a:ln>
        </p:spPr>
      </p:sp>
      <p:sp>
        <p:nvSpPr>
          <p:cNvPr id="25" name="Text 23"/>
          <p:cNvSpPr/>
          <p:nvPr/>
        </p:nvSpPr>
        <p:spPr>
          <a:xfrm>
            <a:off x="711200" y="56769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26" name="Shape 24"/>
          <p:cNvSpPr/>
          <p:nvPr/>
        </p:nvSpPr>
        <p:spPr>
          <a:xfrm>
            <a:off x="2705100" y="5791200"/>
            <a:ext cx="817001" cy="76200"/>
          </a:xfrm>
          <a:prstGeom prst="rect">
            <a:avLst/>
          </a:prstGeom>
          <a:solidFill>
            <a:srgbClr val="3F684E"/>
          </a:solidFill>
          <a:ln w="12700">
            <a:solidFill>
              <a:srgbClr val="3F684E"/>
            </a:solidFill>
            <a:prstDash val="solid"/>
          </a:ln>
        </p:spPr>
      </p:sp>
      <p:sp>
        <p:nvSpPr>
          <p:cNvPr id="27" name="Shape 25"/>
          <p:cNvSpPr/>
          <p:nvPr/>
        </p:nvSpPr>
        <p:spPr>
          <a:xfrm>
            <a:off x="3484001" y="5791200"/>
            <a:ext cx="76200" cy="76200"/>
          </a:xfrm>
          <a:prstGeom prst="rect">
            <a:avLst/>
          </a:prstGeom>
          <a:solidFill>
            <a:srgbClr val="3F684E"/>
          </a:solidFill>
          <a:ln w="7620">
            <a:solidFill>
              <a:srgbClr val="252525"/>
            </a:solidFill>
            <a:prstDash val="solid"/>
          </a:ln>
        </p:spPr>
      </p:sp>
      <p:sp>
        <p:nvSpPr>
          <p:cNvPr id="28" name="Text 26"/>
          <p:cNvSpPr/>
          <p:nvPr/>
        </p:nvSpPr>
        <p:spPr>
          <a:xfrm>
            <a:off x="5956300" y="56896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US$394</a:t>
            </a:r>
            <a:endParaRPr lang="en-US" sz="950" dirty="0"/>
          </a:p>
        </p:txBody>
      </p:sp>
      <p:sp>
        <p:nvSpPr>
          <p:cNvPr id="29" name="Shape 27"/>
          <p:cNvSpPr/>
          <p:nvPr/>
        </p:nvSpPr>
        <p:spPr>
          <a:xfrm>
            <a:off x="457200" y="6223000"/>
            <a:ext cx="127000" cy="127000"/>
          </a:xfrm>
          <a:prstGeom prst="triangle">
            <a:avLst/>
          </a:prstGeom>
          <a:solidFill>
            <a:srgbClr val="D6A23A"/>
          </a:solidFill>
          <a:ln w="7620">
            <a:solidFill>
              <a:srgbClr val="252525"/>
            </a:solidFill>
            <a:prstDash val="solid"/>
          </a:ln>
        </p:spPr>
      </p:sp>
      <p:sp>
        <p:nvSpPr>
          <p:cNvPr id="30" name="Text 28"/>
          <p:cNvSpPr/>
          <p:nvPr/>
        </p:nvSpPr>
        <p:spPr>
          <a:xfrm>
            <a:off x="711200" y="61722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31" name="Shape 29"/>
          <p:cNvSpPr/>
          <p:nvPr/>
        </p:nvSpPr>
        <p:spPr>
          <a:xfrm>
            <a:off x="2705100" y="6267450"/>
            <a:ext cx="2944319" cy="114300"/>
          </a:xfrm>
          <a:prstGeom prst="rect">
            <a:avLst/>
          </a:prstGeom>
          <a:solidFill>
            <a:srgbClr val="252525"/>
          </a:solidFill>
          <a:ln w="12700">
            <a:solidFill>
              <a:srgbClr val="252525"/>
            </a:solidFill>
            <a:prstDash val="solid"/>
          </a:ln>
        </p:spPr>
      </p:sp>
      <p:sp>
        <p:nvSpPr>
          <p:cNvPr id="32" name="Shape 30"/>
          <p:cNvSpPr/>
          <p:nvPr/>
        </p:nvSpPr>
        <p:spPr>
          <a:xfrm>
            <a:off x="2705100" y="6286500"/>
            <a:ext cx="2944319" cy="76200"/>
          </a:xfrm>
          <a:prstGeom prst="rect">
            <a:avLst/>
          </a:prstGeom>
          <a:solidFill>
            <a:srgbClr val="D6A23A"/>
          </a:solidFill>
          <a:ln w="12700">
            <a:solidFill>
              <a:srgbClr val="D6A23A"/>
            </a:solidFill>
            <a:prstDash val="solid"/>
          </a:ln>
        </p:spPr>
      </p:sp>
      <p:sp>
        <p:nvSpPr>
          <p:cNvPr id="33" name="Shape 31"/>
          <p:cNvSpPr/>
          <p:nvPr/>
        </p:nvSpPr>
        <p:spPr>
          <a:xfrm>
            <a:off x="5611319" y="6286500"/>
            <a:ext cx="76200" cy="76200"/>
          </a:xfrm>
          <a:prstGeom prst="triangle">
            <a:avLst/>
          </a:prstGeom>
          <a:solidFill>
            <a:srgbClr val="D6A23A"/>
          </a:solidFill>
          <a:ln w="7620">
            <a:solidFill>
              <a:srgbClr val="252525"/>
            </a:solidFill>
            <a:prstDash val="solid"/>
          </a:ln>
        </p:spPr>
      </p:sp>
      <p:sp>
        <p:nvSpPr>
          <p:cNvPr id="34" name="Text 32"/>
          <p:cNvSpPr/>
          <p:nvPr/>
        </p:nvSpPr>
        <p:spPr>
          <a:xfrm>
            <a:off x="5956300" y="61849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US$1,419</a:t>
            </a:r>
            <a:endParaRPr lang="en-US" sz="950" dirty="0"/>
          </a:p>
        </p:txBody>
      </p:sp>
      <p:sp>
        <p:nvSpPr>
          <p:cNvPr id="35" name="Shape 33"/>
          <p:cNvSpPr/>
          <p:nvPr/>
        </p:nvSpPr>
        <p:spPr>
          <a:xfrm>
            <a:off x="457200" y="6718300"/>
            <a:ext cx="127000" cy="127000"/>
          </a:xfrm>
          <a:prstGeom prst="diamond">
            <a:avLst/>
          </a:prstGeom>
          <a:solidFill>
            <a:srgbClr val="315A78"/>
          </a:solidFill>
          <a:ln w="7620">
            <a:solidFill>
              <a:srgbClr val="252525"/>
            </a:solidFill>
            <a:prstDash val="solid"/>
          </a:ln>
        </p:spPr>
      </p:sp>
      <p:sp>
        <p:nvSpPr>
          <p:cNvPr id="36" name="Text 34"/>
          <p:cNvSpPr/>
          <p:nvPr/>
        </p:nvSpPr>
        <p:spPr>
          <a:xfrm>
            <a:off x="711200" y="66675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37" name="Shape 35"/>
          <p:cNvSpPr/>
          <p:nvPr/>
        </p:nvSpPr>
        <p:spPr>
          <a:xfrm>
            <a:off x="2705100" y="6781800"/>
            <a:ext cx="2152596" cy="76200"/>
          </a:xfrm>
          <a:prstGeom prst="rect">
            <a:avLst/>
          </a:prstGeom>
          <a:solidFill>
            <a:srgbClr val="315A78"/>
          </a:solidFill>
          <a:ln w="12700">
            <a:solidFill>
              <a:srgbClr val="315A78"/>
            </a:solidFill>
            <a:prstDash val="solid"/>
          </a:ln>
        </p:spPr>
      </p:sp>
      <p:sp>
        <p:nvSpPr>
          <p:cNvPr id="38" name="Shape 36"/>
          <p:cNvSpPr/>
          <p:nvPr/>
        </p:nvSpPr>
        <p:spPr>
          <a:xfrm>
            <a:off x="4819596" y="6781800"/>
            <a:ext cx="76200" cy="76200"/>
          </a:xfrm>
          <a:prstGeom prst="diamond">
            <a:avLst/>
          </a:prstGeom>
          <a:solidFill>
            <a:srgbClr val="315A78"/>
          </a:solidFill>
          <a:ln w="7620">
            <a:solidFill>
              <a:srgbClr val="252525"/>
            </a:solidFill>
            <a:prstDash val="solid"/>
          </a:ln>
        </p:spPr>
      </p:sp>
      <p:sp>
        <p:nvSpPr>
          <p:cNvPr id="39" name="Text 37"/>
          <p:cNvSpPr/>
          <p:nvPr/>
        </p:nvSpPr>
        <p:spPr>
          <a:xfrm>
            <a:off x="5956300" y="66802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US$1,038</a:t>
            </a:r>
            <a:endParaRPr lang="en-US" sz="950" dirty="0"/>
          </a:p>
        </p:txBody>
      </p:sp>
      <p:sp>
        <p:nvSpPr>
          <p:cNvPr id="40" name="Shape 38"/>
          <p:cNvSpPr/>
          <p:nvPr/>
        </p:nvSpPr>
        <p:spPr>
          <a:xfrm>
            <a:off x="457200" y="7213600"/>
            <a:ext cx="127000" cy="127000"/>
          </a:xfrm>
          <a:prstGeom prst="hexagon">
            <a:avLst/>
          </a:prstGeom>
          <a:solidFill>
            <a:srgbClr val="3E7568"/>
          </a:solidFill>
          <a:ln w="7620">
            <a:solidFill>
              <a:srgbClr val="252525"/>
            </a:solidFill>
            <a:prstDash val="solid"/>
          </a:ln>
        </p:spPr>
      </p:sp>
      <p:sp>
        <p:nvSpPr>
          <p:cNvPr id="41" name="Text 39"/>
          <p:cNvSpPr/>
          <p:nvPr/>
        </p:nvSpPr>
        <p:spPr>
          <a:xfrm>
            <a:off x="711200" y="71628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42" name="Shape 40"/>
          <p:cNvSpPr/>
          <p:nvPr/>
        </p:nvSpPr>
        <p:spPr>
          <a:xfrm>
            <a:off x="2705100" y="7277100"/>
            <a:ext cx="2626760" cy="76200"/>
          </a:xfrm>
          <a:prstGeom prst="rect">
            <a:avLst/>
          </a:prstGeom>
          <a:solidFill>
            <a:srgbClr val="3E7568"/>
          </a:solidFill>
          <a:ln w="12700">
            <a:solidFill>
              <a:srgbClr val="3E7568"/>
            </a:solidFill>
            <a:prstDash val="solid"/>
          </a:ln>
        </p:spPr>
      </p:sp>
      <p:sp>
        <p:nvSpPr>
          <p:cNvPr id="43" name="Shape 41"/>
          <p:cNvSpPr/>
          <p:nvPr/>
        </p:nvSpPr>
        <p:spPr>
          <a:xfrm>
            <a:off x="5293760" y="7277100"/>
            <a:ext cx="76200" cy="76200"/>
          </a:xfrm>
          <a:prstGeom prst="hexagon">
            <a:avLst/>
          </a:prstGeom>
          <a:solidFill>
            <a:srgbClr val="3E7568"/>
          </a:solidFill>
          <a:ln w="7620">
            <a:solidFill>
              <a:srgbClr val="252525"/>
            </a:solidFill>
            <a:prstDash val="solid"/>
          </a:ln>
        </p:spPr>
      </p:sp>
      <p:sp>
        <p:nvSpPr>
          <p:cNvPr id="44" name="Text 42"/>
          <p:cNvSpPr/>
          <p:nvPr/>
        </p:nvSpPr>
        <p:spPr>
          <a:xfrm>
            <a:off x="5956300" y="71755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US$1,266 †</a:t>
            </a:r>
            <a:endParaRPr lang="en-US" sz="950" dirty="0"/>
          </a:p>
        </p:txBody>
      </p:sp>
      <p:sp>
        <p:nvSpPr>
          <p:cNvPr id="45" name="Shape 43"/>
          <p:cNvSpPr/>
          <p:nvPr/>
        </p:nvSpPr>
        <p:spPr>
          <a:xfrm>
            <a:off x="457200" y="7752080"/>
            <a:ext cx="127000" cy="40640"/>
          </a:xfrm>
          <a:prstGeom prst="rect">
            <a:avLst/>
          </a:prstGeom>
          <a:solidFill>
            <a:srgbClr val="252525"/>
          </a:solidFill>
          <a:ln w="12700">
            <a:solidFill>
              <a:srgbClr val="252525"/>
            </a:solidFill>
            <a:prstDash val="solid"/>
          </a:ln>
        </p:spPr>
      </p:sp>
      <p:sp>
        <p:nvSpPr>
          <p:cNvPr id="46" name="Shape 44"/>
          <p:cNvSpPr/>
          <p:nvPr/>
        </p:nvSpPr>
        <p:spPr>
          <a:xfrm>
            <a:off x="500380" y="7708900"/>
            <a:ext cx="40640" cy="127000"/>
          </a:xfrm>
          <a:prstGeom prst="rect">
            <a:avLst/>
          </a:prstGeom>
          <a:solidFill>
            <a:srgbClr val="252525"/>
          </a:solidFill>
          <a:ln w="12700">
            <a:solidFill>
              <a:srgbClr val="252525"/>
            </a:solidFill>
            <a:prstDash val="solid"/>
          </a:ln>
        </p:spPr>
      </p:sp>
      <p:sp>
        <p:nvSpPr>
          <p:cNvPr id="47" name="Shape 45"/>
          <p:cNvSpPr/>
          <p:nvPr/>
        </p:nvSpPr>
        <p:spPr>
          <a:xfrm>
            <a:off x="457200" y="7760970"/>
            <a:ext cx="127000" cy="22860"/>
          </a:xfrm>
          <a:prstGeom prst="rect">
            <a:avLst/>
          </a:prstGeom>
          <a:solidFill>
            <a:srgbClr val="A63A3A"/>
          </a:solidFill>
          <a:ln w="12700">
            <a:solidFill>
              <a:srgbClr val="A63A3A"/>
            </a:solidFill>
            <a:prstDash val="solid"/>
          </a:ln>
        </p:spPr>
      </p:sp>
      <p:sp>
        <p:nvSpPr>
          <p:cNvPr id="48" name="Shape 46"/>
          <p:cNvSpPr/>
          <p:nvPr/>
        </p:nvSpPr>
        <p:spPr>
          <a:xfrm>
            <a:off x="509270" y="7708900"/>
            <a:ext cx="22860" cy="127000"/>
          </a:xfrm>
          <a:prstGeom prst="rect">
            <a:avLst/>
          </a:prstGeom>
          <a:solidFill>
            <a:srgbClr val="A63A3A"/>
          </a:solidFill>
          <a:ln w="12700">
            <a:solidFill>
              <a:srgbClr val="A63A3A"/>
            </a:solidFill>
            <a:prstDash val="solid"/>
          </a:ln>
        </p:spPr>
      </p:sp>
      <p:sp>
        <p:nvSpPr>
          <p:cNvPr id="49" name="Text 47"/>
          <p:cNvSpPr/>
          <p:nvPr/>
        </p:nvSpPr>
        <p:spPr>
          <a:xfrm>
            <a:off x="711200" y="76581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50" name="Shape 48"/>
          <p:cNvSpPr/>
          <p:nvPr/>
        </p:nvSpPr>
        <p:spPr>
          <a:xfrm>
            <a:off x="2705100" y="7772400"/>
            <a:ext cx="2331099" cy="76200"/>
          </a:xfrm>
          <a:prstGeom prst="rect">
            <a:avLst/>
          </a:prstGeom>
          <a:solidFill>
            <a:srgbClr val="A63A3A"/>
          </a:solidFill>
          <a:ln w="12700">
            <a:solidFill>
              <a:srgbClr val="A63A3A"/>
            </a:solidFill>
            <a:prstDash val="solid"/>
          </a:ln>
        </p:spPr>
      </p:sp>
      <p:sp>
        <p:nvSpPr>
          <p:cNvPr id="51" name="Shape 49"/>
          <p:cNvSpPr/>
          <p:nvPr/>
        </p:nvSpPr>
        <p:spPr>
          <a:xfrm>
            <a:off x="4998099" y="7790180"/>
            <a:ext cx="76200" cy="40640"/>
          </a:xfrm>
          <a:prstGeom prst="rect">
            <a:avLst/>
          </a:prstGeom>
          <a:solidFill>
            <a:srgbClr val="252525"/>
          </a:solidFill>
          <a:ln w="12700">
            <a:solidFill>
              <a:srgbClr val="252525"/>
            </a:solidFill>
            <a:prstDash val="solid"/>
          </a:ln>
        </p:spPr>
      </p:sp>
      <p:sp>
        <p:nvSpPr>
          <p:cNvPr id="52" name="Shape 50"/>
          <p:cNvSpPr/>
          <p:nvPr/>
        </p:nvSpPr>
        <p:spPr>
          <a:xfrm>
            <a:off x="5015879" y="7772400"/>
            <a:ext cx="40640" cy="76200"/>
          </a:xfrm>
          <a:prstGeom prst="rect">
            <a:avLst/>
          </a:prstGeom>
          <a:solidFill>
            <a:srgbClr val="252525"/>
          </a:solidFill>
          <a:ln w="12700">
            <a:solidFill>
              <a:srgbClr val="252525"/>
            </a:solidFill>
            <a:prstDash val="solid"/>
          </a:ln>
        </p:spPr>
      </p:sp>
      <p:sp>
        <p:nvSpPr>
          <p:cNvPr id="53" name="Shape 51"/>
          <p:cNvSpPr/>
          <p:nvPr/>
        </p:nvSpPr>
        <p:spPr>
          <a:xfrm>
            <a:off x="4998099" y="7799070"/>
            <a:ext cx="76200" cy="22860"/>
          </a:xfrm>
          <a:prstGeom prst="rect">
            <a:avLst/>
          </a:prstGeom>
          <a:solidFill>
            <a:srgbClr val="A63A3A"/>
          </a:solidFill>
          <a:ln w="12700">
            <a:solidFill>
              <a:srgbClr val="A63A3A"/>
            </a:solidFill>
            <a:prstDash val="solid"/>
          </a:ln>
        </p:spPr>
      </p:sp>
      <p:sp>
        <p:nvSpPr>
          <p:cNvPr id="54" name="Shape 52"/>
          <p:cNvSpPr/>
          <p:nvPr/>
        </p:nvSpPr>
        <p:spPr>
          <a:xfrm>
            <a:off x="5024769" y="7772400"/>
            <a:ext cx="22860" cy="76200"/>
          </a:xfrm>
          <a:prstGeom prst="rect">
            <a:avLst/>
          </a:prstGeom>
          <a:solidFill>
            <a:srgbClr val="A63A3A"/>
          </a:solidFill>
          <a:ln w="12700">
            <a:solidFill>
              <a:srgbClr val="A63A3A"/>
            </a:solidFill>
            <a:prstDash val="solid"/>
          </a:ln>
        </p:spPr>
      </p:sp>
      <p:sp>
        <p:nvSpPr>
          <p:cNvPr id="55" name="Text 53"/>
          <p:cNvSpPr/>
          <p:nvPr/>
        </p:nvSpPr>
        <p:spPr>
          <a:xfrm>
            <a:off x="5956300" y="76708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US$1,124</a:t>
            </a:r>
            <a:endParaRPr lang="en-US" sz="950" dirty="0"/>
          </a:p>
        </p:txBody>
      </p:sp>
      <p:sp>
        <p:nvSpPr>
          <p:cNvPr id="56" name="Text 54"/>
          <p:cNvSpPr/>
          <p:nvPr/>
        </p:nvSpPr>
        <p:spPr>
          <a:xfrm>
            <a:off x="457200" y="8394700"/>
            <a:ext cx="6642100" cy="4191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Bar scale: US$0–1,500. † Malaysia: retrospective territorial series; 1960 predates the 1963 federation and Singapore’s 1965 exit.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THE GAP</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2020: the paths have split.</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The same income measure. Six very different outcomes.</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This is the COVID-19 year. The comparison does not measure purchasing power, freedom, health or the causes of growth.</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04</a:t>
            </a:r>
            <a:endParaRPr lang="en-US" sz="1000" dirty="0"/>
          </a:p>
        </p:txBody>
      </p:sp>
      <p:sp>
        <p:nvSpPr>
          <p:cNvPr id="12" name="Shape 10"/>
          <p:cNvSpPr/>
          <p:nvPr/>
        </p:nvSpPr>
        <p:spPr>
          <a:xfrm>
            <a:off x="457200" y="3289300"/>
            <a:ext cx="127000" cy="127000"/>
          </a:xfrm>
          <a:prstGeom prst="ellipse">
            <a:avLst/>
          </a:prstGeom>
          <a:solidFill>
            <a:srgbClr val="B95332"/>
          </a:solidFill>
          <a:ln w="7620">
            <a:solidFill>
              <a:srgbClr val="252525"/>
            </a:solidFill>
            <a:prstDash val="solid"/>
          </a:ln>
        </p:spPr>
      </p:sp>
      <p:sp>
        <p:nvSpPr>
          <p:cNvPr id="13" name="Text 11"/>
          <p:cNvSpPr/>
          <p:nvPr/>
        </p:nvSpPr>
        <p:spPr>
          <a:xfrm>
            <a:off x="711200" y="32385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14" name="Shape 12"/>
          <p:cNvSpPr/>
          <p:nvPr/>
        </p:nvSpPr>
        <p:spPr>
          <a:xfrm>
            <a:off x="2590800" y="3359150"/>
            <a:ext cx="171576" cy="114300"/>
          </a:xfrm>
          <a:prstGeom prst="rect">
            <a:avLst/>
          </a:prstGeom>
          <a:solidFill>
            <a:srgbClr val="B95332"/>
          </a:solidFill>
          <a:ln w="12700">
            <a:solidFill>
              <a:srgbClr val="B95332"/>
            </a:solidFill>
            <a:prstDash val="solid"/>
          </a:ln>
        </p:spPr>
      </p:sp>
      <p:sp>
        <p:nvSpPr>
          <p:cNvPr id="15" name="Shape 13"/>
          <p:cNvSpPr/>
          <p:nvPr/>
        </p:nvSpPr>
        <p:spPr>
          <a:xfrm>
            <a:off x="2724276" y="3378200"/>
            <a:ext cx="76200" cy="76200"/>
          </a:xfrm>
          <a:prstGeom prst="ellipse">
            <a:avLst/>
          </a:prstGeom>
          <a:solidFill>
            <a:srgbClr val="B95332"/>
          </a:solidFill>
          <a:ln w="7620">
            <a:solidFill>
              <a:srgbClr val="252525"/>
            </a:solidFill>
            <a:prstDash val="solid"/>
          </a:ln>
        </p:spPr>
      </p:sp>
      <p:sp>
        <p:nvSpPr>
          <p:cNvPr id="16" name="Text 14"/>
          <p:cNvSpPr/>
          <p:nvPr/>
        </p:nvSpPr>
        <p:spPr>
          <a:xfrm>
            <a:off x="5803900" y="32639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US$1,970</a:t>
            </a:r>
            <a:endParaRPr lang="en-US" sz="1200" dirty="0"/>
          </a:p>
        </p:txBody>
      </p:sp>
      <p:sp>
        <p:nvSpPr>
          <p:cNvPr id="17" name="Shape 15"/>
          <p:cNvSpPr/>
          <p:nvPr/>
        </p:nvSpPr>
        <p:spPr>
          <a:xfrm>
            <a:off x="457200" y="4038600"/>
            <a:ext cx="127000" cy="127000"/>
          </a:xfrm>
          <a:prstGeom prst="rect">
            <a:avLst/>
          </a:prstGeom>
          <a:solidFill>
            <a:srgbClr val="3F684E"/>
          </a:solidFill>
          <a:ln w="7620">
            <a:solidFill>
              <a:srgbClr val="252525"/>
            </a:solidFill>
            <a:prstDash val="solid"/>
          </a:ln>
        </p:spPr>
      </p:sp>
      <p:sp>
        <p:nvSpPr>
          <p:cNvPr id="18" name="Text 16"/>
          <p:cNvSpPr/>
          <p:nvPr/>
        </p:nvSpPr>
        <p:spPr>
          <a:xfrm>
            <a:off x="711200" y="39878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19" name="Shape 17"/>
          <p:cNvSpPr/>
          <p:nvPr/>
        </p:nvSpPr>
        <p:spPr>
          <a:xfrm>
            <a:off x="2590800" y="4108450"/>
            <a:ext cx="544656" cy="114300"/>
          </a:xfrm>
          <a:prstGeom prst="rect">
            <a:avLst/>
          </a:prstGeom>
          <a:solidFill>
            <a:srgbClr val="3F684E"/>
          </a:solidFill>
          <a:ln w="12700">
            <a:solidFill>
              <a:srgbClr val="3F684E"/>
            </a:solidFill>
            <a:prstDash val="solid"/>
          </a:ln>
        </p:spPr>
      </p:sp>
      <p:sp>
        <p:nvSpPr>
          <p:cNvPr id="20" name="Shape 18"/>
          <p:cNvSpPr/>
          <p:nvPr/>
        </p:nvSpPr>
        <p:spPr>
          <a:xfrm>
            <a:off x="3097356" y="4127500"/>
            <a:ext cx="76200" cy="76200"/>
          </a:xfrm>
          <a:prstGeom prst="rect">
            <a:avLst/>
          </a:prstGeom>
          <a:solidFill>
            <a:srgbClr val="3F684E"/>
          </a:solidFill>
          <a:ln w="7620">
            <a:solidFill>
              <a:srgbClr val="252525"/>
            </a:solidFill>
            <a:prstDash val="solid"/>
          </a:ln>
        </p:spPr>
      </p:sp>
      <p:sp>
        <p:nvSpPr>
          <p:cNvPr id="21" name="Text 19"/>
          <p:cNvSpPr/>
          <p:nvPr/>
        </p:nvSpPr>
        <p:spPr>
          <a:xfrm>
            <a:off x="5803900" y="40132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US$6,254</a:t>
            </a:r>
            <a:endParaRPr lang="en-US" sz="1200" dirty="0"/>
          </a:p>
        </p:txBody>
      </p:sp>
      <p:sp>
        <p:nvSpPr>
          <p:cNvPr id="22" name="Shape 20"/>
          <p:cNvSpPr/>
          <p:nvPr/>
        </p:nvSpPr>
        <p:spPr>
          <a:xfrm>
            <a:off x="457200" y="4787900"/>
            <a:ext cx="127000" cy="127000"/>
          </a:xfrm>
          <a:prstGeom prst="triangle">
            <a:avLst/>
          </a:prstGeom>
          <a:solidFill>
            <a:srgbClr val="D6A23A"/>
          </a:solidFill>
          <a:ln w="7620">
            <a:solidFill>
              <a:srgbClr val="252525"/>
            </a:solidFill>
            <a:prstDash val="solid"/>
          </a:ln>
        </p:spPr>
      </p:sp>
      <p:sp>
        <p:nvSpPr>
          <p:cNvPr id="23" name="Text 21"/>
          <p:cNvSpPr/>
          <p:nvPr/>
        </p:nvSpPr>
        <p:spPr>
          <a:xfrm>
            <a:off x="711200" y="47371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24" name="Shape 22"/>
          <p:cNvSpPr/>
          <p:nvPr/>
        </p:nvSpPr>
        <p:spPr>
          <a:xfrm>
            <a:off x="2590800" y="4838700"/>
            <a:ext cx="830240" cy="152400"/>
          </a:xfrm>
          <a:prstGeom prst="rect">
            <a:avLst/>
          </a:prstGeom>
          <a:solidFill>
            <a:srgbClr val="252525"/>
          </a:solidFill>
          <a:ln w="12700">
            <a:solidFill>
              <a:srgbClr val="252525"/>
            </a:solidFill>
            <a:prstDash val="solid"/>
          </a:ln>
        </p:spPr>
      </p:sp>
      <p:sp>
        <p:nvSpPr>
          <p:cNvPr id="25" name="Shape 23"/>
          <p:cNvSpPr/>
          <p:nvPr/>
        </p:nvSpPr>
        <p:spPr>
          <a:xfrm>
            <a:off x="2590800" y="4857750"/>
            <a:ext cx="830240" cy="114300"/>
          </a:xfrm>
          <a:prstGeom prst="rect">
            <a:avLst/>
          </a:prstGeom>
          <a:solidFill>
            <a:srgbClr val="D6A23A"/>
          </a:solidFill>
          <a:ln w="12700">
            <a:solidFill>
              <a:srgbClr val="D6A23A"/>
            </a:solidFill>
            <a:prstDash val="solid"/>
          </a:ln>
        </p:spPr>
      </p:sp>
      <p:sp>
        <p:nvSpPr>
          <p:cNvPr id="26" name="Shape 24"/>
          <p:cNvSpPr/>
          <p:nvPr/>
        </p:nvSpPr>
        <p:spPr>
          <a:xfrm>
            <a:off x="3382940" y="4876800"/>
            <a:ext cx="76200" cy="76200"/>
          </a:xfrm>
          <a:prstGeom prst="triangle">
            <a:avLst/>
          </a:prstGeom>
          <a:solidFill>
            <a:srgbClr val="D6A23A"/>
          </a:solidFill>
          <a:ln w="7620">
            <a:solidFill>
              <a:srgbClr val="252525"/>
            </a:solidFill>
            <a:prstDash val="solid"/>
          </a:ln>
        </p:spPr>
      </p:sp>
      <p:sp>
        <p:nvSpPr>
          <p:cNvPr id="27" name="Text 25"/>
          <p:cNvSpPr/>
          <p:nvPr/>
        </p:nvSpPr>
        <p:spPr>
          <a:xfrm>
            <a:off x="5803900" y="47625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US$9,534</a:t>
            </a:r>
            <a:endParaRPr lang="en-US" sz="1200" dirty="0"/>
          </a:p>
        </p:txBody>
      </p:sp>
      <p:sp>
        <p:nvSpPr>
          <p:cNvPr id="28" name="Shape 26"/>
          <p:cNvSpPr/>
          <p:nvPr/>
        </p:nvSpPr>
        <p:spPr>
          <a:xfrm>
            <a:off x="457200" y="5537200"/>
            <a:ext cx="127000" cy="127000"/>
          </a:xfrm>
          <a:prstGeom prst="diamond">
            <a:avLst/>
          </a:prstGeom>
          <a:solidFill>
            <a:srgbClr val="315A78"/>
          </a:solidFill>
          <a:ln w="7620">
            <a:solidFill>
              <a:srgbClr val="252525"/>
            </a:solidFill>
            <a:prstDash val="solid"/>
          </a:ln>
        </p:spPr>
      </p:sp>
      <p:sp>
        <p:nvSpPr>
          <p:cNvPr id="29" name="Text 27"/>
          <p:cNvSpPr/>
          <p:nvPr/>
        </p:nvSpPr>
        <p:spPr>
          <a:xfrm>
            <a:off x="711200" y="54864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30" name="Shape 28"/>
          <p:cNvSpPr/>
          <p:nvPr/>
        </p:nvSpPr>
        <p:spPr>
          <a:xfrm>
            <a:off x="2590800" y="5607050"/>
            <a:ext cx="2892633" cy="114300"/>
          </a:xfrm>
          <a:prstGeom prst="rect">
            <a:avLst/>
          </a:prstGeom>
          <a:solidFill>
            <a:srgbClr val="315A78"/>
          </a:solidFill>
          <a:ln w="12700">
            <a:solidFill>
              <a:srgbClr val="315A78"/>
            </a:solidFill>
            <a:prstDash val="solid"/>
          </a:ln>
        </p:spPr>
      </p:sp>
      <p:sp>
        <p:nvSpPr>
          <p:cNvPr id="31" name="Shape 29"/>
          <p:cNvSpPr/>
          <p:nvPr/>
        </p:nvSpPr>
        <p:spPr>
          <a:xfrm>
            <a:off x="5445333" y="5626100"/>
            <a:ext cx="76200" cy="76200"/>
          </a:xfrm>
          <a:prstGeom prst="diamond">
            <a:avLst/>
          </a:prstGeom>
          <a:solidFill>
            <a:srgbClr val="315A78"/>
          </a:solidFill>
          <a:ln w="7620">
            <a:solidFill>
              <a:srgbClr val="252525"/>
            </a:solidFill>
            <a:prstDash val="solid"/>
          </a:ln>
        </p:spPr>
      </p:sp>
      <p:sp>
        <p:nvSpPr>
          <p:cNvPr id="32" name="Text 30"/>
          <p:cNvSpPr/>
          <p:nvPr/>
        </p:nvSpPr>
        <p:spPr>
          <a:xfrm>
            <a:off x="5803900" y="55118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US$33,216</a:t>
            </a:r>
            <a:endParaRPr lang="en-US" sz="1200" dirty="0"/>
          </a:p>
        </p:txBody>
      </p:sp>
      <p:sp>
        <p:nvSpPr>
          <p:cNvPr id="33" name="Shape 31"/>
          <p:cNvSpPr/>
          <p:nvPr/>
        </p:nvSpPr>
        <p:spPr>
          <a:xfrm>
            <a:off x="457200" y="6286500"/>
            <a:ext cx="127000" cy="127000"/>
          </a:xfrm>
          <a:prstGeom prst="hexagon">
            <a:avLst/>
          </a:prstGeom>
          <a:solidFill>
            <a:srgbClr val="3E7568"/>
          </a:solidFill>
          <a:ln w="7620">
            <a:solidFill>
              <a:srgbClr val="252525"/>
            </a:solidFill>
            <a:prstDash val="solid"/>
          </a:ln>
        </p:spPr>
      </p:sp>
      <p:sp>
        <p:nvSpPr>
          <p:cNvPr id="34" name="Text 32"/>
          <p:cNvSpPr/>
          <p:nvPr/>
        </p:nvSpPr>
        <p:spPr>
          <a:xfrm>
            <a:off x="711200" y="62357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35" name="Shape 33"/>
          <p:cNvSpPr/>
          <p:nvPr/>
        </p:nvSpPr>
        <p:spPr>
          <a:xfrm>
            <a:off x="2590800" y="6356350"/>
            <a:ext cx="885789" cy="114300"/>
          </a:xfrm>
          <a:prstGeom prst="rect">
            <a:avLst/>
          </a:prstGeom>
          <a:solidFill>
            <a:srgbClr val="3E7568"/>
          </a:solidFill>
          <a:ln w="12700">
            <a:solidFill>
              <a:srgbClr val="3E7568"/>
            </a:solidFill>
            <a:prstDash val="solid"/>
          </a:ln>
        </p:spPr>
      </p:sp>
      <p:sp>
        <p:nvSpPr>
          <p:cNvPr id="36" name="Shape 34"/>
          <p:cNvSpPr/>
          <p:nvPr/>
        </p:nvSpPr>
        <p:spPr>
          <a:xfrm>
            <a:off x="3438489" y="6375400"/>
            <a:ext cx="76200" cy="76200"/>
          </a:xfrm>
          <a:prstGeom prst="hexagon">
            <a:avLst/>
          </a:prstGeom>
          <a:solidFill>
            <a:srgbClr val="3E7568"/>
          </a:solidFill>
          <a:ln w="7620">
            <a:solidFill>
              <a:srgbClr val="252525"/>
            </a:solidFill>
            <a:prstDash val="solid"/>
          </a:ln>
        </p:spPr>
      </p:sp>
      <p:sp>
        <p:nvSpPr>
          <p:cNvPr id="37" name="Text 35"/>
          <p:cNvSpPr/>
          <p:nvPr/>
        </p:nvSpPr>
        <p:spPr>
          <a:xfrm>
            <a:off x="5803900" y="62611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US$10,171</a:t>
            </a:r>
            <a:endParaRPr lang="en-US" sz="1200" dirty="0"/>
          </a:p>
        </p:txBody>
      </p:sp>
      <p:sp>
        <p:nvSpPr>
          <p:cNvPr id="38" name="Shape 36"/>
          <p:cNvSpPr/>
          <p:nvPr/>
        </p:nvSpPr>
        <p:spPr>
          <a:xfrm>
            <a:off x="457200" y="7078980"/>
            <a:ext cx="127000" cy="40640"/>
          </a:xfrm>
          <a:prstGeom prst="rect">
            <a:avLst/>
          </a:prstGeom>
          <a:solidFill>
            <a:srgbClr val="252525"/>
          </a:solidFill>
          <a:ln w="12700">
            <a:solidFill>
              <a:srgbClr val="252525"/>
            </a:solidFill>
            <a:prstDash val="solid"/>
          </a:ln>
        </p:spPr>
      </p:sp>
      <p:sp>
        <p:nvSpPr>
          <p:cNvPr id="39" name="Shape 37"/>
          <p:cNvSpPr/>
          <p:nvPr/>
        </p:nvSpPr>
        <p:spPr>
          <a:xfrm>
            <a:off x="500380" y="7035800"/>
            <a:ext cx="40640" cy="127000"/>
          </a:xfrm>
          <a:prstGeom prst="rect">
            <a:avLst/>
          </a:prstGeom>
          <a:solidFill>
            <a:srgbClr val="252525"/>
          </a:solidFill>
          <a:ln w="12700">
            <a:solidFill>
              <a:srgbClr val="252525"/>
            </a:solidFill>
            <a:prstDash val="solid"/>
          </a:ln>
        </p:spPr>
      </p:sp>
      <p:sp>
        <p:nvSpPr>
          <p:cNvPr id="40" name="Shape 38"/>
          <p:cNvSpPr/>
          <p:nvPr/>
        </p:nvSpPr>
        <p:spPr>
          <a:xfrm>
            <a:off x="457200" y="7087870"/>
            <a:ext cx="127000" cy="22860"/>
          </a:xfrm>
          <a:prstGeom prst="rect">
            <a:avLst/>
          </a:prstGeom>
          <a:solidFill>
            <a:srgbClr val="A63A3A"/>
          </a:solidFill>
          <a:ln w="12700">
            <a:solidFill>
              <a:srgbClr val="A63A3A"/>
            </a:solidFill>
            <a:prstDash val="solid"/>
          </a:ln>
        </p:spPr>
      </p:sp>
      <p:sp>
        <p:nvSpPr>
          <p:cNvPr id="41" name="Shape 39"/>
          <p:cNvSpPr/>
          <p:nvPr/>
        </p:nvSpPr>
        <p:spPr>
          <a:xfrm>
            <a:off x="509270" y="7035800"/>
            <a:ext cx="22860" cy="127000"/>
          </a:xfrm>
          <a:prstGeom prst="rect">
            <a:avLst/>
          </a:prstGeom>
          <a:solidFill>
            <a:srgbClr val="A63A3A"/>
          </a:solidFill>
          <a:ln w="12700">
            <a:solidFill>
              <a:srgbClr val="A63A3A"/>
            </a:solidFill>
            <a:prstDash val="solid"/>
          </a:ln>
        </p:spPr>
      </p:sp>
      <p:sp>
        <p:nvSpPr>
          <p:cNvPr id="42" name="Text 40"/>
          <p:cNvSpPr/>
          <p:nvPr/>
        </p:nvSpPr>
        <p:spPr>
          <a:xfrm>
            <a:off x="711200" y="69850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43" name="Shape 41"/>
          <p:cNvSpPr/>
          <p:nvPr/>
        </p:nvSpPr>
        <p:spPr>
          <a:xfrm>
            <a:off x="2590800" y="7105650"/>
            <a:ext cx="278558" cy="114300"/>
          </a:xfrm>
          <a:prstGeom prst="rect">
            <a:avLst/>
          </a:prstGeom>
          <a:solidFill>
            <a:srgbClr val="A63A3A"/>
          </a:solidFill>
          <a:ln w="12700">
            <a:solidFill>
              <a:srgbClr val="A63A3A"/>
            </a:solidFill>
            <a:prstDash val="solid"/>
          </a:ln>
        </p:spPr>
      </p:sp>
      <p:sp>
        <p:nvSpPr>
          <p:cNvPr id="44" name="Shape 42"/>
          <p:cNvSpPr/>
          <p:nvPr/>
        </p:nvSpPr>
        <p:spPr>
          <a:xfrm>
            <a:off x="2831258" y="7142480"/>
            <a:ext cx="76200" cy="40640"/>
          </a:xfrm>
          <a:prstGeom prst="rect">
            <a:avLst/>
          </a:prstGeom>
          <a:solidFill>
            <a:srgbClr val="252525"/>
          </a:solidFill>
          <a:ln w="12700">
            <a:solidFill>
              <a:srgbClr val="252525"/>
            </a:solidFill>
            <a:prstDash val="solid"/>
          </a:ln>
        </p:spPr>
      </p:sp>
      <p:sp>
        <p:nvSpPr>
          <p:cNvPr id="45" name="Shape 43"/>
          <p:cNvSpPr/>
          <p:nvPr/>
        </p:nvSpPr>
        <p:spPr>
          <a:xfrm>
            <a:off x="2849038" y="7124700"/>
            <a:ext cx="40640" cy="76200"/>
          </a:xfrm>
          <a:prstGeom prst="rect">
            <a:avLst/>
          </a:prstGeom>
          <a:solidFill>
            <a:srgbClr val="252525"/>
          </a:solidFill>
          <a:ln w="12700">
            <a:solidFill>
              <a:srgbClr val="252525"/>
            </a:solidFill>
            <a:prstDash val="solid"/>
          </a:ln>
        </p:spPr>
      </p:sp>
      <p:sp>
        <p:nvSpPr>
          <p:cNvPr id="46" name="Shape 44"/>
          <p:cNvSpPr/>
          <p:nvPr/>
        </p:nvSpPr>
        <p:spPr>
          <a:xfrm>
            <a:off x="2831258" y="7151370"/>
            <a:ext cx="76200" cy="22860"/>
          </a:xfrm>
          <a:prstGeom prst="rect">
            <a:avLst/>
          </a:prstGeom>
          <a:solidFill>
            <a:srgbClr val="A63A3A"/>
          </a:solidFill>
          <a:ln w="12700">
            <a:solidFill>
              <a:srgbClr val="A63A3A"/>
            </a:solidFill>
            <a:prstDash val="solid"/>
          </a:ln>
        </p:spPr>
      </p:sp>
      <p:sp>
        <p:nvSpPr>
          <p:cNvPr id="47" name="Shape 45"/>
          <p:cNvSpPr/>
          <p:nvPr/>
        </p:nvSpPr>
        <p:spPr>
          <a:xfrm>
            <a:off x="2857928" y="7124700"/>
            <a:ext cx="22860" cy="76200"/>
          </a:xfrm>
          <a:prstGeom prst="rect">
            <a:avLst/>
          </a:prstGeom>
          <a:solidFill>
            <a:srgbClr val="A63A3A"/>
          </a:solidFill>
          <a:ln w="12700">
            <a:solidFill>
              <a:srgbClr val="A63A3A"/>
            </a:solidFill>
            <a:prstDash val="solid"/>
          </a:ln>
        </p:spPr>
      </p:sp>
      <p:sp>
        <p:nvSpPr>
          <p:cNvPr id="48" name="Text 46"/>
          <p:cNvSpPr/>
          <p:nvPr/>
        </p:nvSpPr>
        <p:spPr>
          <a:xfrm>
            <a:off x="5803900" y="70104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US$3,199</a:t>
            </a:r>
            <a:endParaRPr lang="en-US" sz="1200" dirty="0"/>
          </a:p>
        </p:txBody>
      </p:sp>
      <p:sp>
        <p:nvSpPr>
          <p:cNvPr id="49" name="Text 47"/>
          <p:cNvSpPr/>
          <p:nvPr/>
        </p:nvSpPr>
        <p:spPr>
          <a:xfrm>
            <a:off x="2590800" y="7937500"/>
            <a:ext cx="571500" cy="2159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0</a:t>
            </a:r>
            <a:endParaRPr lang="en-US" sz="800" dirty="0"/>
          </a:p>
        </p:txBody>
      </p:sp>
      <p:sp>
        <p:nvSpPr>
          <p:cNvPr id="50" name="Text 48"/>
          <p:cNvSpPr/>
          <p:nvPr/>
        </p:nvSpPr>
        <p:spPr>
          <a:xfrm>
            <a:off x="4813300" y="7937500"/>
            <a:ext cx="1079500" cy="215900"/>
          </a:xfrm>
          <a:prstGeom prst="rect">
            <a:avLst/>
          </a:prstGeom>
          <a:noFill/>
          <a:ln/>
        </p:spPr>
        <p:txBody>
          <a:bodyPr wrap="square" lIns="0" tIns="0" rIns="0" bIns="0" rtlCol="0" anchor="t"/>
          <a:lstStyle/>
          <a:p>
            <a:pPr algn="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US$35,000</a:t>
            </a:r>
            <a:endParaRPr lang="en-US" sz="800" dirty="0"/>
          </a:p>
        </p:txBody>
      </p:sp>
      <p:sp>
        <p:nvSpPr>
          <p:cNvPr id="51" name="Text 49"/>
          <p:cNvSpPr/>
          <p:nvPr/>
        </p:nvSpPr>
        <p:spPr>
          <a:xfrm>
            <a:off x="457200" y="8166100"/>
            <a:ext cx="6642100" cy="698500"/>
          </a:xfrm>
          <a:prstGeom prst="rect">
            <a:avLst/>
          </a:prstGeom>
          <a:noFill/>
          <a:ln/>
        </p:spPr>
        <p:txBody>
          <a:bodyPr wrap="square" lIns="0" tIns="0" rIns="0" bIns="0" rtlCol="0" anchor="t"/>
          <a:lstStyle/>
          <a:p>
            <a:pPr indent="0" marL="0">
              <a:lnSpc>
                <a:spcPct val="112000"/>
              </a:lnSpc>
              <a:buNone/>
            </a:pPr>
            <a:r>
              <a:rPr lang="en-US" sz="2200" b="1" dirty="0">
                <a:solidFill>
                  <a:srgbClr val="252525"/>
                </a:solidFill>
                <a:latin typeface="Alegreya" pitchFamily="34" charset="0"/>
                <a:ea typeface="Alegreya" pitchFamily="34" charset="-122"/>
                <a:cs typeface="Alegreya" pitchFamily="34" charset="-120"/>
              </a:rPr>
              <a:t>Different outcomes inside</a:t>
            </a:r>
            <a:endParaRPr lang="en-US" sz="2200" dirty="0"/>
          </a:p>
          <a:p>
            <a:pPr indent="0" marL="0">
              <a:lnSpc>
                <a:spcPct val="112000"/>
              </a:lnSpc>
              <a:buNone/>
            </a:pPr>
            <a:r>
              <a:rPr lang="en-US" sz="2200" b="1" dirty="0">
                <a:solidFill>
                  <a:srgbClr val="252525"/>
                </a:solidFill>
                <a:latin typeface="Alegreya" pitchFamily="34" charset="0"/>
                <a:ea typeface="Alegreya" pitchFamily="34" charset="-122"/>
                <a:cs typeface="Alegreya" pitchFamily="34" charset="-120"/>
              </a:rPr>
              <a:t>both continents.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THE STARTING LINE</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Find the countries. Then rewind.</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These are present-day locations. Their political starting points came at different times.</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The map is generalized and present-day—not a 1914 colonial map. Mauritius is located by a point. Independence dates do not measure state capacity.</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(1985, p. 18); Maipose (2008, pp. 3–5); National Archives Department (n.d.); Haggard et al. (1997, pp. 867–870); Asadullah et al. (2024, pp. 13–15); Dolan (1993), archival recheck pending. Map: Natural Earth (n.d.), v5.1.1; full credit p. 29.</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05</a:t>
            </a:r>
            <a:endParaRPr lang="en-US" sz="1000" dirty="0"/>
          </a:p>
        </p:txBody>
      </p:sp>
      <p:pic>
        <p:nvPicPr>
          <p:cNvPr id="12" name="Image 0" descr="/Users/marcusgrude-grodem/Documents/GitHub/USIL/africa-asia-development-magazine/design/canva_editorial_draft/assets/maps/world_locator.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3073400"/>
            <a:ext cx="6413500" cy="2565400"/>
          </a:xfrm>
          <a:prstGeom prst="rect">
            <a:avLst/>
          </a:prstGeom>
        </p:spPr>
      </p:pic>
      <p:sp>
        <p:nvSpPr>
          <p:cNvPr id="13" name="Shape 10"/>
          <p:cNvSpPr/>
          <p:nvPr/>
        </p:nvSpPr>
        <p:spPr>
          <a:xfrm>
            <a:off x="3677227" y="4358162"/>
            <a:ext cx="165100" cy="165100"/>
          </a:xfrm>
          <a:prstGeom prst="ellipse">
            <a:avLst/>
          </a:prstGeom>
          <a:solidFill>
            <a:srgbClr val="B95332"/>
          </a:solidFill>
          <a:ln w="7620">
            <a:solidFill>
              <a:srgbClr val="252525"/>
            </a:solidFill>
            <a:prstDash val="solid"/>
          </a:ln>
        </p:spPr>
      </p:sp>
      <p:sp>
        <p:nvSpPr>
          <p:cNvPr id="14" name="Shape 11"/>
          <p:cNvSpPr/>
          <p:nvPr/>
        </p:nvSpPr>
        <p:spPr>
          <a:xfrm>
            <a:off x="4126459" y="4885754"/>
            <a:ext cx="165100" cy="165100"/>
          </a:xfrm>
          <a:prstGeom prst="rect">
            <a:avLst/>
          </a:prstGeom>
          <a:solidFill>
            <a:srgbClr val="3F684E"/>
          </a:solidFill>
          <a:ln w="7620">
            <a:solidFill>
              <a:srgbClr val="252525"/>
            </a:solidFill>
            <a:prstDash val="solid"/>
          </a:ln>
        </p:spPr>
      </p:sp>
      <p:sp>
        <p:nvSpPr>
          <p:cNvPr id="15" name="Shape 12"/>
          <p:cNvSpPr/>
          <p:nvPr/>
        </p:nvSpPr>
        <p:spPr>
          <a:xfrm>
            <a:off x="4720078" y="4852092"/>
            <a:ext cx="165100" cy="165100"/>
          </a:xfrm>
          <a:prstGeom prst="triangle">
            <a:avLst/>
          </a:prstGeom>
          <a:solidFill>
            <a:srgbClr val="D6A23A"/>
          </a:solidFill>
          <a:ln w="7620">
            <a:solidFill>
              <a:srgbClr val="252525"/>
            </a:solidFill>
            <a:prstDash val="solid"/>
          </a:ln>
        </p:spPr>
      </p:sp>
      <p:sp>
        <p:nvSpPr>
          <p:cNvPr id="16" name="Shape 13"/>
          <p:cNvSpPr/>
          <p:nvPr/>
        </p:nvSpPr>
        <p:spPr>
          <a:xfrm>
            <a:off x="5978363" y="3850968"/>
            <a:ext cx="165100" cy="165100"/>
          </a:xfrm>
          <a:prstGeom prst="diamond">
            <a:avLst/>
          </a:prstGeom>
          <a:solidFill>
            <a:srgbClr val="315A78"/>
          </a:solidFill>
          <a:ln w="7620">
            <a:solidFill>
              <a:srgbClr val="252525"/>
            </a:solidFill>
            <a:prstDash val="solid"/>
          </a:ln>
        </p:spPr>
      </p:sp>
      <p:sp>
        <p:nvSpPr>
          <p:cNvPr id="17" name="Shape 14"/>
          <p:cNvSpPr/>
          <p:nvPr/>
        </p:nvSpPr>
        <p:spPr>
          <a:xfrm>
            <a:off x="5723739" y="4449967"/>
            <a:ext cx="165100" cy="165100"/>
          </a:xfrm>
          <a:prstGeom prst="hexagon">
            <a:avLst/>
          </a:prstGeom>
          <a:solidFill>
            <a:srgbClr val="3E7568"/>
          </a:solidFill>
          <a:ln w="7620">
            <a:solidFill>
              <a:srgbClr val="252525"/>
            </a:solidFill>
            <a:prstDash val="solid"/>
          </a:ln>
        </p:spPr>
      </p:sp>
      <p:sp>
        <p:nvSpPr>
          <p:cNvPr id="18" name="Shape 15"/>
          <p:cNvSpPr/>
          <p:nvPr/>
        </p:nvSpPr>
        <p:spPr>
          <a:xfrm>
            <a:off x="5877448" y="4358816"/>
            <a:ext cx="165100" cy="40640"/>
          </a:xfrm>
          <a:prstGeom prst="rect">
            <a:avLst/>
          </a:prstGeom>
          <a:solidFill>
            <a:srgbClr val="252525"/>
          </a:solidFill>
          <a:ln w="12700">
            <a:solidFill>
              <a:srgbClr val="252525"/>
            </a:solidFill>
            <a:prstDash val="solid"/>
          </a:ln>
        </p:spPr>
      </p:sp>
      <p:sp>
        <p:nvSpPr>
          <p:cNvPr id="19" name="Shape 16"/>
          <p:cNvSpPr/>
          <p:nvPr/>
        </p:nvSpPr>
        <p:spPr>
          <a:xfrm>
            <a:off x="5939678" y="4296586"/>
            <a:ext cx="40640" cy="165100"/>
          </a:xfrm>
          <a:prstGeom prst="rect">
            <a:avLst/>
          </a:prstGeom>
          <a:solidFill>
            <a:srgbClr val="252525"/>
          </a:solidFill>
          <a:ln w="12700">
            <a:solidFill>
              <a:srgbClr val="252525"/>
            </a:solidFill>
            <a:prstDash val="solid"/>
          </a:ln>
        </p:spPr>
      </p:sp>
      <p:sp>
        <p:nvSpPr>
          <p:cNvPr id="20" name="Shape 17"/>
          <p:cNvSpPr/>
          <p:nvPr/>
        </p:nvSpPr>
        <p:spPr>
          <a:xfrm>
            <a:off x="5877448" y="4367706"/>
            <a:ext cx="165100" cy="22860"/>
          </a:xfrm>
          <a:prstGeom prst="rect">
            <a:avLst/>
          </a:prstGeom>
          <a:solidFill>
            <a:srgbClr val="A63A3A"/>
          </a:solidFill>
          <a:ln w="12700">
            <a:solidFill>
              <a:srgbClr val="A63A3A"/>
            </a:solidFill>
            <a:prstDash val="solid"/>
          </a:ln>
        </p:spPr>
      </p:sp>
      <p:sp>
        <p:nvSpPr>
          <p:cNvPr id="21" name="Shape 18"/>
          <p:cNvSpPr/>
          <p:nvPr/>
        </p:nvSpPr>
        <p:spPr>
          <a:xfrm>
            <a:off x="5948568" y="4296586"/>
            <a:ext cx="22860" cy="165100"/>
          </a:xfrm>
          <a:prstGeom prst="rect">
            <a:avLst/>
          </a:prstGeom>
          <a:solidFill>
            <a:srgbClr val="A63A3A"/>
          </a:solidFill>
          <a:ln w="12700">
            <a:solidFill>
              <a:srgbClr val="A63A3A"/>
            </a:solidFill>
            <a:prstDash val="solid"/>
          </a:ln>
        </p:spPr>
      </p:sp>
      <p:sp>
        <p:nvSpPr>
          <p:cNvPr id="22" name="Shape 19"/>
          <p:cNvSpPr/>
          <p:nvPr/>
        </p:nvSpPr>
        <p:spPr>
          <a:xfrm>
            <a:off x="457200" y="5765800"/>
            <a:ext cx="127000" cy="127000"/>
          </a:xfrm>
          <a:prstGeom prst="ellipse">
            <a:avLst/>
          </a:prstGeom>
          <a:solidFill>
            <a:srgbClr val="B95332"/>
          </a:solidFill>
          <a:ln w="7620">
            <a:solidFill>
              <a:srgbClr val="252525"/>
            </a:solidFill>
            <a:prstDash val="solid"/>
          </a:ln>
        </p:spPr>
      </p:sp>
      <p:sp>
        <p:nvSpPr>
          <p:cNvPr id="23" name="Text 20"/>
          <p:cNvSpPr/>
          <p:nvPr/>
        </p:nvSpPr>
        <p:spPr>
          <a:xfrm>
            <a:off x="711200" y="57150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24" name="Shape 21"/>
          <p:cNvSpPr/>
          <p:nvPr/>
        </p:nvSpPr>
        <p:spPr>
          <a:xfrm>
            <a:off x="2705100" y="5765800"/>
            <a:ext cx="127000" cy="127000"/>
          </a:xfrm>
          <a:prstGeom prst="rect">
            <a:avLst/>
          </a:prstGeom>
          <a:solidFill>
            <a:srgbClr val="3F684E"/>
          </a:solidFill>
          <a:ln w="7620">
            <a:solidFill>
              <a:srgbClr val="252525"/>
            </a:solidFill>
            <a:prstDash val="solid"/>
          </a:ln>
        </p:spPr>
      </p:sp>
      <p:sp>
        <p:nvSpPr>
          <p:cNvPr id="25" name="Text 22"/>
          <p:cNvSpPr/>
          <p:nvPr/>
        </p:nvSpPr>
        <p:spPr>
          <a:xfrm>
            <a:off x="2959100" y="57150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26" name="Shape 23"/>
          <p:cNvSpPr/>
          <p:nvPr/>
        </p:nvSpPr>
        <p:spPr>
          <a:xfrm>
            <a:off x="4953000" y="5765800"/>
            <a:ext cx="127000" cy="127000"/>
          </a:xfrm>
          <a:prstGeom prst="triangle">
            <a:avLst/>
          </a:prstGeom>
          <a:solidFill>
            <a:srgbClr val="D6A23A"/>
          </a:solidFill>
          <a:ln w="7620">
            <a:solidFill>
              <a:srgbClr val="252525"/>
            </a:solidFill>
            <a:prstDash val="solid"/>
          </a:ln>
        </p:spPr>
      </p:sp>
      <p:sp>
        <p:nvSpPr>
          <p:cNvPr id="27" name="Text 24"/>
          <p:cNvSpPr/>
          <p:nvPr/>
        </p:nvSpPr>
        <p:spPr>
          <a:xfrm>
            <a:off x="5207000" y="57150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28" name="Shape 25"/>
          <p:cNvSpPr/>
          <p:nvPr/>
        </p:nvSpPr>
        <p:spPr>
          <a:xfrm>
            <a:off x="457200" y="6108700"/>
            <a:ext cx="127000" cy="127000"/>
          </a:xfrm>
          <a:prstGeom prst="diamond">
            <a:avLst/>
          </a:prstGeom>
          <a:solidFill>
            <a:srgbClr val="315A78"/>
          </a:solidFill>
          <a:ln w="7620">
            <a:solidFill>
              <a:srgbClr val="252525"/>
            </a:solidFill>
            <a:prstDash val="solid"/>
          </a:ln>
        </p:spPr>
      </p:sp>
      <p:sp>
        <p:nvSpPr>
          <p:cNvPr id="29" name="Text 26"/>
          <p:cNvSpPr/>
          <p:nvPr/>
        </p:nvSpPr>
        <p:spPr>
          <a:xfrm>
            <a:off x="711200" y="60579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30" name="Shape 27"/>
          <p:cNvSpPr/>
          <p:nvPr/>
        </p:nvSpPr>
        <p:spPr>
          <a:xfrm>
            <a:off x="2705100" y="6108700"/>
            <a:ext cx="127000" cy="127000"/>
          </a:xfrm>
          <a:prstGeom prst="hexagon">
            <a:avLst/>
          </a:prstGeom>
          <a:solidFill>
            <a:srgbClr val="3E7568"/>
          </a:solidFill>
          <a:ln w="7620">
            <a:solidFill>
              <a:srgbClr val="252525"/>
            </a:solidFill>
            <a:prstDash val="solid"/>
          </a:ln>
        </p:spPr>
      </p:sp>
      <p:sp>
        <p:nvSpPr>
          <p:cNvPr id="31" name="Text 28"/>
          <p:cNvSpPr/>
          <p:nvPr/>
        </p:nvSpPr>
        <p:spPr>
          <a:xfrm>
            <a:off x="2959100" y="60579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32" name="Shape 29"/>
          <p:cNvSpPr/>
          <p:nvPr/>
        </p:nvSpPr>
        <p:spPr>
          <a:xfrm>
            <a:off x="4953000" y="6151880"/>
            <a:ext cx="127000" cy="40640"/>
          </a:xfrm>
          <a:prstGeom prst="rect">
            <a:avLst/>
          </a:prstGeom>
          <a:solidFill>
            <a:srgbClr val="252525"/>
          </a:solidFill>
          <a:ln w="12700">
            <a:solidFill>
              <a:srgbClr val="252525"/>
            </a:solidFill>
            <a:prstDash val="solid"/>
          </a:ln>
        </p:spPr>
      </p:sp>
      <p:sp>
        <p:nvSpPr>
          <p:cNvPr id="33" name="Shape 30"/>
          <p:cNvSpPr/>
          <p:nvPr/>
        </p:nvSpPr>
        <p:spPr>
          <a:xfrm>
            <a:off x="4996180" y="6108700"/>
            <a:ext cx="40640" cy="127000"/>
          </a:xfrm>
          <a:prstGeom prst="rect">
            <a:avLst/>
          </a:prstGeom>
          <a:solidFill>
            <a:srgbClr val="252525"/>
          </a:solidFill>
          <a:ln w="12700">
            <a:solidFill>
              <a:srgbClr val="252525"/>
            </a:solidFill>
            <a:prstDash val="solid"/>
          </a:ln>
        </p:spPr>
      </p:sp>
      <p:sp>
        <p:nvSpPr>
          <p:cNvPr id="34" name="Shape 31"/>
          <p:cNvSpPr/>
          <p:nvPr/>
        </p:nvSpPr>
        <p:spPr>
          <a:xfrm>
            <a:off x="4953000" y="6160770"/>
            <a:ext cx="127000" cy="22860"/>
          </a:xfrm>
          <a:prstGeom prst="rect">
            <a:avLst/>
          </a:prstGeom>
          <a:solidFill>
            <a:srgbClr val="A63A3A"/>
          </a:solidFill>
          <a:ln w="12700">
            <a:solidFill>
              <a:srgbClr val="A63A3A"/>
            </a:solidFill>
            <a:prstDash val="solid"/>
          </a:ln>
        </p:spPr>
      </p:sp>
      <p:sp>
        <p:nvSpPr>
          <p:cNvPr id="35" name="Shape 32"/>
          <p:cNvSpPr/>
          <p:nvPr/>
        </p:nvSpPr>
        <p:spPr>
          <a:xfrm>
            <a:off x="5005070" y="6108700"/>
            <a:ext cx="22860" cy="127000"/>
          </a:xfrm>
          <a:prstGeom prst="rect">
            <a:avLst/>
          </a:prstGeom>
          <a:solidFill>
            <a:srgbClr val="A63A3A"/>
          </a:solidFill>
          <a:ln w="12700">
            <a:solidFill>
              <a:srgbClr val="A63A3A"/>
            </a:solidFill>
            <a:prstDash val="solid"/>
          </a:ln>
        </p:spPr>
      </p:sp>
      <p:sp>
        <p:nvSpPr>
          <p:cNvPr id="36" name="Text 33"/>
          <p:cNvSpPr/>
          <p:nvPr/>
        </p:nvSpPr>
        <p:spPr>
          <a:xfrm>
            <a:off x="5207000" y="60579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37" name="Shape 34"/>
          <p:cNvSpPr/>
          <p:nvPr/>
        </p:nvSpPr>
        <p:spPr>
          <a:xfrm>
            <a:off x="457200" y="6562090"/>
            <a:ext cx="6642100" cy="7620"/>
          </a:xfrm>
          <a:prstGeom prst="rect">
            <a:avLst/>
          </a:prstGeom>
          <a:solidFill>
            <a:srgbClr val="B7B0A4"/>
          </a:solidFill>
          <a:ln w="12700">
            <a:solidFill>
              <a:srgbClr val="B7B0A4"/>
            </a:solidFill>
            <a:prstDash val="solid"/>
          </a:ln>
        </p:spPr>
      </p:sp>
      <p:sp>
        <p:nvSpPr>
          <p:cNvPr id="38" name="Text 35"/>
          <p:cNvSpPr/>
          <p:nvPr/>
        </p:nvSpPr>
        <p:spPr>
          <a:xfrm>
            <a:off x="457200" y="66167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1945 / 1948</a:t>
            </a:r>
            <a:endParaRPr lang="en-US" sz="1000" dirty="0"/>
          </a:p>
        </p:txBody>
      </p:sp>
      <p:sp>
        <p:nvSpPr>
          <p:cNvPr id="39" name="Text 36"/>
          <p:cNvSpPr/>
          <p:nvPr/>
        </p:nvSpPr>
        <p:spPr>
          <a:xfrm>
            <a:off x="1778000" y="66167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South Korea</a:t>
            </a:r>
            <a:endParaRPr lang="en-US" sz="950" dirty="0"/>
          </a:p>
        </p:txBody>
      </p:sp>
      <p:sp>
        <p:nvSpPr>
          <p:cNvPr id="40" name="Text 37"/>
          <p:cNvSpPr/>
          <p:nvPr/>
        </p:nvSpPr>
        <p:spPr>
          <a:xfrm>
            <a:off x="3429000" y="66167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Japan → end of rule / Republic established</a:t>
            </a:r>
            <a:endParaRPr lang="en-US" sz="830" dirty="0"/>
          </a:p>
        </p:txBody>
      </p:sp>
      <p:sp>
        <p:nvSpPr>
          <p:cNvPr id="41" name="Shape 38"/>
          <p:cNvSpPr/>
          <p:nvPr/>
        </p:nvSpPr>
        <p:spPr>
          <a:xfrm>
            <a:off x="457200" y="6904990"/>
            <a:ext cx="6642100" cy="7620"/>
          </a:xfrm>
          <a:prstGeom prst="rect">
            <a:avLst/>
          </a:prstGeom>
          <a:solidFill>
            <a:srgbClr val="B7B0A4"/>
          </a:solidFill>
          <a:ln w="12700">
            <a:solidFill>
              <a:srgbClr val="B7B0A4"/>
            </a:solidFill>
            <a:prstDash val="solid"/>
          </a:ln>
        </p:spPr>
      </p:sp>
      <p:sp>
        <p:nvSpPr>
          <p:cNvPr id="42" name="Text 39"/>
          <p:cNvSpPr/>
          <p:nvPr/>
        </p:nvSpPr>
        <p:spPr>
          <a:xfrm>
            <a:off x="457200" y="69596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1946</a:t>
            </a:r>
            <a:endParaRPr lang="en-US" sz="1000" dirty="0"/>
          </a:p>
        </p:txBody>
      </p:sp>
      <p:sp>
        <p:nvSpPr>
          <p:cNvPr id="43" name="Text 40"/>
          <p:cNvSpPr/>
          <p:nvPr/>
        </p:nvSpPr>
        <p:spPr>
          <a:xfrm>
            <a:off x="1778000" y="69596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Philippines</a:t>
            </a:r>
            <a:endParaRPr lang="en-US" sz="950" dirty="0"/>
          </a:p>
        </p:txBody>
      </p:sp>
      <p:sp>
        <p:nvSpPr>
          <p:cNvPr id="44" name="Text 41"/>
          <p:cNvSpPr/>
          <p:nvPr/>
        </p:nvSpPr>
        <p:spPr>
          <a:xfrm>
            <a:off x="3429000" y="69596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Spain, then United States → independence</a:t>
            </a:r>
            <a:endParaRPr lang="en-US" sz="830" dirty="0"/>
          </a:p>
        </p:txBody>
      </p:sp>
      <p:sp>
        <p:nvSpPr>
          <p:cNvPr id="45" name="Shape 42"/>
          <p:cNvSpPr/>
          <p:nvPr/>
        </p:nvSpPr>
        <p:spPr>
          <a:xfrm>
            <a:off x="457200" y="7247890"/>
            <a:ext cx="6642100" cy="7620"/>
          </a:xfrm>
          <a:prstGeom prst="rect">
            <a:avLst/>
          </a:prstGeom>
          <a:solidFill>
            <a:srgbClr val="B7B0A4"/>
          </a:solidFill>
          <a:ln w="12700">
            <a:solidFill>
              <a:srgbClr val="B7B0A4"/>
            </a:solidFill>
            <a:prstDash val="solid"/>
          </a:ln>
        </p:spPr>
      </p:sp>
      <p:sp>
        <p:nvSpPr>
          <p:cNvPr id="46" name="Text 43"/>
          <p:cNvSpPr/>
          <p:nvPr/>
        </p:nvSpPr>
        <p:spPr>
          <a:xfrm>
            <a:off x="457200" y="73025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1957</a:t>
            </a:r>
            <a:endParaRPr lang="en-US" sz="1000" dirty="0"/>
          </a:p>
        </p:txBody>
      </p:sp>
      <p:sp>
        <p:nvSpPr>
          <p:cNvPr id="47" name="Text 44"/>
          <p:cNvSpPr/>
          <p:nvPr/>
        </p:nvSpPr>
        <p:spPr>
          <a:xfrm>
            <a:off x="1778000" y="73025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Ghana</a:t>
            </a:r>
            <a:endParaRPr lang="en-US" sz="950" dirty="0"/>
          </a:p>
        </p:txBody>
      </p:sp>
      <p:sp>
        <p:nvSpPr>
          <p:cNvPr id="48" name="Text 45"/>
          <p:cNvSpPr/>
          <p:nvPr/>
        </p:nvSpPr>
        <p:spPr>
          <a:xfrm>
            <a:off x="3429000" y="73025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Britain → independence</a:t>
            </a:r>
            <a:endParaRPr lang="en-US" sz="830" dirty="0"/>
          </a:p>
        </p:txBody>
      </p:sp>
      <p:sp>
        <p:nvSpPr>
          <p:cNvPr id="49" name="Shape 46"/>
          <p:cNvSpPr/>
          <p:nvPr/>
        </p:nvSpPr>
        <p:spPr>
          <a:xfrm>
            <a:off x="457200" y="7590790"/>
            <a:ext cx="6642100" cy="7620"/>
          </a:xfrm>
          <a:prstGeom prst="rect">
            <a:avLst/>
          </a:prstGeom>
          <a:solidFill>
            <a:srgbClr val="B7B0A4"/>
          </a:solidFill>
          <a:ln w="12700">
            <a:solidFill>
              <a:srgbClr val="B7B0A4"/>
            </a:solidFill>
            <a:prstDash val="solid"/>
          </a:ln>
        </p:spPr>
      </p:sp>
      <p:sp>
        <p:nvSpPr>
          <p:cNvPr id="50" name="Text 47"/>
          <p:cNvSpPr/>
          <p:nvPr/>
        </p:nvSpPr>
        <p:spPr>
          <a:xfrm>
            <a:off x="457200" y="76454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1957 / 1963</a:t>
            </a:r>
            <a:endParaRPr lang="en-US" sz="1000" dirty="0"/>
          </a:p>
        </p:txBody>
      </p:sp>
      <p:sp>
        <p:nvSpPr>
          <p:cNvPr id="51" name="Text 48"/>
          <p:cNvSpPr/>
          <p:nvPr/>
        </p:nvSpPr>
        <p:spPr>
          <a:xfrm>
            <a:off x="1778000" y="76454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Malaysia</a:t>
            </a:r>
            <a:endParaRPr lang="en-US" sz="950" dirty="0"/>
          </a:p>
        </p:txBody>
      </p:sp>
      <p:sp>
        <p:nvSpPr>
          <p:cNvPr id="52" name="Text 49"/>
          <p:cNvSpPr/>
          <p:nvPr/>
        </p:nvSpPr>
        <p:spPr>
          <a:xfrm>
            <a:off x="3429000" y="76454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Britain → Malaya independence / federation</a:t>
            </a:r>
            <a:endParaRPr lang="en-US" sz="830" dirty="0"/>
          </a:p>
        </p:txBody>
      </p:sp>
      <p:sp>
        <p:nvSpPr>
          <p:cNvPr id="53" name="Shape 50"/>
          <p:cNvSpPr/>
          <p:nvPr/>
        </p:nvSpPr>
        <p:spPr>
          <a:xfrm>
            <a:off x="457200" y="7933690"/>
            <a:ext cx="6642100" cy="7620"/>
          </a:xfrm>
          <a:prstGeom prst="rect">
            <a:avLst/>
          </a:prstGeom>
          <a:solidFill>
            <a:srgbClr val="B7B0A4"/>
          </a:solidFill>
          <a:ln w="12700">
            <a:solidFill>
              <a:srgbClr val="B7B0A4"/>
            </a:solidFill>
            <a:prstDash val="solid"/>
          </a:ln>
        </p:spPr>
      </p:sp>
      <p:sp>
        <p:nvSpPr>
          <p:cNvPr id="54" name="Text 51"/>
          <p:cNvSpPr/>
          <p:nvPr/>
        </p:nvSpPr>
        <p:spPr>
          <a:xfrm>
            <a:off x="457200" y="79883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1966</a:t>
            </a:r>
            <a:endParaRPr lang="en-US" sz="1000" dirty="0"/>
          </a:p>
        </p:txBody>
      </p:sp>
      <p:sp>
        <p:nvSpPr>
          <p:cNvPr id="55" name="Text 52"/>
          <p:cNvSpPr/>
          <p:nvPr/>
        </p:nvSpPr>
        <p:spPr>
          <a:xfrm>
            <a:off x="1778000" y="79883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Botswana</a:t>
            </a:r>
            <a:endParaRPr lang="en-US" sz="950" dirty="0"/>
          </a:p>
        </p:txBody>
      </p:sp>
      <p:sp>
        <p:nvSpPr>
          <p:cNvPr id="56" name="Text 53"/>
          <p:cNvSpPr/>
          <p:nvPr/>
        </p:nvSpPr>
        <p:spPr>
          <a:xfrm>
            <a:off x="3429000" y="79883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British protectorate → independence</a:t>
            </a:r>
            <a:endParaRPr lang="en-US" sz="830" dirty="0"/>
          </a:p>
        </p:txBody>
      </p:sp>
      <p:sp>
        <p:nvSpPr>
          <p:cNvPr id="57" name="Shape 54"/>
          <p:cNvSpPr/>
          <p:nvPr/>
        </p:nvSpPr>
        <p:spPr>
          <a:xfrm>
            <a:off x="457200" y="8276590"/>
            <a:ext cx="6642100" cy="7620"/>
          </a:xfrm>
          <a:prstGeom prst="rect">
            <a:avLst/>
          </a:prstGeom>
          <a:solidFill>
            <a:srgbClr val="B7B0A4"/>
          </a:solidFill>
          <a:ln w="12700">
            <a:solidFill>
              <a:srgbClr val="B7B0A4"/>
            </a:solidFill>
            <a:prstDash val="solid"/>
          </a:ln>
        </p:spPr>
      </p:sp>
      <p:sp>
        <p:nvSpPr>
          <p:cNvPr id="58" name="Text 55"/>
          <p:cNvSpPr/>
          <p:nvPr/>
        </p:nvSpPr>
        <p:spPr>
          <a:xfrm>
            <a:off x="457200" y="83312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1968</a:t>
            </a:r>
            <a:endParaRPr lang="en-US" sz="1000" dirty="0"/>
          </a:p>
        </p:txBody>
      </p:sp>
      <p:sp>
        <p:nvSpPr>
          <p:cNvPr id="59" name="Text 56"/>
          <p:cNvSpPr/>
          <p:nvPr/>
        </p:nvSpPr>
        <p:spPr>
          <a:xfrm>
            <a:off x="1778000" y="83312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Mauritius</a:t>
            </a:r>
            <a:endParaRPr lang="en-US" sz="950" dirty="0"/>
          </a:p>
        </p:txBody>
      </p:sp>
      <p:sp>
        <p:nvSpPr>
          <p:cNvPr id="60" name="Text 57"/>
          <p:cNvSpPr/>
          <p:nvPr/>
        </p:nvSpPr>
        <p:spPr>
          <a:xfrm>
            <a:off x="3429000" y="83312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France, then Britain → independence</a:t>
            </a:r>
            <a:endParaRPr lang="en-US" sz="830" dirty="0"/>
          </a:p>
        </p:txBody>
      </p:sp>
      <p:sp>
        <p:nvSpPr>
          <p:cNvPr id="61" name="Text 58"/>
          <p:cNvSpPr/>
          <p:nvPr/>
        </p:nvSpPr>
        <p:spPr>
          <a:xfrm>
            <a:off x="457200" y="8686800"/>
            <a:ext cx="6642100" cy="1651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Historical 1914 map withheld: verified artwork and original legend still required.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THE STARTING LINE</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Same empire. Different inheritance.</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Ask what colonial rule built, extracted and left behind—not just which flag it flew.</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These studies do not show that colonial rule was beneficial overall, or that one empire explains the six countries’ later paths.</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Bolt et al. (2025, pp. 1–6, 18–20); Huillery (2009, pp. 176–180, 203–208); Kohli (1994, pp. 1277–1284); Haggard et al. (1997, pp. 867–881); Dolan (1993), archival passage recheck pending.</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06</a:t>
            </a:r>
            <a:endParaRPr lang="en-US" sz="1000" dirty="0"/>
          </a:p>
        </p:txBody>
      </p:sp>
      <p:sp>
        <p:nvSpPr>
          <p:cNvPr id="12" name="Shape 10"/>
          <p:cNvSpPr/>
          <p:nvPr/>
        </p:nvSpPr>
        <p:spPr>
          <a:xfrm>
            <a:off x="512354" y="3139077"/>
            <a:ext cx="55154" cy="427446"/>
          </a:xfrm>
          <a:prstGeom prst="line">
            <a:avLst/>
          </a:prstGeom>
          <a:noFill/>
          <a:ln w="20320">
            <a:solidFill>
              <a:srgbClr val="252525"/>
            </a:solidFill>
            <a:prstDash val="solid"/>
          </a:ln>
        </p:spPr>
      </p:sp>
      <p:sp>
        <p:nvSpPr>
          <p:cNvPr id="13" name="Shape 11"/>
          <p:cNvSpPr/>
          <p:nvPr/>
        </p:nvSpPr>
        <p:spPr>
          <a:xfrm>
            <a:off x="815703" y="3139077"/>
            <a:ext cx="55154" cy="427446"/>
          </a:xfrm>
          <a:prstGeom prst="line">
            <a:avLst/>
          </a:prstGeom>
          <a:noFill/>
          <a:ln w="20320">
            <a:solidFill>
              <a:srgbClr val="252525"/>
            </a:solidFill>
            <a:prstDash val="solid"/>
          </a:ln>
        </p:spPr>
      </p:sp>
      <p:sp>
        <p:nvSpPr>
          <p:cNvPr id="14" name="Shape 12"/>
          <p:cNvSpPr/>
          <p:nvPr/>
        </p:nvSpPr>
        <p:spPr>
          <a:xfrm>
            <a:off x="681446" y="3152866"/>
            <a:ext cx="20320" cy="82731"/>
          </a:xfrm>
          <a:prstGeom prst="rect">
            <a:avLst/>
          </a:prstGeom>
          <a:solidFill>
            <a:srgbClr val="252525"/>
          </a:solidFill>
          <a:ln w="12700">
            <a:solidFill>
              <a:srgbClr val="252525"/>
            </a:solidFill>
            <a:prstDash val="solid"/>
          </a:ln>
        </p:spPr>
      </p:sp>
      <p:sp>
        <p:nvSpPr>
          <p:cNvPr id="15" name="Shape 13"/>
          <p:cNvSpPr/>
          <p:nvPr/>
        </p:nvSpPr>
        <p:spPr>
          <a:xfrm>
            <a:off x="681446" y="3304540"/>
            <a:ext cx="20320" cy="96520"/>
          </a:xfrm>
          <a:prstGeom prst="rect">
            <a:avLst/>
          </a:prstGeom>
          <a:solidFill>
            <a:srgbClr val="252525"/>
          </a:solidFill>
          <a:ln w="12700">
            <a:solidFill>
              <a:srgbClr val="252525"/>
            </a:solidFill>
            <a:prstDash val="solid"/>
          </a:ln>
        </p:spPr>
      </p:sp>
      <p:sp>
        <p:nvSpPr>
          <p:cNvPr id="16" name="Shape 14"/>
          <p:cNvSpPr/>
          <p:nvPr/>
        </p:nvSpPr>
        <p:spPr>
          <a:xfrm>
            <a:off x="681446" y="3470003"/>
            <a:ext cx="20320" cy="82731"/>
          </a:xfrm>
          <a:prstGeom prst="rect">
            <a:avLst/>
          </a:prstGeom>
          <a:solidFill>
            <a:srgbClr val="252525"/>
          </a:solidFill>
          <a:ln w="12700">
            <a:solidFill>
              <a:srgbClr val="252525"/>
            </a:solidFill>
            <a:prstDash val="solid"/>
          </a:ln>
        </p:spPr>
      </p:sp>
      <p:sp>
        <p:nvSpPr>
          <p:cNvPr id="17" name="Text 15"/>
          <p:cNvSpPr/>
          <p:nvPr/>
        </p:nvSpPr>
        <p:spPr>
          <a:xfrm>
            <a:off x="1244600" y="3048000"/>
            <a:ext cx="5854700" cy="3937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Built for whom?</a:t>
            </a:r>
            <a:endParaRPr lang="en-US" sz="2300" dirty="0"/>
          </a:p>
        </p:txBody>
      </p:sp>
      <p:sp>
        <p:nvSpPr>
          <p:cNvPr id="18" name="Text 16"/>
          <p:cNvSpPr/>
          <p:nvPr/>
        </p:nvSpPr>
        <p:spPr>
          <a:xfrm>
            <a:off x="1244600" y="3556000"/>
            <a:ext cx="58547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British African councils varied. Investment also varied within French West Africa. An empire label hides important differences (Bolt et al., 2025; Huillery, 2009).</a:t>
            </a:r>
            <a:endParaRPr lang="en-US" sz="1050" dirty="0"/>
          </a:p>
        </p:txBody>
      </p:sp>
      <p:sp>
        <p:nvSpPr>
          <p:cNvPr id="19" name="Shape 17"/>
          <p:cNvSpPr/>
          <p:nvPr/>
        </p:nvSpPr>
        <p:spPr>
          <a:xfrm>
            <a:off x="484777" y="4977674"/>
            <a:ext cx="413657" cy="20320"/>
          </a:xfrm>
          <a:prstGeom prst="rect">
            <a:avLst/>
          </a:prstGeom>
          <a:solidFill>
            <a:srgbClr val="252525"/>
          </a:solidFill>
          <a:ln w="12700">
            <a:solidFill>
              <a:srgbClr val="252525"/>
            </a:solidFill>
            <a:prstDash val="solid"/>
          </a:ln>
        </p:spPr>
      </p:sp>
      <p:sp>
        <p:nvSpPr>
          <p:cNvPr id="20" name="Shape 18"/>
          <p:cNvSpPr/>
          <p:nvPr/>
        </p:nvSpPr>
        <p:spPr>
          <a:xfrm>
            <a:off x="474617" y="4753429"/>
            <a:ext cx="20320" cy="234406"/>
          </a:xfrm>
          <a:prstGeom prst="rect">
            <a:avLst/>
          </a:prstGeom>
          <a:solidFill>
            <a:srgbClr val="252525"/>
          </a:solidFill>
          <a:ln w="12700">
            <a:solidFill>
              <a:srgbClr val="252525"/>
            </a:solidFill>
            <a:prstDash val="solid"/>
          </a:ln>
        </p:spPr>
      </p:sp>
      <p:sp>
        <p:nvSpPr>
          <p:cNvPr id="21" name="Shape 19"/>
          <p:cNvSpPr/>
          <p:nvPr/>
        </p:nvSpPr>
        <p:spPr>
          <a:xfrm flipV="1">
            <a:off x="484777" y="4670697"/>
            <a:ext cx="137886" cy="82731"/>
          </a:xfrm>
          <a:prstGeom prst="line">
            <a:avLst/>
          </a:prstGeom>
          <a:noFill/>
          <a:ln w="20320">
            <a:solidFill>
              <a:srgbClr val="252525"/>
            </a:solidFill>
            <a:prstDash val="solid"/>
          </a:ln>
        </p:spPr>
      </p:sp>
      <p:sp>
        <p:nvSpPr>
          <p:cNvPr id="22" name="Shape 20"/>
          <p:cNvSpPr/>
          <p:nvPr/>
        </p:nvSpPr>
        <p:spPr>
          <a:xfrm>
            <a:off x="612503" y="4670697"/>
            <a:ext cx="20320" cy="82731"/>
          </a:xfrm>
          <a:prstGeom prst="rect">
            <a:avLst/>
          </a:prstGeom>
          <a:solidFill>
            <a:srgbClr val="252525"/>
          </a:solidFill>
          <a:ln w="12700">
            <a:solidFill>
              <a:srgbClr val="252525"/>
            </a:solidFill>
            <a:prstDash val="solid"/>
          </a:ln>
        </p:spPr>
      </p:sp>
      <p:sp>
        <p:nvSpPr>
          <p:cNvPr id="23" name="Shape 21"/>
          <p:cNvSpPr/>
          <p:nvPr/>
        </p:nvSpPr>
        <p:spPr>
          <a:xfrm flipV="1">
            <a:off x="622663" y="4670697"/>
            <a:ext cx="151674" cy="82731"/>
          </a:xfrm>
          <a:prstGeom prst="line">
            <a:avLst/>
          </a:prstGeom>
          <a:noFill/>
          <a:ln w="20320">
            <a:solidFill>
              <a:srgbClr val="252525"/>
            </a:solidFill>
            <a:prstDash val="solid"/>
          </a:ln>
        </p:spPr>
      </p:sp>
      <p:sp>
        <p:nvSpPr>
          <p:cNvPr id="24" name="Shape 22"/>
          <p:cNvSpPr/>
          <p:nvPr/>
        </p:nvSpPr>
        <p:spPr>
          <a:xfrm>
            <a:off x="764177" y="4670697"/>
            <a:ext cx="20320" cy="317137"/>
          </a:xfrm>
          <a:prstGeom prst="rect">
            <a:avLst/>
          </a:prstGeom>
          <a:solidFill>
            <a:srgbClr val="252525"/>
          </a:solidFill>
          <a:ln w="12700">
            <a:solidFill>
              <a:srgbClr val="252525"/>
            </a:solidFill>
            <a:prstDash val="solid"/>
          </a:ln>
        </p:spPr>
      </p:sp>
      <p:sp>
        <p:nvSpPr>
          <p:cNvPr id="25" name="Shape 23"/>
          <p:cNvSpPr/>
          <p:nvPr/>
        </p:nvSpPr>
        <p:spPr>
          <a:xfrm>
            <a:off x="819331" y="4587966"/>
            <a:ext cx="20320" cy="220617"/>
          </a:xfrm>
          <a:prstGeom prst="rect">
            <a:avLst/>
          </a:prstGeom>
          <a:solidFill>
            <a:srgbClr val="252525"/>
          </a:solidFill>
          <a:ln w="12700">
            <a:solidFill>
              <a:srgbClr val="252525"/>
            </a:solidFill>
            <a:prstDash val="solid"/>
          </a:ln>
        </p:spPr>
      </p:sp>
      <p:sp>
        <p:nvSpPr>
          <p:cNvPr id="26" name="Shape 24"/>
          <p:cNvSpPr/>
          <p:nvPr/>
        </p:nvSpPr>
        <p:spPr>
          <a:xfrm>
            <a:off x="888274" y="4587966"/>
            <a:ext cx="20320" cy="399869"/>
          </a:xfrm>
          <a:prstGeom prst="rect">
            <a:avLst/>
          </a:prstGeom>
          <a:solidFill>
            <a:srgbClr val="252525"/>
          </a:solidFill>
          <a:ln w="12700">
            <a:solidFill>
              <a:srgbClr val="252525"/>
            </a:solidFill>
            <a:prstDash val="solid"/>
          </a:ln>
        </p:spPr>
      </p:sp>
      <p:sp>
        <p:nvSpPr>
          <p:cNvPr id="27" name="Shape 25"/>
          <p:cNvSpPr/>
          <p:nvPr/>
        </p:nvSpPr>
        <p:spPr>
          <a:xfrm>
            <a:off x="829491" y="4577806"/>
            <a:ext cx="68943" cy="20320"/>
          </a:xfrm>
          <a:prstGeom prst="rect">
            <a:avLst/>
          </a:prstGeom>
          <a:solidFill>
            <a:srgbClr val="252525"/>
          </a:solidFill>
          <a:ln w="12700">
            <a:solidFill>
              <a:srgbClr val="252525"/>
            </a:solidFill>
            <a:prstDash val="solid"/>
          </a:ln>
        </p:spPr>
      </p:sp>
      <p:sp>
        <p:nvSpPr>
          <p:cNvPr id="28" name="Shape 26"/>
          <p:cNvSpPr/>
          <p:nvPr/>
        </p:nvSpPr>
        <p:spPr>
          <a:xfrm>
            <a:off x="553720" y="4853577"/>
            <a:ext cx="41366" cy="20320"/>
          </a:xfrm>
          <a:prstGeom prst="rect">
            <a:avLst/>
          </a:prstGeom>
          <a:solidFill>
            <a:srgbClr val="252525"/>
          </a:solidFill>
          <a:ln w="12700">
            <a:solidFill>
              <a:srgbClr val="252525"/>
            </a:solidFill>
            <a:prstDash val="solid"/>
          </a:ln>
        </p:spPr>
      </p:sp>
      <p:sp>
        <p:nvSpPr>
          <p:cNvPr id="29" name="Shape 27"/>
          <p:cNvSpPr/>
          <p:nvPr/>
        </p:nvSpPr>
        <p:spPr>
          <a:xfrm>
            <a:off x="677817" y="4853577"/>
            <a:ext cx="41366" cy="20320"/>
          </a:xfrm>
          <a:prstGeom prst="rect">
            <a:avLst/>
          </a:prstGeom>
          <a:solidFill>
            <a:srgbClr val="252525"/>
          </a:solidFill>
          <a:ln w="12700">
            <a:solidFill>
              <a:srgbClr val="252525"/>
            </a:solidFill>
            <a:prstDash val="solid"/>
          </a:ln>
        </p:spPr>
      </p:sp>
      <p:sp>
        <p:nvSpPr>
          <p:cNvPr id="30" name="Text 28"/>
          <p:cNvSpPr/>
          <p:nvPr/>
        </p:nvSpPr>
        <p:spPr>
          <a:xfrm>
            <a:off x="1244600" y="4483100"/>
            <a:ext cx="5854700" cy="3937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What survived?</a:t>
            </a:r>
            <a:endParaRPr lang="en-US" sz="2300" dirty="0"/>
          </a:p>
        </p:txBody>
      </p:sp>
      <p:sp>
        <p:nvSpPr>
          <p:cNvPr id="31" name="Text 29"/>
          <p:cNvSpPr/>
          <p:nvPr/>
        </p:nvSpPr>
        <p:spPr>
          <a:xfrm>
            <a:off x="1244600" y="4991100"/>
            <a:ext cx="58547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Researchers disagree about Korea’s colonial inheritance. Organisation mattered, but so did coercion, unequal ownership, division, war and later policy change (Kohli, 1994; Haggard et al., 1997).</a:t>
            </a:r>
            <a:endParaRPr lang="en-US" sz="1050" dirty="0"/>
          </a:p>
        </p:txBody>
      </p:sp>
      <p:sp>
        <p:nvSpPr>
          <p:cNvPr id="32" name="Shape 30"/>
          <p:cNvSpPr/>
          <p:nvPr/>
        </p:nvSpPr>
        <p:spPr>
          <a:xfrm>
            <a:off x="484777" y="6050643"/>
            <a:ext cx="193040" cy="41366"/>
          </a:xfrm>
          <a:prstGeom prst="line">
            <a:avLst/>
          </a:prstGeom>
          <a:noFill/>
          <a:ln w="20320">
            <a:solidFill>
              <a:srgbClr val="252525"/>
            </a:solidFill>
            <a:prstDash val="solid"/>
          </a:ln>
        </p:spPr>
      </p:sp>
      <p:sp>
        <p:nvSpPr>
          <p:cNvPr id="33" name="Shape 31"/>
          <p:cNvSpPr/>
          <p:nvPr/>
        </p:nvSpPr>
        <p:spPr>
          <a:xfrm flipV="1">
            <a:off x="677817" y="6050643"/>
            <a:ext cx="220617" cy="41366"/>
          </a:xfrm>
          <a:prstGeom prst="line">
            <a:avLst/>
          </a:prstGeom>
          <a:noFill/>
          <a:ln w="20320">
            <a:solidFill>
              <a:srgbClr val="252525"/>
            </a:solidFill>
            <a:prstDash val="solid"/>
          </a:ln>
        </p:spPr>
      </p:sp>
      <p:sp>
        <p:nvSpPr>
          <p:cNvPr id="34" name="Shape 32"/>
          <p:cNvSpPr/>
          <p:nvPr/>
        </p:nvSpPr>
        <p:spPr>
          <a:xfrm>
            <a:off x="474617" y="6050643"/>
            <a:ext cx="20320" cy="330926"/>
          </a:xfrm>
          <a:prstGeom prst="rect">
            <a:avLst/>
          </a:prstGeom>
          <a:solidFill>
            <a:srgbClr val="252525"/>
          </a:solidFill>
          <a:ln w="12700">
            <a:solidFill>
              <a:srgbClr val="252525"/>
            </a:solidFill>
            <a:prstDash val="solid"/>
          </a:ln>
        </p:spPr>
      </p:sp>
      <p:sp>
        <p:nvSpPr>
          <p:cNvPr id="35" name="Shape 33"/>
          <p:cNvSpPr/>
          <p:nvPr/>
        </p:nvSpPr>
        <p:spPr>
          <a:xfrm>
            <a:off x="888274" y="6050643"/>
            <a:ext cx="20320" cy="330926"/>
          </a:xfrm>
          <a:prstGeom prst="rect">
            <a:avLst/>
          </a:prstGeom>
          <a:solidFill>
            <a:srgbClr val="252525"/>
          </a:solidFill>
          <a:ln w="12700">
            <a:solidFill>
              <a:srgbClr val="252525"/>
            </a:solidFill>
            <a:prstDash val="solid"/>
          </a:ln>
        </p:spPr>
      </p:sp>
      <p:sp>
        <p:nvSpPr>
          <p:cNvPr id="36" name="Shape 34"/>
          <p:cNvSpPr/>
          <p:nvPr/>
        </p:nvSpPr>
        <p:spPr>
          <a:xfrm>
            <a:off x="484777" y="6381569"/>
            <a:ext cx="193040" cy="41366"/>
          </a:xfrm>
          <a:prstGeom prst="line">
            <a:avLst/>
          </a:prstGeom>
          <a:noFill/>
          <a:ln w="20320">
            <a:solidFill>
              <a:srgbClr val="252525"/>
            </a:solidFill>
            <a:prstDash val="solid"/>
          </a:ln>
        </p:spPr>
      </p:sp>
      <p:sp>
        <p:nvSpPr>
          <p:cNvPr id="37" name="Shape 35"/>
          <p:cNvSpPr/>
          <p:nvPr/>
        </p:nvSpPr>
        <p:spPr>
          <a:xfrm flipV="1">
            <a:off x="677817" y="6381569"/>
            <a:ext cx="220617" cy="41366"/>
          </a:xfrm>
          <a:prstGeom prst="line">
            <a:avLst/>
          </a:prstGeom>
          <a:noFill/>
          <a:ln w="20320">
            <a:solidFill>
              <a:srgbClr val="252525"/>
            </a:solidFill>
            <a:prstDash val="solid"/>
          </a:ln>
        </p:spPr>
      </p:sp>
      <p:sp>
        <p:nvSpPr>
          <p:cNvPr id="38" name="Shape 36"/>
          <p:cNvSpPr/>
          <p:nvPr/>
        </p:nvSpPr>
        <p:spPr>
          <a:xfrm>
            <a:off x="667657" y="6092009"/>
            <a:ext cx="20320" cy="330926"/>
          </a:xfrm>
          <a:prstGeom prst="rect">
            <a:avLst/>
          </a:prstGeom>
          <a:solidFill>
            <a:srgbClr val="252525"/>
          </a:solidFill>
          <a:ln w="12700">
            <a:solidFill>
              <a:srgbClr val="252525"/>
            </a:solidFill>
            <a:prstDash val="solid"/>
          </a:ln>
        </p:spPr>
      </p:sp>
      <p:sp>
        <p:nvSpPr>
          <p:cNvPr id="39" name="Text 37"/>
          <p:cNvSpPr/>
          <p:nvPr/>
        </p:nvSpPr>
        <p:spPr>
          <a:xfrm>
            <a:off x="1244600" y="5918200"/>
            <a:ext cx="5854700" cy="3937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Who had access?</a:t>
            </a:r>
            <a:endParaRPr lang="en-US" sz="2300" dirty="0"/>
          </a:p>
        </p:txBody>
      </p:sp>
      <p:sp>
        <p:nvSpPr>
          <p:cNvPr id="40" name="Text 38"/>
          <p:cNvSpPr/>
          <p:nvPr/>
        </p:nvSpPr>
        <p:spPr>
          <a:xfrm>
            <a:off x="1244600" y="6426200"/>
            <a:ext cx="58547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The Philippines combined formal institutions and education with concentrated power. Spanish and US rule cannot be explained by a British–French contrast (Dolan, 1993; recheck pending).</a:t>
            </a:r>
            <a:endParaRPr lang="en-US" sz="1050" dirty="0"/>
          </a:p>
        </p:txBody>
      </p:sp>
      <p:sp>
        <p:nvSpPr>
          <p:cNvPr id="41" name="Shape 39"/>
          <p:cNvSpPr/>
          <p:nvPr/>
        </p:nvSpPr>
        <p:spPr>
          <a:xfrm>
            <a:off x="457200" y="7480300"/>
            <a:ext cx="6642100" cy="1346200"/>
          </a:xfrm>
          <a:prstGeom prst="rect">
            <a:avLst/>
          </a:prstGeom>
          <a:solidFill>
            <a:srgbClr val="252525"/>
          </a:solidFill>
          <a:ln w="12700">
            <a:solidFill>
              <a:srgbClr val="252525"/>
            </a:solidFill>
            <a:prstDash val="solid"/>
          </a:ln>
        </p:spPr>
      </p:sp>
      <p:sp>
        <p:nvSpPr>
          <p:cNvPr id="42" name="Text 40"/>
          <p:cNvSpPr/>
          <p:nvPr/>
        </p:nvSpPr>
        <p:spPr>
          <a:xfrm>
            <a:off x="635000" y="7632700"/>
            <a:ext cx="62865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43" name="Text 41"/>
          <p:cNvSpPr/>
          <p:nvPr/>
        </p:nvSpPr>
        <p:spPr>
          <a:xfrm>
            <a:off x="635000" y="7912100"/>
            <a:ext cx="6286500" cy="8128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Independence did not reset the economy. We think what countries inherited—and what they could build on afterwards—mattered more than the colonial flag alone.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THE STARTING LINE</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Track is not the whole story.</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Ghana: the useful question is who the railway connected.</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One railway case cannot explain all of Africa or show that infrastructure alone caused growth. It does not establish the net benefit of colonial rule.</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Jedwab and Moradi (2012, pp. 1–4, 6–10). Original schematic based on cited facts, not traced map geometry. Full reference: p. 27.</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07</a:t>
            </a:r>
            <a:endParaRPr lang="en-US" sz="1000" dirty="0"/>
          </a:p>
        </p:txBody>
      </p:sp>
      <p:sp>
        <p:nvSpPr>
          <p:cNvPr id="12" name="Text 10"/>
          <p:cNvSpPr/>
          <p:nvPr/>
        </p:nvSpPr>
        <p:spPr>
          <a:xfrm>
            <a:off x="457200" y="3035300"/>
            <a:ext cx="6642100" cy="2540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1898–1918 / GHANA</a:t>
            </a:r>
            <a:endParaRPr lang="en-US" sz="1000" dirty="0"/>
          </a:p>
        </p:txBody>
      </p:sp>
      <p:sp>
        <p:nvSpPr>
          <p:cNvPr id="13" name="Shape 11"/>
          <p:cNvSpPr/>
          <p:nvPr/>
        </p:nvSpPr>
        <p:spPr>
          <a:xfrm>
            <a:off x="822234" y="4098834"/>
            <a:ext cx="539931" cy="20320"/>
          </a:xfrm>
          <a:prstGeom prst="rect">
            <a:avLst/>
          </a:prstGeom>
          <a:solidFill>
            <a:srgbClr val="252525"/>
          </a:solidFill>
          <a:ln w="12700">
            <a:solidFill>
              <a:srgbClr val="252525"/>
            </a:solidFill>
            <a:prstDash val="solid"/>
          </a:ln>
        </p:spPr>
      </p:sp>
      <p:sp>
        <p:nvSpPr>
          <p:cNvPr id="14" name="Shape 12"/>
          <p:cNvSpPr/>
          <p:nvPr/>
        </p:nvSpPr>
        <p:spPr>
          <a:xfrm>
            <a:off x="822234" y="4108994"/>
            <a:ext cx="139337" cy="156754"/>
          </a:xfrm>
          <a:prstGeom prst="line">
            <a:avLst/>
          </a:prstGeom>
          <a:noFill/>
          <a:ln w="20320">
            <a:solidFill>
              <a:srgbClr val="252525"/>
            </a:solidFill>
            <a:prstDash val="solid"/>
          </a:ln>
        </p:spPr>
      </p:sp>
      <p:sp>
        <p:nvSpPr>
          <p:cNvPr id="15" name="Shape 13"/>
          <p:cNvSpPr/>
          <p:nvPr/>
        </p:nvSpPr>
        <p:spPr>
          <a:xfrm>
            <a:off x="961571" y="4255589"/>
            <a:ext cx="296091" cy="20320"/>
          </a:xfrm>
          <a:prstGeom prst="rect">
            <a:avLst/>
          </a:prstGeom>
          <a:solidFill>
            <a:srgbClr val="252525"/>
          </a:solidFill>
          <a:ln w="12700">
            <a:solidFill>
              <a:srgbClr val="252525"/>
            </a:solidFill>
            <a:prstDash val="solid"/>
          </a:ln>
        </p:spPr>
      </p:sp>
      <p:sp>
        <p:nvSpPr>
          <p:cNvPr id="16" name="Shape 14"/>
          <p:cNvSpPr/>
          <p:nvPr/>
        </p:nvSpPr>
        <p:spPr>
          <a:xfrm flipV="1">
            <a:off x="1257663" y="4108994"/>
            <a:ext cx="104503" cy="156754"/>
          </a:xfrm>
          <a:prstGeom prst="line">
            <a:avLst/>
          </a:prstGeom>
          <a:noFill/>
          <a:ln w="20320">
            <a:solidFill>
              <a:srgbClr val="252525"/>
            </a:solidFill>
            <a:prstDash val="solid"/>
          </a:ln>
        </p:spPr>
      </p:sp>
      <p:sp>
        <p:nvSpPr>
          <p:cNvPr id="17" name="Shape 15"/>
          <p:cNvSpPr/>
          <p:nvPr/>
        </p:nvSpPr>
        <p:spPr>
          <a:xfrm>
            <a:off x="916577" y="3917406"/>
            <a:ext cx="20320" cy="191589"/>
          </a:xfrm>
          <a:prstGeom prst="rect">
            <a:avLst/>
          </a:prstGeom>
          <a:solidFill>
            <a:srgbClr val="252525"/>
          </a:solidFill>
          <a:ln w="12700">
            <a:solidFill>
              <a:srgbClr val="252525"/>
            </a:solidFill>
            <a:prstDash val="solid"/>
          </a:ln>
        </p:spPr>
      </p:sp>
      <p:sp>
        <p:nvSpPr>
          <p:cNvPr id="18" name="Shape 16"/>
          <p:cNvSpPr/>
          <p:nvPr/>
        </p:nvSpPr>
        <p:spPr>
          <a:xfrm>
            <a:off x="926737" y="3907246"/>
            <a:ext cx="296091" cy="20320"/>
          </a:xfrm>
          <a:prstGeom prst="rect">
            <a:avLst/>
          </a:prstGeom>
          <a:solidFill>
            <a:srgbClr val="252525"/>
          </a:solidFill>
          <a:ln w="12700">
            <a:solidFill>
              <a:srgbClr val="252525"/>
            </a:solidFill>
            <a:prstDash val="solid"/>
          </a:ln>
        </p:spPr>
      </p:sp>
      <p:sp>
        <p:nvSpPr>
          <p:cNvPr id="19" name="Shape 17"/>
          <p:cNvSpPr/>
          <p:nvPr/>
        </p:nvSpPr>
        <p:spPr>
          <a:xfrm>
            <a:off x="1212669" y="3917406"/>
            <a:ext cx="20320" cy="191589"/>
          </a:xfrm>
          <a:prstGeom prst="rect">
            <a:avLst/>
          </a:prstGeom>
          <a:solidFill>
            <a:srgbClr val="252525"/>
          </a:solidFill>
          <a:ln w="12700">
            <a:solidFill>
              <a:srgbClr val="252525"/>
            </a:solidFill>
            <a:prstDash val="solid"/>
          </a:ln>
        </p:spPr>
      </p:sp>
      <p:sp>
        <p:nvSpPr>
          <p:cNvPr id="20" name="Shape 18"/>
          <p:cNvSpPr/>
          <p:nvPr/>
        </p:nvSpPr>
        <p:spPr>
          <a:xfrm>
            <a:off x="1073331" y="3760651"/>
            <a:ext cx="20320" cy="156754"/>
          </a:xfrm>
          <a:prstGeom prst="rect">
            <a:avLst/>
          </a:prstGeom>
          <a:solidFill>
            <a:srgbClr val="252525"/>
          </a:solidFill>
          <a:ln w="12700">
            <a:solidFill>
              <a:srgbClr val="252525"/>
            </a:solidFill>
            <a:prstDash val="solid"/>
          </a:ln>
        </p:spPr>
      </p:sp>
      <p:sp>
        <p:nvSpPr>
          <p:cNvPr id="21" name="Text 19"/>
          <p:cNvSpPr/>
          <p:nvPr/>
        </p:nvSpPr>
        <p:spPr>
          <a:xfrm>
            <a:off x="457200" y="4521200"/>
            <a:ext cx="26797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Coast and ports</a:t>
            </a:r>
            <a:endParaRPr lang="en-US" sz="1700" dirty="0"/>
          </a:p>
        </p:txBody>
      </p:sp>
      <p:sp>
        <p:nvSpPr>
          <p:cNvPr id="22" name="Shape 20"/>
          <p:cNvSpPr/>
          <p:nvPr/>
        </p:nvSpPr>
        <p:spPr>
          <a:xfrm>
            <a:off x="5318034" y="4255589"/>
            <a:ext cx="522514" cy="20320"/>
          </a:xfrm>
          <a:prstGeom prst="rect">
            <a:avLst/>
          </a:prstGeom>
          <a:solidFill>
            <a:srgbClr val="252525"/>
          </a:solidFill>
          <a:ln w="12700">
            <a:solidFill>
              <a:srgbClr val="252525"/>
            </a:solidFill>
            <a:prstDash val="solid"/>
          </a:ln>
        </p:spPr>
      </p:sp>
      <p:sp>
        <p:nvSpPr>
          <p:cNvPr id="23" name="Shape 21"/>
          <p:cNvSpPr/>
          <p:nvPr/>
        </p:nvSpPr>
        <p:spPr>
          <a:xfrm>
            <a:off x="5307874" y="3969657"/>
            <a:ext cx="20320" cy="296091"/>
          </a:xfrm>
          <a:prstGeom prst="rect">
            <a:avLst/>
          </a:prstGeom>
          <a:solidFill>
            <a:srgbClr val="252525"/>
          </a:solidFill>
          <a:ln w="12700">
            <a:solidFill>
              <a:srgbClr val="252525"/>
            </a:solidFill>
            <a:prstDash val="solid"/>
          </a:ln>
        </p:spPr>
      </p:sp>
      <p:sp>
        <p:nvSpPr>
          <p:cNvPr id="24" name="Shape 22"/>
          <p:cNvSpPr/>
          <p:nvPr/>
        </p:nvSpPr>
        <p:spPr>
          <a:xfrm flipV="1">
            <a:off x="5318034" y="3865154"/>
            <a:ext cx="174171" cy="104503"/>
          </a:xfrm>
          <a:prstGeom prst="line">
            <a:avLst/>
          </a:prstGeom>
          <a:noFill/>
          <a:ln w="20320">
            <a:solidFill>
              <a:srgbClr val="252525"/>
            </a:solidFill>
            <a:prstDash val="solid"/>
          </a:ln>
        </p:spPr>
      </p:sp>
      <p:sp>
        <p:nvSpPr>
          <p:cNvPr id="25" name="Shape 23"/>
          <p:cNvSpPr/>
          <p:nvPr/>
        </p:nvSpPr>
        <p:spPr>
          <a:xfrm>
            <a:off x="5482046" y="3865154"/>
            <a:ext cx="20320" cy="104503"/>
          </a:xfrm>
          <a:prstGeom prst="rect">
            <a:avLst/>
          </a:prstGeom>
          <a:solidFill>
            <a:srgbClr val="252525"/>
          </a:solidFill>
          <a:ln w="12700">
            <a:solidFill>
              <a:srgbClr val="252525"/>
            </a:solidFill>
            <a:prstDash val="solid"/>
          </a:ln>
        </p:spPr>
      </p:sp>
      <p:sp>
        <p:nvSpPr>
          <p:cNvPr id="26" name="Shape 24"/>
          <p:cNvSpPr/>
          <p:nvPr/>
        </p:nvSpPr>
        <p:spPr>
          <a:xfrm flipV="1">
            <a:off x="5492206" y="3865154"/>
            <a:ext cx="191589" cy="104503"/>
          </a:xfrm>
          <a:prstGeom prst="line">
            <a:avLst/>
          </a:prstGeom>
          <a:noFill/>
          <a:ln w="20320">
            <a:solidFill>
              <a:srgbClr val="252525"/>
            </a:solidFill>
            <a:prstDash val="solid"/>
          </a:ln>
        </p:spPr>
      </p:sp>
      <p:sp>
        <p:nvSpPr>
          <p:cNvPr id="27" name="Shape 25"/>
          <p:cNvSpPr/>
          <p:nvPr/>
        </p:nvSpPr>
        <p:spPr>
          <a:xfrm>
            <a:off x="5673634" y="3865154"/>
            <a:ext cx="20320" cy="400594"/>
          </a:xfrm>
          <a:prstGeom prst="rect">
            <a:avLst/>
          </a:prstGeom>
          <a:solidFill>
            <a:srgbClr val="252525"/>
          </a:solidFill>
          <a:ln w="12700">
            <a:solidFill>
              <a:srgbClr val="252525"/>
            </a:solidFill>
            <a:prstDash val="solid"/>
          </a:ln>
        </p:spPr>
      </p:sp>
      <p:sp>
        <p:nvSpPr>
          <p:cNvPr id="28" name="Shape 26"/>
          <p:cNvSpPr/>
          <p:nvPr/>
        </p:nvSpPr>
        <p:spPr>
          <a:xfrm>
            <a:off x="5743303" y="3760651"/>
            <a:ext cx="20320" cy="278674"/>
          </a:xfrm>
          <a:prstGeom prst="rect">
            <a:avLst/>
          </a:prstGeom>
          <a:solidFill>
            <a:srgbClr val="252525"/>
          </a:solidFill>
          <a:ln w="12700">
            <a:solidFill>
              <a:srgbClr val="252525"/>
            </a:solidFill>
            <a:prstDash val="solid"/>
          </a:ln>
        </p:spPr>
      </p:sp>
      <p:sp>
        <p:nvSpPr>
          <p:cNvPr id="29" name="Shape 27"/>
          <p:cNvSpPr/>
          <p:nvPr/>
        </p:nvSpPr>
        <p:spPr>
          <a:xfrm>
            <a:off x="5830389" y="3760651"/>
            <a:ext cx="20320" cy="505097"/>
          </a:xfrm>
          <a:prstGeom prst="rect">
            <a:avLst/>
          </a:prstGeom>
          <a:solidFill>
            <a:srgbClr val="252525"/>
          </a:solidFill>
          <a:ln w="12700">
            <a:solidFill>
              <a:srgbClr val="252525"/>
            </a:solidFill>
            <a:prstDash val="solid"/>
          </a:ln>
        </p:spPr>
      </p:sp>
      <p:sp>
        <p:nvSpPr>
          <p:cNvPr id="30" name="Shape 28"/>
          <p:cNvSpPr/>
          <p:nvPr/>
        </p:nvSpPr>
        <p:spPr>
          <a:xfrm>
            <a:off x="5753463" y="3750491"/>
            <a:ext cx="87086" cy="20320"/>
          </a:xfrm>
          <a:prstGeom prst="rect">
            <a:avLst/>
          </a:prstGeom>
          <a:solidFill>
            <a:srgbClr val="252525"/>
          </a:solidFill>
          <a:ln w="12700">
            <a:solidFill>
              <a:srgbClr val="252525"/>
            </a:solidFill>
            <a:prstDash val="solid"/>
          </a:ln>
        </p:spPr>
      </p:sp>
      <p:sp>
        <p:nvSpPr>
          <p:cNvPr id="31" name="Shape 29"/>
          <p:cNvSpPr/>
          <p:nvPr/>
        </p:nvSpPr>
        <p:spPr>
          <a:xfrm>
            <a:off x="5405120" y="4098834"/>
            <a:ext cx="52251" cy="20320"/>
          </a:xfrm>
          <a:prstGeom prst="rect">
            <a:avLst/>
          </a:prstGeom>
          <a:solidFill>
            <a:srgbClr val="252525"/>
          </a:solidFill>
          <a:ln w="12700">
            <a:solidFill>
              <a:srgbClr val="252525"/>
            </a:solidFill>
            <a:prstDash val="solid"/>
          </a:ln>
        </p:spPr>
      </p:sp>
      <p:sp>
        <p:nvSpPr>
          <p:cNvPr id="32" name="Shape 30"/>
          <p:cNvSpPr/>
          <p:nvPr/>
        </p:nvSpPr>
        <p:spPr>
          <a:xfrm>
            <a:off x="5561874" y="4098834"/>
            <a:ext cx="52251" cy="20320"/>
          </a:xfrm>
          <a:prstGeom prst="rect">
            <a:avLst/>
          </a:prstGeom>
          <a:solidFill>
            <a:srgbClr val="252525"/>
          </a:solidFill>
          <a:ln w="12700">
            <a:solidFill>
              <a:srgbClr val="252525"/>
            </a:solidFill>
            <a:prstDash val="solid"/>
          </a:ln>
        </p:spPr>
      </p:sp>
      <p:sp>
        <p:nvSpPr>
          <p:cNvPr id="33" name="Text 31"/>
          <p:cNvSpPr/>
          <p:nvPr/>
        </p:nvSpPr>
        <p:spPr>
          <a:xfrm>
            <a:off x="4495800" y="4521200"/>
            <a:ext cx="26035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Mining areas</a:t>
            </a:r>
            <a:endParaRPr lang="en-US" sz="1700" dirty="0"/>
          </a:p>
        </p:txBody>
      </p:sp>
      <p:sp>
        <p:nvSpPr>
          <p:cNvPr id="34" name="Shape 32"/>
          <p:cNvSpPr/>
          <p:nvPr/>
        </p:nvSpPr>
        <p:spPr>
          <a:xfrm>
            <a:off x="1562100" y="3975100"/>
            <a:ext cx="3492500" cy="25400"/>
          </a:xfrm>
          <a:prstGeom prst="rect">
            <a:avLst/>
          </a:prstGeom>
          <a:solidFill>
            <a:srgbClr val="252525"/>
          </a:solidFill>
          <a:ln w="12700">
            <a:solidFill>
              <a:srgbClr val="252525"/>
            </a:solidFill>
            <a:prstDash val="solid"/>
          </a:ln>
        </p:spPr>
      </p:sp>
      <p:sp>
        <p:nvSpPr>
          <p:cNvPr id="35" name="Text 33"/>
          <p:cNvSpPr/>
          <p:nvPr/>
        </p:nvSpPr>
        <p:spPr>
          <a:xfrm>
            <a:off x="3302000" y="36322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36" name="Shape 34"/>
          <p:cNvSpPr/>
          <p:nvPr/>
        </p:nvSpPr>
        <p:spPr>
          <a:xfrm>
            <a:off x="857069" y="5544820"/>
            <a:ext cx="470263" cy="435429"/>
          </a:xfrm>
          <a:prstGeom prst="rect">
            <a:avLst/>
          </a:prstGeom>
          <a:solidFill>
            <a:srgbClr val="F4F0E7"/>
          </a:solidFill>
          <a:ln w="7620">
            <a:solidFill>
              <a:srgbClr val="252525"/>
            </a:solidFill>
            <a:prstDash val="solid"/>
          </a:ln>
        </p:spPr>
      </p:sp>
      <p:sp>
        <p:nvSpPr>
          <p:cNvPr id="37" name="Shape 35"/>
          <p:cNvSpPr/>
          <p:nvPr/>
        </p:nvSpPr>
        <p:spPr>
          <a:xfrm>
            <a:off x="857069" y="5673997"/>
            <a:ext cx="470263" cy="20320"/>
          </a:xfrm>
          <a:prstGeom prst="rect">
            <a:avLst/>
          </a:prstGeom>
          <a:solidFill>
            <a:srgbClr val="252525"/>
          </a:solidFill>
          <a:ln w="12700">
            <a:solidFill>
              <a:srgbClr val="252525"/>
            </a:solidFill>
            <a:prstDash val="solid"/>
          </a:ln>
        </p:spPr>
      </p:sp>
      <p:sp>
        <p:nvSpPr>
          <p:cNvPr id="38" name="Shape 36"/>
          <p:cNvSpPr/>
          <p:nvPr/>
        </p:nvSpPr>
        <p:spPr>
          <a:xfrm>
            <a:off x="1073331" y="5544820"/>
            <a:ext cx="20320" cy="139337"/>
          </a:xfrm>
          <a:prstGeom prst="rect">
            <a:avLst/>
          </a:prstGeom>
          <a:solidFill>
            <a:srgbClr val="252525"/>
          </a:solidFill>
          <a:ln w="12700">
            <a:solidFill>
              <a:srgbClr val="252525"/>
            </a:solidFill>
            <a:prstDash val="solid"/>
          </a:ln>
        </p:spPr>
      </p:sp>
      <p:sp>
        <p:nvSpPr>
          <p:cNvPr id="39" name="Text 37"/>
          <p:cNvSpPr/>
          <p:nvPr/>
        </p:nvSpPr>
        <p:spPr>
          <a:xfrm>
            <a:off x="457200" y="6235700"/>
            <a:ext cx="26797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Cocoa producers</a:t>
            </a:r>
            <a:endParaRPr lang="en-US" sz="1700" dirty="0"/>
          </a:p>
        </p:txBody>
      </p:sp>
      <p:sp>
        <p:nvSpPr>
          <p:cNvPr id="40" name="Shape 38"/>
          <p:cNvSpPr/>
          <p:nvPr/>
        </p:nvSpPr>
        <p:spPr>
          <a:xfrm flipV="1">
            <a:off x="5335451" y="5475151"/>
            <a:ext cx="243840" cy="243840"/>
          </a:xfrm>
          <a:prstGeom prst="line">
            <a:avLst/>
          </a:prstGeom>
          <a:noFill/>
          <a:ln w="20320">
            <a:solidFill>
              <a:srgbClr val="252525"/>
            </a:solidFill>
            <a:prstDash val="solid"/>
          </a:ln>
        </p:spPr>
      </p:sp>
      <p:sp>
        <p:nvSpPr>
          <p:cNvPr id="41" name="Shape 39"/>
          <p:cNvSpPr/>
          <p:nvPr/>
        </p:nvSpPr>
        <p:spPr>
          <a:xfrm>
            <a:off x="5579291" y="5475151"/>
            <a:ext cx="243840" cy="243840"/>
          </a:xfrm>
          <a:prstGeom prst="line">
            <a:avLst/>
          </a:prstGeom>
          <a:noFill/>
          <a:ln w="20320">
            <a:solidFill>
              <a:srgbClr val="252525"/>
            </a:solidFill>
            <a:prstDash val="solid"/>
          </a:ln>
        </p:spPr>
      </p:sp>
      <p:sp>
        <p:nvSpPr>
          <p:cNvPr id="42" name="Shape 40"/>
          <p:cNvSpPr/>
          <p:nvPr/>
        </p:nvSpPr>
        <p:spPr>
          <a:xfrm>
            <a:off x="5579291" y="5718991"/>
            <a:ext cx="243840" cy="243840"/>
          </a:xfrm>
          <a:prstGeom prst="line">
            <a:avLst/>
          </a:prstGeom>
          <a:noFill/>
          <a:ln w="20320">
            <a:solidFill>
              <a:srgbClr val="252525"/>
            </a:solidFill>
            <a:prstDash val="solid"/>
          </a:ln>
        </p:spPr>
      </p:sp>
      <p:sp>
        <p:nvSpPr>
          <p:cNvPr id="43" name="Shape 41"/>
          <p:cNvSpPr/>
          <p:nvPr/>
        </p:nvSpPr>
        <p:spPr>
          <a:xfrm flipV="1">
            <a:off x="5335451" y="5718991"/>
            <a:ext cx="243840" cy="243840"/>
          </a:xfrm>
          <a:prstGeom prst="line">
            <a:avLst/>
          </a:prstGeom>
          <a:noFill/>
          <a:ln w="20320">
            <a:solidFill>
              <a:srgbClr val="252525"/>
            </a:solidFill>
            <a:prstDash val="solid"/>
          </a:ln>
        </p:spPr>
      </p:sp>
      <p:sp>
        <p:nvSpPr>
          <p:cNvPr id="44" name="Shape 42"/>
          <p:cNvSpPr/>
          <p:nvPr/>
        </p:nvSpPr>
        <p:spPr>
          <a:xfrm>
            <a:off x="5335451" y="5708831"/>
            <a:ext cx="487680" cy="20320"/>
          </a:xfrm>
          <a:prstGeom prst="rect">
            <a:avLst/>
          </a:prstGeom>
          <a:solidFill>
            <a:srgbClr val="252525"/>
          </a:solidFill>
          <a:ln w="12700">
            <a:solidFill>
              <a:srgbClr val="252525"/>
            </a:solidFill>
            <a:prstDash val="solid"/>
          </a:ln>
        </p:spPr>
      </p:sp>
      <p:sp>
        <p:nvSpPr>
          <p:cNvPr id="45" name="Shape 43"/>
          <p:cNvSpPr/>
          <p:nvPr/>
        </p:nvSpPr>
        <p:spPr>
          <a:xfrm>
            <a:off x="5300617" y="5684157"/>
            <a:ext cx="69669" cy="69669"/>
          </a:xfrm>
          <a:prstGeom prst="ellipse">
            <a:avLst/>
          </a:prstGeom>
          <a:solidFill>
            <a:srgbClr val="252525"/>
          </a:solidFill>
          <a:ln w="12700">
            <a:solidFill>
              <a:srgbClr val="252525"/>
            </a:solidFill>
            <a:prstDash val="solid"/>
          </a:ln>
        </p:spPr>
      </p:sp>
      <p:sp>
        <p:nvSpPr>
          <p:cNvPr id="46" name="Shape 44"/>
          <p:cNvSpPr/>
          <p:nvPr/>
        </p:nvSpPr>
        <p:spPr>
          <a:xfrm>
            <a:off x="5544457" y="5440317"/>
            <a:ext cx="69669" cy="69669"/>
          </a:xfrm>
          <a:prstGeom prst="ellipse">
            <a:avLst/>
          </a:prstGeom>
          <a:solidFill>
            <a:srgbClr val="252525"/>
          </a:solidFill>
          <a:ln w="12700">
            <a:solidFill>
              <a:srgbClr val="252525"/>
            </a:solidFill>
            <a:prstDash val="solid"/>
          </a:ln>
        </p:spPr>
      </p:sp>
      <p:sp>
        <p:nvSpPr>
          <p:cNvPr id="47" name="Shape 45"/>
          <p:cNvSpPr/>
          <p:nvPr/>
        </p:nvSpPr>
        <p:spPr>
          <a:xfrm>
            <a:off x="5788297" y="5684157"/>
            <a:ext cx="69669" cy="69669"/>
          </a:xfrm>
          <a:prstGeom prst="ellipse">
            <a:avLst/>
          </a:prstGeom>
          <a:solidFill>
            <a:srgbClr val="252525"/>
          </a:solidFill>
          <a:ln w="12700">
            <a:solidFill>
              <a:srgbClr val="252525"/>
            </a:solidFill>
            <a:prstDash val="solid"/>
          </a:ln>
        </p:spPr>
      </p:sp>
      <p:sp>
        <p:nvSpPr>
          <p:cNvPr id="48" name="Shape 46"/>
          <p:cNvSpPr/>
          <p:nvPr/>
        </p:nvSpPr>
        <p:spPr>
          <a:xfrm>
            <a:off x="5544457" y="5927997"/>
            <a:ext cx="69669" cy="69669"/>
          </a:xfrm>
          <a:prstGeom prst="ellipse">
            <a:avLst/>
          </a:prstGeom>
          <a:solidFill>
            <a:srgbClr val="252525"/>
          </a:solidFill>
          <a:ln w="12700">
            <a:solidFill>
              <a:srgbClr val="252525"/>
            </a:solidFill>
            <a:prstDash val="solid"/>
          </a:ln>
        </p:spPr>
      </p:sp>
      <p:sp>
        <p:nvSpPr>
          <p:cNvPr id="49" name="Text 47"/>
          <p:cNvSpPr/>
          <p:nvPr/>
        </p:nvSpPr>
        <p:spPr>
          <a:xfrm>
            <a:off x="4178300" y="6235700"/>
            <a:ext cx="29210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Kumasi and markets</a:t>
            </a:r>
            <a:endParaRPr lang="en-US" sz="1700" dirty="0"/>
          </a:p>
        </p:txBody>
      </p:sp>
      <p:sp>
        <p:nvSpPr>
          <p:cNvPr id="50" name="Shape 48"/>
          <p:cNvSpPr/>
          <p:nvPr/>
        </p:nvSpPr>
        <p:spPr>
          <a:xfrm>
            <a:off x="1562100" y="5705475"/>
            <a:ext cx="63500" cy="19050"/>
          </a:xfrm>
          <a:prstGeom prst="rect">
            <a:avLst/>
          </a:prstGeom>
          <a:solidFill>
            <a:srgbClr val="252525"/>
          </a:solidFill>
          <a:ln w="12700">
            <a:solidFill>
              <a:srgbClr val="252525"/>
            </a:solidFill>
            <a:prstDash val="solid"/>
          </a:ln>
        </p:spPr>
      </p:sp>
      <p:sp>
        <p:nvSpPr>
          <p:cNvPr id="51" name="Shape 49"/>
          <p:cNvSpPr/>
          <p:nvPr/>
        </p:nvSpPr>
        <p:spPr>
          <a:xfrm>
            <a:off x="1676400" y="5705475"/>
            <a:ext cx="63500" cy="19050"/>
          </a:xfrm>
          <a:prstGeom prst="rect">
            <a:avLst/>
          </a:prstGeom>
          <a:solidFill>
            <a:srgbClr val="252525"/>
          </a:solidFill>
          <a:ln w="12700">
            <a:solidFill>
              <a:srgbClr val="252525"/>
            </a:solidFill>
            <a:prstDash val="solid"/>
          </a:ln>
        </p:spPr>
      </p:sp>
      <p:sp>
        <p:nvSpPr>
          <p:cNvPr id="52" name="Shape 50"/>
          <p:cNvSpPr/>
          <p:nvPr/>
        </p:nvSpPr>
        <p:spPr>
          <a:xfrm>
            <a:off x="1790700" y="5705475"/>
            <a:ext cx="63500" cy="19050"/>
          </a:xfrm>
          <a:prstGeom prst="rect">
            <a:avLst/>
          </a:prstGeom>
          <a:solidFill>
            <a:srgbClr val="252525"/>
          </a:solidFill>
          <a:ln w="12700">
            <a:solidFill>
              <a:srgbClr val="252525"/>
            </a:solidFill>
            <a:prstDash val="solid"/>
          </a:ln>
        </p:spPr>
      </p:sp>
      <p:sp>
        <p:nvSpPr>
          <p:cNvPr id="53" name="Shape 51"/>
          <p:cNvSpPr/>
          <p:nvPr/>
        </p:nvSpPr>
        <p:spPr>
          <a:xfrm>
            <a:off x="1905000" y="5705475"/>
            <a:ext cx="63500" cy="19050"/>
          </a:xfrm>
          <a:prstGeom prst="rect">
            <a:avLst/>
          </a:prstGeom>
          <a:solidFill>
            <a:srgbClr val="252525"/>
          </a:solidFill>
          <a:ln w="12700">
            <a:solidFill>
              <a:srgbClr val="252525"/>
            </a:solidFill>
            <a:prstDash val="solid"/>
          </a:ln>
        </p:spPr>
      </p:sp>
      <p:sp>
        <p:nvSpPr>
          <p:cNvPr id="54" name="Shape 52"/>
          <p:cNvSpPr/>
          <p:nvPr/>
        </p:nvSpPr>
        <p:spPr>
          <a:xfrm>
            <a:off x="2019300" y="5705475"/>
            <a:ext cx="63500" cy="19050"/>
          </a:xfrm>
          <a:prstGeom prst="rect">
            <a:avLst/>
          </a:prstGeom>
          <a:solidFill>
            <a:srgbClr val="252525"/>
          </a:solidFill>
          <a:ln w="12700">
            <a:solidFill>
              <a:srgbClr val="252525"/>
            </a:solidFill>
            <a:prstDash val="solid"/>
          </a:ln>
        </p:spPr>
      </p:sp>
      <p:sp>
        <p:nvSpPr>
          <p:cNvPr id="55" name="Shape 53"/>
          <p:cNvSpPr/>
          <p:nvPr/>
        </p:nvSpPr>
        <p:spPr>
          <a:xfrm>
            <a:off x="2133600" y="5705475"/>
            <a:ext cx="63500" cy="19050"/>
          </a:xfrm>
          <a:prstGeom prst="rect">
            <a:avLst/>
          </a:prstGeom>
          <a:solidFill>
            <a:srgbClr val="252525"/>
          </a:solidFill>
          <a:ln w="12700">
            <a:solidFill>
              <a:srgbClr val="252525"/>
            </a:solidFill>
            <a:prstDash val="solid"/>
          </a:ln>
        </p:spPr>
      </p:sp>
      <p:sp>
        <p:nvSpPr>
          <p:cNvPr id="56" name="Shape 54"/>
          <p:cNvSpPr/>
          <p:nvPr/>
        </p:nvSpPr>
        <p:spPr>
          <a:xfrm>
            <a:off x="2247900" y="5705475"/>
            <a:ext cx="63500" cy="19050"/>
          </a:xfrm>
          <a:prstGeom prst="rect">
            <a:avLst/>
          </a:prstGeom>
          <a:solidFill>
            <a:srgbClr val="252525"/>
          </a:solidFill>
          <a:ln w="12700">
            <a:solidFill>
              <a:srgbClr val="252525"/>
            </a:solidFill>
            <a:prstDash val="solid"/>
          </a:ln>
        </p:spPr>
      </p:sp>
      <p:sp>
        <p:nvSpPr>
          <p:cNvPr id="57" name="Shape 55"/>
          <p:cNvSpPr/>
          <p:nvPr/>
        </p:nvSpPr>
        <p:spPr>
          <a:xfrm>
            <a:off x="2362200" y="5705475"/>
            <a:ext cx="63500" cy="19050"/>
          </a:xfrm>
          <a:prstGeom prst="rect">
            <a:avLst/>
          </a:prstGeom>
          <a:solidFill>
            <a:srgbClr val="252525"/>
          </a:solidFill>
          <a:ln w="12700">
            <a:solidFill>
              <a:srgbClr val="252525"/>
            </a:solidFill>
            <a:prstDash val="solid"/>
          </a:ln>
        </p:spPr>
      </p:sp>
      <p:sp>
        <p:nvSpPr>
          <p:cNvPr id="58" name="Shape 56"/>
          <p:cNvSpPr/>
          <p:nvPr/>
        </p:nvSpPr>
        <p:spPr>
          <a:xfrm>
            <a:off x="2476500" y="5705475"/>
            <a:ext cx="63500" cy="19050"/>
          </a:xfrm>
          <a:prstGeom prst="rect">
            <a:avLst/>
          </a:prstGeom>
          <a:solidFill>
            <a:srgbClr val="252525"/>
          </a:solidFill>
          <a:ln w="12700">
            <a:solidFill>
              <a:srgbClr val="252525"/>
            </a:solidFill>
            <a:prstDash val="solid"/>
          </a:ln>
        </p:spPr>
      </p:sp>
      <p:sp>
        <p:nvSpPr>
          <p:cNvPr id="59" name="Shape 57"/>
          <p:cNvSpPr/>
          <p:nvPr/>
        </p:nvSpPr>
        <p:spPr>
          <a:xfrm>
            <a:off x="2590800" y="5705475"/>
            <a:ext cx="63500" cy="19050"/>
          </a:xfrm>
          <a:prstGeom prst="rect">
            <a:avLst/>
          </a:prstGeom>
          <a:solidFill>
            <a:srgbClr val="252525"/>
          </a:solidFill>
          <a:ln w="12700">
            <a:solidFill>
              <a:srgbClr val="252525"/>
            </a:solidFill>
            <a:prstDash val="solid"/>
          </a:ln>
        </p:spPr>
      </p:sp>
      <p:sp>
        <p:nvSpPr>
          <p:cNvPr id="60" name="Shape 58"/>
          <p:cNvSpPr/>
          <p:nvPr/>
        </p:nvSpPr>
        <p:spPr>
          <a:xfrm>
            <a:off x="2705100" y="5705475"/>
            <a:ext cx="63500" cy="19050"/>
          </a:xfrm>
          <a:prstGeom prst="rect">
            <a:avLst/>
          </a:prstGeom>
          <a:solidFill>
            <a:srgbClr val="252525"/>
          </a:solidFill>
          <a:ln w="12700">
            <a:solidFill>
              <a:srgbClr val="252525"/>
            </a:solidFill>
            <a:prstDash val="solid"/>
          </a:ln>
        </p:spPr>
      </p:sp>
      <p:sp>
        <p:nvSpPr>
          <p:cNvPr id="61" name="Shape 59"/>
          <p:cNvSpPr/>
          <p:nvPr/>
        </p:nvSpPr>
        <p:spPr>
          <a:xfrm>
            <a:off x="2819400" y="5705475"/>
            <a:ext cx="63500" cy="19050"/>
          </a:xfrm>
          <a:prstGeom prst="rect">
            <a:avLst/>
          </a:prstGeom>
          <a:solidFill>
            <a:srgbClr val="252525"/>
          </a:solidFill>
          <a:ln w="12700">
            <a:solidFill>
              <a:srgbClr val="252525"/>
            </a:solidFill>
            <a:prstDash val="solid"/>
          </a:ln>
        </p:spPr>
      </p:sp>
      <p:sp>
        <p:nvSpPr>
          <p:cNvPr id="62" name="Shape 60"/>
          <p:cNvSpPr/>
          <p:nvPr/>
        </p:nvSpPr>
        <p:spPr>
          <a:xfrm>
            <a:off x="2933700" y="5705475"/>
            <a:ext cx="63500" cy="19050"/>
          </a:xfrm>
          <a:prstGeom prst="rect">
            <a:avLst/>
          </a:prstGeom>
          <a:solidFill>
            <a:srgbClr val="252525"/>
          </a:solidFill>
          <a:ln w="12700">
            <a:solidFill>
              <a:srgbClr val="252525"/>
            </a:solidFill>
            <a:prstDash val="solid"/>
          </a:ln>
        </p:spPr>
      </p:sp>
      <p:sp>
        <p:nvSpPr>
          <p:cNvPr id="63" name="Shape 61"/>
          <p:cNvSpPr/>
          <p:nvPr/>
        </p:nvSpPr>
        <p:spPr>
          <a:xfrm>
            <a:off x="3048000" y="5705475"/>
            <a:ext cx="63500" cy="19050"/>
          </a:xfrm>
          <a:prstGeom prst="rect">
            <a:avLst/>
          </a:prstGeom>
          <a:solidFill>
            <a:srgbClr val="252525"/>
          </a:solidFill>
          <a:ln w="12700">
            <a:solidFill>
              <a:srgbClr val="252525"/>
            </a:solidFill>
            <a:prstDash val="solid"/>
          </a:ln>
        </p:spPr>
      </p:sp>
      <p:sp>
        <p:nvSpPr>
          <p:cNvPr id="64" name="Shape 62"/>
          <p:cNvSpPr/>
          <p:nvPr/>
        </p:nvSpPr>
        <p:spPr>
          <a:xfrm>
            <a:off x="3162300" y="5705475"/>
            <a:ext cx="63500" cy="19050"/>
          </a:xfrm>
          <a:prstGeom prst="rect">
            <a:avLst/>
          </a:prstGeom>
          <a:solidFill>
            <a:srgbClr val="252525"/>
          </a:solidFill>
          <a:ln w="12700">
            <a:solidFill>
              <a:srgbClr val="252525"/>
            </a:solidFill>
            <a:prstDash val="solid"/>
          </a:ln>
        </p:spPr>
      </p:sp>
      <p:sp>
        <p:nvSpPr>
          <p:cNvPr id="65" name="Shape 63"/>
          <p:cNvSpPr/>
          <p:nvPr/>
        </p:nvSpPr>
        <p:spPr>
          <a:xfrm>
            <a:off x="3276600" y="5705475"/>
            <a:ext cx="63500" cy="19050"/>
          </a:xfrm>
          <a:prstGeom prst="rect">
            <a:avLst/>
          </a:prstGeom>
          <a:solidFill>
            <a:srgbClr val="252525"/>
          </a:solidFill>
          <a:ln w="12700">
            <a:solidFill>
              <a:srgbClr val="252525"/>
            </a:solidFill>
            <a:prstDash val="solid"/>
          </a:ln>
        </p:spPr>
      </p:sp>
      <p:sp>
        <p:nvSpPr>
          <p:cNvPr id="66" name="Shape 64"/>
          <p:cNvSpPr/>
          <p:nvPr/>
        </p:nvSpPr>
        <p:spPr>
          <a:xfrm>
            <a:off x="3390900" y="5705475"/>
            <a:ext cx="63500" cy="19050"/>
          </a:xfrm>
          <a:prstGeom prst="rect">
            <a:avLst/>
          </a:prstGeom>
          <a:solidFill>
            <a:srgbClr val="252525"/>
          </a:solidFill>
          <a:ln w="12700">
            <a:solidFill>
              <a:srgbClr val="252525"/>
            </a:solidFill>
            <a:prstDash val="solid"/>
          </a:ln>
        </p:spPr>
      </p:sp>
      <p:sp>
        <p:nvSpPr>
          <p:cNvPr id="67" name="Shape 65"/>
          <p:cNvSpPr/>
          <p:nvPr/>
        </p:nvSpPr>
        <p:spPr>
          <a:xfrm>
            <a:off x="3505200" y="5705475"/>
            <a:ext cx="63500" cy="19050"/>
          </a:xfrm>
          <a:prstGeom prst="rect">
            <a:avLst/>
          </a:prstGeom>
          <a:solidFill>
            <a:srgbClr val="252525"/>
          </a:solidFill>
          <a:ln w="12700">
            <a:solidFill>
              <a:srgbClr val="252525"/>
            </a:solidFill>
            <a:prstDash val="solid"/>
          </a:ln>
        </p:spPr>
      </p:sp>
      <p:sp>
        <p:nvSpPr>
          <p:cNvPr id="68" name="Shape 66"/>
          <p:cNvSpPr/>
          <p:nvPr/>
        </p:nvSpPr>
        <p:spPr>
          <a:xfrm>
            <a:off x="3619500" y="5705475"/>
            <a:ext cx="63500" cy="19050"/>
          </a:xfrm>
          <a:prstGeom prst="rect">
            <a:avLst/>
          </a:prstGeom>
          <a:solidFill>
            <a:srgbClr val="252525"/>
          </a:solidFill>
          <a:ln w="12700">
            <a:solidFill>
              <a:srgbClr val="252525"/>
            </a:solidFill>
            <a:prstDash val="solid"/>
          </a:ln>
        </p:spPr>
      </p:sp>
      <p:sp>
        <p:nvSpPr>
          <p:cNvPr id="69" name="Shape 67"/>
          <p:cNvSpPr/>
          <p:nvPr/>
        </p:nvSpPr>
        <p:spPr>
          <a:xfrm>
            <a:off x="3733800" y="5705475"/>
            <a:ext cx="63500" cy="19050"/>
          </a:xfrm>
          <a:prstGeom prst="rect">
            <a:avLst/>
          </a:prstGeom>
          <a:solidFill>
            <a:srgbClr val="252525"/>
          </a:solidFill>
          <a:ln w="12700">
            <a:solidFill>
              <a:srgbClr val="252525"/>
            </a:solidFill>
            <a:prstDash val="solid"/>
          </a:ln>
        </p:spPr>
      </p:sp>
      <p:sp>
        <p:nvSpPr>
          <p:cNvPr id="70" name="Shape 68"/>
          <p:cNvSpPr/>
          <p:nvPr/>
        </p:nvSpPr>
        <p:spPr>
          <a:xfrm>
            <a:off x="3848100" y="5705475"/>
            <a:ext cx="63500" cy="19050"/>
          </a:xfrm>
          <a:prstGeom prst="rect">
            <a:avLst/>
          </a:prstGeom>
          <a:solidFill>
            <a:srgbClr val="252525"/>
          </a:solidFill>
          <a:ln w="12700">
            <a:solidFill>
              <a:srgbClr val="252525"/>
            </a:solidFill>
            <a:prstDash val="solid"/>
          </a:ln>
        </p:spPr>
      </p:sp>
      <p:sp>
        <p:nvSpPr>
          <p:cNvPr id="71" name="Shape 69"/>
          <p:cNvSpPr/>
          <p:nvPr/>
        </p:nvSpPr>
        <p:spPr>
          <a:xfrm>
            <a:off x="3962400" y="5705475"/>
            <a:ext cx="63500" cy="19050"/>
          </a:xfrm>
          <a:prstGeom prst="rect">
            <a:avLst/>
          </a:prstGeom>
          <a:solidFill>
            <a:srgbClr val="252525"/>
          </a:solidFill>
          <a:ln w="12700">
            <a:solidFill>
              <a:srgbClr val="252525"/>
            </a:solidFill>
            <a:prstDash val="solid"/>
          </a:ln>
        </p:spPr>
      </p:sp>
      <p:sp>
        <p:nvSpPr>
          <p:cNvPr id="72" name="Shape 70"/>
          <p:cNvSpPr/>
          <p:nvPr/>
        </p:nvSpPr>
        <p:spPr>
          <a:xfrm>
            <a:off x="4076700" y="5705475"/>
            <a:ext cx="63500" cy="19050"/>
          </a:xfrm>
          <a:prstGeom prst="rect">
            <a:avLst/>
          </a:prstGeom>
          <a:solidFill>
            <a:srgbClr val="252525"/>
          </a:solidFill>
          <a:ln w="12700">
            <a:solidFill>
              <a:srgbClr val="252525"/>
            </a:solidFill>
            <a:prstDash val="solid"/>
          </a:ln>
        </p:spPr>
      </p:sp>
      <p:sp>
        <p:nvSpPr>
          <p:cNvPr id="73" name="Shape 71"/>
          <p:cNvSpPr/>
          <p:nvPr/>
        </p:nvSpPr>
        <p:spPr>
          <a:xfrm>
            <a:off x="4191000" y="5705475"/>
            <a:ext cx="63500" cy="19050"/>
          </a:xfrm>
          <a:prstGeom prst="rect">
            <a:avLst/>
          </a:prstGeom>
          <a:solidFill>
            <a:srgbClr val="252525"/>
          </a:solidFill>
          <a:ln w="12700">
            <a:solidFill>
              <a:srgbClr val="252525"/>
            </a:solidFill>
            <a:prstDash val="solid"/>
          </a:ln>
        </p:spPr>
      </p:sp>
      <p:sp>
        <p:nvSpPr>
          <p:cNvPr id="74" name="Shape 72"/>
          <p:cNvSpPr/>
          <p:nvPr/>
        </p:nvSpPr>
        <p:spPr>
          <a:xfrm>
            <a:off x="4305300" y="5705475"/>
            <a:ext cx="63500" cy="19050"/>
          </a:xfrm>
          <a:prstGeom prst="rect">
            <a:avLst/>
          </a:prstGeom>
          <a:solidFill>
            <a:srgbClr val="252525"/>
          </a:solidFill>
          <a:ln w="12700">
            <a:solidFill>
              <a:srgbClr val="252525"/>
            </a:solidFill>
            <a:prstDash val="solid"/>
          </a:ln>
        </p:spPr>
      </p:sp>
      <p:sp>
        <p:nvSpPr>
          <p:cNvPr id="75" name="Shape 73"/>
          <p:cNvSpPr/>
          <p:nvPr/>
        </p:nvSpPr>
        <p:spPr>
          <a:xfrm>
            <a:off x="4419600" y="5705475"/>
            <a:ext cx="63500" cy="19050"/>
          </a:xfrm>
          <a:prstGeom prst="rect">
            <a:avLst/>
          </a:prstGeom>
          <a:solidFill>
            <a:srgbClr val="252525"/>
          </a:solidFill>
          <a:ln w="12700">
            <a:solidFill>
              <a:srgbClr val="252525"/>
            </a:solidFill>
            <a:prstDash val="solid"/>
          </a:ln>
        </p:spPr>
      </p:sp>
      <p:sp>
        <p:nvSpPr>
          <p:cNvPr id="76" name="Shape 74"/>
          <p:cNvSpPr/>
          <p:nvPr/>
        </p:nvSpPr>
        <p:spPr>
          <a:xfrm>
            <a:off x="4533900" y="5705475"/>
            <a:ext cx="63500" cy="19050"/>
          </a:xfrm>
          <a:prstGeom prst="rect">
            <a:avLst/>
          </a:prstGeom>
          <a:solidFill>
            <a:srgbClr val="252525"/>
          </a:solidFill>
          <a:ln w="12700">
            <a:solidFill>
              <a:srgbClr val="252525"/>
            </a:solidFill>
            <a:prstDash val="solid"/>
          </a:ln>
        </p:spPr>
      </p:sp>
      <p:sp>
        <p:nvSpPr>
          <p:cNvPr id="77" name="Shape 75"/>
          <p:cNvSpPr/>
          <p:nvPr/>
        </p:nvSpPr>
        <p:spPr>
          <a:xfrm>
            <a:off x="4648200" y="5705475"/>
            <a:ext cx="63500" cy="19050"/>
          </a:xfrm>
          <a:prstGeom prst="rect">
            <a:avLst/>
          </a:prstGeom>
          <a:solidFill>
            <a:srgbClr val="252525"/>
          </a:solidFill>
          <a:ln w="12700">
            <a:solidFill>
              <a:srgbClr val="252525"/>
            </a:solidFill>
            <a:prstDash val="solid"/>
          </a:ln>
        </p:spPr>
      </p:sp>
      <p:sp>
        <p:nvSpPr>
          <p:cNvPr id="78" name="Shape 76"/>
          <p:cNvSpPr/>
          <p:nvPr/>
        </p:nvSpPr>
        <p:spPr>
          <a:xfrm>
            <a:off x="4762500" y="5705475"/>
            <a:ext cx="63500" cy="19050"/>
          </a:xfrm>
          <a:prstGeom prst="rect">
            <a:avLst/>
          </a:prstGeom>
          <a:solidFill>
            <a:srgbClr val="252525"/>
          </a:solidFill>
          <a:ln w="12700">
            <a:solidFill>
              <a:srgbClr val="252525"/>
            </a:solidFill>
            <a:prstDash val="solid"/>
          </a:ln>
        </p:spPr>
      </p:sp>
      <p:sp>
        <p:nvSpPr>
          <p:cNvPr id="79" name="Shape 77"/>
          <p:cNvSpPr/>
          <p:nvPr/>
        </p:nvSpPr>
        <p:spPr>
          <a:xfrm>
            <a:off x="4876800" y="5705475"/>
            <a:ext cx="63500" cy="19050"/>
          </a:xfrm>
          <a:prstGeom prst="rect">
            <a:avLst/>
          </a:prstGeom>
          <a:solidFill>
            <a:srgbClr val="252525"/>
          </a:solidFill>
          <a:ln w="12700">
            <a:solidFill>
              <a:srgbClr val="252525"/>
            </a:solidFill>
            <a:prstDash val="solid"/>
          </a:ln>
        </p:spPr>
      </p:sp>
      <p:sp>
        <p:nvSpPr>
          <p:cNvPr id="80" name="Shape 78"/>
          <p:cNvSpPr/>
          <p:nvPr/>
        </p:nvSpPr>
        <p:spPr>
          <a:xfrm>
            <a:off x="4991100" y="5705475"/>
            <a:ext cx="63500" cy="19050"/>
          </a:xfrm>
          <a:prstGeom prst="rect">
            <a:avLst/>
          </a:prstGeom>
          <a:solidFill>
            <a:srgbClr val="252525"/>
          </a:solidFill>
          <a:ln w="12700">
            <a:solidFill>
              <a:srgbClr val="252525"/>
            </a:solidFill>
            <a:prstDash val="solid"/>
          </a:ln>
        </p:spPr>
      </p:sp>
      <p:sp>
        <p:nvSpPr>
          <p:cNvPr id="81" name="Text 79"/>
          <p:cNvSpPr/>
          <p:nvPr/>
        </p:nvSpPr>
        <p:spPr>
          <a:xfrm>
            <a:off x="3302000" y="53594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82" name="Shape 80"/>
          <p:cNvSpPr/>
          <p:nvPr/>
        </p:nvSpPr>
        <p:spPr>
          <a:xfrm>
            <a:off x="5578475" y="4991100"/>
            <a:ext cx="19050" cy="355600"/>
          </a:xfrm>
          <a:prstGeom prst="rect">
            <a:avLst/>
          </a:prstGeom>
          <a:solidFill>
            <a:srgbClr val="252525"/>
          </a:solidFill>
          <a:ln w="12700">
            <a:solidFill>
              <a:srgbClr val="252525"/>
            </a:solidFill>
            <a:prstDash val="solid"/>
          </a:ln>
        </p:spPr>
      </p:sp>
      <p:sp>
        <p:nvSpPr>
          <p:cNvPr id="83" name="Shape 81"/>
          <p:cNvSpPr/>
          <p:nvPr/>
        </p:nvSpPr>
        <p:spPr>
          <a:xfrm>
            <a:off x="1069975" y="4991100"/>
            <a:ext cx="19050" cy="63500"/>
          </a:xfrm>
          <a:prstGeom prst="rect">
            <a:avLst/>
          </a:prstGeom>
          <a:solidFill>
            <a:srgbClr val="252525"/>
          </a:solidFill>
          <a:ln w="12700">
            <a:solidFill>
              <a:srgbClr val="252525"/>
            </a:solidFill>
            <a:prstDash val="solid"/>
          </a:ln>
        </p:spPr>
      </p:sp>
      <p:sp>
        <p:nvSpPr>
          <p:cNvPr id="84" name="Shape 82"/>
          <p:cNvSpPr/>
          <p:nvPr/>
        </p:nvSpPr>
        <p:spPr>
          <a:xfrm>
            <a:off x="1069975" y="5105400"/>
            <a:ext cx="19050" cy="63500"/>
          </a:xfrm>
          <a:prstGeom prst="rect">
            <a:avLst/>
          </a:prstGeom>
          <a:solidFill>
            <a:srgbClr val="252525"/>
          </a:solidFill>
          <a:ln w="12700">
            <a:solidFill>
              <a:srgbClr val="252525"/>
            </a:solidFill>
            <a:prstDash val="solid"/>
          </a:ln>
        </p:spPr>
      </p:sp>
      <p:sp>
        <p:nvSpPr>
          <p:cNvPr id="85" name="Shape 83"/>
          <p:cNvSpPr/>
          <p:nvPr/>
        </p:nvSpPr>
        <p:spPr>
          <a:xfrm>
            <a:off x="1069975" y="5219700"/>
            <a:ext cx="19050" cy="63500"/>
          </a:xfrm>
          <a:prstGeom prst="rect">
            <a:avLst/>
          </a:prstGeom>
          <a:solidFill>
            <a:srgbClr val="252525"/>
          </a:solidFill>
          <a:ln w="12700">
            <a:solidFill>
              <a:srgbClr val="252525"/>
            </a:solidFill>
            <a:prstDash val="solid"/>
          </a:ln>
        </p:spPr>
      </p:sp>
      <p:sp>
        <p:nvSpPr>
          <p:cNvPr id="86" name="Shape 84"/>
          <p:cNvSpPr/>
          <p:nvPr/>
        </p:nvSpPr>
        <p:spPr>
          <a:xfrm>
            <a:off x="1069975" y="5334000"/>
            <a:ext cx="19050" cy="12700"/>
          </a:xfrm>
          <a:prstGeom prst="rect">
            <a:avLst/>
          </a:prstGeom>
          <a:solidFill>
            <a:srgbClr val="252525"/>
          </a:solidFill>
          <a:ln w="12700">
            <a:solidFill>
              <a:srgbClr val="252525"/>
            </a:solidFill>
            <a:prstDash val="solid"/>
          </a:ln>
        </p:spPr>
      </p:sp>
      <p:sp>
        <p:nvSpPr>
          <p:cNvPr id="87" name="Text 85"/>
          <p:cNvSpPr/>
          <p:nvPr/>
        </p:nvSpPr>
        <p:spPr>
          <a:xfrm>
            <a:off x="457200" y="6794500"/>
            <a:ext cx="6642100" cy="2159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SCHEMATIC, NOT SURVEY GEOMETRY</a:t>
            </a:r>
            <a:endParaRPr lang="en-US" sz="800" dirty="0"/>
          </a:p>
        </p:txBody>
      </p:sp>
      <p:sp>
        <p:nvSpPr>
          <p:cNvPr id="88" name="Text 86"/>
          <p:cNvSpPr/>
          <p:nvPr/>
        </p:nvSpPr>
        <p:spPr>
          <a:xfrm>
            <a:off x="457200" y="7124700"/>
            <a:ext cx="6642100" cy="4572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Solid: original connections to mines and Kumasi.</a:t>
            </a:r>
            <a:endParaRPr lang="en-US" sz="1000" dirty="0"/>
          </a:p>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Dashed: later economic links—not a mapped railway route.</a:t>
            </a:r>
            <a:endParaRPr lang="en-US" sz="1000" dirty="0"/>
          </a:p>
        </p:txBody>
      </p:sp>
      <p:sp>
        <p:nvSpPr>
          <p:cNvPr id="89" name="Text 87"/>
          <p:cNvSpPr/>
          <p:nvPr/>
        </p:nvSpPr>
        <p:spPr>
          <a:xfrm>
            <a:off x="457200" y="7772400"/>
            <a:ext cx="3162300" cy="876300"/>
          </a:xfrm>
          <a:prstGeom prst="rect">
            <a:avLst/>
          </a:prstGeom>
          <a:noFill/>
          <a:ln/>
        </p:spPr>
        <p:txBody>
          <a:bodyPr wrap="square" lIns="0" tIns="0" rIns="0" bIns="0" rtlCol="0" anchor="t"/>
          <a:lstStyle/>
          <a:p>
            <a:pPr indent="0" marL="0">
              <a:lnSpc>
                <a:spcPct val="112000"/>
              </a:lnSpc>
              <a:buNone/>
            </a:pPr>
            <a:r>
              <a:rPr lang="en-US" sz="2500" b="1" dirty="0">
                <a:solidFill>
                  <a:srgbClr val="252525"/>
                </a:solidFill>
                <a:latin typeface="Alegreya" pitchFamily="34" charset="0"/>
                <a:ea typeface="Alegreya" pitchFamily="34" charset="-122"/>
                <a:cs typeface="Alegreya" pitchFamily="34" charset="-120"/>
              </a:rPr>
              <a:t>Built to extract.</a:t>
            </a:r>
            <a:endParaRPr lang="en-US" sz="2500" dirty="0"/>
          </a:p>
          <a:p>
            <a:pPr indent="0" marL="0">
              <a:lnSpc>
                <a:spcPct val="112000"/>
              </a:lnSpc>
              <a:buNone/>
            </a:pPr>
            <a:r>
              <a:rPr lang="en-US" sz="2500" b="1" dirty="0">
                <a:solidFill>
                  <a:srgbClr val="252525"/>
                </a:solidFill>
                <a:latin typeface="Alegreya" pitchFamily="34" charset="0"/>
                <a:ea typeface="Alegreya" pitchFamily="34" charset="-122"/>
                <a:cs typeface="Alegreya" pitchFamily="34" charset="-120"/>
              </a:rPr>
              <a:t>Used for more.</a:t>
            </a:r>
            <a:endParaRPr lang="en-US" sz="2500" dirty="0"/>
          </a:p>
        </p:txBody>
      </p:sp>
      <p:sp>
        <p:nvSpPr>
          <p:cNvPr id="90" name="Text 88"/>
          <p:cNvSpPr/>
          <p:nvPr/>
        </p:nvSpPr>
        <p:spPr>
          <a:xfrm>
            <a:off x="3937000" y="7772400"/>
            <a:ext cx="3162300" cy="1016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Lower transport costs also supported cocoa production and urban growth. Original purpose and later effects were not the same (Jedwab &amp; Moradi, 2012).</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THE STARTING LINE</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Six countries. Six starting points.</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What could each country build on—and what held it back?</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These are contemporary photographs, not scenes from independence. They give context, not proof of historical living conditions or causes.</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(1985, p. 18); Maipose (2008, pp. 3–5); Xenos (1970, p. 1); Svirydzenka and Petri (2014, pp. 5–8); Haggard et al. (1997); Asadullah et al. (2024, pp. 13–15); Dolan (1993), archival recheck pending. Photo credits p. 29.</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08</a:t>
            </a:r>
            <a:endParaRPr lang="en-US" sz="1000" dirty="0"/>
          </a:p>
        </p:txBody>
      </p:sp>
      <p:pic>
        <p:nvPicPr>
          <p:cNvPr id="12" name="Image 0" descr="/Users/marcusgrude-grodem/Documents/GitHub/USIL/africa-asia-development-magazine/design/canva_editorial_draft/assets/print/ghana_tema.jpg">    </p:cNvPr>
          <p:cNvPicPr>
            <a:picLocks noChangeAspect="1"/>
          </p:cNvPicPr>
          <p:nvPr/>
        </p:nvPicPr>
        <p:blipFill>
          <a:blip r:embed="rId1"/>
          <a:stretch>
            <a:fillRect/>
          </a:stretch>
        </p:blipFill>
        <p:spPr>
          <a:xfrm>
            <a:off x="588126" y="3009900"/>
            <a:ext cx="1262147" cy="838200"/>
          </a:xfrm>
          <a:prstGeom prst="rect">
            <a:avLst/>
          </a:prstGeom>
        </p:spPr>
      </p:pic>
      <p:sp>
        <p:nvSpPr>
          <p:cNvPr id="13" name="Shape 10"/>
          <p:cNvSpPr/>
          <p:nvPr/>
        </p:nvSpPr>
        <p:spPr>
          <a:xfrm>
            <a:off x="2247900" y="3060700"/>
            <a:ext cx="127000" cy="127000"/>
          </a:xfrm>
          <a:prstGeom prst="ellipse">
            <a:avLst/>
          </a:prstGeom>
          <a:solidFill>
            <a:srgbClr val="B95332"/>
          </a:solidFill>
          <a:ln w="7620">
            <a:solidFill>
              <a:srgbClr val="252525"/>
            </a:solidFill>
            <a:prstDash val="solid"/>
          </a:ln>
        </p:spPr>
      </p:sp>
      <p:sp>
        <p:nvSpPr>
          <p:cNvPr id="14" name="Text 11"/>
          <p:cNvSpPr/>
          <p:nvPr/>
        </p:nvSpPr>
        <p:spPr>
          <a:xfrm>
            <a:off x="2501900" y="3009900"/>
            <a:ext cx="45974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15" name="Text 12"/>
          <p:cNvSpPr/>
          <p:nvPr/>
        </p:nvSpPr>
        <p:spPr>
          <a:xfrm>
            <a:off x="2247900" y="3403600"/>
            <a:ext cx="4851400" cy="495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Cocoa exports; inherited roads, rail and Tema harbour.</a:t>
            </a:r>
            <a:endParaRPr lang="en-US" sz="1050" dirty="0"/>
          </a:p>
        </p:txBody>
      </p:sp>
      <p:sp>
        <p:nvSpPr>
          <p:cNvPr id="16" name="Shape 13"/>
          <p:cNvSpPr/>
          <p:nvPr/>
        </p:nvSpPr>
        <p:spPr>
          <a:xfrm>
            <a:off x="457200" y="3895090"/>
            <a:ext cx="6642100" cy="7620"/>
          </a:xfrm>
          <a:prstGeom prst="rect">
            <a:avLst/>
          </a:prstGeom>
          <a:solidFill>
            <a:srgbClr val="B7B0A4"/>
          </a:solidFill>
          <a:ln w="12700">
            <a:solidFill>
              <a:srgbClr val="B7B0A4"/>
            </a:solidFill>
            <a:prstDash val="solid"/>
          </a:ln>
        </p:spPr>
      </p:sp>
      <p:pic>
        <p:nvPicPr>
          <p:cNvPr id="17" name="Image 1" descr="/Users/marcusgrude-grodem/Documents/GitHub/USIL/africa-asia-development-magazine/design/canva_editorial_draft/assets/print/botswana_gaborone.jpg">    </p:cNvPr>
          <p:cNvPicPr>
            <a:picLocks noChangeAspect="1"/>
          </p:cNvPicPr>
          <p:nvPr/>
        </p:nvPicPr>
        <p:blipFill>
          <a:blip r:embed="rId2"/>
          <a:stretch>
            <a:fillRect/>
          </a:stretch>
        </p:blipFill>
        <p:spPr>
          <a:xfrm>
            <a:off x="660400" y="3962400"/>
            <a:ext cx="1117600" cy="838200"/>
          </a:xfrm>
          <a:prstGeom prst="rect">
            <a:avLst/>
          </a:prstGeom>
        </p:spPr>
      </p:pic>
      <p:sp>
        <p:nvSpPr>
          <p:cNvPr id="18" name="Shape 14"/>
          <p:cNvSpPr/>
          <p:nvPr/>
        </p:nvSpPr>
        <p:spPr>
          <a:xfrm>
            <a:off x="2247900" y="4013200"/>
            <a:ext cx="127000" cy="127000"/>
          </a:xfrm>
          <a:prstGeom prst="rect">
            <a:avLst/>
          </a:prstGeom>
          <a:solidFill>
            <a:srgbClr val="3F684E"/>
          </a:solidFill>
          <a:ln w="7620">
            <a:solidFill>
              <a:srgbClr val="252525"/>
            </a:solidFill>
            <a:prstDash val="solid"/>
          </a:ln>
        </p:spPr>
      </p:sp>
      <p:sp>
        <p:nvSpPr>
          <p:cNvPr id="19" name="Text 15"/>
          <p:cNvSpPr/>
          <p:nvPr/>
        </p:nvSpPr>
        <p:spPr>
          <a:xfrm>
            <a:off x="2501900" y="3962400"/>
            <a:ext cx="45974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20" name="Text 16"/>
          <p:cNvSpPr/>
          <p:nvPr/>
        </p:nvSpPr>
        <p:spPr>
          <a:xfrm>
            <a:off x="2247900" y="4356100"/>
            <a:ext cx="4851400" cy="495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Few inherited public assets and limited skills; mineral income later changed the base.</a:t>
            </a:r>
            <a:endParaRPr lang="en-US" sz="1050" dirty="0"/>
          </a:p>
        </p:txBody>
      </p:sp>
      <p:sp>
        <p:nvSpPr>
          <p:cNvPr id="21" name="Shape 17"/>
          <p:cNvSpPr/>
          <p:nvPr/>
        </p:nvSpPr>
        <p:spPr>
          <a:xfrm>
            <a:off x="457200" y="4847590"/>
            <a:ext cx="6642100" cy="7620"/>
          </a:xfrm>
          <a:prstGeom prst="rect">
            <a:avLst/>
          </a:prstGeom>
          <a:solidFill>
            <a:srgbClr val="B7B0A4"/>
          </a:solidFill>
          <a:ln w="12700">
            <a:solidFill>
              <a:srgbClr val="B7B0A4"/>
            </a:solidFill>
            <a:prstDash val="solid"/>
          </a:ln>
        </p:spPr>
      </p:sp>
      <p:pic>
        <p:nvPicPr>
          <p:cNvPr id="22" name="Image 2" descr="/Users/marcusgrude-grodem/Documents/GitHub/USIL/africa-asia-development-magazine/design/canva_editorial_draft/assets/print/mauritius_market.jpg">    </p:cNvPr>
          <p:cNvPicPr>
            <a:picLocks noChangeAspect="1"/>
          </p:cNvPicPr>
          <p:nvPr/>
        </p:nvPicPr>
        <p:blipFill>
          <a:blip r:embed="rId3"/>
          <a:stretch>
            <a:fillRect/>
          </a:stretch>
        </p:blipFill>
        <p:spPr>
          <a:xfrm>
            <a:off x="939428" y="4914900"/>
            <a:ext cx="559543" cy="838200"/>
          </a:xfrm>
          <a:prstGeom prst="rect">
            <a:avLst/>
          </a:prstGeom>
        </p:spPr>
      </p:pic>
      <p:sp>
        <p:nvSpPr>
          <p:cNvPr id="23" name="Shape 18"/>
          <p:cNvSpPr/>
          <p:nvPr/>
        </p:nvSpPr>
        <p:spPr>
          <a:xfrm>
            <a:off x="2247900" y="4965700"/>
            <a:ext cx="127000" cy="127000"/>
          </a:xfrm>
          <a:prstGeom prst="triangle">
            <a:avLst/>
          </a:prstGeom>
          <a:solidFill>
            <a:srgbClr val="D6A23A"/>
          </a:solidFill>
          <a:ln w="7620">
            <a:solidFill>
              <a:srgbClr val="252525"/>
            </a:solidFill>
            <a:prstDash val="solid"/>
          </a:ln>
        </p:spPr>
      </p:sp>
      <p:sp>
        <p:nvSpPr>
          <p:cNvPr id="24" name="Text 19"/>
          <p:cNvSpPr/>
          <p:nvPr/>
        </p:nvSpPr>
        <p:spPr>
          <a:xfrm>
            <a:off x="2501900" y="4914900"/>
            <a:ext cx="45974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25" name="Text 20"/>
          <p:cNvSpPr/>
          <p:nvPr/>
        </p:nvSpPr>
        <p:spPr>
          <a:xfrm>
            <a:off x="2247900" y="5308600"/>
            <a:ext cx="4851400" cy="495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Sugar dominated export earnings; diversification came later.</a:t>
            </a:r>
            <a:endParaRPr lang="en-US" sz="1050" dirty="0"/>
          </a:p>
        </p:txBody>
      </p:sp>
      <p:sp>
        <p:nvSpPr>
          <p:cNvPr id="26" name="Shape 21"/>
          <p:cNvSpPr/>
          <p:nvPr/>
        </p:nvSpPr>
        <p:spPr>
          <a:xfrm>
            <a:off x="457200" y="5800090"/>
            <a:ext cx="6642100" cy="7620"/>
          </a:xfrm>
          <a:prstGeom prst="rect">
            <a:avLst/>
          </a:prstGeom>
          <a:solidFill>
            <a:srgbClr val="B7B0A4"/>
          </a:solidFill>
          <a:ln w="12700">
            <a:solidFill>
              <a:srgbClr val="B7B0A4"/>
            </a:solidFill>
            <a:prstDash val="solid"/>
          </a:ln>
        </p:spPr>
      </p:sp>
      <p:pic>
        <p:nvPicPr>
          <p:cNvPr id="27" name="Image 3" descr="/Users/marcusgrude-grodem/Documents/GitHub/USIL/africa-asia-development-magazine/design/canva_editorial_draft/assets/print/korea_busan.jpg">    </p:cNvPr>
          <p:cNvPicPr>
            <a:picLocks noChangeAspect="1"/>
          </p:cNvPicPr>
          <p:nvPr/>
        </p:nvPicPr>
        <p:blipFill>
          <a:blip r:embed="rId4"/>
          <a:stretch>
            <a:fillRect/>
          </a:stretch>
        </p:blipFill>
        <p:spPr>
          <a:xfrm>
            <a:off x="660400" y="5867400"/>
            <a:ext cx="1117600" cy="838200"/>
          </a:xfrm>
          <a:prstGeom prst="rect">
            <a:avLst/>
          </a:prstGeom>
        </p:spPr>
      </p:pic>
      <p:sp>
        <p:nvSpPr>
          <p:cNvPr id="28" name="Shape 22"/>
          <p:cNvSpPr/>
          <p:nvPr/>
        </p:nvSpPr>
        <p:spPr>
          <a:xfrm>
            <a:off x="2247900" y="5918200"/>
            <a:ext cx="127000" cy="127000"/>
          </a:xfrm>
          <a:prstGeom prst="diamond">
            <a:avLst/>
          </a:prstGeom>
          <a:solidFill>
            <a:srgbClr val="315A78"/>
          </a:solidFill>
          <a:ln w="7620">
            <a:solidFill>
              <a:srgbClr val="252525"/>
            </a:solidFill>
            <a:prstDash val="solid"/>
          </a:ln>
        </p:spPr>
      </p:sp>
      <p:sp>
        <p:nvSpPr>
          <p:cNvPr id="29" name="Text 23"/>
          <p:cNvSpPr/>
          <p:nvPr/>
        </p:nvSpPr>
        <p:spPr>
          <a:xfrm>
            <a:off x="2501900" y="5867400"/>
            <a:ext cx="45974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30" name="Text 24"/>
          <p:cNvSpPr/>
          <p:nvPr/>
        </p:nvSpPr>
        <p:spPr>
          <a:xfrm>
            <a:off x="2247900" y="6261100"/>
            <a:ext cx="4851400" cy="495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Colonial inheritance was disrupted by division and war.</a:t>
            </a:r>
            <a:endParaRPr lang="en-US" sz="1050" dirty="0"/>
          </a:p>
        </p:txBody>
      </p:sp>
      <p:sp>
        <p:nvSpPr>
          <p:cNvPr id="31" name="Shape 25"/>
          <p:cNvSpPr/>
          <p:nvPr/>
        </p:nvSpPr>
        <p:spPr>
          <a:xfrm>
            <a:off x="457200" y="6752590"/>
            <a:ext cx="6642100" cy="7620"/>
          </a:xfrm>
          <a:prstGeom prst="rect">
            <a:avLst/>
          </a:prstGeom>
          <a:solidFill>
            <a:srgbClr val="B7B0A4"/>
          </a:solidFill>
          <a:ln w="12700">
            <a:solidFill>
              <a:srgbClr val="B7B0A4"/>
            </a:solidFill>
            <a:prstDash val="solid"/>
          </a:ln>
        </p:spPr>
      </p:sp>
      <p:pic>
        <p:nvPicPr>
          <p:cNvPr id="32" name="Image 4" descr="/Users/marcusgrude-grodem/Documents/GitHub/USIL/africa-asia-development-magazine/design/canva_editorial_draft/assets/print/malaysia_perai.jpg">    </p:cNvPr>
          <p:cNvPicPr>
            <a:picLocks noChangeAspect="1"/>
          </p:cNvPicPr>
          <p:nvPr/>
        </p:nvPicPr>
        <p:blipFill>
          <a:blip r:embed="rId5"/>
          <a:stretch>
            <a:fillRect/>
          </a:stretch>
        </p:blipFill>
        <p:spPr>
          <a:xfrm>
            <a:off x="660400" y="6819900"/>
            <a:ext cx="1117600" cy="838200"/>
          </a:xfrm>
          <a:prstGeom prst="rect">
            <a:avLst/>
          </a:prstGeom>
        </p:spPr>
      </p:pic>
      <p:sp>
        <p:nvSpPr>
          <p:cNvPr id="33" name="Shape 26"/>
          <p:cNvSpPr/>
          <p:nvPr/>
        </p:nvSpPr>
        <p:spPr>
          <a:xfrm>
            <a:off x="2247900" y="6870700"/>
            <a:ext cx="127000" cy="127000"/>
          </a:xfrm>
          <a:prstGeom prst="hexagon">
            <a:avLst/>
          </a:prstGeom>
          <a:solidFill>
            <a:srgbClr val="3E7568"/>
          </a:solidFill>
          <a:ln w="7620">
            <a:solidFill>
              <a:srgbClr val="252525"/>
            </a:solidFill>
            <a:prstDash val="solid"/>
          </a:ln>
        </p:spPr>
      </p:sp>
      <p:sp>
        <p:nvSpPr>
          <p:cNvPr id="34" name="Text 27"/>
          <p:cNvSpPr/>
          <p:nvPr/>
        </p:nvSpPr>
        <p:spPr>
          <a:xfrm>
            <a:off x="2501900" y="6819900"/>
            <a:ext cx="45974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35" name="Text 28"/>
          <p:cNvSpPr/>
          <p:nvPr/>
        </p:nvSpPr>
        <p:spPr>
          <a:xfrm>
            <a:off x="2247900" y="7213600"/>
            <a:ext cx="4851400" cy="495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Commodity exports came before export manufacturing; federation formed in 1963.</a:t>
            </a:r>
            <a:endParaRPr lang="en-US" sz="1050" dirty="0"/>
          </a:p>
        </p:txBody>
      </p:sp>
      <p:sp>
        <p:nvSpPr>
          <p:cNvPr id="36" name="Shape 29"/>
          <p:cNvSpPr/>
          <p:nvPr/>
        </p:nvSpPr>
        <p:spPr>
          <a:xfrm>
            <a:off x="457200" y="7705090"/>
            <a:ext cx="6642100" cy="7620"/>
          </a:xfrm>
          <a:prstGeom prst="rect">
            <a:avLst/>
          </a:prstGeom>
          <a:solidFill>
            <a:srgbClr val="B7B0A4"/>
          </a:solidFill>
          <a:ln w="12700">
            <a:solidFill>
              <a:srgbClr val="B7B0A4"/>
            </a:solidFill>
            <a:prstDash val="solid"/>
          </a:ln>
        </p:spPr>
      </p:sp>
      <p:pic>
        <p:nvPicPr>
          <p:cNvPr id="37" name="Image 5" descr="/Users/marcusgrude-grodem/Documents/GitHub/USIL/africa-asia-development-magazine/design/canva_editorial_draft/assets/print/philippines_manila.jpg">    </p:cNvPr>
          <p:cNvPicPr>
            <a:picLocks noChangeAspect="1"/>
          </p:cNvPicPr>
          <p:nvPr/>
        </p:nvPicPr>
        <p:blipFill>
          <a:blip r:embed="rId6"/>
          <a:stretch>
            <a:fillRect/>
          </a:stretch>
        </p:blipFill>
        <p:spPr>
          <a:xfrm>
            <a:off x="588297" y="7772400"/>
            <a:ext cx="1261806" cy="838200"/>
          </a:xfrm>
          <a:prstGeom prst="rect">
            <a:avLst/>
          </a:prstGeom>
        </p:spPr>
      </p:pic>
      <p:sp>
        <p:nvSpPr>
          <p:cNvPr id="38" name="Shape 30"/>
          <p:cNvSpPr/>
          <p:nvPr/>
        </p:nvSpPr>
        <p:spPr>
          <a:xfrm>
            <a:off x="2247900" y="7866380"/>
            <a:ext cx="127000" cy="40640"/>
          </a:xfrm>
          <a:prstGeom prst="rect">
            <a:avLst/>
          </a:prstGeom>
          <a:solidFill>
            <a:srgbClr val="252525"/>
          </a:solidFill>
          <a:ln w="12700">
            <a:solidFill>
              <a:srgbClr val="252525"/>
            </a:solidFill>
            <a:prstDash val="solid"/>
          </a:ln>
        </p:spPr>
      </p:sp>
      <p:sp>
        <p:nvSpPr>
          <p:cNvPr id="39" name="Shape 31"/>
          <p:cNvSpPr/>
          <p:nvPr/>
        </p:nvSpPr>
        <p:spPr>
          <a:xfrm>
            <a:off x="2291080" y="7823200"/>
            <a:ext cx="40640" cy="127000"/>
          </a:xfrm>
          <a:prstGeom prst="rect">
            <a:avLst/>
          </a:prstGeom>
          <a:solidFill>
            <a:srgbClr val="252525"/>
          </a:solidFill>
          <a:ln w="12700">
            <a:solidFill>
              <a:srgbClr val="252525"/>
            </a:solidFill>
            <a:prstDash val="solid"/>
          </a:ln>
        </p:spPr>
      </p:sp>
      <p:sp>
        <p:nvSpPr>
          <p:cNvPr id="40" name="Shape 32"/>
          <p:cNvSpPr/>
          <p:nvPr/>
        </p:nvSpPr>
        <p:spPr>
          <a:xfrm>
            <a:off x="2247900" y="7875270"/>
            <a:ext cx="127000" cy="22860"/>
          </a:xfrm>
          <a:prstGeom prst="rect">
            <a:avLst/>
          </a:prstGeom>
          <a:solidFill>
            <a:srgbClr val="A63A3A"/>
          </a:solidFill>
          <a:ln w="12700">
            <a:solidFill>
              <a:srgbClr val="A63A3A"/>
            </a:solidFill>
            <a:prstDash val="solid"/>
          </a:ln>
        </p:spPr>
      </p:sp>
      <p:sp>
        <p:nvSpPr>
          <p:cNvPr id="41" name="Shape 33"/>
          <p:cNvSpPr/>
          <p:nvPr/>
        </p:nvSpPr>
        <p:spPr>
          <a:xfrm>
            <a:off x="2299970" y="7823200"/>
            <a:ext cx="22860" cy="127000"/>
          </a:xfrm>
          <a:prstGeom prst="rect">
            <a:avLst/>
          </a:prstGeom>
          <a:solidFill>
            <a:srgbClr val="A63A3A"/>
          </a:solidFill>
          <a:ln w="12700">
            <a:solidFill>
              <a:srgbClr val="A63A3A"/>
            </a:solidFill>
            <a:prstDash val="solid"/>
          </a:ln>
        </p:spPr>
      </p:sp>
      <p:sp>
        <p:nvSpPr>
          <p:cNvPr id="42" name="Text 34"/>
          <p:cNvSpPr/>
          <p:nvPr/>
        </p:nvSpPr>
        <p:spPr>
          <a:xfrm>
            <a:off x="2501900" y="7772400"/>
            <a:ext cx="45974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43" name="Text 35"/>
          <p:cNvSpPr/>
          <p:nvPr/>
        </p:nvSpPr>
        <p:spPr>
          <a:xfrm>
            <a:off x="2247900" y="8166100"/>
            <a:ext cx="4851400" cy="495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Formal institutions and education coexisted with concentrated power.</a:t>
            </a:r>
            <a:endParaRPr lang="en-US" sz="1050" dirty="0"/>
          </a:p>
        </p:txBody>
      </p:sp>
      <p:sp>
        <p:nvSpPr>
          <p:cNvPr id="44" name="Shape 36"/>
          <p:cNvSpPr/>
          <p:nvPr/>
        </p:nvSpPr>
        <p:spPr>
          <a:xfrm>
            <a:off x="457200" y="8657590"/>
            <a:ext cx="6642100" cy="7620"/>
          </a:xfrm>
          <a:prstGeom prst="rect">
            <a:avLst/>
          </a:prstGeom>
          <a:solidFill>
            <a:srgbClr val="B7B0A4"/>
          </a:solidFill>
          <a:ln w="12700">
            <a:solidFill>
              <a:srgbClr val="B7B0A4"/>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WORK</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Fewer farm jobs. What came next?</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Share of workers in agriculture, industry and services. Actual comparison: 1991 → 2020.</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Moving out of farming does not automatically raise productivity. Industry includes mining, construction and utilities; services are not all high-skill jobs.</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WDI / ILO modelled estimates: SL.AGR.EMPL.ZS, SL.IND.EMPL.ZS, SL.SRV.EMPL.ZS. 1991 proxies 1990; no approved 1960 series. Percent of employment. Release 13 July 2026; retrieved 6 October 2026.</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09</a:t>
            </a:r>
            <a:endParaRPr lang="en-US" sz="1000" dirty="0"/>
          </a:p>
        </p:txBody>
      </p:sp>
      <p:sp>
        <p:nvSpPr>
          <p:cNvPr id="12" name="Text 10"/>
          <p:cNvSpPr/>
          <p:nvPr/>
        </p:nvSpPr>
        <p:spPr>
          <a:xfrm>
            <a:off x="2209800" y="3035300"/>
            <a:ext cx="1422400" cy="2667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FARMING</a:t>
            </a:r>
            <a:endParaRPr lang="en-US" sz="900" dirty="0"/>
          </a:p>
        </p:txBody>
      </p:sp>
      <p:sp>
        <p:nvSpPr>
          <p:cNvPr id="13" name="Text 11"/>
          <p:cNvSpPr/>
          <p:nvPr/>
        </p:nvSpPr>
        <p:spPr>
          <a:xfrm>
            <a:off x="3898900" y="3035300"/>
            <a:ext cx="1422400" cy="2667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INDUSTRY*</a:t>
            </a:r>
            <a:endParaRPr lang="en-US" sz="900" dirty="0"/>
          </a:p>
        </p:txBody>
      </p:sp>
      <p:sp>
        <p:nvSpPr>
          <p:cNvPr id="14" name="Text 12"/>
          <p:cNvSpPr/>
          <p:nvPr/>
        </p:nvSpPr>
        <p:spPr>
          <a:xfrm>
            <a:off x="5588000" y="3035300"/>
            <a:ext cx="1422400" cy="2667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SERVICES</a:t>
            </a:r>
            <a:endParaRPr lang="en-US" sz="900" dirty="0"/>
          </a:p>
        </p:txBody>
      </p:sp>
      <p:sp>
        <p:nvSpPr>
          <p:cNvPr id="15" name="Text 13"/>
          <p:cNvSpPr/>
          <p:nvPr/>
        </p:nvSpPr>
        <p:spPr>
          <a:xfrm>
            <a:off x="457200" y="3429000"/>
            <a:ext cx="6642100" cy="3048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Upper thin bar: 1991. Lower thick bar: 2020. All bars use 0–100%.</a:t>
            </a:r>
            <a:endParaRPr lang="en-US" sz="900" dirty="0"/>
          </a:p>
        </p:txBody>
      </p:sp>
      <p:sp>
        <p:nvSpPr>
          <p:cNvPr id="16" name="Shape 14"/>
          <p:cNvSpPr/>
          <p:nvPr/>
        </p:nvSpPr>
        <p:spPr>
          <a:xfrm>
            <a:off x="457200" y="4064000"/>
            <a:ext cx="127000" cy="127000"/>
          </a:xfrm>
          <a:prstGeom prst="ellipse">
            <a:avLst/>
          </a:prstGeom>
          <a:solidFill>
            <a:srgbClr val="B95332"/>
          </a:solidFill>
          <a:ln w="7620">
            <a:solidFill>
              <a:srgbClr val="252525"/>
            </a:solidFill>
            <a:prstDash val="solid"/>
          </a:ln>
        </p:spPr>
      </p:sp>
      <p:sp>
        <p:nvSpPr>
          <p:cNvPr id="17" name="Text 15"/>
          <p:cNvSpPr/>
          <p:nvPr/>
        </p:nvSpPr>
        <p:spPr>
          <a:xfrm>
            <a:off x="711200" y="4013200"/>
            <a:ext cx="1371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18" name="Shape 16"/>
          <p:cNvSpPr/>
          <p:nvPr/>
        </p:nvSpPr>
        <p:spPr>
          <a:xfrm>
            <a:off x="2209800" y="4048125"/>
            <a:ext cx="1422400" cy="6350"/>
          </a:xfrm>
          <a:prstGeom prst="rect">
            <a:avLst/>
          </a:prstGeom>
          <a:solidFill>
            <a:srgbClr val="B7B0A4"/>
          </a:solidFill>
          <a:ln w="12700">
            <a:solidFill>
              <a:srgbClr val="B7B0A4"/>
            </a:solidFill>
            <a:prstDash val="solid"/>
          </a:ln>
        </p:spPr>
      </p:sp>
      <p:sp>
        <p:nvSpPr>
          <p:cNvPr id="19" name="Shape 17"/>
          <p:cNvSpPr/>
          <p:nvPr/>
        </p:nvSpPr>
        <p:spPr>
          <a:xfrm>
            <a:off x="2209800" y="4225925"/>
            <a:ext cx="1422400" cy="6350"/>
          </a:xfrm>
          <a:prstGeom prst="rect">
            <a:avLst/>
          </a:prstGeom>
          <a:solidFill>
            <a:srgbClr val="B7B0A4"/>
          </a:solidFill>
          <a:ln w="12700">
            <a:solidFill>
              <a:srgbClr val="B7B0A4"/>
            </a:solidFill>
            <a:prstDash val="solid"/>
          </a:ln>
        </p:spPr>
      </p:sp>
      <p:sp>
        <p:nvSpPr>
          <p:cNvPr id="20" name="Shape 18"/>
          <p:cNvSpPr/>
          <p:nvPr/>
        </p:nvSpPr>
        <p:spPr>
          <a:xfrm>
            <a:off x="2209800" y="4038600"/>
            <a:ext cx="1021283" cy="25400"/>
          </a:xfrm>
          <a:prstGeom prst="rect">
            <a:avLst/>
          </a:prstGeom>
          <a:solidFill>
            <a:srgbClr val="514E48"/>
          </a:solidFill>
          <a:ln w="12700">
            <a:solidFill>
              <a:srgbClr val="514E48"/>
            </a:solidFill>
            <a:prstDash val="solid"/>
          </a:ln>
        </p:spPr>
      </p:sp>
      <p:sp>
        <p:nvSpPr>
          <p:cNvPr id="21" name="Shape 19"/>
          <p:cNvSpPr/>
          <p:nvPr/>
        </p:nvSpPr>
        <p:spPr>
          <a:xfrm>
            <a:off x="2209800" y="4203700"/>
            <a:ext cx="531978" cy="50800"/>
          </a:xfrm>
          <a:prstGeom prst="rect">
            <a:avLst/>
          </a:prstGeom>
          <a:solidFill>
            <a:srgbClr val="B95332"/>
          </a:solidFill>
          <a:ln w="12700">
            <a:solidFill>
              <a:srgbClr val="B95332"/>
            </a:solidFill>
            <a:prstDash val="solid"/>
          </a:ln>
        </p:spPr>
      </p:sp>
      <p:sp>
        <p:nvSpPr>
          <p:cNvPr id="22" name="Text 20"/>
          <p:cNvSpPr/>
          <p:nvPr/>
        </p:nvSpPr>
        <p:spPr>
          <a:xfrm>
            <a:off x="2209800" y="43815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71.8 → 37.4%</a:t>
            </a:r>
            <a:endParaRPr lang="en-US" sz="850" dirty="0"/>
          </a:p>
        </p:txBody>
      </p:sp>
      <p:sp>
        <p:nvSpPr>
          <p:cNvPr id="23" name="Shape 21"/>
          <p:cNvSpPr/>
          <p:nvPr/>
        </p:nvSpPr>
        <p:spPr>
          <a:xfrm>
            <a:off x="3898900" y="4048125"/>
            <a:ext cx="1422400" cy="6350"/>
          </a:xfrm>
          <a:prstGeom prst="rect">
            <a:avLst/>
          </a:prstGeom>
          <a:solidFill>
            <a:srgbClr val="B7B0A4"/>
          </a:solidFill>
          <a:ln w="12700">
            <a:solidFill>
              <a:srgbClr val="B7B0A4"/>
            </a:solidFill>
            <a:prstDash val="solid"/>
          </a:ln>
        </p:spPr>
      </p:sp>
      <p:sp>
        <p:nvSpPr>
          <p:cNvPr id="24" name="Shape 22"/>
          <p:cNvSpPr/>
          <p:nvPr/>
        </p:nvSpPr>
        <p:spPr>
          <a:xfrm>
            <a:off x="3898900" y="4225925"/>
            <a:ext cx="1422400" cy="6350"/>
          </a:xfrm>
          <a:prstGeom prst="rect">
            <a:avLst/>
          </a:prstGeom>
          <a:solidFill>
            <a:srgbClr val="B7B0A4"/>
          </a:solidFill>
          <a:ln w="12700">
            <a:solidFill>
              <a:srgbClr val="B7B0A4"/>
            </a:solidFill>
            <a:prstDash val="solid"/>
          </a:ln>
        </p:spPr>
      </p:sp>
      <p:sp>
        <p:nvSpPr>
          <p:cNvPr id="25" name="Shape 23"/>
          <p:cNvSpPr/>
          <p:nvPr/>
        </p:nvSpPr>
        <p:spPr>
          <a:xfrm>
            <a:off x="3898900" y="4038600"/>
            <a:ext cx="128016" cy="25400"/>
          </a:xfrm>
          <a:prstGeom prst="rect">
            <a:avLst/>
          </a:prstGeom>
          <a:solidFill>
            <a:srgbClr val="514E48"/>
          </a:solidFill>
          <a:ln w="12700">
            <a:solidFill>
              <a:srgbClr val="514E48"/>
            </a:solidFill>
            <a:prstDash val="solid"/>
          </a:ln>
        </p:spPr>
      </p:sp>
      <p:sp>
        <p:nvSpPr>
          <p:cNvPr id="26" name="Shape 24"/>
          <p:cNvSpPr/>
          <p:nvPr/>
        </p:nvSpPr>
        <p:spPr>
          <a:xfrm>
            <a:off x="3898900" y="4203700"/>
            <a:ext cx="216205" cy="50800"/>
          </a:xfrm>
          <a:prstGeom prst="rect">
            <a:avLst/>
          </a:prstGeom>
          <a:solidFill>
            <a:srgbClr val="B95332"/>
          </a:solidFill>
          <a:ln w="12700">
            <a:solidFill>
              <a:srgbClr val="B95332"/>
            </a:solidFill>
            <a:prstDash val="solid"/>
          </a:ln>
        </p:spPr>
      </p:sp>
      <p:sp>
        <p:nvSpPr>
          <p:cNvPr id="27" name="Text 25"/>
          <p:cNvSpPr/>
          <p:nvPr/>
        </p:nvSpPr>
        <p:spPr>
          <a:xfrm>
            <a:off x="3898900" y="43815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9.0 → 15.2%</a:t>
            </a:r>
            <a:endParaRPr lang="en-US" sz="850" dirty="0"/>
          </a:p>
        </p:txBody>
      </p:sp>
      <p:sp>
        <p:nvSpPr>
          <p:cNvPr id="28" name="Shape 26"/>
          <p:cNvSpPr/>
          <p:nvPr/>
        </p:nvSpPr>
        <p:spPr>
          <a:xfrm>
            <a:off x="5588000" y="4048125"/>
            <a:ext cx="1422400" cy="6350"/>
          </a:xfrm>
          <a:prstGeom prst="rect">
            <a:avLst/>
          </a:prstGeom>
          <a:solidFill>
            <a:srgbClr val="B7B0A4"/>
          </a:solidFill>
          <a:ln w="12700">
            <a:solidFill>
              <a:srgbClr val="B7B0A4"/>
            </a:solidFill>
            <a:prstDash val="solid"/>
          </a:ln>
        </p:spPr>
      </p:sp>
      <p:sp>
        <p:nvSpPr>
          <p:cNvPr id="29" name="Shape 27"/>
          <p:cNvSpPr/>
          <p:nvPr/>
        </p:nvSpPr>
        <p:spPr>
          <a:xfrm>
            <a:off x="5588000" y="4225925"/>
            <a:ext cx="1422400" cy="6350"/>
          </a:xfrm>
          <a:prstGeom prst="rect">
            <a:avLst/>
          </a:prstGeom>
          <a:solidFill>
            <a:srgbClr val="B7B0A4"/>
          </a:solidFill>
          <a:ln w="12700">
            <a:solidFill>
              <a:srgbClr val="B7B0A4"/>
            </a:solidFill>
            <a:prstDash val="solid"/>
          </a:ln>
        </p:spPr>
      </p:sp>
      <p:sp>
        <p:nvSpPr>
          <p:cNvPr id="30" name="Shape 28"/>
          <p:cNvSpPr/>
          <p:nvPr/>
        </p:nvSpPr>
        <p:spPr>
          <a:xfrm>
            <a:off x="5588000" y="4038600"/>
            <a:ext cx="273101" cy="25400"/>
          </a:xfrm>
          <a:prstGeom prst="rect">
            <a:avLst/>
          </a:prstGeom>
          <a:solidFill>
            <a:srgbClr val="514E48"/>
          </a:solidFill>
          <a:ln w="12700">
            <a:solidFill>
              <a:srgbClr val="514E48"/>
            </a:solidFill>
            <a:prstDash val="solid"/>
          </a:ln>
        </p:spPr>
      </p:sp>
      <p:sp>
        <p:nvSpPr>
          <p:cNvPr id="31" name="Shape 29"/>
          <p:cNvSpPr/>
          <p:nvPr/>
        </p:nvSpPr>
        <p:spPr>
          <a:xfrm>
            <a:off x="5588000" y="4203700"/>
            <a:ext cx="674218" cy="50800"/>
          </a:xfrm>
          <a:prstGeom prst="rect">
            <a:avLst/>
          </a:prstGeom>
          <a:solidFill>
            <a:srgbClr val="B95332"/>
          </a:solidFill>
          <a:ln w="12700">
            <a:solidFill>
              <a:srgbClr val="B95332"/>
            </a:solidFill>
            <a:prstDash val="solid"/>
          </a:ln>
        </p:spPr>
      </p:sp>
      <p:sp>
        <p:nvSpPr>
          <p:cNvPr id="32" name="Text 30"/>
          <p:cNvSpPr/>
          <p:nvPr/>
        </p:nvSpPr>
        <p:spPr>
          <a:xfrm>
            <a:off x="5588000" y="43815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19.2 → 47.4%</a:t>
            </a:r>
            <a:endParaRPr lang="en-US" sz="850" dirty="0"/>
          </a:p>
        </p:txBody>
      </p:sp>
      <p:sp>
        <p:nvSpPr>
          <p:cNvPr id="33" name="Shape 31"/>
          <p:cNvSpPr/>
          <p:nvPr/>
        </p:nvSpPr>
        <p:spPr>
          <a:xfrm>
            <a:off x="457200" y="4813300"/>
            <a:ext cx="127000" cy="127000"/>
          </a:xfrm>
          <a:prstGeom prst="rect">
            <a:avLst/>
          </a:prstGeom>
          <a:solidFill>
            <a:srgbClr val="3F684E"/>
          </a:solidFill>
          <a:ln w="7620">
            <a:solidFill>
              <a:srgbClr val="252525"/>
            </a:solidFill>
            <a:prstDash val="solid"/>
          </a:ln>
        </p:spPr>
      </p:sp>
      <p:sp>
        <p:nvSpPr>
          <p:cNvPr id="34" name="Text 32"/>
          <p:cNvSpPr/>
          <p:nvPr/>
        </p:nvSpPr>
        <p:spPr>
          <a:xfrm>
            <a:off x="711200" y="4762500"/>
            <a:ext cx="1371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35" name="Shape 33"/>
          <p:cNvSpPr/>
          <p:nvPr/>
        </p:nvSpPr>
        <p:spPr>
          <a:xfrm>
            <a:off x="2209800" y="4797425"/>
            <a:ext cx="1422400" cy="6350"/>
          </a:xfrm>
          <a:prstGeom prst="rect">
            <a:avLst/>
          </a:prstGeom>
          <a:solidFill>
            <a:srgbClr val="B7B0A4"/>
          </a:solidFill>
          <a:ln w="12700">
            <a:solidFill>
              <a:srgbClr val="B7B0A4"/>
            </a:solidFill>
            <a:prstDash val="solid"/>
          </a:ln>
        </p:spPr>
      </p:sp>
      <p:sp>
        <p:nvSpPr>
          <p:cNvPr id="36" name="Shape 34"/>
          <p:cNvSpPr/>
          <p:nvPr/>
        </p:nvSpPr>
        <p:spPr>
          <a:xfrm>
            <a:off x="2209800" y="4975225"/>
            <a:ext cx="1422400" cy="6350"/>
          </a:xfrm>
          <a:prstGeom prst="rect">
            <a:avLst/>
          </a:prstGeom>
          <a:solidFill>
            <a:srgbClr val="B7B0A4"/>
          </a:solidFill>
          <a:ln w="12700">
            <a:solidFill>
              <a:srgbClr val="B7B0A4"/>
            </a:solidFill>
            <a:prstDash val="solid"/>
          </a:ln>
        </p:spPr>
      </p:sp>
      <p:sp>
        <p:nvSpPr>
          <p:cNvPr id="37" name="Shape 35"/>
          <p:cNvSpPr/>
          <p:nvPr/>
        </p:nvSpPr>
        <p:spPr>
          <a:xfrm>
            <a:off x="2209800" y="4787900"/>
            <a:ext cx="179222" cy="25400"/>
          </a:xfrm>
          <a:prstGeom prst="rect">
            <a:avLst/>
          </a:prstGeom>
          <a:solidFill>
            <a:srgbClr val="514E48"/>
          </a:solidFill>
          <a:ln w="12700">
            <a:solidFill>
              <a:srgbClr val="514E48"/>
            </a:solidFill>
            <a:prstDash val="solid"/>
          </a:ln>
        </p:spPr>
      </p:sp>
      <p:sp>
        <p:nvSpPr>
          <p:cNvPr id="38" name="Shape 36"/>
          <p:cNvSpPr/>
          <p:nvPr/>
        </p:nvSpPr>
        <p:spPr>
          <a:xfrm>
            <a:off x="2209800" y="4953000"/>
            <a:ext cx="277368" cy="50800"/>
          </a:xfrm>
          <a:prstGeom prst="rect">
            <a:avLst/>
          </a:prstGeom>
          <a:solidFill>
            <a:srgbClr val="3F684E"/>
          </a:solidFill>
          <a:ln w="12700">
            <a:solidFill>
              <a:srgbClr val="3F684E"/>
            </a:solidFill>
            <a:prstDash val="solid"/>
          </a:ln>
        </p:spPr>
      </p:sp>
      <p:sp>
        <p:nvSpPr>
          <p:cNvPr id="39" name="Text 37"/>
          <p:cNvSpPr/>
          <p:nvPr/>
        </p:nvSpPr>
        <p:spPr>
          <a:xfrm>
            <a:off x="2209800" y="51308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12.6 → 19.5%</a:t>
            </a:r>
            <a:endParaRPr lang="en-US" sz="850" dirty="0"/>
          </a:p>
        </p:txBody>
      </p:sp>
      <p:sp>
        <p:nvSpPr>
          <p:cNvPr id="40" name="Shape 38"/>
          <p:cNvSpPr/>
          <p:nvPr/>
        </p:nvSpPr>
        <p:spPr>
          <a:xfrm>
            <a:off x="3898900" y="4797425"/>
            <a:ext cx="1422400" cy="6350"/>
          </a:xfrm>
          <a:prstGeom prst="rect">
            <a:avLst/>
          </a:prstGeom>
          <a:solidFill>
            <a:srgbClr val="B7B0A4"/>
          </a:solidFill>
          <a:ln w="12700">
            <a:solidFill>
              <a:srgbClr val="B7B0A4"/>
            </a:solidFill>
            <a:prstDash val="solid"/>
          </a:ln>
        </p:spPr>
      </p:sp>
      <p:sp>
        <p:nvSpPr>
          <p:cNvPr id="41" name="Shape 39"/>
          <p:cNvSpPr/>
          <p:nvPr/>
        </p:nvSpPr>
        <p:spPr>
          <a:xfrm>
            <a:off x="3898900" y="4975225"/>
            <a:ext cx="1422400" cy="6350"/>
          </a:xfrm>
          <a:prstGeom prst="rect">
            <a:avLst/>
          </a:prstGeom>
          <a:solidFill>
            <a:srgbClr val="B7B0A4"/>
          </a:solidFill>
          <a:ln w="12700">
            <a:solidFill>
              <a:srgbClr val="B7B0A4"/>
            </a:solidFill>
            <a:prstDash val="solid"/>
          </a:ln>
        </p:spPr>
      </p:sp>
      <p:sp>
        <p:nvSpPr>
          <p:cNvPr id="42" name="Shape 40"/>
          <p:cNvSpPr/>
          <p:nvPr/>
        </p:nvSpPr>
        <p:spPr>
          <a:xfrm>
            <a:off x="3898900" y="4787900"/>
            <a:ext cx="302971" cy="25400"/>
          </a:xfrm>
          <a:prstGeom prst="rect">
            <a:avLst/>
          </a:prstGeom>
          <a:solidFill>
            <a:srgbClr val="514E48"/>
          </a:solidFill>
          <a:ln w="12700">
            <a:solidFill>
              <a:srgbClr val="514E48"/>
            </a:solidFill>
            <a:prstDash val="solid"/>
          </a:ln>
        </p:spPr>
      </p:sp>
      <p:sp>
        <p:nvSpPr>
          <p:cNvPr id="43" name="Shape 41"/>
          <p:cNvSpPr/>
          <p:nvPr/>
        </p:nvSpPr>
        <p:spPr>
          <a:xfrm>
            <a:off x="3898900" y="4953000"/>
            <a:ext cx="213360" cy="50800"/>
          </a:xfrm>
          <a:prstGeom prst="rect">
            <a:avLst/>
          </a:prstGeom>
          <a:solidFill>
            <a:srgbClr val="3F684E"/>
          </a:solidFill>
          <a:ln w="12700">
            <a:solidFill>
              <a:srgbClr val="3F684E"/>
            </a:solidFill>
            <a:prstDash val="solid"/>
          </a:ln>
        </p:spPr>
      </p:sp>
      <p:sp>
        <p:nvSpPr>
          <p:cNvPr id="44" name="Text 42"/>
          <p:cNvSpPr/>
          <p:nvPr/>
        </p:nvSpPr>
        <p:spPr>
          <a:xfrm>
            <a:off x="3898900" y="51308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21.3 → 15.0%</a:t>
            </a:r>
            <a:endParaRPr lang="en-US" sz="850" dirty="0"/>
          </a:p>
        </p:txBody>
      </p:sp>
      <p:sp>
        <p:nvSpPr>
          <p:cNvPr id="45" name="Shape 43"/>
          <p:cNvSpPr/>
          <p:nvPr/>
        </p:nvSpPr>
        <p:spPr>
          <a:xfrm>
            <a:off x="5588000" y="4797425"/>
            <a:ext cx="1422400" cy="6350"/>
          </a:xfrm>
          <a:prstGeom prst="rect">
            <a:avLst/>
          </a:prstGeom>
          <a:solidFill>
            <a:srgbClr val="B7B0A4"/>
          </a:solidFill>
          <a:ln w="12700">
            <a:solidFill>
              <a:srgbClr val="B7B0A4"/>
            </a:solidFill>
            <a:prstDash val="solid"/>
          </a:ln>
        </p:spPr>
      </p:sp>
      <p:sp>
        <p:nvSpPr>
          <p:cNvPr id="46" name="Shape 44"/>
          <p:cNvSpPr/>
          <p:nvPr/>
        </p:nvSpPr>
        <p:spPr>
          <a:xfrm>
            <a:off x="5588000" y="4975225"/>
            <a:ext cx="1422400" cy="6350"/>
          </a:xfrm>
          <a:prstGeom prst="rect">
            <a:avLst/>
          </a:prstGeom>
          <a:solidFill>
            <a:srgbClr val="B7B0A4"/>
          </a:solidFill>
          <a:ln w="12700">
            <a:solidFill>
              <a:srgbClr val="B7B0A4"/>
            </a:solidFill>
            <a:prstDash val="solid"/>
          </a:ln>
        </p:spPr>
      </p:sp>
      <p:sp>
        <p:nvSpPr>
          <p:cNvPr id="47" name="Shape 45"/>
          <p:cNvSpPr/>
          <p:nvPr/>
        </p:nvSpPr>
        <p:spPr>
          <a:xfrm>
            <a:off x="5588000" y="4787900"/>
            <a:ext cx="940206" cy="25400"/>
          </a:xfrm>
          <a:prstGeom prst="rect">
            <a:avLst/>
          </a:prstGeom>
          <a:solidFill>
            <a:srgbClr val="514E48"/>
          </a:solidFill>
          <a:ln w="12700">
            <a:solidFill>
              <a:srgbClr val="514E48"/>
            </a:solidFill>
            <a:prstDash val="solid"/>
          </a:ln>
        </p:spPr>
      </p:sp>
      <p:sp>
        <p:nvSpPr>
          <p:cNvPr id="48" name="Shape 46"/>
          <p:cNvSpPr/>
          <p:nvPr/>
        </p:nvSpPr>
        <p:spPr>
          <a:xfrm>
            <a:off x="5588000" y="4953000"/>
            <a:ext cx="931672" cy="50800"/>
          </a:xfrm>
          <a:prstGeom prst="rect">
            <a:avLst/>
          </a:prstGeom>
          <a:solidFill>
            <a:srgbClr val="3F684E"/>
          </a:solidFill>
          <a:ln w="12700">
            <a:solidFill>
              <a:srgbClr val="3F684E"/>
            </a:solidFill>
            <a:prstDash val="solid"/>
          </a:ln>
        </p:spPr>
      </p:sp>
      <p:sp>
        <p:nvSpPr>
          <p:cNvPr id="49" name="Text 47"/>
          <p:cNvSpPr/>
          <p:nvPr/>
        </p:nvSpPr>
        <p:spPr>
          <a:xfrm>
            <a:off x="5588000" y="51308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66.1 → 65.5%</a:t>
            </a:r>
            <a:endParaRPr lang="en-US" sz="850" dirty="0"/>
          </a:p>
        </p:txBody>
      </p:sp>
      <p:sp>
        <p:nvSpPr>
          <p:cNvPr id="50" name="Shape 48"/>
          <p:cNvSpPr/>
          <p:nvPr/>
        </p:nvSpPr>
        <p:spPr>
          <a:xfrm>
            <a:off x="457200" y="5562600"/>
            <a:ext cx="127000" cy="127000"/>
          </a:xfrm>
          <a:prstGeom prst="triangle">
            <a:avLst/>
          </a:prstGeom>
          <a:solidFill>
            <a:srgbClr val="D6A23A"/>
          </a:solidFill>
          <a:ln w="7620">
            <a:solidFill>
              <a:srgbClr val="252525"/>
            </a:solidFill>
            <a:prstDash val="solid"/>
          </a:ln>
        </p:spPr>
      </p:sp>
      <p:sp>
        <p:nvSpPr>
          <p:cNvPr id="51" name="Text 49"/>
          <p:cNvSpPr/>
          <p:nvPr/>
        </p:nvSpPr>
        <p:spPr>
          <a:xfrm>
            <a:off x="711200" y="5511800"/>
            <a:ext cx="1371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52" name="Shape 50"/>
          <p:cNvSpPr/>
          <p:nvPr/>
        </p:nvSpPr>
        <p:spPr>
          <a:xfrm>
            <a:off x="2209800" y="5546725"/>
            <a:ext cx="1422400" cy="6350"/>
          </a:xfrm>
          <a:prstGeom prst="rect">
            <a:avLst/>
          </a:prstGeom>
          <a:solidFill>
            <a:srgbClr val="B7B0A4"/>
          </a:solidFill>
          <a:ln w="12700">
            <a:solidFill>
              <a:srgbClr val="B7B0A4"/>
            </a:solidFill>
            <a:prstDash val="solid"/>
          </a:ln>
        </p:spPr>
      </p:sp>
      <p:sp>
        <p:nvSpPr>
          <p:cNvPr id="53" name="Shape 51"/>
          <p:cNvSpPr/>
          <p:nvPr/>
        </p:nvSpPr>
        <p:spPr>
          <a:xfrm>
            <a:off x="2209800" y="5724525"/>
            <a:ext cx="1422400" cy="6350"/>
          </a:xfrm>
          <a:prstGeom prst="rect">
            <a:avLst/>
          </a:prstGeom>
          <a:solidFill>
            <a:srgbClr val="B7B0A4"/>
          </a:solidFill>
          <a:ln w="12700">
            <a:solidFill>
              <a:srgbClr val="B7B0A4"/>
            </a:solidFill>
            <a:prstDash val="solid"/>
          </a:ln>
        </p:spPr>
      </p:sp>
      <p:sp>
        <p:nvSpPr>
          <p:cNvPr id="54" name="Shape 52"/>
          <p:cNvSpPr/>
          <p:nvPr/>
        </p:nvSpPr>
        <p:spPr>
          <a:xfrm>
            <a:off x="2209800" y="5537200"/>
            <a:ext cx="278790" cy="25400"/>
          </a:xfrm>
          <a:prstGeom prst="rect">
            <a:avLst/>
          </a:prstGeom>
          <a:solidFill>
            <a:srgbClr val="514E48"/>
          </a:solidFill>
          <a:ln w="12700">
            <a:solidFill>
              <a:srgbClr val="514E48"/>
            </a:solidFill>
            <a:prstDash val="solid"/>
          </a:ln>
        </p:spPr>
      </p:sp>
      <p:sp>
        <p:nvSpPr>
          <p:cNvPr id="55" name="Shape 53"/>
          <p:cNvSpPr/>
          <p:nvPr/>
        </p:nvSpPr>
        <p:spPr>
          <a:xfrm>
            <a:off x="2209800" y="5683250"/>
            <a:ext cx="75387" cy="88900"/>
          </a:xfrm>
          <a:prstGeom prst="rect">
            <a:avLst/>
          </a:prstGeom>
          <a:solidFill>
            <a:srgbClr val="252525"/>
          </a:solidFill>
          <a:ln w="12700">
            <a:solidFill>
              <a:srgbClr val="252525"/>
            </a:solidFill>
            <a:prstDash val="solid"/>
          </a:ln>
        </p:spPr>
      </p:sp>
      <p:sp>
        <p:nvSpPr>
          <p:cNvPr id="56" name="Shape 54"/>
          <p:cNvSpPr/>
          <p:nvPr/>
        </p:nvSpPr>
        <p:spPr>
          <a:xfrm>
            <a:off x="2209800" y="5702300"/>
            <a:ext cx="75387" cy="50800"/>
          </a:xfrm>
          <a:prstGeom prst="rect">
            <a:avLst/>
          </a:prstGeom>
          <a:solidFill>
            <a:srgbClr val="D6A23A"/>
          </a:solidFill>
          <a:ln w="12700">
            <a:solidFill>
              <a:srgbClr val="D6A23A"/>
            </a:solidFill>
            <a:prstDash val="solid"/>
          </a:ln>
        </p:spPr>
      </p:sp>
      <p:sp>
        <p:nvSpPr>
          <p:cNvPr id="57" name="Text 55"/>
          <p:cNvSpPr/>
          <p:nvPr/>
        </p:nvSpPr>
        <p:spPr>
          <a:xfrm>
            <a:off x="2209800" y="58801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19.6 → 5.3%</a:t>
            </a:r>
            <a:endParaRPr lang="en-US" sz="850" dirty="0"/>
          </a:p>
        </p:txBody>
      </p:sp>
      <p:sp>
        <p:nvSpPr>
          <p:cNvPr id="58" name="Shape 56"/>
          <p:cNvSpPr/>
          <p:nvPr/>
        </p:nvSpPr>
        <p:spPr>
          <a:xfrm>
            <a:off x="3898900" y="5546725"/>
            <a:ext cx="1422400" cy="6350"/>
          </a:xfrm>
          <a:prstGeom prst="rect">
            <a:avLst/>
          </a:prstGeom>
          <a:solidFill>
            <a:srgbClr val="B7B0A4"/>
          </a:solidFill>
          <a:ln w="12700">
            <a:solidFill>
              <a:srgbClr val="B7B0A4"/>
            </a:solidFill>
            <a:prstDash val="solid"/>
          </a:ln>
        </p:spPr>
      </p:sp>
      <p:sp>
        <p:nvSpPr>
          <p:cNvPr id="59" name="Shape 57"/>
          <p:cNvSpPr/>
          <p:nvPr/>
        </p:nvSpPr>
        <p:spPr>
          <a:xfrm>
            <a:off x="3898900" y="5724525"/>
            <a:ext cx="1422400" cy="6350"/>
          </a:xfrm>
          <a:prstGeom prst="rect">
            <a:avLst/>
          </a:prstGeom>
          <a:solidFill>
            <a:srgbClr val="B7B0A4"/>
          </a:solidFill>
          <a:ln w="12700">
            <a:solidFill>
              <a:srgbClr val="B7B0A4"/>
            </a:solidFill>
            <a:prstDash val="solid"/>
          </a:ln>
        </p:spPr>
      </p:sp>
      <p:sp>
        <p:nvSpPr>
          <p:cNvPr id="60" name="Shape 58"/>
          <p:cNvSpPr/>
          <p:nvPr/>
        </p:nvSpPr>
        <p:spPr>
          <a:xfrm>
            <a:off x="3898900" y="5537200"/>
            <a:ext cx="497840" cy="25400"/>
          </a:xfrm>
          <a:prstGeom prst="rect">
            <a:avLst/>
          </a:prstGeom>
          <a:solidFill>
            <a:srgbClr val="514E48"/>
          </a:solidFill>
          <a:ln w="12700">
            <a:solidFill>
              <a:srgbClr val="514E48"/>
            </a:solidFill>
            <a:prstDash val="solid"/>
          </a:ln>
        </p:spPr>
      </p:sp>
      <p:sp>
        <p:nvSpPr>
          <p:cNvPr id="61" name="Shape 59"/>
          <p:cNvSpPr/>
          <p:nvPr/>
        </p:nvSpPr>
        <p:spPr>
          <a:xfrm>
            <a:off x="3898900" y="5683250"/>
            <a:ext cx="332842" cy="88900"/>
          </a:xfrm>
          <a:prstGeom prst="rect">
            <a:avLst/>
          </a:prstGeom>
          <a:solidFill>
            <a:srgbClr val="252525"/>
          </a:solidFill>
          <a:ln w="12700">
            <a:solidFill>
              <a:srgbClr val="252525"/>
            </a:solidFill>
            <a:prstDash val="solid"/>
          </a:ln>
        </p:spPr>
      </p:sp>
      <p:sp>
        <p:nvSpPr>
          <p:cNvPr id="62" name="Shape 60"/>
          <p:cNvSpPr/>
          <p:nvPr/>
        </p:nvSpPr>
        <p:spPr>
          <a:xfrm>
            <a:off x="3898900" y="5702300"/>
            <a:ext cx="332842" cy="50800"/>
          </a:xfrm>
          <a:prstGeom prst="rect">
            <a:avLst/>
          </a:prstGeom>
          <a:solidFill>
            <a:srgbClr val="D6A23A"/>
          </a:solidFill>
          <a:ln w="12700">
            <a:solidFill>
              <a:srgbClr val="D6A23A"/>
            </a:solidFill>
            <a:prstDash val="solid"/>
          </a:ln>
        </p:spPr>
      </p:sp>
      <p:sp>
        <p:nvSpPr>
          <p:cNvPr id="63" name="Text 61"/>
          <p:cNvSpPr/>
          <p:nvPr/>
        </p:nvSpPr>
        <p:spPr>
          <a:xfrm>
            <a:off x="3898900" y="58801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35.0 → 23.4%</a:t>
            </a:r>
            <a:endParaRPr lang="en-US" sz="850" dirty="0"/>
          </a:p>
        </p:txBody>
      </p:sp>
      <p:sp>
        <p:nvSpPr>
          <p:cNvPr id="64" name="Shape 62"/>
          <p:cNvSpPr/>
          <p:nvPr/>
        </p:nvSpPr>
        <p:spPr>
          <a:xfrm>
            <a:off x="5588000" y="5546725"/>
            <a:ext cx="1422400" cy="6350"/>
          </a:xfrm>
          <a:prstGeom prst="rect">
            <a:avLst/>
          </a:prstGeom>
          <a:solidFill>
            <a:srgbClr val="B7B0A4"/>
          </a:solidFill>
          <a:ln w="12700">
            <a:solidFill>
              <a:srgbClr val="B7B0A4"/>
            </a:solidFill>
            <a:prstDash val="solid"/>
          </a:ln>
        </p:spPr>
      </p:sp>
      <p:sp>
        <p:nvSpPr>
          <p:cNvPr id="65" name="Shape 63"/>
          <p:cNvSpPr/>
          <p:nvPr/>
        </p:nvSpPr>
        <p:spPr>
          <a:xfrm>
            <a:off x="5588000" y="5724525"/>
            <a:ext cx="1422400" cy="6350"/>
          </a:xfrm>
          <a:prstGeom prst="rect">
            <a:avLst/>
          </a:prstGeom>
          <a:solidFill>
            <a:srgbClr val="B7B0A4"/>
          </a:solidFill>
          <a:ln w="12700">
            <a:solidFill>
              <a:srgbClr val="B7B0A4"/>
            </a:solidFill>
            <a:prstDash val="solid"/>
          </a:ln>
        </p:spPr>
      </p:sp>
      <p:sp>
        <p:nvSpPr>
          <p:cNvPr id="66" name="Shape 64"/>
          <p:cNvSpPr/>
          <p:nvPr/>
        </p:nvSpPr>
        <p:spPr>
          <a:xfrm>
            <a:off x="5588000" y="5537200"/>
            <a:ext cx="645770" cy="25400"/>
          </a:xfrm>
          <a:prstGeom prst="rect">
            <a:avLst/>
          </a:prstGeom>
          <a:solidFill>
            <a:srgbClr val="514E48"/>
          </a:solidFill>
          <a:ln w="12700">
            <a:solidFill>
              <a:srgbClr val="514E48"/>
            </a:solidFill>
            <a:prstDash val="solid"/>
          </a:ln>
        </p:spPr>
      </p:sp>
      <p:sp>
        <p:nvSpPr>
          <p:cNvPr id="67" name="Shape 65"/>
          <p:cNvSpPr/>
          <p:nvPr/>
        </p:nvSpPr>
        <p:spPr>
          <a:xfrm>
            <a:off x="5588000" y="5683250"/>
            <a:ext cx="1014171" cy="88900"/>
          </a:xfrm>
          <a:prstGeom prst="rect">
            <a:avLst/>
          </a:prstGeom>
          <a:solidFill>
            <a:srgbClr val="252525"/>
          </a:solidFill>
          <a:ln w="12700">
            <a:solidFill>
              <a:srgbClr val="252525"/>
            </a:solidFill>
            <a:prstDash val="solid"/>
          </a:ln>
        </p:spPr>
      </p:sp>
      <p:sp>
        <p:nvSpPr>
          <p:cNvPr id="68" name="Shape 66"/>
          <p:cNvSpPr/>
          <p:nvPr/>
        </p:nvSpPr>
        <p:spPr>
          <a:xfrm>
            <a:off x="5588000" y="5702300"/>
            <a:ext cx="1014171" cy="50800"/>
          </a:xfrm>
          <a:prstGeom prst="rect">
            <a:avLst/>
          </a:prstGeom>
          <a:solidFill>
            <a:srgbClr val="D6A23A"/>
          </a:solidFill>
          <a:ln w="12700">
            <a:solidFill>
              <a:srgbClr val="D6A23A"/>
            </a:solidFill>
            <a:prstDash val="solid"/>
          </a:ln>
        </p:spPr>
      </p:sp>
      <p:sp>
        <p:nvSpPr>
          <p:cNvPr id="69" name="Text 67"/>
          <p:cNvSpPr/>
          <p:nvPr/>
        </p:nvSpPr>
        <p:spPr>
          <a:xfrm>
            <a:off x="5588000" y="58801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45.4 → 71.3%</a:t>
            </a:r>
            <a:endParaRPr lang="en-US" sz="850" dirty="0"/>
          </a:p>
        </p:txBody>
      </p:sp>
      <p:sp>
        <p:nvSpPr>
          <p:cNvPr id="70" name="Shape 68"/>
          <p:cNvSpPr/>
          <p:nvPr/>
        </p:nvSpPr>
        <p:spPr>
          <a:xfrm>
            <a:off x="457200" y="6311900"/>
            <a:ext cx="127000" cy="127000"/>
          </a:xfrm>
          <a:prstGeom prst="diamond">
            <a:avLst/>
          </a:prstGeom>
          <a:solidFill>
            <a:srgbClr val="315A78"/>
          </a:solidFill>
          <a:ln w="7620">
            <a:solidFill>
              <a:srgbClr val="252525"/>
            </a:solidFill>
            <a:prstDash val="solid"/>
          </a:ln>
        </p:spPr>
      </p:sp>
      <p:sp>
        <p:nvSpPr>
          <p:cNvPr id="71" name="Text 69"/>
          <p:cNvSpPr/>
          <p:nvPr/>
        </p:nvSpPr>
        <p:spPr>
          <a:xfrm>
            <a:off x="711200" y="6261100"/>
            <a:ext cx="1371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72" name="Shape 70"/>
          <p:cNvSpPr/>
          <p:nvPr/>
        </p:nvSpPr>
        <p:spPr>
          <a:xfrm>
            <a:off x="2209800" y="6296025"/>
            <a:ext cx="1422400" cy="6350"/>
          </a:xfrm>
          <a:prstGeom prst="rect">
            <a:avLst/>
          </a:prstGeom>
          <a:solidFill>
            <a:srgbClr val="B7B0A4"/>
          </a:solidFill>
          <a:ln w="12700">
            <a:solidFill>
              <a:srgbClr val="B7B0A4"/>
            </a:solidFill>
            <a:prstDash val="solid"/>
          </a:ln>
        </p:spPr>
      </p:sp>
      <p:sp>
        <p:nvSpPr>
          <p:cNvPr id="73" name="Shape 71"/>
          <p:cNvSpPr/>
          <p:nvPr/>
        </p:nvSpPr>
        <p:spPr>
          <a:xfrm>
            <a:off x="2209800" y="6473825"/>
            <a:ext cx="1422400" cy="6350"/>
          </a:xfrm>
          <a:prstGeom prst="rect">
            <a:avLst/>
          </a:prstGeom>
          <a:solidFill>
            <a:srgbClr val="B7B0A4"/>
          </a:solidFill>
          <a:ln w="12700">
            <a:solidFill>
              <a:srgbClr val="B7B0A4"/>
            </a:solidFill>
            <a:prstDash val="solid"/>
          </a:ln>
        </p:spPr>
      </p:sp>
      <p:sp>
        <p:nvSpPr>
          <p:cNvPr id="74" name="Shape 72"/>
          <p:cNvSpPr/>
          <p:nvPr/>
        </p:nvSpPr>
        <p:spPr>
          <a:xfrm>
            <a:off x="2209800" y="6286500"/>
            <a:ext cx="220472" cy="25400"/>
          </a:xfrm>
          <a:prstGeom prst="rect">
            <a:avLst/>
          </a:prstGeom>
          <a:solidFill>
            <a:srgbClr val="514E48"/>
          </a:solidFill>
          <a:ln w="12700">
            <a:solidFill>
              <a:srgbClr val="514E48"/>
            </a:solidFill>
            <a:prstDash val="solid"/>
          </a:ln>
        </p:spPr>
      </p:sp>
      <p:sp>
        <p:nvSpPr>
          <p:cNvPr id="75" name="Shape 73"/>
          <p:cNvSpPr/>
          <p:nvPr/>
        </p:nvSpPr>
        <p:spPr>
          <a:xfrm>
            <a:off x="2209800" y="6451600"/>
            <a:ext cx="76810" cy="50800"/>
          </a:xfrm>
          <a:prstGeom prst="rect">
            <a:avLst/>
          </a:prstGeom>
          <a:solidFill>
            <a:srgbClr val="315A78"/>
          </a:solidFill>
          <a:ln w="12700">
            <a:solidFill>
              <a:srgbClr val="315A78"/>
            </a:solidFill>
            <a:prstDash val="solid"/>
          </a:ln>
        </p:spPr>
      </p:sp>
      <p:sp>
        <p:nvSpPr>
          <p:cNvPr id="76" name="Text 74"/>
          <p:cNvSpPr/>
          <p:nvPr/>
        </p:nvSpPr>
        <p:spPr>
          <a:xfrm>
            <a:off x="2209800" y="66294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15.5 → 5.4%</a:t>
            </a:r>
            <a:endParaRPr lang="en-US" sz="850" dirty="0"/>
          </a:p>
        </p:txBody>
      </p:sp>
      <p:sp>
        <p:nvSpPr>
          <p:cNvPr id="77" name="Shape 75"/>
          <p:cNvSpPr/>
          <p:nvPr/>
        </p:nvSpPr>
        <p:spPr>
          <a:xfrm>
            <a:off x="3898900" y="6296025"/>
            <a:ext cx="1422400" cy="6350"/>
          </a:xfrm>
          <a:prstGeom prst="rect">
            <a:avLst/>
          </a:prstGeom>
          <a:solidFill>
            <a:srgbClr val="B7B0A4"/>
          </a:solidFill>
          <a:ln w="12700">
            <a:solidFill>
              <a:srgbClr val="B7B0A4"/>
            </a:solidFill>
            <a:prstDash val="solid"/>
          </a:ln>
        </p:spPr>
      </p:sp>
      <p:sp>
        <p:nvSpPr>
          <p:cNvPr id="78" name="Shape 76"/>
          <p:cNvSpPr/>
          <p:nvPr/>
        </p:nvSpPr>
        <p:spPr>
          <a:xfrm>
            <a:off x="3898900" y="6473825"/>
            <a:ext cx="1422400" cy="6350"/>
          </a:xfrm>
          <a:prstGeom prst="rect">
            <a:avLst/>
          </a:prstGeom>
          <a:solidFill>
            <a:srgbClr val="B7B0A4"/>
          </a:solidFill>
          <a:ln w="12700">
            <a:solidFill>
              <a:srgbClr val="B7B0A4"/>
            </a:solidFill>
            <a:prstDash val="solid"/>
          </a:ln>
        </p:spPr>
      </p:sp>
      <p:sp>
        <p:nvSpPr>
          <p:cNvPr id="79" name="Shape 77"/>
          <p:cNvSpPr/>
          <p:nvPr/>
        </p:nvSpPr>
        <p:spPr>
          <a:xfrm>
            <a:off x="3898900" y="6286500"/>
            <a:ext cx="527710" cy="25400"/>
          </a:xfrm>
          <a:prstGeom prst="rect">
            <a:avLst/>
          </a:prstGeom>
          <a:solidFill>
            <a:srgbClr val="514E48"/>
          </a:solidFill>
          <a:ln w="12700">
            <a:solidFill>
              <a:srgbClr val="514E48"/>
            </a:solidFill>
            <a:prstDash val="solid"/>
          </a:ln>
        </p:spPr>
      </p:sp>
      <p:sp>
        <p:nvSpPr>
          <p:cNvPr id="80" name="Shape 78"/>
          <p:cNvSpPr/>
          <p:nvPr/>
        </p:nvSpPr>
        <p:spPr>
          <a:xfrm>
            <a:off x="3898900" y="6451600"/>
            <a:ext cx="349910" cy="50800"/>
          </a:xfrm>
          <a:prstGeom prst="rect">
            <a:avLst/>
          </a:prstGeom>
          <a:solidFill>
            <a:srgbClr val="315A78"/>
          </a:solidFill>
          <a:ln w="12700">
            <a:solidFill>
              <a:srgbClr val="315A78"/>
            </a:solidFill>
            <a:prstDash val="solid"/>
          </a:ln>
        </p:spPr>
      </p:sp>
      <p:sp>
        <p:nvSpPr>
          <p:cNvPr id="81" name="Text 79"/>
          <p:cNvSpPr/>
          <p:nvPr/>
        </p:nvSpPr>
        <p:spPr>
          <a:xfrm>
            <a:off x="3898900" y="66294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37.1 → 24.6%</a:t>
            </a:r>
            <a:endParaRPr lang="en-US" sz="850" dirty="0"/>
          </a:p>
        </p:txBody>
      </p:sp>
      <p:sp>
        <p:nvSpPr>
          <p:cNvPr id="82" name="Shape 80"/>
          <p:cNvSpPr/>
          <p:nvPr/>
        </p:nvSpPr>
        <p:spPr>
          <a:xfrm>
            <a:off x="5588000" y="6296025"/>
            <a:ext cx="1422400" cy="6350"/>
          </a:xfrm>
          <a:prstGeom prst="rect">
            <a:avLst/>
          </a:prstGeom>
          <a:solidFill>
            <a:srgbClr val="B7B0A4"/>
          </a:solidFill>
          <a:ln w="12700">
            <a:solidFill>
              <a:srgbClr val="B7B0A4"/>
            </a:solidFill>
            <a:prstDash val="solid"/>
          </a:ln>
        </p:spPr>
      </p:sp>
      <p:sp>
        <p:nvSpPr>
          <p:cNvPr id="83" name="Shape 81"/>
          <p:cNvSpPr/>
          <p:nvPr/>
        </p:nvSpPr>
        <p:spPr>
          <a:xfrm>
            <a:off x="5588000" y="6473825"/>
            <a:ext cx="1422400" cy="6350"/>
          </a:xfrm>
          <a:prstGeom prst="rect">
            <a:avLst/>
          </a:prstGeom>
          <a:solidFill>
            <a:srgbClr val="B7B0A4"/>
          </a:solidFill>
          <a:ln w="12700">
            <a:solidFill>
              <a:srgbClr val="B7B0A4"/>
            </a:solidFill>
            <a:prstDash val="solid"/>
          </a:ln>
        </p:spPr>
      </p:sp>
      <p:sp>
        <p:nvSpPr>
          <p:cNvPr id="84" name="Shape 82"/>
          <p:cNvSpPr/>
          <p:nvPr/>
        </p:nvSpPr>
        <p:spPr>
          <a:xfrm>
            <a:off x="5588000" y="6286500"/>
            <a:ext cx="674218" cy="25400"/>
          </a:xfrm>
          <a:prstGeom prst="rect">
            <a:avLst/>
          </a:prstGeom>
          <a:solidFill>
            <a:srgbClr val="514E48"/>
          </a:solidFill>
          <a:ln w="12700">
            <a:solidFill>
              <a:srgbClr val="514E48"/>
            </a:solidFill>
            <a:prstDash val="solid"/>
          </a:ln>
        </p:spPr>
      </p:sp>
      <p:sp>
        <p:nvSpPr>
          <p:cNvPr id="85" name="Shape 83"/>
          <p:cNvSpPr/>
          <p:nvPr/>
        </p:nvSpPr>
        <p:spPr>
          <a:xfrm>
            <a:off x="5588000" y="6451600"/>
            <a:ext cx="995680" cy="50800"/>
          </a:xfrm>
          <a:prstGeom prst="rect">
            <a:avLst/>
          </a:prstGeom>
          <a:solidFill>
            <a:srgbClr val="315A78"/>
          </a:solidFill>
          <a:ln w="12700">
            <a:solidFill>
              <a:srgbClr val="315A78"/>
            </a:solidFill>
            <a:prstDash val="solid"/>
          </a:ln>
        </p:spPr>
      </p:sp>
      <p:sp>
        <p:nvSpPr>
          <p:cNvPr id="86" name="Text 84"/>
          <p:cNvSpPr/>
          <p:nvPr/>
        </p:nvSpPr>
        <p:spPr>
          <a:xfrm>
            <a:off x="5588000" y="66294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47.4 → 70.0%</a:t>
            </a:r>
            <a:endParaRPr lang="en-US" sz="850" dirty="0"/>
          </a:p>
        </p:txBody>
      </p:sp>
      <p:sp>
        <p:nvSpPr>
          <p:cNvPr id="87" name="Shape 85"/>
          <p:cNvSpPr/>
          <p:nvPr/>
        </p:nvSpPr>
        <p:spPr>
          <a:xfrm>
            <a:off x="457200" y="7061200"/>
            <a:ext cx="127000" cy="127000"/>
          </a:xfrm>
          <a:prstGeom prst="hexagon">
            <a:avLst/>
          </a:prstGeom>
          <a:solidFill>
            <a:srgbClr val="3E7568"/>
          </a:solidFill>
          <a:ln w="7620">
            <a:solidFill>
              <a:srgbClr val="252525"/>
            </a:solidFill>
            <a:prstDash val="solid"/>
          </a:ln>
        </p:spPr>
      </p:sp>
      <p:sp>
        <p:nvSpPr>
          <p:cNvPr id="88" name="Text 86"/>
          <p:cNvSpPr/>
          <p:nvPr/>
        </p:nvSpPr>
        <p:spPr>
          <a:xfrm>
            <a:off x="711200" y="7010400"/>
            <a:ext cx="1371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89" name="Shape 87"/>
          <p:cNvSpPr/>
          <p:nvPr/>
        </p:nvSpPr>
        <p:spPr>
          <a:xfrm>
            <a:off x="2209800" y="7045325"/>
            <a:ext cx="1422400" cy="6350"/>
          </a:xfrm>
          <a:prstGeom prst="rect">
            <a:avLst/>
          </a:prstGeom>
          <a:solidFill>
            <a:srgbClr val="B7B0A4"/>
          </a:solidFill>
          <a:ln w="12700">
            <a:solidFill>
              <a:srgbClr val="B7B0A4"/>
            </a:solidFill>
            <a:prstDash val="solid"/>
          </a:ln>
        </p:spPr>
      </p:sp>
      <p:sp>
        <p:nvSpPr>
          <p:cNvPr id="90" name="Shape 88"/>
          <p:cNvSpPr/>
          <p:nvPr/>
        </p:nvSpPr>
        <p:spPr>
          <a:xfrm>
            <a:off x="2209800" y="7223125"/>
            <a:ext cx="1422400" cy="6350"/>
          </a:xfrm>
          <a:prstGeom prst="rect">
            <a:avLst/>
          </a:prstGeom>
          <a:solidFill>
            <a:srgbClr val="B7B0A4"/>
          </a:solidFill>
          <a:ln w="12700">
            <a:solidFill>
              <a:srgbClr val="B7B0A4"/>
            </a:solidFill>
            <a:prstDash val="solid"/>
          </a:ln>
        </p:spPr>
      </p:sp>
      <p:sp>
        <p:nvSpPr>
          <p:cNvPr id="91" name="Shape 89"/>
          <p:cNvSpPr/>
          <p:nvPr/>
        </p:nvSpPr>
        <p:spPr>
          <a:xfrm>
            <a:off x="2209800" y="7035800"/>
            <a:ext cx="268834" cy="25400"/>
          </a:xfrm>
          <a:prstGeom prst="rect">
            <a:avLst/>
          </a:prstGeom>
          <a:solidFill>
            <a:srgbClr val="514E48"/>
          </a:solidFill>
          <a:ln w="12700">
            <a:solidFill>
              <a:srgbClr val="514E48"/>
            </a:solidFill>
            <a:prstDash val="solid"/>
          </a:ln>
        </p:spPr>
      </p:sp>
      <p:sp>
        <p:nvSpPr>
          <p:cNvPr id="92" name="Shape 90"/>
          <p:cNvSpPr/>
          <p:nvPr/>
        </p:nvSpPr>
        <p:spPr>
          <a:xfrm>
            <a:off x="2209800" y="7200900"/>
            <a:ext cx="149352" cy="50800"/>
          </a:xfrm>
          <a:prstGeom prst="rect">
            <a:avLst/>
          </a:prstGeom>
          <a:solidFill>
            <a:srgbClr val="3E7568"/>
          </a:solidFill>
          <a:ln w="12700">
            <a:solidFill>
              <a:srgbClr val="3E7568"/>
            </a:solidFill>
            <a:prstDash val="solid"/>
          </a:ln>
        </p:spPr>
      </p:sp>
      <p:sp>
        <p:nvSpPr>
          <p:cNvPr id="93" name="Text 91"/>
          <p:cNvSpPr/>
          <p:nvPr/>
        </p:nvSpPr>
        <p:spPr>
          <a:xfrm>
            <a:off x="2209800" y="73787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18.9 → 10.5%</a:t>
            </a:r>
            <a:endParaRPr lang="en-US" sz="850" dirty="0"/>
          </a:p>
        </p:txBody>
      </p:sp>
      <p:sp>
        <p:nvSpPr>
          <p:cNvPr id="94" name="Shape 92"/>
          <p:cNvSpPr/>
          <p:nvPr/>
        </p:nvSpPr>
        <p:spPr>
          <a:xfrm>
            <a:off x="3898900" y="7045325"/>
            <a:ext cx="1422400" cy="6350"/>
          </a:xfrm>
          <a:prstGeom prst="rect">
            <a:avLst/>
          </a:prstGeom>
          <a:solidFill>
            <a:srgbClr val="B7B0A4"/>
          </a:solidFill>
          <a:ln w="12700">
            <a:solidFill>
              <a:srgbClr val="B7B0A4"/>
            </a:solidFill>
            <a:prstDash val="solid"/>
          </a:ln>
        </p:spPr>
      </p:sp>
      <p:sp>
        <p:nvSpPr>
          <p:cNvPr id="95" name="Shape 93"/>
          <p:cNvSpPr/>
          <p:nvPr/>
        </p:nvSpPr>
        <p:spPr>
          <a:xfrm>
            <a:off x="3898900" y="7223125"/>
            <a:ext cx="1422400" cy="6350"/>
          </a:xfrm>
          <a:prstGeom prst="rect">
            <a:avLst/>
          </a:prstGeom>
          <a:solidFill>
            <a:srgbClr val="B7B0A4"/>
          </a:solidFill>
          <a:ln w="12700">
            <a:solidFill>
              <a:srgbClr val="B7B0A4"/>
            </a:solidFill>
            <a:prstDash val="solid"/>
          </a:ln>
        </p:spPr>
      </p:sp>
      <p:sp>
        <p:nvSpPr>
          <p:cNvPr id="96" name="Shape 94"/>
          <p:cNvSpPr/>
          <p:nvPr/>
        </p:nvSpPr>
        <p:spPr>
          <a:xfrm>
            <a:off x="3898900" y="7035800"/>
            <a:ext cx="466547" cy="25400"/>
          </a:xfrm>
          <a:prstGeom prst="rect">
            <a:avLst/>
          </a:prstGeom>
          <a:solidFill>
            <a:srgbClr val="514E48"/>
          </a:solidFill>
          <a:ln w="12700">
            <a:solidFill>
              <a:srgbClr val="514E48"/>
            </a:solidFill>
            <a:prstDash val="solid"/>
          </a:ln>
        </p:spPr>
      </p:sp>
      <p:sp>
        <p:nvSpPr>
          <p:cNvPr id="97" name="Shape 95"/>
          <p:cNvSpPr/>
          <p:nvPr/>
        </p:nvSpPr>
        <p:spPr>
          <a:xfrm>
            <a:off x="3898900" y="7200900"/>
            <a:ext cx="372669" cy="50800"/>
          </a:xfrm>
          <a:prstGeom prst="rect">
            <a:avLst/>
          </a:prstGeom>
          <a:solidFill>
            <a:srgbClr val="3E7568"/>
          </a:solidFill>
          <a:ln w="12700">
            <a:solidFill>
              <a:srgbClr val="3E7568"/>
            </a:solidFill>
            <a:prstDash val="solid"/>
          </a:ln>
        </p:spPr>
      </p:sp>
      <p:sp>
        <p:nvSpPr>
          <p:cNvPr id="98" name="Text 96"/>
          <p:cNvSpPr/>
          <p:nvPr/>
        </p:nvSpPr>
        <p:spPr>
          <a:xfrm>
            <a:off x="3898900" y="73787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32.8 → 26.2%</a:t>
            </a:r>
            <a:endParaRPr lang="en-US" sz="850" dirty="0"/>
          </a:p>
        </p:txBody>
      </p:sp>
      <p:sp>
        <p:nvSpPr>
          <p:cNvPr id="99" name="Shape 97"/>
          <p:cNvSpPr/>
          <p:nvPr/>
        </p:nvSpPr>
        <p:spPr>
          <a:xfrm>
            <a:off x="5588000" y="7045325"/>
            <a:ext cx="1422400" cy="6350"/>
          </a:xfrm>
          <a:prstGeom prst="rect">
            <a:avLst/>
          </a:prstGeom>
          <a:solidFill>
            <a:srgbClr val="B7B0A4"/>
          </a:solidFill>
          <a:ln w="12700">
            <a:solidFill>
              <a:srgbClr val="B7B0A4"/>
            </a:solidFill>
            <a:prstDash val="solid"/>
          </a:ln>
        </p:spPr>
      </p:sp>
      <p:sp>
        <p:nvSpPr>
          <p:cNvPr id="100" name="Shape 98"/>
          <p:cNvSpPr/>
          <p:nvPr/>
        </p:nvSpPr>
        <p:spPr>
          <a:xfrm>
            <a:off x="5588000" y="7223125"/>
            <a:ext cx="1422400" cy="6350"/>
          </a:xfrm>
          <a:prstGeom prst="rect">
            <a:avLst/>
          </a:prstGeom>
          <a:solidFill>
            <a:srgbClr val="B7B0A4"/>
          </a:solidFill>
          <a:ln w="12700">
            <a:solidFill>
              <a:srgbClr val="B7B0A4"/>
            </a:solidFill>
            <a:prstDash val="solid"/>
          </a:ln>
        </p:spPr>
      </p:sp>
      <p:sp>
        <p:nvSpPr>
          <p:cNvPr id="101" name="Shape 99"/>
          <p:cNvSpPr/>
          <p:nvPr/>
        </p:nvSpPr>
        <p:spPr>
          <a:xfrm>
            <a:off x="5588000" y="7035800"/>
            <a:ext cx="687019" cy="25400"/>
          </a:xfrm>
          <a:prstGeom prst="rect">
            <a:avLst/>
          </a:prstGeom>
          <a:solidFill>
            <a:srgbClr val="514E48"/>
          </a:solidFill>
          <a:ln w="12700">
            <a:solidFill>
              <a:srgbClr val="514E48"/>
            </a:solidFill>
            <a:prstDash val="solid"/>
          </a:ln>
        </p:spPr>
      </p:sp>
      <p:sp>
        <p:nvSpPr>
          <p:cNvPr id="102" name="Shape 100"/>
          <p:cNvSpPr/>
          <p:nvPr/>
        </p:nvSpPr>
        <p:spPr>
          <a:xfrm>
            <a:off x="5588000" y="7200900"/>
            <a:ext cx="900379" cy="50800"/>
          </a:xfrm>
          <a:prstGeom prst="rect">
            <a:avLst/>
          </a:prstGeom>
          <a:solidFill>
            <a:srgbClr val="3E7568"/>
          </a:solidFill>
          <a:ln w="12700">
            <a:solidFill>
              <a:srgbClr val="3E7568"/>
            </a:solidFill>
            <a:prstDash val="solid"/>
          </a:ln>
        </p:spPr>
      </p:sp>
      <p:sp>
        <p:nvSpPr>
          <p:cNvPr id="103" name="Text 101"/>
          <p:cNvSpPr/>
          <p:nvPr/>
        </p:nvSpPr>
        <p:spPr>
          <a:xfrm>
            <a:off x="5588000" y="73787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48.3 → 63.3%</a:t>
            </a:r>
            <a:endParaRPr lang="en-US" sz="850" dirty="0"/>
          </a:p>
        </p:txBody>
      </p:sp>
      <p:sp>
        <p:nvSpPr>
          <p:cNvPr id="104" name="Shape 102"/>
          <p:cNvSpPr/>
          <p:nvPr/>
        </p:nvSpPr>
        <p:spPr>
          <a:xfrm>
            <a:off x="457200" y="7853680"/>
            <a:ext cx="127000" cy="40640"/>
          </a:xfrm>
          <a:prstGeom prst="rect">
            <a:avLst/>
          </a:prstGeom>
          <a:solidFill>
            <a:srgbClr val="252525"/>
          </a:solidFill>
          <a:ln w="12700">
            <a:solidFill>
              <a:srgbClr val="252525"/>
            </a:solidFill>
            <a:prstDash val="solid"/>
          </a:ln>
        </p:spPr>
      </p:sp>
      <p:sp>
        <p:nvSpPr>
          <p:cNvPr id="105" name="Shape 103"/>
          <p:cNvSpPr/>
          <p:nvPr/>
        </p:nvSpPr>
        <p:spPr>
          <a:xfrm>
            <a:off x="500380" y="7810500"/>
            <a:ext cx="40640" cy="127000"/>
          </a:xfrm>
          <a:prstGeom prst="rect">
            <a:avLst/>
          </a:prstGeom>
          <a:solidFill>
            <a:srgbClr val="252525"/>
          </a:solidFill>
          <a:ln w="12700">
            <a:solidFill>
              <a:srgbClr val="252525"/>
            </a:solidFill>
            <a:prstDash val="solid"/>
          </a:ln>
        </p:spPr>
      </p:sp>
      <p:sp>
        <p:nvSpPr>
          <p:cNvPr id="106" name="Shape 104"/>
          <p:cNvSpPr/>
          <p:nvPr/>
        </p:nvSpPr>
        <p:spPr>
          <a:xfrm>
            <a:off x="457200" y="7862570"/>
            <a:ext cx="127000" cy="22860"/>
          </a:xfrm>
          <a:prstGeom prst="rect">
            <a:avLst/>
          </a:prstGeom>
          <a:solidFill>
            <a:srgbClr val="A63A3A"/>
          </a:solidFill>
          <a:ln w="12700">
            <a:solidFill>
              <a:srgbClr val="A63A3A"/>
            </a:solidFill>
            <a:prstDash val="solid"/>
          </a:ln>
        </p:spPr>
      </p:sp>
      <p:sp>
        <p:nvSpPr>
          <p:cNvPr id="107" name="Shape 105"/>
          <p:cNvSpPr/>
          <p:nvPr/>
        </p:nvSpPr>
        <p:spPr>
          <a:xfrm>
            <a:off x="509270" y="7810500"/>
            <a:ext cx="22860" cy="127000"/>
          </a:xfrm>
          <a:prstGeom prst="rect">
            <a:avLst/>
          </a:prstGeom>
          <a:solidFill>
            <a:srgbClr val="A63A3A"/>
          </a:solidFill>
          <a:ln w="12700">
            <a:solidFill>
              <a:srgbClr val="A63A3A"/>
            </a:solidFill>
            <a:prstDash val="solid"/>
          </a:ln>
        </p:spPr>
      </p:sp>
      <p:sp>
        <p:nvSpPr>
          <p:cNvPr id="108" name="Text 106"/>
          <p:cNvSpPr/>
          <p:nvPr/>
        </p:nvSpPr>
        <p:spPr>
          <a:xfrm>
            <a:off x="711200" y="7759700"/>
            <a:ext cx="1371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109" name="Shape 107"/>
          <p:cNvSpPr/>
          <p:nvPr/>
        </p:nvSpPr>
        <p:spPr>
          <a:xfrm>
            <a:off x="2209800" y="7794625"/>
            <a:ext cx="1422400" cy="6350"/>
          </a:xfrm>
          <a:prstGeom prst="rect">
            <a:avLst/>
          </a:prstGeom>
          <a:solidFill>
            <a:srgbClr val="B7B0A4"/>
          </a:solidFill>
          <a:ln w="12700">
            <a:solidFill>
              <a:srgbClr val="B7B0A4"/>
            </a:solidFill>
            <a:prstDash val="solid"/>
          </a:ln>
        </p:spPr>
      </p:sp>
      <p:sp>
        <p:nvSpPr>
          <p:cNvPr id="110" name="Shape 108"/>
          <p:cNvSpPr/>
          <p:nvPr/>
        </p:nvSpPr>
        <p:spPr>
          <a:xfrm>
            <a:off x="2209800" y="7972425"/>
            <a:ext cx="1422400" cy="6350"/>
          </a:xfrm>
          <a:prstGeom prst="rect">
            <a:avLst/>
          </a:prstGeom>
          <a:solidFill>
            <a:srgbClr val="B7B0A4"/>
          </a:solidFill>
          <a:ln w="12700">
            <a:solidFill>
              <a:srgbClr val="B7B0A4"/>
            </a:solidFill>
            <a:prstDash val="solid"/>
          </a:ln>
        </p:spPr>
      </p:sp>
      <p:sp>
        <p:nvSpPr>
          <p:cNvPr id="111" name="Shape 109"/>
          <p:cNvSpPr/>
          <p:nvPr/>
        </p:nvSpPr>
        <p:spPr>
          <a:xfrm>
            <a:off x="2209800" y="7785100"/>
            <a:ext cx="627278" cy="25400"/>
          </a:xfrm>
          <a:prstGeom prst="rect">
            <a:avLst/>
          </a:prstGeom>
          <a:solidFill>
            <a:srgbClr val="514E48"/>
          </a:solidFill>
          <a:ln w="12700">
            <a:solidFill>
              <a:srgbClr val="514E48"/>
            </a:solidFill>
            <a:prstDash val="solid"/>
          </a:ln>
        </p:spPr>
      </p:sp>
      <p:sp>
        <p:nvSpPr>
          <p:cNvPr id="112" name="Shape 110"/>
          <p:cNvSpPr/>
          <p:nvPr/>
        </p:nvSpPr>
        <p:spPr>
          <a:xfrm>
            <a:off x="2209800" y="7950200"/>
            <a:ext cx="348488" cy="50800"/>
          </a:xfrm>
          <a:prstGeom prst="rect">
            <a:avLst/>
          </a:prstGeom>
          <a:solidFill>
            <a:srgbClr val="A63A3A"/>
          </a:solidFill>
          <a:ln w="12700">
            <a:solidFill>
              <a:srgbClr val="A63A3A"/>
            </a:solidFill>
            <a:prstDash val="solid"/>
          </a:ln>
        </p:spPr>
      </p:sp>
      <p:sp>
        <p:nvSpPr>
          <p:cNvPr id="113" name="Text 111"/>
          <p:cNvSpPr/>
          <p:nvPr/>
        </p:nvSpPr>
        <p:spPr>
          <a:xfrm>
            <a:off x="2209800" y="81280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44.1 → 24.5%</a:t>
            </a:r>
            <a:endParaRPr lang="en-US" sz="850" dirty="0"/>
          </a:p>
        </p:txBody>
      </p:sp>
      <p:sp>
        <p:nvSpPr>
          <p:cNvPr id="114" name="Shape 112"/>
          <p:cNvSpPr/>
          <p:nvPr/>
        </p:nvSpPr>
        <p:spPr>
          <a:xfrm>
            <a:off x="3898900" y="7794625"/>
            <a:ext cx="1422400" cy="6350"/>
          </a:xfrm>
          <a:prstGeom prst="rect">
            <a:avLst/>
          </a:prstGeom>
          <a:solidFill>
            <a:srgbClr val="B7B0A4"/>
          </a:solidFill>
          <a:ln w="12700">
            <a:solidFill>
              <a:srgbClr val="B7B0A4"/>
            </a:solidFill>
            <a:prstDash val="solid"/>
          </a:ln>
        </p:spPr>
      </p:sp>
      <p:sp>
        <p:nvSpPr>
          <p:cNvPr id="115" name="Shape 113"/>
          <p:cNvSpPr/>
          <p:nvPr/>
        </p:nvSpPr>
        <p:spPr>
          <a:xfrm>
            <a:off x="3898900" y="7972425"/>
            <a:ext cx="1422400" cy="6350"/>
          </a:xfrm>
          <a:prstGeom prst="rect">
            <a:avLst/>
          </a:prstGeom>
          <a:solidFill>
            <a:srgbClr val="B7B0A4"/>
          </a:solidFill>
          <a:ln w="12700">
            <a:solidFill>
              <a:srgbClr val="B7B0A4"/>
            </a:solidFill>
            <a:prstDash val="solid"/>
          </a:ln>
        </p:spPr>
      </p:sp>
      <p:sp>
        <p:nvSpPr>
          <p:cNvPr id="116" name="Shape 114"/>
          <p:cNvSpPr/>
          <p:nvPr/>
        </p:nvSpPr>
        <p:spPr>
          <a:xfrm>
            <a:off x="3898900" y="7785100"/>
            <a:ext cx="236118" cy="25400"/>
          </a:xfrm>
          <a:prstGeom prst="rect">
            <a:avLst/>
          </a:prstGeom>
          <a:solidFill>
            <a:srgbClr val="514E48"/>
          </a:solidFill>
          <a:ln w="12700">
            <a:solidFill>
              <a:srgbClr val="514E48"/>
            </a:solidFill>
            <a:prstDash val="solid"/>
          </a:ln>
        </p:spPr>
      </p:sp>
      <p:sp>
        <p:nvSpPr>
          <p:cNvPr id="117" name="Shape 115"/>
          <p:cNvSpPr/>
          <p:nvPr/>
        </p:nvSpPr>
        <p:spPr>
          <a:xfrm>
            <a:off x="3898900" y="7950200"/>
            <a:ext cx="265989" cy="50800"/>
          </a:xfrm>
          <a:prstGeom prst="rect">
            <a:avLst/>
          </a:prstGeom>
          <a:solidFill>
            <a:srgbClr val="A63A3A"/>
          </a:solidFill>
          <a:ln w="12700">
            <a:solidFill>
              <a:srgbClr val="A63A3A"/>
            </a:solidFill>
            <a:prstDash val="solid"/>
          </a:ln>
        </p:spPr>
      </p:sp>
      <p:sp>
        <p:nvSpPr>
          <p:cNvPr id="118" name="Text 116"/>
          <p:cNvSpPr/>
          <p:nvPr/>
        </p:nvSpPr>
        <p:spPr>
          <a:xfrm>
            <a:off x="3898900" y="81280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16.6 → 18.7%</a:t>
            </a:r>
            <a:endParaRPr lang="en-US" sz="850" dirty="0"/>
          </a:p>
        </p:txBody>
      </p:sp>
      <p:sp>
        <p:nvSpPr>
          <p:cNvPr id="119" name="Shape 117"/>
          <p:cNvSpPr/>
          <p:nvPr/>
        </p:nvSpPr>
        <p:spPr>
          <a:xfrm>
            <a:off x="5588000" y="7794625"/>
            <a:ext cx="1422400" cy="6350"/>
          </a:xfrm>
          <a:prstGeom prst="rect">
            <a:avLst/>
          </a:prstGeom>
          <a:solidFill>
            <a:srgbClr val="B7B0A4"/>
          </a:solidFill>
          <a:ln w="12700">
            <a:solidFill>
              <a:srgbClr val="B7B0A4"/>
            </a:solidFill>
            <a:prstDash val="solid"/>
          </a:ln>
        </p:spPr>
      </p:sp>
      <p:sp>
        <p:nvSpPr>
          <p:cNvPr id="120" name="Shape 118"/>
          <p:cNvSpPr/>
          <p:nvPr/>
        </p:nvSpPr>
        <p:spPr>
          <a:xfrm>
            <a:off x="5588000" y="7972425"/>
            <a:ext cx="1422400" cy="6350"/>
          </a:xfrm>
          <a:prstGeom prst="rect">
            <a:avLst/>
          </a:prstGeom>
          <a:solidFill>
            <a:srgbClr val="B7B0A4"/>
          </a:solidFill>
          <a:ln w="12700">
            <a:solidFill>
              <a:srgbClr val="B7B0A4"/>
            </a:solidFill>
            <a:prstDash val="solid"/>
          </a:ln>
        </p:spPr>
      </p:sp>
      <p:sp>
        <p:nvSpPr>
          <p:cNvPr id="121" name="Shape 119"/>
          <p:cNvSpPr/>
          <p:nvPr/>
        </p:nvSpPr>
        <p:spPr>
          <a:xfrm>
            <a:off x="5588000" y="7785100"/>
            <a:ext cx="559003" cy="25400"/>
          </a:xfrm>
          <a:prstGeom prst="rect">
            <a:avLst/>
          </a:prstGeom>
          <a:solidFill>
            <a:srgbClr val="514E48"/>
          </a:solidFill>
          <a:ln w="12700">
            <a:solidFill>
              <a:srgbClr val="514E48"/>
            </a:solidFill>
            <a:prstDash val="solid"/>
          </a:ln>
        </p:spPr>
      </p:sp>
      <p:sp>
        <p:nvSpPr>
          <p:cNvPr id="122" name="Shape 120"/>
          <p:cNvSpPr/>
          <p:nvPr/>
        </p:nvSpPr>
        <p:spPr>
          <a:xfrm>
            <a:off x="5588000" y="7950200"/>
            <a:ext cx="807923" cy="50800"/>
          </a:xfrm>
          <a:prstGeom prst="rect">
            <a:avLst/>
          </a:prstGeom>
          <a:solidFill>
            <a:srgbClr val="A63A3A"/>
          </a:solidFill>
          <a:ln w="12700">
            <a:solidFill>
              <a:srgbClr val="A63A3A"/>
            </a:solidFill>
            <a:prstDash val="solid"/>
          </a:ln>
        </p:spPr>
      </p:sp>
      <p:sp>
        <p:nvSpPr>
          <p:cNvPr id="123" name="Text 121"/>
          <p:cNvSpPr/>
          <p:nvPr/>
        </p:nvSpPr>
        <p:spPr>
          <a:xfrm>
            <a:off x="5588000" y="8128000"/>
            <a:ext cx="14224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39.3 → 56.8%</a:t>
            </a:r>
            <a:endParaRPr lang="en-US" sz="850" dirty="0"/>
          </a:p>
        </p:txBody>
      </p:sp>
      <p:sp>
        <p:nvSpPr>
          <p:cNvPr id="124" name="Text 122"/>
          <p:cNvSpPr/>
          <p:nvPr/>
        </p:nvSpPr>
        <p:spPr>
          <a:xfrm>
            <a:off x="457200" y="8572500"/>
            <a:ext cx="6642100" cy="3048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 Industry includes mining, construction and utilities. 1991 is the visible proxy for 1990. 2020 is the pandemic year.</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INCOME</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The numbers. Country by country.</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GDP per capita means economic output per person—not total national GDP or a share of GDP.</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Not a purchasing-power comparison or a measure of inequality. † Malaysia 1960 is a retrospective territorial series. 2020 is the pandemic year.</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10</a:t>
            </a:r>
            <a:endParaRPr lang="en-US" sz="1000" dirty="0"/>
          </a:p>
        </p:txBody>
      </p:sp>
      <p:sp>
        <p:nvSpPr>
          <p:cNvPr id="12" name="Text 10"/>
          <p:cNvSpPr/>
          <p:nvPr/>
        </p:nvSpPr>
        <p:spPr>
          <a:xfrm>
            <a:off x="2044700" y="3098800"/>
            <a:ext cx="1270000" cy="571500"/>
          </a:xfrm>
          <a:prstGeom prst="rect">
            <a:avLst/>
          </a:prstGeom>
          <a:noFill/>
          <a:ln/>
        </p:spPr>
        <p:txBody>
          <a:bodyPr wrap="square" lIns="0" tIns="0" rIns="0" bIns="0" rtlCol="0" anchor="t"/>
          <a:lstStyle/>
          <a:p>
            <a:pPr algn="ctr" indent="0" marL="0">
              <a:lnSpc>
                <a:spcPct val="112000"/>
              </a:lnSpc>
              <a:buNone/>
            </a:pPr>
            <a:r>
              <a:rPr lang="en-US" sz="2400" b="1" dirty="0">
                <a:solidFill>
                  <a:srgbClr val="252525"/>
                </a:solidFill>
                <a:latin typeface="Alegreya" pitchFamily="34" charset="0"/>
                <a:ea typeface="Alegreya" pitchFamily="34" charset="-122"/>
                <a:cs typeface="Alegreya" pitchFamily="34" charset="-120"/>
              </a:rPr>
              <a:t>1960</a:t>
            </a:r>
            <a:endParaRPr lang="en-US" sz="2400" dirty="0"/>
          </a:p>
        </p:txBody>
      </p:sp>
      <p:sp>
        <p:nvSpPr>
          <p:cNvPr id="13" name="Text 11"/>
          <p:cNvSpPr/>
          <p:nvPr/>
        </p:nvSpPr>
        <p:spPr>
          <a:xfrm>
            <a:off x="3848100" y="3098800"/>
            <a:ext cx="1270000" cy="571500"/>
          </a:xfrm>
          <a:prstGeom prst="rect">
            <a:avLst/>
          </a:prstGeom>
          <a:noFill/>
          <a:ln/>
        </p:spPr>
        <p:txBody>
          <a:bodyPr wrap="square" lIns="0" tIns="0" rIns="0" bIns="0" rtlCol="0" anchor="t"/>
          <a:lstStyle/>
          <a:p>
            <a:pPr algn="ctr" indent="0" marL="0">
              <a:lnSpc>
                <a:spcPct val="112000"/>
              </a:lnSpc>
              <a:buNone/>
            </a:pPr>
            <a:r>
              <a:rPr lang="en-US" sz="2400" b="1" dirty="0">
                <a:solidFill>
                  <a:srgbClr val="252525"/>
                </a:solidFill>
                <a:latin typeface="Alegreya" pitchFamily="34" charset="0"/>
                <a:ea typeface="Alegreya" pitchFamily="34" charset="-122"/>
                <a:cs typeface="Alegreya" pitchFamily="34" charset="-120"/>
              </a:rPr>
              <a:t>1990</a:t>
            </a:r>
            <a:endParaRPr lang="en-US" sz="2400" dirty="0"/>
          </a:p>
        </p:txBody>
      </p:sp>
      <p:sp>
        <p:nvSpPr>
          <p:cNvPr id="14" name="Text 12"/>
          <p:cNvSpPr/>
          <p:nvPr/>
        </p:nvSpPr>
        <p:spPr>
          <a:xfrm>
            <a:off x="5651500" y="3098800"/>
            <a:ext cx="1270000" cy="571500"/>
          </a:xfrm>
          <a:prstGeom prst="rect">
            <a:avLst/>
          </a:prstGeom>
          <a:noFill/>
          <a:ln/>
        </p:spPr>
        <p:txBody>
          <a:bodyPr wrap="square" lIns="0" tIns="0" rIns="0" bIns="0" rtlCol="0" anchor="t"/>
          <a:lstStyle/>
          <a:p>
            <a:pPr algn="ctr" indent="0" marL="0">
              <a:lnSpc>
                <a:spcPct val="112000"/>
              </a:lnSpc>
              <a:buNone/>
            </a:pPr>
            <a:r>
              <a:rPr lang="en-US" sz="2400" b="1" dirty="0">
                <a:solidFill>
                  <a:srgbClr val="252525"/>
                </a:solidFill>
                <a:latin typeface="Alegreya" pitchFamily="34" charset="0"/>
                <a:ea typeface="Alegreya" pitchFamily="34" charset="-122"/>
                <a:cs typeface="Alegreya" pitchFamily="34" charset="-120"/>
              </a:rPr>
              <a:t>2020</a:t>
            </a:r>
            <a:endParaRPr lang="en-US" sz="2400" dirty="0"/>
          </a:p>
        </p:txBody>
      </p:sp>
      <p:sp>
        <p:nvSpPr>
          <p:cNvPr id="15" name="Shape 13"/>
          <p:cNvSpPr/>
          <p:nvPr/>
        </p:nvSpPr>
        <p:spPr>
          <a:xfrm>
            <a:off x="457200" y="4064000"/>
            <a:ext cx="127000" cy="127000"/>
          </a:xfrm>
          <a:prstGeom prst="ellipse">
            <a:avLst/>
          </a:prstGeom>
          <a:solidFill>
            <a:srgbClr val="B95332"/>
          </a:solidFill>
          <a:ln w="7620">
            <a:solidFill>
              <a:srgbClr val="252525"/>
            </a:solidFill>
            <a:prstDash val="solid"/>
          </a:ln>
        </p:spPr>
      </p:sp>
      <p:sp>
        <p:nvSpPr>
          <p:cNvPr id="16" name="Text 14"/>
          <p:cNvSpPr/>
          <p:nvPr/>
        </p:nvSpPr>
        <p:spPr>
          <a:xfrm>
            <a:off x="711200" y="4013200"/>
            <a:ext cx="17018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17" name="Text 15"/>
          <p:cNvSpPr/>
          <p:nvPr/>
        </p:nvSpPr>
        <p:spPr>
          <a:xfrm>
            <a:off x="2044700" y="39878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B95332"/>
                </a:solidFill>
                <a:latin typeface="Montserrat" pitchFamily="34" charset="0"/>
                <a:ea typeface="Montserrat" pitchFamily="34" charset="-122"/>
                <a:cs typeface="Montserrat" pitchFamily="34" charset="-120"/>
              </a:rPr>
              <a:t>1,101</a:t>
            </a:r>
            <a:endParaRPr lang="en-US" sz="1900" dirty="0"/>
          </a:p>
        </p:txBody>
      </p:sp>
      <p:sp>
        <p:nvSpPr>
          <p:cNvPr id="18" name="Shape 16"/>
          <p:cNvSpPr/>
          <p:nvPr/>
        </p:nvSpPr>
        <p:spPr>
          <a:xfrm>
            <a:off x="2044700" y="4464050"/>
            <a:ext cx="39942" cy="38100"/>
          </a:xfrm>
          <a:prstGeom prst="rect">
            <a:avLst/>
          </a:prstGeom>
          <a:solidFill>
            <a:srgbClr val="B95332"/>
          </a:solidFill>
          <a:ln w="12700">
            <a:solidFill>
              <a:srgbClr val="B95332"/>
            </a:solidFill>
            <a:prstDash val="solid"/>
          </a:ln>
        </p:spPr>
      </p:sp>
      <p:sp>
        <p:nvSpPr>
          <p:cNvPr id="19" name="Text 17"/>
          <p:cNvSpPr/>
          <p:nvPr/>
        </p:nvSpPr>
        <p:spPr>
          <a:xfrm>
            <a:off x="3848100" y="39878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B95332"/>
                </a:solidFill>
                <a:latin typeface="Montserrat" pitchFamily="34" charset="0"/>
                <a:ea typeface="Montserrat" pitchFamily="34" charset="-122"/>
                <a:cs typeface="Montserrat" pitchFamily="34" charset="-120"/>
              </a:rPr>
              <a:t>856</a:t>
            </a:r>
            <a:endParaRPr lang="en-US" sz="1900" dirty="0"/>
          </a:p>
        </p:txBody>
      </p:sp>
      <p:sp>
        <p:nvSpPr>
          <p:cNvPr id="20" name="Shape 18"/>
          <p:cNvSpPr/>
          <p:nvPr/>
        </p:nvSpPr>
        <p:spPr>
          <a:xfrm>
            <a:off x="3848100" y="4464050"/>
            <a:ext cx="31055" cy="38100"/>
          </a:xfrm>
          <a:prstGeom prst="rect">
            <a:avLst/>
          </a:prstGeom>
          <a:solidFill>
            <a:srgbClr val="B95332"/>
          </a:solidFill>
          <a:ln w="12700">
            <a:solidFill>
              <a:srgbClr val="B95332"/>
            </a:solidFill>
            <a:prstDash val="solid"/>
          </a:ln>
        </p:spPr>
      </p:sp>
      <p:sp>
        <p:nvSpPr>
          <p:cNvPr id="21" name="Text 19"/>
          <p:cNvSpPr/>
          <p:nvPr/>
        </p:nvSpPr>
        <p:spPr>
          <a:xfrm>
            <a:off x="5651500" y="39878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B95332"/>
                </a:solidFill>
                <a:latin typeface="Montserrat" pitchFamily="34" charset="0"/>
                <a:ea typeface="Montserrat" pitchFamily="34" charset="-122"/>
                <a:cs typeface="Montserrat" pitchFamily="34" charset="-120"/>
              </a:rPr>
              <a:t>1,970</a:t>
            </a:r>
            <a:endParaRPr lang="en-US" sz="1900" dirty="0"/>
          </a:p>
        </p:txBody>
      </p:sp>
      <p:sp>
        <p:nvSpPr>
          <p:cNvPr id="22" name="Shape 20"/>
          <p:cNvSpPr/>
          <p:nvPr/>
        </p:nvSpPr>
        <p:spPr>
          <a:xfrm>
            <a:off x="5651500" y="4464050"/>
            <a:ext cx="71490" cy="38100"/>
          </a:xfrm>
          <a:prstGeom prst="rect">
            <a:avLst/>
          </a:prstGeom>
          <a:solidFill>
            <a:srgbClr val="B95332"/>
          </a:solidFill>
          <a:ln w="12700">
            <a:solidFill>
              <a:srgbClr val="B95332"/>
            </a:solidFill>
            <a:prstDash val="solid"/>
          </a:ln>
        </p:spPr>
      </p:sp>
      <p:sp>
        <p:nvSpPr>
          <p:cNvPr id="23" name="Shape 21"/>
          <p:cNvSpPr/>
          <p:nvPr/>
        </p:nvSpPr>
        <p:spPr>
          <a:xfrm>
            <a:off x="457200" y="4619625"/>
            <a:ext cx="6642100" cy="6350"/>
          </a:xfrm>
          <a:prstGeom prst="rect">
            <a:avLst/>
          </a:prstGeom>
          <a:solidFill>
            <a:srgbClr val="B7B0A4"/>
          </a:solidFill>
          <a:ln w="12700">
            <a:solidFill>
              <a:srgbClr val="B7B0A4"/>
            </a:solidFill>
            <a:prstDash val="solid"/>
          </a:ln>
        </p:spPr>
      </p:sp>
      <p:sp>
        <p:nvSpPr>
          <p:cNvPr id="24" name="Shape 22"/>
          <p:cNvSpPr/>
          <p:nvPr/>
        </p:nvSpPr>
        <p:spPr>
          <a:xfrm>
            <a:off x="457200" y="4800600"/>
            <a:ext cx="127000" cy="127000"/>
          </a:xfrm>
          <a:prstGeom prst="rect">
            <a:avLst/>
          </a:prstGeom>
          <a:solidFill>
            <a:srgbClr val="3F684E"/>
          </a:solidFill>
          <a:ln w="7620">
            <a:solidFill>
              <a:srgbClr val="252525"/>
            </a:solidFill>
            <a:prstDash val="solid"/>
          </a:ln>
        </p:spPr>
      </p:sp>
      <p:sp>
        <p:nvSpPr>
          <p:cNvPr id="25" name="Text 23"/>
          <p:cNvSpPr/>
          <p:nvPr/>
        </p:nvSpPr>
        <p:spPr>
          <a:xfrm>
            <a:off x="711200" y="4749800"/>
            <a:ext cx="17018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26" name="Text 24"/>
          <p:cNvSpPr/>
          <p:nvPr/>
        </p:nvSpPr>
        <p:spPr>
          <a:xfrm>
            <a:off x="2044700" y="47244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3F684E"/>
                </a:solidFill>
                <a:latin typeface="Montserrat" pitchFamily="34" charset="0"/>
                <a:ea typeface="Montserrat" pitchFamily="34" charset="-122"/>
                <a:cs typeface="Montserrat" pitchFamily="34" charset="-120"/>
              </a:rPr>
              <a:t>394</a:t>
            </a:r>
            <a:endParaRPr lang="en-US" sz="1900" dirty="0"/>
          </a:p>
        </p:txBody>
      </p:sp>
      <p:sp>
        <p:nvSpPr>
          <p:cNvPr id="27" name="Shape 25"/>
          <p:cNvSpPr/>
          <p:nvPr/>
        </p:nvSpPr>
        <p:spPr>
          <a:xfrm>
            <a:off x="2044700" y="5200650"/>
            <a:ext cx="14292" cy="38100"/>
          </a:xfrm>
          <a:prstGeom prst="rect">
            <a:avLst/>
          </a:prstGeom>
          <a:solidFill>
            <a:srgbClr val="3F684E"/>
          </a:solidFill>
          <a:ln w="12700">
            <a:solidFill>
              <a:srgbClr val="3F684E"/>
            </a:solidFill>
            <a:prstDash val="solid"/>
          </a:ln>
        </p:spPr>
      </p:sp>
      <p:sp>
        <p:nvSpPr>
          <p:cNvPr id="28" name="Text 26"/>
          <p:cNvSpPr/>
          <p:nvPr/>
        </p:nvSpPr>
        <p:spPr>
          <a:xfrm>
            <a:off x="3848100" y="47244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3F684E"/>
                </a:solidFill>
                <a:latin typeface="Montserrat" pitchFamily="34" charset="0"/>
                <a:ea typeface="Montserrat" pitchFamily="34" charset="-122"/>
                <a:cs typeface="Montserrat" pitchFamily="34" charset="-120"/>
              </a:rPr>
              <a:t>4,039</a:t>
            </a:r>
            <a:endParaRPr lang="en-US" sz="1900" dirty="0"/>
          </a:p>
        </p:txBody>
      </p:sp>
      <p:sp>
        <p:nvSpPr>
          <p:cNvPr id="29" name="Shape 27"/>
          <p:cNvSpPr/>
          <p:nvPr/>
        </p:nvSpPr>
        <p:spPr>
          <a:xfrm>
            <a:off x="3848100" y="5200650"/>
            <a:ext cx="146575" cy="38100"/>
          </a:xfrm>
          <a:prstGeom prst="rect">
            <a:avLst/>
          </a:prstGeom>
          <a:solidFill>
            <a:srgbClr val="3F684E"/>
          </a:solidFill>
          <a:ln w="12700">
            <a:solidFill>
              <a:srgbClr val="3F684E"/>
            </a:solidFill>
            <a:prstDash val="solid"/>
          </a:ln>
        </p:spPr>
      </p:sp>
      <p:sp>
        <p:nvSpPr>
          <p:cNvPr id="30" name="Text 28"/>
          <p:cNvSpPr/>
          <p:nvPr/>
        </p:nvSpPr>
        <p:spPr>
          <a:xfrm>
            <a:off x="5651500" y="47244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3F684E"/>
                </a:solidFill>
                <a:latin typeface="Montserrat" pitchFamily="34" charset="0"/>
                <a:ea typeface="Montserrat" pitchFamily="34" charset="-122"/>
                <a:cs typeface="Montserrat" pitchFamily="34" charset="-120"/>
              </a:rPr>
              <a:t>6,254</a:t>
            </a:r>
            <a:endParaRPr lang="en-US" sz="1900" dirty="0"/>
          </a:p>
        </p:txBody>
      </p:sp>
      <p:sp>
        <p:nvSpPr>
          <p:cNvPr id="31" name="Shape 29"/>
          <p:cNvSpPr/>
          <p:nvPr/>
        </p:nvSpPr>
        <p:spPr>
          <a:xfrm>
            <a:off x="5651500" y="5200650"/>
            <a:ext cx="226940" cy="38100"/>
          </a:xfrm>
          <a:prstGeom prst="rect">
            <a:avLst/>
          </a:prstGeom>
          <a:solidFill>
            <a:srgbClr val="3F684E"/>
          </a:solidFill>
          <a:ln w="12700">
            <a:solidFill>
              <a:srgbClr val="3F684E"/>
            </a:solidFill>
            <a:prstDash val="solid"/>
          </a:ln>
        </p:spPr>
      </p:sp>
      <p:sp>
        <p:nvSpPr>
          <p:cNvPr id="32" name="Shape 30"/>
          <p:cNvSpPr/>
          <p:nvPr/>
        </p:nvSpPr>
        <p:spPr>
          <a:xfrm>
            <a:off x="457200" y="5356225"/>
            <a:ext cx="6642100" cy="6350"/>
          </a:xfrm>
          <a:prstGeom prst="rect">
            <a:avLst/>
          </a:prstGeom>
          <a:solidFill>
            <a:srgbClr val="B7B0A4"/>
          </a:solidFill>
          <a:ln w="12700">
            <a:solidFill>
              <a:srgbClr val="B7B0A4"/>
            </a:solidFill>
            <a:prstDash val="solid"/>
          </a:ln>
        </p:spPr>
      </p:sp>
      <p:sp>
        <p:nvSpPr>
          <p:cNvPr id="33" name="Shape 31"/>
          <p:cNvSpPr/>
          <p:nvPr/>
        </p:nvSpPr>
        <p:spPr>
          <a:xfrm>
            <a:off x="457200" y="5537200"/>
            <a:ext cx="127000" cy="127000"/>
          </a:xfrm>
          <a:prstGeom prst="triangle">
            <a:avLst/>
          </a:prstGeom>
          <a:solidFill>
            <a:srgbClr val="D6A23A"/>
          </a:solidFill>
          <a:ln w="7620">
            <a:solidFill>
              <a:srgbClr val="252525"/>
            </a:solidFill>
            <a:prstDash val="solid"/>
          </a:ln>
        </p:spPr>
      </p:sp>
      <p:sp>
        <p:nvSpPr>
          <p:cNvPr id="34" name="Text 32"/>
          <p:cNvSpPr/>
          <p:nvPr/>
        </p:nvSpPr>
        <p:spPr>
          <a:xfrm>
            <a:off x="711200" y="5486400"/>
            <a:ext cx="17018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35" name="Text 33"/>
          <p:cNvSpPr/>
          <p:nvPr/>
        </p:nvSpPr>
        <p:spPr>
          <a:xfrm>
            <a:off x="2044700" y="54610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252525"/>
                </a:solidFill>
                <a:latin typeface="Montserrat" pitchFamily="34" charset="0"/>
                <a:ea typeface="Montserrat" pitchFamily="34" charset="-122"/>
                <a:cs typeface="Montserrat" pitchFamily="34" charset="-120"/>
              </a:rPr>
              <a:t>1,419</a:t>
            </a:r>
            <a:endParaRPr lang="en-US" sz="1900" dirty="0"/>
          </a:p>
        </p:txBody>
      </p:sp>
      <p:sp>
        <p:nvSpPr>
          <p:cNvPr id="36" name="Shape 34"/>
          <p:cNvSpPr/>
          <p:nvPr/>
        </p:nvSpPr>
        <p:spPr>
          <a:xfrm>
            <a:off x="2044700" y="5918200"/>
            <a:ext cx="51504" cy="76200"/>
          </a:xfrm>
          <a:prstGeom prst="rect">
            <a:avLst/>
          </a:prstGeom>
          <a:solidFill>
            <a:srgbClr val="252525"/>
          </a:solidFill>
          <a:ln w="12700">
            <a:solidFill>
              <a:srgbClr val="252525"/>
            </a:solidFill>
            <a:prstDash val="solid"/>
          </a:ln>
        </p:spPr>
      </p:sp>
      <p:sp>
        <p:nvSpPr>
          <p:cNvPr id="37" name="Shape 35"/>
          <p:cNvSpPr/>
          <p:nvPr/>
        </p:nvSpPr>
        <p:spPr>
          <a:xfrm>
            <a:off x="2044700" y="5937250"/>
            <a:ext cx="51504" cy="38100"/>
          </a:xfrm>
          <a:prstGeom prst="rect">
            <a:avLst/>
          </a:prstGeom>
          <a:solidFill>
            <a:srgbClr val="D6A23A"/>
          </a:solidFill>
          <a:ln w="12700">
            <a:solidFill>
              <a:srgbClr val="D6A23A"/>
            </a:solidFill>
            <a:prstDash val="solid"/>
          </a:ln>
        </p:spPr>
      </p:sp>
      <p:sp>
        <p:nvSpPr>
          <p:cNvPr id="38" name="Text 36"/>
          <p:cNvSpPr/>
          <p:nvPr/>
        </p:nvSpPr>
        <p:spPr>
          <a:xfrm>
            <a:off x="3848100" y="54610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252525"/>
                </a:solidFill>
                <a:latin typeface="Montserrat" pitchFamily="34" charset="0"/>
                <a:ea typeface="Montserrat" pitchFamily="34" charset="-122"/>
                <a:cs typeface="Montserrat" pitchFamily="34" charset="-120"/>
              </a:rPr>
              <a:t>3,846</a:t>
            </a:r>
            <a:endParaRPr lang="en-US" sz="1900" dirty="0"/>
          </a:p>
        </p:txBody>
      </p:sp>
      <p:sp>
        <p:nvSpPr>
          <p:cNvPr id="39" name="Shape 37"/>
          <p:cNvSpPr/>
          <p:nvPr/>
        </p:nvSpPr>
        <p:spPr>
          <a:xfrm>
            <a:off x="3848100" y="5918200"/>
            <a:ext cx="139570" cy="76200"/>
          </a:xfrm>
          <a:prstGeom prst="rect">
            <a:avLst/>
          </a:prstGeom>
          <a:solidFill>
            <a:srgbClr val="252525"/>
          </a:solidFill>
          <a:ln w="12700">
            <a:solidFill>
              <a:srgbClr val="252525"/>
            </a:solidFill>
            <a:prstDash val="solid"/>
          </a:ln>
        </p:spPr>
      </p:sp>
      <p:sp>
        <p:nvSpPr>
          <p:cNvPr id="40" name="Shape 38"/>
          <p:cNvSpPr/>
          <p:nvPr/>
        </p:nvSpPr>
        <p:spPr>
          <a:xfrm>
            <a:off x="3848100" y="5937250"/>
            <a:ext cx="139570" cy="38100"/>
          </a:xfrm>
          <a:prstGeom prst="rect">
            <a:avLst/>
          </a:prstGeom>
          <a:solidFill>
            <a:srgbClr val="D6A23A"/>
          </a:solidFill>
          <a:ln w="12700">
            <a:solidFill>
              <a:srgbClr val="D6A23A"/>
            </a:solidFill>
            <a:prstDash val="solid"/>
          </a:ln>
        </p:spPr>
      </p:sp>
      <p:sp>
        <p:nvSpPr>
          <p:cNvPr id="41" name="Text 39"/>
          <p:cNvSpPr/>
          <p:nvPr/>
        </p:nvSpPr>
        <p:spPr>
          <a:xfrm>
            <a:off x="5651500" y="54610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252525"/>
                </a:solidFill>
                <a:latin typeface="Montserrat" pitchFamily="34" charset="0"/>
                <a:ea typeface="Montserrat" pitchFamily="34" charset="-122"/>
                <a:cs typeface="Montserrat" pitchFamily="34" charset="-120"/>
              </a:rPr>
              <a:t>9,534</a:t>
            </a:r>
            <a:endParaRPr lang="en-US" sz="1900" dirty="0"/>
          </a:p>
        </p:txBody>
      </p:sp>
      <p:sp>
        <p:nvSpPr>
          <p:cNvPr id="42" name="Shape 40"/>
          <p:cNvSpPr/>
          <p:nvPr/>
        </p:nvSpPr>
        <p:spPr>
          <a:xfrm>
            <a:off x="5651500" y="5918200"/>
            <a:ext cx="345933" cy="76200"/>
          </a:xfrm>
          <a:prstGeom prst="rect">
            <a:avLst/>
          </a:prstGeom>
          <a:solidFill>
            <a:srgbClr val="252525"/>
          </a:solidFill>
          <a:ln w="12700">
            <a:solidFill>
              <a:srgbClr val="252525"/>
            </a:solidFill>
            <a:prstDash val="solid"/>
          </a:ln>
        </p:spPr>
      </p:sp>
      <p:sp>
        <p:nvSpPr>
          <p:cNvPr id="43" name="Shape 41"/>
          <p:cNvSpPr/>
          <p:nvPr/>
        </p:nvSpPr>
        <p:spPr>
          <a:xfrm>
            <a:off x="5651500" y="5937250"/>
            <a:ext cx="345933" cy="38100"/>
          </a:xfrm>
          <a:prstGeom prst="rect">
            <a:avLst/>
          </a:prstGeom>
          <a:solidFill>
            <a:srgbClr val="D6A23A"/>
          </a:solidFill>
          <a:ln w="12700">
            <a:solidFill>
              <a:srgbClr val="D6A23A"/>
            </a:solidFill>
            <a:prstDash val="solid"/>
          </a:ln>
        </p:spPr>
      </p:sp>
      <p:sp>
        <p:nvSpPr>
          <p:cNvPr id="44" name="Shape 42"/>
          <p:cNvSpPr/>
          <p:nvPr/>
        </p:nvSpPr>
        <p:spPr>
          <a:xfrm>
            <a:off x="457200" y="6092825"/>
            <a:ext cx="6642100" cy="6350"/>
          </a:xfrm>
          <a:prstGeom prst="rect">
            <a:avLst/>
          </a:prstGeom>
          <a:solidFill>
            <a:srgbClr val="B7B0A4"/>
          </a:solidFill>
          <a:ln w="12700">
            <a:solidFill>
              <a:srgbClr val="B7B0A4"/>
            </a:solidFill>
            <a:prstDash val="solid"/>
          </a:ln>
        </p:spPr>
      </p:sp>
      <p:sp>
        <p:nvSpPr>
          <p:cNvPr id="45" name="Shape 43"/>
          <p:cNvSpPr/>
          <p:nvPr/>
        </p:nvSpPr>
        <p:spPr>
          <a:xfrm>
            <a:off x="457200" y="6273800"/>
            <a:ext cx="127000" cy="127000"/>
          </a:xfrm>
          <a:prstGeom prst="diamond">
            <a:avLst/>
          </a:prstGeom>
          <a:solidFill>
            <a:srgbClr val="315A78"/>
          </a:solidFill>
          <a:ln w="7620">
            <a:solidFill>
              <a:srgbClr val="252525"/>
            </a:solidFill>
            <a:prstDash val="solid"/>
          </a:ln>
        </p:spPr>
      </p:sp>
      <p:sp>
        <p:nvSpPr>
          <p:cNvPr id="46" name="Text 44"/>
          <p:cNvSpPr/>
          <p:nvPr/>
        </p:nvSpPr>
        <p:spPr>
          <a:xfrm>
            <a:off x="711200" y="6223000"/>
            <a:ext cx="17018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47" name="Text 45"/>
          <p:cNvSpPr/>
          <p:nvPr/>
        </p:nvSpPr>
        <p:spPr>
          <a:xfrm>
            <a:off x="2044700" y="61976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315A78"/>
                </a:solidFill>
                <a:latin typeface="Montserrat" pitchFamily="34" charset="0"/>
                <a:ea typeface="Montserrat" pitchFamily="34" charset="-122"/>
                <a:cs typeface="Montserrat" pitchFamily="34" charset="-120"/>
              </a:rPr>
              <a:t>1,038</a:t>
            </a:r>
            <a:endParaRPr lang="en-US" sz="1900" dirty="0"/>
          </a:p>
        </p:txBody>
      </p:sp>
      <p:sp>
        <p:nvSpPr>
          <p:cNvPr id="48" name="Shape 46"/>
          <p:cNvSpPr/>
          <p:nvPr/>
        </p:nvSpPr>
        <p:spPr>
          <a:xfrm>
            <a:off x="2044700" y="6673850"/>
            <a:ext cx="37655" cy="38100"/>
          </a:xfrm>
          <a:prstGeom prst="rect">
            <a:avLst/>
          </a:prstGeom>
          <a:solidFill>
            <a:srgbClr val="315A78"/>
          </a:solidFill>
          <a:ln w="12700">
            <a:solidFill>
              <a:srgbClr val="315A78"/>
            </a:solidFill>
            <a:prstDash val="solid"/>
          </a:ln>
        </p:spPr>
      </p:sp>
      <p:sp>
        <p:nvSpPr>
          <p:cNvPr id="49" name="Text 47"/>
          <p:cNvSpPr/>
          <p:nvPr/>
        </p:nvSpPr>
        <p:spPr>
          <a:xfrm>
            <a:off x="3848100" y="61976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315A78"/>
                </a:solidFill>
                <a:latin typeface="Montserrat" pitchFamily="34" charset="0"/>
                <a:ea typeface="Montserrat" pitchFamily="34" charset="-122"/>
                <a:cs typeface="Montserrat" pitchFamily="34" charset="-120"/>
              </a:rPr>
              <a:t>9,673</a:t>
            </a:r>
            <a:endParaRPr lang="en-US" sz="1900" dirty="0"/>
          </a:p>
        </p:txBody>
      </p:sp>
      <p:sp>
        <p:nvSpPr>
          <p:cNvPr id="50" name="Shape 48"/>
          <p:cNvSpPr/>
          <p:nvPr/>
        </p:nvSpPr>
        <p:spPr>
          <a:xfrm>
            <a:off x="3848100" y="6673850"/>
            <a:ext cx="350976" cy="38100"/>
          </a:xfrm>
          <a:prstGeom prst="rect">
            <a:avLst/>
          </a:prstGeom>
          <a:solidFill>
            <a:srgbClr val="315A78"/>
          </a:solidFill>
          <a:ln w="12700">
            <a:solidFill>
              <a:srgbClr val="315A78"/>
            </a:solidFill>
            <a:prstDash val="solid"/>
          </a:ln>
        </p:spPr>
      </p:sp>
      <p:sp>
        <p:nvSpPr>
          <p:cNvPr id="51" name="Text 49"/>
          <p:cNvSpPr/>
          <p:nvPr/>
        </p:nvSpPr>
        <p:spPr>
          <a:xfrm>
            <a:off x="5651500" y="61976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315A78"/>
                </a:solidFill>
                <a:latin typeface="Montserrat" pitchFamily="34" charset="0"/>
                <a:ea typeface="Montserrat" pitchFamily="34" charset="-122"/>
                <a:cs typeface="Montserrat" pitchFamily="34" charset="-120"/>
              </a:rPr>
              <a:t>33,216</a:t>
            </a:r>
            <a:endParaRPr lang="en-US" sz="1900" dirty="0"/>
          </a:p>
        </p:txBody>
      </p:sp>
      <p:sp>
        <p:nvSpPr>
          <p:cNvPr id="52" name="Shape 50"/>
          <p:cNvSpPr/>
          <p:nvPr/>
        </p:nvSpPr>
        <p:spPr>
          <a:xfrm>
            <a:off x="5651500" y="6673850"/>
            <a:ext cx="1205264" cy="38100"/>
          </a:xfrm>
          <a:prstGeom prst="rect">
            <a:avLst/>
          </a:prstGeom>
          <a:solidFill>
            <a:srgbClr val="315A78"/>
          </a:solidFill>
          <a:ln w="12700">
            <a:solidFill>
              <a:srgbClr val="315A78"/>
            </a:solidFill>
            <a:prstDash val="solid"/>
          </a:ln>
        </p:spPr>
      </p:sp>
      <p:sp>
        <p:nvSpPr>
          <p:cNvPr id="53" name="Shape 51"/>
          <p:cNvSpPr/>
          <p:nvPr/>
        </p:nvSpPr>
        <p:spPr>
          <a:xfrm>
            <a:off x="457200" y="6829425"/>
            <a:ext cx="6642100" cy="6350"/>
          </a:xfrm>
          <a:prstGeom prst="rect">
            <a:avLst/>
          </a:prstGeom>
          <a:solidFill>
            <a:srgbClr val="B7B0A4"/>
          </a:solidFill>
          <a:ln w="12700">
            <a:solidFill>
              <a:srgbClr val="B7B0A4"/>
            </a:solidFill>
            <a:prstDash val="solid"/>
          </a:ln>
        </p:spPr>
      </p:sp>
      <p:sp>
        <p:nvSpPr>
          <p:cNvPr id="54" name="Shape 52"/>
          <p:cNvSpPr/>
          <p:nvPr/>
        </p:nvSpPr>
        <p:spPr>
          <a:xfrm>
            <a:off x="457200" y="7010400"/>
            <a:ext cx="127000" cy="127000"/>
          </a:xfrm>
          <a:prstGeom prst="hexagon">
            <a:avLst/>
          </a:prstGeom>
          <a:solidFill>
            <a:srgbClr val="3E7568"/>
          </a:solidFill>
          <a:ln w="7620">
            <a:solidFill>
              <a:srgbClr val="252525"/>
            </a:solidFill>
            <a:prstDash val="solid"/>
          </a:ln>
        </p:spPr>
      </p:sp>
      <p:sp>
        <p:nvSpPr>
          <p:cNvPr id="55" name="Text 53"/>
          <p:cNvSpPr/>
          <p:nvPr/>
        </p:nvSpPr>
        <p:spPr>
          <a:xfrm>
            <a:off x="711200" y="6959600"/>
            <a:ext cx="17018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56" name="Text 54"/>
          <p:cNvSpPr/>
          <p:nvPr/>
        </p:nvSpPr>
        <p:spPr>
          <a:xfrm>
            <a:off x="2044700" y="69342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3E7568"/>
                </a:solidFill>
                <a:latin typeface="Montserrat" pitchFamily="34" charset="0"/>
                <a:ea typeface="Montserrat" pitchFamily="34" charset="-122"/>
                <a:cs typeface="Montserrat" pitchFamily="34" charset="-120"/>
              </a:rPr>
              <a:t>1,266 †</a:t>
            </a:r>
            <a:endParaRPr lang="en-US" sz="1900" dirty="0"/>
          </a:p>
        </p:txBody>
      </p:sp>
      <p:sp>
        <p:nvSpPr>
          <p:cNvPr id="57" name="Shape 55"/>
          <p:cNvSpPr/>
          <p:nvPr/>
        </p:nvSpPr>
        <p:spPr>
          <a:xfrm>
            <a:off x="2044700" y="7410450"/>
            <a:ext cx="45949" cy="38100"/>
          </a:xfrm>
          <a:prstGeom prst="rect">
            <a:avLst/>
          </a:prstGeom>
          <a:solidFill>
            <a:srgbClr val="3E7568"/>
          </a:solidFill>
          <a:ln w="12700">
            <a:solidFill>
              <a:srgbClr val="3E7568"/>
            </a:solidFill>
            <a:prstDash val="solid"/>
          </a:ln>
        </p:spPr>
      </p:sp>
      <p:sp>
        <p:nvSpPr>
          <p:cNvPr id="58" name="Text 56"/>
          <p:cNvSpPr/>
          <p:nvPr/>
        </p:nvSpPr>
        <p:spPr>
          <a:xfrm>
            <a:off x="3848100" y="69342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3E7568"/>
                </a:solidFill>
                <a:latin typeface="Montserrat" pitchFamily="34" charset="0"/>
                <a:ea typeface="Montserrat" pitchFamily="34" charset="-122"/>
                <a:cs typeface="Montserrat" pitchFamily="34" charset="-120"/>
              </a:rPr>
              <a:t>4,185</a:t>
            </a:r>
            <a:endParaRPr lang="en-US" sz="1900" dirty="0"/>
          </a:p>
        </p:txBody>
      </p:sp>
      <p:sp>
        <p:nvSpPr>
          <p:cNvPr id="59" name="Shape 57"/>
          <p:cNvSpPr/>
          <p:nvPr/>
        </p:nvSpPr>
        <p:spPr>
          <a:xfrm>
            <a:off x="3848100" y="7410450"/>
            <a:ext cx="151847" cy="38100"/>
          </a:xfrm>
          <a:prstGeom prst="rect">
            <a:avLst/>
          </a:prstGeom>
          <a:solidFill>
            <a:srgbClr val="3E7568"/>
          </a:solidFill>
          <a:ln w="12700">
            <a:solidFill>
              <a:srgbClr val="3E7568"/>
            </a:solidFill>
            <a:prstDash val="solid"/>
          </a:ln>
        </p:spPr>
      </p:sp>
      <p:sp>
        <p:nvSpPr>
          <p:cNvPr id="60" name="Text 58"/>
          <p:cNvSpPr/>
          <p:nvPr/>
        </p:nvSpPr>
        <p:spPr>
          <a:xfrm>
            <a:off x="5651500" y="69342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3E7568"/>
                </a:solidFill>
                <a:latin typeface="Montserrat" pitchFamily="34" charset="0"/>
                <a:ea typeface="Montserrat" pitchFamily="34" charset="-122"/>
                <a:cs typeface="Montserrat" pitchFamily="34" charset="-120"/>
              </a:rPr>
              <a:t>10,171</a:t>
            </a:r>
            <a:endParaRPr lang="en-US" sz="1900" dirty="0"/>
          </a:p>
        </p:txBody>
      </p:sp>
      <p:sp>
        <p:nvSpPr>
          <p:cNvPr id="61" name="Shape 59"/>
          <p:cNvSpPr/>
          <p:nvPr/>
        </p:nvSpPr>
        <p:spPr>
          <a:xfrm>
            <a:off x="5651500" y="7410450"/>
            <a:ext cx="369079" cy="38100"/>
          </a:xfrm>
          <a:prstGeom prst="rect">
            <a:avLst/>
          </a:prstGeom>
          <a:solidFill>
            <a:srgbClr val="3E7568"/>
          </a:solidFill>
          <a:ln w="12700">
            <a:solidFill>
              <a:srgbClr val="3E7568"/>
            </a:solidFill>
            <a:prstDash val="solid"/>
          </a:ln>
        </p:spPr>
      </p:sp>
      <p:sp>
        <p:nvSpPr>
          <p:cNvPr id="62" name="Shape 60"/>
          <p:cNvSpPr/>
          <p:nvPr/>
        </p:nvSpPr>
        <p:spPr>
          <a:xfrm>
            <a:off x="457200" y="7566025"/>
            <a:ext cx="6642100" cy="6350"/>
          </a:xfrm>
          <a:prstGeom prst="rect">
            <a:avLst/>
          </a:prstGeom>
          <a:solidFill>
            <a:srgbClr val="B7B0A4"/>
          </a:solidFill>
          <a:ln w="12700">
            <a:solidFill>
              <a:srgbClr val="B7B0A4"/>
            </a:solidFill>
            <a:prstDash val="solid"/>
          </a:ln>
        </p:spPr>
      </p:sp>
      <p:sp>
        <p:nvSpPr>
          <p:cNvPr id="63" name="Shape 61"/>
          <p:cNvSpPr/>
          <p:nvPr/>
        </p:nvSpPr>
        <p:spPr>
          <a:xfrm>
            <a:off x="457200" y="7790180"/>
            <a:ext cx="127000" cy="40640"/>
          </a:xfrm>
          <a:prstGeom prst="rect">
            <a:avLst/>
          </a:prstGeom>
          <a:solidFill>
            <a:srgbClr val="252525"/>
          </a:solidFill>
          <a:ln w="12700">
            <a:solidFill>
              <a:srgbClr val="252525"/>
            </a:solidFill>
            <a:prstDash val="solid"/>
          </a:ln>
        </p:spPr>
      </p:sp>
      <p:sp>
        <p:nvSpPr>
          <p:cNvPr id="64" name="Shape 62"/>
          <p:cNvSpPr/>
          <p:nvPr/>
        </p:nvSpPr>
        <p:spPr>
          <a:xfrm>
            <a:off x="500380" y="7747000"/>
            <a:ext cx="40640" cy="127000"/>
          </a:xfrm>
          <a:prstGeom prst="rect">
            <a:avLst/>
          </a:prstGeom>
          <a:solidFill>
            <a:srgbClr val="252525"/>
          </a:solidFill>
          <a:ln w="12700">
            <a:solidFill>
              <a:srgbClr val="252525"/>
            </a:solidFill>
            <a:prstDash val="solid"/>
          </a:ln>
        </p:spPr>
      </p:sp>
      <p:sp>
        <p:nvSpPr>
          <p:cNvPr id="65" name="Shape 63"/>
          <p:cNvSpPr/>
          <p:nvPr/>
        </p:nvSpPr>
        <p:spPr>
          <a:xfrm>
            <a:off x="457200" y="7799070"/>
            <a:ext cx="127000" cy="22860"/>
          </a:xfrm>
          <a:prstGeom prst="rect">
            <a:avLst/>
          </a:prstGeom>
          <a:solidFill>
            <a:srgbClr val="A63A3A"/>
          </a:solidFill>
          <a:ln w="12700">
            <a:solidFill>
              <a:srgbClr val="A63A3A"/>
            </a:solidFill>
            <a:prstDash val="solid"/>
          </a:ln>
        </p:spPr>
      </p:sp>
      <p:sp>
        <p:nvSpPr>
          <p:cNvPr id="66" name="Shape 64"/>
          <p:cNvSpPr/>
          <p:nvPr/>
        </p:nvSpPr>
        <p:spPr>
          <a:xfrm>
            <a:off x="509270" y="7747000"/>
            <a:ext cx="22860" cy="127000"/>
          </a:xfrm>
          <a:prstGeom prst="rect">
            <a:avLst/>
          </a:prstGeom>
          <a:solidFill>
            <a:srgbClr val="A63A3A"/>
          </a:solidFill>
          <a:ln w="12700">
            <a:solidFill>
              <a:srgbClr val="A63A3A"/>
            </a:solidFill>
            <a:prstDash val="solid"/>
          </a:ln>
        </p:spPr>
      </p:sp>
      <p:sp>
        <p:nvSpPr>
          <p:cNvPr id="67" name="Text 65"/>
          <p:cNvSpPr/>
          <p:nvPr/>
        </p:nvSpPr>
        <p:spPr>
          <a:xfrm>
            <a:off x="711200" y="7696200"/>
            <a:ext cx="17018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68" name="Text 66"/>
          <p:cNvSpPr/>
          <p:nvPr/>
        </p:nvSpPr>
        <p:spPr>
          <a:xfrm>
            <a:off x="2044700" y="76708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A63A3A"/>
                </a:solidFill>
                <a:latin typeface="Montserrat" pitchFamily="34" charset="0"/>
                <a:ea typeface="Montserrat" pitchFamily="34" charset="-122"/>
                <a:cs typeface="Montserrat" pitchFamily="34" charset="-120"/>
              </a:rPr>
              <a:t>1,124</a:t>
            </a:r>
            <a:endParaRPr lang="en-US" sz="1900" dirty="0"/>
          </a:p>
        </p:txBody>
      </p:sp>
      <p:sp>
        <p:nvSpPr>
          <p:cNvPr id="69" name="Shape 67"/>
          <p:cNvSpPr/>
          <p:nvPr/>
        </p:nvSpPr>
        <p:spPr>
          <a:xfrm>
            <a:off x="2044700" y="8147050"/>
            <a:ext cx="40777" cy="38100"/>
          </a:xfrm>
          <a:prstGeom prst="rect">
            <a:avLst/>
          </a:prstGeom>
          <a:solidFill>
            <a:srgbClr val="A63A3A"/>
          </a:solidFill>
          <a:ln w="12700">
            <a:solidFill>
              <a:srgbClr val="A63A3A"/>
            </a:solidFill>
            <a:prstDash val="solid"/>
          </a:ln>
        </p:spPr>
      </p:sp>
      <p:sp>
        <p:nvSpPr>
          <p:cNvPr id="70" name="Text 68"/>
          <p:cNvSpPr/>
          <p:nvPr/>
        </p:nvSpPr>
        <p:spPr>
          <a:xfrm>
            <a:off x="3848100" y="76708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A63A3A"/>
                </a:solidFill>
                <a:latin typeface="Montserrat" pitchFamily="34" charset="0"/>
                <a:ea typeface="Montserrat" pitchFamily="34" charset="-122"/>
                <a:cs typeface="Montserrat" pitchFamily="34" charset="-120"/>
              </a:rPr>
              <a:t>1,704</a:t>
            </a:r>
            <a:endParaRPr lang="en-US" sz="1900" dirty="0"/>
          </a:p>
        </p:txBody>
      </p:sp>
      <p:sp>
        <p:nvSpPr>
          <p:cNvPr id="71" name="Shape 69"/>
          <p:cNvSpPr/>
          <p:nvPr/>
        </p:nvSpPr>
        <p:spPr>
          <a:xfrm>
            <a:off x="3848100" y="8147050"/>
            <a:ext cx="61834" cy="38100"/>
          </a:xfrm>
          <a:prstGeom prst="rect">
            <a:avLst/>
          </a:prstGeom>
          <a:solidFill>
            <a:srgbClr val="A63A3A"/>
          </a:solidFill>
          <a:ln w="12700">
            <a:solidFill>
              <a:srgbClr val="A63A3A"/>
            </a:solidFill>
            <a:prstDash val="solid"/>
          </a:ln>
        </p:spPr>
      </p:sp>
      <p:sp>
        <p:nvSpPr>
          <p:cNvPr id="72" name="Text 70"/>
          <p:cNvSpPr/>
          <p:nvPr/>
        </p:nvSpPr>
        <p:spPr>
          <a:xfrm>
            <a:off x="5651500" y="7670800"/>
            <a:ext cx="1270000" cy="431800"/>
          </a:xfrm>
          <a:prstGeom prst="rect">
            <a:avLst/>
          </a:prstGeom>
          <a:noFill/>
          <a:ln/>
        </p:spPr>
        <p:txBody>
          <a:bodyPr wrap="square" lIns="0" tIns="0" rIns="0" bIns="0" rtlCol="0" anchor="t"/>
          <a:lstStyle/>
          <a:p>
            <a:pPr algn="ctr" indent="0" marL="0">
              <a:lnSpc>
                <a:spcPct val="112000"/>
              </a:lnSpc>
              <a:buNone/>
            </a:pPr>
            <a:r>
              <a:rPr lang="en-US" sz="1900" b="1" dirty="0">
                <a:solidFill>
                  <a:srgbClr val="A63A3A"/>
                </a:solidFill>
                <a:latin typeface="Montserrat" pitchFamily="34" charset="0"/>
                <a:ea typeface="Montserrat" pitchFamily="34" charset="-122"/>
                <a:cs typeface="Montserrat" pitchFamily="34" charset="-120"/>
              </a:rPr>
              <a:t>3,199</a:t>
            </a:r>
            <a:endParaRPr lang="en-US" sz="1900" dirty="0"/>
          </a:p>
        </p:txBody>
      </p:sp>
      <p:sp>
        <p:nvSpPr>
          <p:cNvPr id="73" name="Shape 71"/>
          <p:cNvSpPr/>
          <p:nvPr/>
        </p:nvSpPr>
        <p:spPr>
          <a:xfrm>
            <a:off x="5651500" y="8147050"/>
            <a:ext cx="116066" cy="38100"/>
          </a:xfrm>
          <a:prstGeom prst="rect">
            <a:avLst/>
          </a:prstGeom>
          <a:solidFill>
            <a:srgbClr val="A63A3A"/>
          </a:solidFill>
          <a:ln w="12700">
            <a:solidFill>
              <a:srgbClr val="A63A3A"/>
            </a:solidFill>
            <a:prstDash val="solid"/>
          </a:ln>
        </p:spPr>
      </p:sp>
      <p:sp>
        <p:nvSpPr>
          <p:cNvPr id="74" name="Shape 72"/>
          <p:cNvSpPr/>
          <p:nvPr/>
        </p:nvSpPr>
        <p:spPr>
          <a:xfrm>
            <a:off x="457200" y="8302625"/>
            <a:ext cx="6642100" cy="6350"/>
          </a:xfrm>
          <a:prstGeom prst="rect">
            <a:avLst/>
          </a:prstGeom>
          <a:solidFill>
            <a:srgbClr val="B7B0A4"/>
          </a:solidFill>
          <a:ln w="12700">
            <a:solidFill>
              <a:srgbClr val="B7B0A4"/>
            </a:solidFill>
            <a:prstDash val="solid"/>
          </a:ln>
        </p:spPr>
      </p:sp>
      <p:sp>
        <p:nvSpPr>
          <p:cNvPr id="75" name="Text 73"/>
          <p:cNvSpPr/>
          <p:nvPr/>
        </p:nvSpPr>
        <p:spPr>
          <a:xfrm>
            <a:off x="457200" y="8496300"/>
            <a:ext cx="6642100" cy="3683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US dollars per person, at constant 2015 prices. Mini-bars all run from 0 to US$35,000; use the printed values for the small early-year differences.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LEARNING</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Build. Learn. Improve. Repeat.</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A country needs more than factories. People and firms need the ability to make better things.</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This is a possible learning sequence, not an automatic cycle. Institutions, resources, distribution and access to technology and markets shape every link.</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(1993, pp. 4–7, 20–26, 79–80, 127–130, 159–161); World Bank (2020, pp. 32–33, Box 2 pp. 44–47). Full references: p. 27.</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11</a:t>
            </a:r>
            <a:endParaRPr lang="en-US" sz="1000" dirty="0"/>
          </a:p>
        </p:txBody>
      </p:sp>
      <p:sp>
        <p:nvSpPr>
          <p:cNvPr id="12" name="Shape 10"/>
          <p:cNvSpPr/>
          <p:nvPr/>
        </p:nvSpPr>
        <p:spPr>
          <a:xfrm>
            <a:off x="505823" y="3118757"/>
            <a:ext cx="162560" cy="34834"/>
          </a:xfrm>
          <a:prstGeom prst="line">
            <a:avLst/>
          </a:prstGeom>
          <a:noFill/>
          <a:ln w="20320">
            <a:solidFill>
              <a:srgbClr val="252525"/>
            </a:solidFill>
            <a:prstDash val="solid"/>
          </a:ln>
        </p:spPr>
      </p:sp>
      <p:sp>
        <p:nvSpPr>
          <p:cNvPr id="13" name="Shape 11"/>
          <p:cNvSpPr/>
          <p:nvPr/>
        </p:nvSpPr>
        <p:spPr>
          <a:xfrm flipV="1">
            <a:off x="668383" y="3118757"/>
            <a:ext cx="185783" cy="34834"/>
          </a:xfrm>
          <a:prstGeom prst="line">
            <a:avLst/>
          </a:prstGeom>
          <a:noFill/>
          <a:ln w="20320">
            <a:solidFill>
              <a:srgbClr val="252525"/>
            </a:solidFill>
            <a:prstDash val="solid"/>
          </a:ln>
        </p:spPr>
      </p:sp>
      <p:sp>
        <p:nvSpPr>
          <p:cNvPr id="14" name="Shape 12"/>
          <p:cNvSpPr/>
          <p:nvPr/>
        </p:nvSpPr>
        <p:spPr>
          <a:xfrm>
            <a:off x="495663" y="3118757"/>
            <a:ext cx="20320" cy="278674"/>
          </a:xfrm>
          <a:prstGeom prst="rect">
            <a:avLst/>
          </a:prstGeom>
          <a:solidFill>
            <a:srgbClr val="252525"/>
          </a:solidFill>
          <a:ln w="12700">
            <a:solidFill>
              <a:srgbClr val="252525"/>
            </a:solidFill>
            <a:prstDash val="solid"/>
          </a:ln>
        </p:spPr>
      </p:sp>
      <p:sp>
        <p:nvSpPr>
          <p:cNvPr id="15" name="Shape 13"/>
          <p:cNvSpPr/>
          <p:nvPr/>
        </p:nvSpPr>
        <p:spPr>
          <a:xfrm>
            <a:off x="844006" y="3118757"/>
            <a:ext cx="20320" cy="278674"/>
          </a:xfrm>
          <a:prstGeom prst="rect">
            <a:avLst/>
          </a:prstGeom>
          <a:solidFill>
            <a:srgbClr val="252525"/>
          </a:solidFill>
          <a:ln w="12700">
            <a:solidFill>
              <a:srgbClr val="252525"/>
            </a:solidFill>
            <a:prstDash val="solid"/>
          </a:ln>
        </p:spPr>
      </p:sp>
      <p:sp>
        <p:nvSpPr>
          <p:cNvPr id="16" name="Shape 14"/>
          <p:cNvSpPr/>
          <p:nvPr/>
        </p:nvSpPr>
        <p:spPr>
          <a:xfrm>
            <a:off x="505823" y="3397431"/>
            <a:ext cx="162560" cy="34834"/>
          </a:xfrm>
          <a:prstGeom prst="line">
            <a:avLst/>
          </a:prstGeom>
          <a:noFill/>
          <a:ln w="20320">
            <a:solidFill>
              <a:srgbClr val="252525"/>
            </a:solidFill>
            <a:prstDash val="solid"/>
          </a:ln>
        </p:spPr>
      </p:sp>
      <p:sp>
        <p:nvSpPr>
          <p:cNvPr id="17" name="Shape 15"/>
          <p:cNvSpPr/>
          <p:nvPr/>
        </p:nvSpPr>
        <p:spPr>
          <a:xfrm flipV="1">
            <a:off x="668383" y="3397431"/>
            <a:ext cx="185783" cy="34834"/>
          </a:xfrm>
          <a:prstGeom prst="line">
            <a:avLst/>
          </a:prstGeom>
          <a:noFill/>
          <a:ln w="20320">
            <a:solidFill>
              <a:srgbClr val="252525"/>
            </a:solidFill>
            <a:prstDash val="solid"/>
          </a:ln>
        </p:spPr>
      </p:sp>
      <p:sp>
        <p:nvSpPr>
          <p:cNvPr id="18" name="Shape 16"/>
          <p:cNvSpPr/>
          <p:nvPr/>
        </p:nvSpPr>
        <p:spPr>
          <a:xfrm>
            <a:off x="658223" y="3153591"/>
            <a:ext cx="20320" cy="278674"/>
          </a:xfrm>
          <a:prstGeom prst="rect">
            <a:avLst/>
          </a:prstGeom>
          <a:solidFill>
            <a:srgbClr val="252525"/>
          </a:solidFill>
          <a:ln w="12700">
            <a:solidFill>
              <a:srgbClr val="252525"/>
            </a:solidFill>
            <a:prstDash val="solid"/>
          </a:ln>
        </p:spPr>
      </p:sp>
      <p:sp>
        <p:nvSpPr>
          <p:cNvPr id="19" name="Text 17"/>
          <p:cNvSpPr/>
          <p:nvPr/>
        </p:nvSpPr>
        <p:spPr>
          <a:xfrm>
            <a:off x="1257300" y="3009900"/>
            <a:ext cx="5842000" cy="3429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Learn the skills</a:t>
            </a:r>
            <a:endParaRPr lang="en-US" sz="1700" dirty="0"/>
          </a:p>
        </p:txBody>
      </p:sp>
      <p:sp>
        <p:nvSpPr>
          <p:cNvPr id="20" name="Text 18"/>
          <p:cNvSpPr/>
          <p:nvPr/>
        </p:nvSpPr>
        <p:spPr>
          <a:xfrm>
            <a:off x="1257300" y="3441700"/>
            <a:ext cx="5842000" cy="368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Education helps people use and improve technology.</a:t>
            </a:r>
            <a:endParaRPr lang="en-US" sz="1050" dirty="0"/>
          </a:p>
        </p:txBody>
      </p:sp>
      <p:sp>
        <p:nvSpPr>
          <p:cNvPr id="21" name="Text 19"/>
          <p:cNvSpPr/>
          <p:nvPr/>
        </p:nvSpPr>
        <p:spPr>
          <a:xfrm>
            <a:off x="596900" y="3505200"/>
            <a:ext cx="254000" cy="2794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a:t>
            </a:r>
            <a:endParaRPr lang="en-US" sz="1200" dirty="0"/>
          </a:p>
        </p:txBody>
      </p:sp>
      <p:sp>
        <p:nvSpPr>
          <p:cNvPr id="22" name="Shape 20"/>
          <p:cNvSpPr/>
          <p:nvPr/>
        </p:nvSpPr>
        <p:spPr>
          <a:xfrm>
            <a:off x="529046" y="3960223"/>
            <a:ext cx="46446" cy="359954"/>
          </a:xfrm>
          <a:prstGeom prst="line">
            <a:avLst/>
          </a:prstGeom>
          <a:noFill/>
          <a:ln w="20320">
            <a:solidFill>
              <a:srgbClr val="252525"/>
            </a:solidFill>
            <a:prstDash val="solid"/>
          </a:ln>
        </p:spPr>
      </p:sp>
      <p:sp>
        <p:nvSpPr>
          <p:cNvPr id="23" name="Shape 21"/>
          <p:cNvSpPr/>
          <p:nvPr/>
        </p:nvSpPr>
        <p:spPr>
          <a:xfrm>
            <a:off x="784497" y="3960223"/>
            <a:ext cx="46446" cy="359954"/>
          </a:xfrm>
          <a:prstGeom prst="line">
            <a:avLst/>
          </a:prstGeom>
          <a:noFill/>
          <a:ln w="20320">
            <a:solidFill>
              <a:srgbClr val="252525"/>
            </a:solidFill>
            <a:prstDash val="solid"/>
          </a:ln>
        </p:spPr>
      </p:sp>
      <p:sp>
        <p:nvSpPr>
          <p:cNvPr id="24" name="Shape 22"/>
          <p:cNvSpPr/>
          <p:nvPr/>
        </p:nvSpPr>
        <p:spPr>
          <a:xfrm>
            <a:off x="669834" y="3971834"/>
            <a:ext cx="20320" cy="69669"/>
          </a:xfrm>
          <a:prstGeom prst="rect">
            <a:avLst/>
          </a:prstGeom>
          <a:solidFill>
            <a:srgbClr val="252525"/>
          </a:solidFill>
          <a:ln w="12700">
            <a:solidFill>
              <a:srgbClr val="252525"/>
            </a:solidFill>
            <a:prstDash val="solid"/>
          </a:ln>
        </p:spPr>
      </p:sp>
      <p:sp>
        <p:nvSpPr>
          <p:cNvPr id="25" name="Shape 23"/>
          <p:cNvSpPr/>
          <p:nvPr/>
        </p:nvSpPr>
        <p:spPr>
          <a:xfrm>
            <a:off x="669834" y="4099560"/>
            <a:ext cx="20320" cy="81280"/>
          </a:xfrm>
          <a:prstGeom prst="rect">
            <a:avLst/>
          </a:prstGeom>
          <a:solidFill>
            <a:srgbClr val="252525"/>
          </a:solidFill>
          <a:ln w="12700">
            <a:solidFill>
              <a:srgbClr val="252525"/>
            </a:solidFill>
            <a:prstDash val="solid"/>
          </a:ln>
        </p:spPr>
      </p:sp>
      <p:sp>
        <p:nvSpPr>
          <p:cNvPr id="26" name="Shape 24"/>
          <p:cNvSpPr/>
          <p:nvPr/>
        </p:nvSpPr>
        <p:spPr>
          <a:xfrm>
            <a:off x="669834" y="4238897"/>
            <a:ext cx="20320" cy="69669"/>
          </a:xfrm>
          <a:prstGeom prst="rect">
            <a:avLst/>
          </a:prstGeom>
          <a:solidFill>
            <a:srgbClr val="252525"/>
          </a:solidFill>
          <a:ln w="12700">
            <a:solidFill>
              <a:srgbClr val="252525"/>
            </a:solidFill>
            <a:prstDash val="solid"/>
          </a:ln>
        </p:spPr>
      </p:sp>
      <p:sp>
        <p:nvSpPr>
          <p:cNvPr id="27" name="Text 25"/>
          <p:cNvSpPr/>
          <p:nvPr/>
        </p:nvSpPr>
        <p:spPr>
          <a:xfrm>
            <a:off x="1257300" y="3886200"/>
            <a:ext cx="5842000" cy="3429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Make the connections</a:t>
            </a:r>
            <a:endParaRPr lang="en-US" sz="1700" dirty="0"/>
          </a:p>
        </p:txBody>
      </p:sp>
      <p:sp>
        <p:nvSpPr>
          <p:cNvPr id="28" name="Text 26"/>
          <p:cNvSpPr/>
          <p:nvPr/>
        </p:nvSpPr>
        <p:spPr>
          <a:xfrm>
            <a:off x="1257300" y="4318000"/>
            <a:ext cx="5842000" cy="368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Reliable power and transport help work get done.</a:t>
            </a:r>
            <a:endParaRPr lang="en-US" sz="1050" dirty="0"/>
          </a:p>
        </p:txBody>
      </p:sp>
      <p:sp>
        <p:nvSpPr>
          <p:cNvPr id="29" name="Text 27"/>
          <p:cNvSpPr/>
          <p:nvPr/>
        </p:nvSpPr>
        <p:spPr>
          <a:xfrm>
            <a:off x="596900" y="4381500"/>
            <a:ext cx="254000" cy="2794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a:t>
            </a:r>
            <a:endParaRPr lang="en-US" sz="1200" dirty="0"/>
          </a:p>
        </p:txBody>
      </p:sp>
      <p:sp>
        <p:nvSpPr>
          <p:cNvPr id="30" name="Shape 28"/>
          <p:cNvSpPr/>
          <p:nvPr/>
        </p:nvSpPr>
        <p:spPr>
          <a:xfrm flipV="1">
            <a:off x="517434" y="4848134"/>
            <a:ext cx="162560" cy="162560"/>
          </a:xfrm>
          <a:prstGeom prst="line">
            <a:avLst/>
          </a:prstGeom>
          <a:noFill/>
          <a:ln w="20320">
            <a:solidFill>
              <a:srgbClr val="252525"/>
            </a:solidFill>
            <a:prstDash val="solid"/>
          </a:ln>
        </p:spPr>
      </p:sp>
      <p:sp>
        <p:nvSpPr>
          <p:cNvPr id="31" name="Shape 29"/>
          <p:cNvSpPr/>
          <p:nvPr/>
        </p:nvSpPr>
        <p:spPr>
          <a:xfrm>
            <a:off x="679994" y="4848134"/>
            <a:ext cx="162560" cy="162560"/>
          </a:xfrm>
          <a:prstGeom prst="line">
            <a:avLst/>
          </a:prstGeom>
          <a:noFill/>
          <a:ln w="20320">
            <a:solidFill>
              <a:srgbClr val="252525"/>
            </a:solidFill>
            <a:prstDash val="solid"/>
          </a:ln>
        </p:spPr>
      </p:sp>
      <p:sp>
        <p:nvSpPr>
          <p:cNvPr id="32" name="Shape 30"/>
          <p:cNvSpPr/>
          <p:nvPr/>
        </p:nvSpPr>
        <p:spPr>
          <a:xfrm>
            <a:off x="679994" y="5010694"/>
            <a:ext cx="162560" cy="162560"/>
          </a:xfrm>
          <a:prstGeom prst="line">
            <a:avLst/>
          </a:prstGeom>
          <a:noFill/>
          <a:ln w="20320">
            <a:solidFill>
              <a:srgbClr val="252525"/>
            </a:solidFill>
            <a:prstDash val="solid"/>
          </a:ln>
        </p:spPr>
      </p:sp>
      <p:sp>
        <p:nvSpPr>
          <p:cNvPr id="33" name="Shape 31"/>
          <p:cNvSpPr/>
          <p:nvPr/>
        </p:nvSpPr>
        <p:spPr>
          <a:xfrm flipV="1">
            <a:off x="517434" y="5010694"/>
            <a:ext cx="162560" cy="162560"/>
          </a:xfrm>
          <a:prstGeom prst="line">
            <a:avLst/>
          </a:prstGeom>
          <a:noFill/>
          <a:ln w="20320">
            <a:solidFill>
              <a:srgbClr val="252525"/>
            </a:solidFill>
            <a:prstDash val="solid"/>
          </a:ln>
        </p:spPr>
      </p:sp>
      <p:sp>
        <p:nvSpPr>
          <p:cNvPr id="34" name="Shape 32"/>
          <p:cNvSpPr/>
          <p:nvPr/>
        </p:nvSpPr>
        <p:spPr>
          <a:xfrm>
            <a:off x="517434" y="5000534"/>
            <a:ext cx="325120" cy="20320"/>
          </a:xfrm>
          <a:prstGeom prst="rect">
            <a:avLst/>
          </a:prstGeom>
          <a:solidFill>
            <a:srgbClr val="252525"/>
          </a:solidFill>
          <a:ln w="12700">
            <a:solidFill>
              <a:srgbClr val="252525"/>
            </a:solidFill>
            <a:prstDash val="solid"/>
          </a:ln>
        </p:spPr>
      </p:sp>
      <p:sp>
        <p:nvSpPr>
          <p:cNvPr id="35" name="Shape 33"/>
          <p:cNvSpPr/>
          <p:nvPr/>
        </p:nvSpPr>
        <p:spPr>
          <a:xfrm>
            <a:off x="494211" y="4987471"/>
            <a:ext cx="46446" cy="46446"/>
          </a:xfrm>
          <a:prstGeom prst="ellipse">
            <a:avLst/>
          </a:prstGeom>
          <a:solidFill>
            <a:srgbClr val="252525"/>
          </a:solidFill>
          <a:ln w="12700">
            <a:solidFill>
              <a:srgbClr val="252525"/>
            </a:solidFill>
            <a:prstDash val="solid"/>
          </a:ln>
        </p:spPr>
      </p:sp>
      <p:sp>
        <p:nvSpPr>
          <p:cNvPr id="36" name="Shape 34"/>
          <p:cNvSpPr/>
          <p:nvPr/>
        </p:nvSpPr>
        <p:spPr>
          <a:xfrm>
            <a:off x="656771" y="4824911"/>
            <a:ext cx="46446" cy="46446"/>
          </a:xfrm>
          <a:prstGeom prst="ellipse">
            <a:avLst/>
          </a:prstGeom>
          <a:solidFill>
            <a:srgbClr val="252525"/>
          </a:solidFill>
          <a:ln w="12700">
            <a:solidFill>
              <a:srgbClr val="252525"/>
            </a:solidFill>
            <a:prstDash val="solid"/>
          </a:ln>
        </p:spPr>
      </p:sp>
      <p:sp>
        <p:nvSpPr>
          <p:cNvPr id="37" name="Shape 35"/>
          <p:cNvSpPr/>
          <p:nvPr/>
        </p:nvSpPr>
        <p:spPr>
          <a:xfrm>
            <a:off x="819331" y="4987471"/>
            <a:ext cx="46446" cy="46446"/>
          </a:xfrm>
          <a:prstGeom prst="ellipse">
            <a:avLst/>
          </a:prstGeom>
          <a:solidFill>
            <a:srgbClr val="252525"/>
          </a:solidFill>
          <a:ln w="12700">
            <a:solidFill>
              <a:srgbClr val="252525"/>
            </a:solidFill>
            <a:prstDash val="solid"/>
          </a:ln>
        </p:spPr>
      </p:sp>
      <p:sp>
        <p:nvSpPr>
          <p:cNvPr id="38" name="Shape 36"/>
          <p:cNvSpPr/>
          <p:nvPr/>
        </p:nvSpPr>
        <p:spPr>
          <a:xfrm>
            <a:off x="656771" y="5150031"/>
            <a:ext cx="46446" cy="46446"/>
          </a:xfrm>
          <a:prstGeom prst="ellipse">
            <a:avLst/>
          </a:prstGeom>
          <a:solidFill>
            <a:srgbClr val="252525"/>
          </a:solidFill>
          <a:ln w="12700">
            <a:solidFill>
              <a:srgbClr val="252525"/>
            </a:solidFill>
            <a:prstDash val="solid"/>
          </a:ln>
        </p:spPr>
      </p:sp>
      <p:sp>
        <p:nvSpPr>
          <p:cNvPr id="39" name="Text 37"/>
          <p:cNvSpPr/>
          <p:nvPr/>
        </p:nvSpPr>
        <p:spPr>
          <a:xfrm>
            <a:off x="1257300" y="4762500"/>
            <a:ext cx="5842000" cy="3429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Build firms and suppliers</a:t>
            </a:r>
            <a:endParaRPr lang="en-US" sz="1700" dirty="0"/>
          </a:p>
        </p:txBody>
      </p:sp>
      <p:sp>
        <p:nvSpPr>
          <p:cNvPr id="40" name="Text 38"/>
          <p:cNvSpPr/>
          <p:nvPr/>
        </p:nvSpPr>
        <p:spPr>
          <a:xfrm>
            <a:off x="1257300" y="5194300"/>
            <a:ext cx="5842000" cy="368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Local businesses need links, skills and organisations.</a:t>
            </a:r>
            <a:endParaRPr lang="en-US" sz="1050" dirty="0"/>
          </a:p>
        </p:txBody>
      </p:sp>
      <p:sp>
        <p:nvSpPr>
          <p:cNvPr id="41" name="Text 39"/>
          <p:cNvSpPr/>
          <p:nvPr/>
        </p:nvSpPr>
        <p:spPr>
          <a:xfrm>
            <a:off x="596900" y="5257800"/>
            <a:ext cx="254000" cy="2794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a:t>
            </a:r>
            <a:endParaRPr lang="en-US" sz="1200" dirty="0"/>
          </a:p>
        </p:txBody>
      </p:sp>
      <p:sp>
        <p:nvSpPr>
          <p:cNvPr id="42" name="Shape 40"/>
          <p:cNvSpPr/>
          <p:nvPr/>
        </p:nvSpPr>
        <p:spPr>
          <a:xfrm>
            <a:off x="505823" y="6051006"/>
            <a:ext cx="348343" cy="20320"/>
          </a:xfrm>
          <a:prstGeom prst="rect">
            <a:avLst/>
          </a:prstGeom>
          <a:solidFill>
            <a:srgbClr val="252525"/>
          </a:solidFill>
          <a:ln w="12700">
            <a:solidFill>
              <a:srgbClr val="252525"/>
            </a:solidFill>
            <a:prstDash val="solid"/>
          </a:ln>
        </p:spPr>
      </p:sp>
      <p:sp>
        <p:nvSpPr>
          <p:cNvPr id="43" name="Shape 41"/>
          <p:cNvSpPr/>
          <p:nvPr/>
        </p:nvSpPr>
        <p:spPr>
          <a:xfrm>
            <a:off x="495663" y="5863771"/>
            <a:ext cx="20320" cy="197394"/>
          </a:xfrm>
          <a:prstGeom prst="rect">
            <a:avLst/>
          </a:prstGeom>
          <a:solidFill>
            <a:srgbClr val="252525"/>
          </a:solidFill>
          <a:ln w="12700">
            <a:solidFill>
              <a:srgbClr val="252525"/>
            </a:solidFill>
            <a:prstDash val="solid"/>
          </a:ln>
        </p:spPr>
      </p:sp>
      <p:sp>
        <p:nvSpPr>
          <p:cNvPr id="44" name="Shape 42"/>
          <p:cNvSpPr/>
          <p:nvPr/>
        </p:nvSpPr>
        <p:spPr>
          <a:xfrm flipV="1">
            <a:off x="505823" y="5794103"/>
            <a:ext cx="116114" cy="69669"/>
          </a:xfrm>
          <a:prstGeom prst="line">
            <a:avLst/>
          </a:prstGeom>
          <a:noFill/>
          <a:ln w="20320">
            <a:solidFill>
              <a:srgbClr val="252525"/>
            </a:solidFill>
            <a:prstDash val="solid"/>
          </a:ln>
        </p:spPr>
      </p:sp>
      <p:sp>
        <p:nvSpPr>
          <p:cNvPr id="45" name="Shape 43"/>
          <p:cNvSpPr/>
          <p:nvPr/>
        </p:nvSpPr>
        <p:spPr>
          <a:xfrm>
            <a:off x="611777" y="5794103"/>
            <a:ext cx="20320" cy="69669"/>
          </a:xfrm>
          <a:prstGeom prst="rect">
            <a:avLst/>
          </a:prstGeom>
          <a:solidFill>
            <a:srgbClr val="252525"/>
          </a:solidFill>
          <a:ln w="12700">
            <a:solidFill>
              <a:srgbClr val="252525"/>
            </a:solidFill>
            <a:prstDash val="solid"/>
          </a:ln>
        </p:spPr>
      </p:sp>
      <p:sp>
        <p:nvSpPr>
          <p:cNvPr id="46" name="Shape 44"/>
          <p:cNvSpPr/>
          <p:nvPr/>
        </p:nvSpPr>
        <p:spPr>
          <a:xfrm flipV="1">
            <a:off x="621937" y="5794103"/>
            <a:ext cx="127726" cy="69669"/>
          </a:xfrm>
          <a:prstGeom prst="line">
            <a:avLst/>
          </a:prstGeom>
          <a:noFill/>
          <a:ln w="20320">
            <a:solidFill>
              <a:srgbClr val="252525"/>
            </a:solidFill>
            <a:prstDash val="solid"/>
          </a:ln>
        </p:spPr>
      </p:sp>
      <p:sp>
        <p:nvSpPr>
          <p:cNvPr id="47" name="Shape 45"/>
          <p:cNvSpPr/>
          <p:nvPr/>
        </p:nvSpPr>
        <p:spPr>
          <a:xfrm>
            <a:off x="739503" y="5794103"/>
            <a:ext cx="20320" cy="267063"/>
          </a:xfrm>
          <a:prstGeom prst="rect">
            <a:avLst/>
          </a:prstGeom>
          <a:solidFill>
            <a:srgbClr val="252525"/>
          </a:solidFill>
          <a:ln w="12700">
            <a:solidFill>
              <a:srgbClr val="252525"/>
            </a:solidFill>
            <a:prstDash val="solid"/>
          </a:ln>
        </p:spPr>
      </p:sp>
      <p:sp>
        <p:nvSpPr>
          <p:cNvPr id="48" name="Shape 46"/>
          <p:cNvSpPr/>
          <p:nvPr/>
        </p:nvSpPr>
        <p:spPr>
          <a:xfrm>
            <a:off x="785949" y="5724434"/>
            <a:ext cx="20320" cy="185783"/>
          </a:xfrm>
          <a:prstGeom prst="rect">
            <a:avLst/>
          </a:prstGeom>
          <a:solidFill>
            <a:srgbClr val="252525"/>
          </a:solidFill>
          <a:ln w="12700">
            <a:solidFill>
              <a:srgbClr val="252525"/>
            </a:solidFill>
            <a:prstDash val="solid"/>
          </a:ln>
        </p:spPr>
      </p:sp>
      <p:sp>
        <p:nvSpPr>
          <p:cNvPr id="49" name="Shape 47"/>
          <p:cNvSpPr/>
          <p:nvPr/>
        </p:nvSpPr>
        <p:spPr>
          <a:xfrm>
            <a:off x="844006" y="5724434"/>
            <a:ext cx="20320" cy="336731"/>
          </a:xfrm>
          <a:prstGeom prst="rect">
            <a:avLst/>
          </a:prstGeom>
          <a:solidFill>
            <a:srgbClr val="252525"/>
          </a:solidFill>
          <a:ln w="12700">
            <a:solidFill>
              <a:srgbClr val="252525"/>
            </a:solidFill>
            <a:prstDash val="solid"/>
          </a:ln>
        </p:spPr>
      </p:sp>
      <p:sp>
        <p:nvSpPr>
          <p:cNvPr id="50" name="Shape 48"/>
          <p:cNvSpPr/>
          <p:nvPr/>
        </p:nvSpPr>
        <p:spPr>
          <a:xfrm>
            <a:off x="796109" y="5714274"/>
            <a:ext cx="58057" cy="20320"/>
          </a:xfrm>
          <a:prstGeom prst="rect">
            <a:avLst/>
          </a:prstGeom>
          <a:solidFill>
            <a:srgbClr val="252525"/>
          </a:solidFill>
          <a:ln w="12700">
            <a:solidFill>
              <a:srgbClr val="252525"/>
            </a:solidFill>
            <a:prstDash val="solid"/>
          </a:ln>
        </p:spPr>
      </p:sp>
      <p:sp>
        <p:nvSpPr>
          <p:cNvPr id="51" name="Shape 49"/>
          <p:cNvSpPr/>
          <p:nvPr/>
        </p:nvSpPr>
        <p:spPr>
          <a:xfrm>
            <a:off x="563880" y="5946503"/>
            <a:ext cx="34834" cy="20320"/>
          </a:xfrm>
          <a:prstGeom prst="rect">
            <a:avLst/>
          </a:prstGeom>
          <a:solidFill>
            <a:srgbClr val="252525"/>
          </a:solidFill>
          <a:ln w="12700">
            <a:solidFill>
              <a:srgbClr val="252525"/>
            </a:solidFill>
            <a:prstDash val="solid"/>
          </a:ln>
        </p:spPr>
      </p:sp>
      <p:sp>
        <p:nvSpPr>
          <p:cNvPr id="52" name="Shape 50"/>
          <p:cNvSpPr/>
          <p:nvPr/>
        </p:nvSpPr>
        <p:spPr>
          <a:xfrm>
            <a:off x="668383" y="5946503"/>
            <a:ext cx="34834" cy="20320"/>
          </a:xfrm>
          <a:prstGeom prst="rect">
            <a:avLst/>
          </a:prstGeom>
          <a:solidFill>
            <a:srgbClr val="252525"/>
          </a:solidFill>
          <a:ln w="12700">
            <a:solidFill>
              <a:srgbClr val="252525"/>
            </a:solidFill>
            <a:prstDash val="solid"/>
          </a:ln>
        </p:spPr>
      </p:sp>
      <p:sp>
        <p:nvSpPr>
          <p:cNvPr id="53" name="Text 51"/>
          <p:cNvSpPr/>
          <p:nvPr/>
        </p:nvSpPr>
        <p:spPr>
          <a:xfrm>
            <a:off x="1257300" y="5638800"/>
            <a:ext cx="5842000" cy="3429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Make and improve</a:t>
            </a:r>
            <a:endParaRPr lang="en-US" sz="1700" dirty="0"/>
          </a:p>
        </p:txBody>
      </p:sp>
      <p:sp>
        <p:nvSpPr>
          <p:cNvPr id="54" name="Text 52"/>
          <p:cNvSpPr/>
          <p:nvPr/>
        </p:nvSpPr>
        <p:spPr>
          <a:xfrm>
            <a:off x="1257300" y="6070600"/>
            <a:ext cx="5842000" cy="368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Production tests quality, routines and coordination.</a:t>
            </a:r>
            <a:endParaRPr lang="en-US" sz="1050" dirty="0"/>
          </a:p>
        </p:txBody>
      </p:sp>
      <p:sp>
        <p:nvSpPr>
          <p:cNvPr id="55" name="Text 53"/>
          <p:cNvSpPr/>
          <p:nvPr/>
        </p:nvSpPr>
        <p:spPr>
          <a:xfrm>
            <a:off x="596900" y="6134100"/>
            <a:ext cx="254000" cy="2794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a:t>
            </a:r>
            <a:endParaRPr lang="en-US" sz="1200" dirty="0"/>
          </a:p>
        </p:txBody>
      </p:sp>
      <p:sp>
        <p:nvSpPr>
          <p:cNvPr id="56" name="Shape 54"/>
          <p:cNvSpPr/>
          <p:nvPr/>
        </p:nvSpPr>
        <p:spPr>
          <a:xfrm>
            <a:off x="505823" y="6822803"/>
            <a:ext cx="359954" cy="20320"/>
          </a:xfrm>
          <a:prstGeom prst="rect">
            <a:avLst/>
          </a:prstGeom>
          <a:solidFill>
            <a:srgbClr val="252525"/>
          </a:solidFill>
          <a:ln w="12700">
            <a:solidFill>
              <a:srgbClr val="252525"/>
            </a:solidFill>
            <a:prstDash val="solid"/>
          </a:ln>
        </p:spPr>
      </p:sp>
      <p:sp>
        <p:nvSpPr>
          <p:cNvPr id="57" name="Shape 55"/>
          <p:cNvSpPr/>
          <p:nvPr/>
        </p:nvSpPr>
        <p:spPr>
          <a:xfrm>
            <a:off x="505823" y="6832963"/>
            <a:ext cx="92891" cy="104503"/>
          </a:xfrm>
          <a:prstGeom prst="line">
            <a:avLst/>
          </a:prstGeom>
          <a:noFill/>
          <a:ln w="20320">
            <a:solidFill>
              <a:srgbClr val="252525"/>
            </a:solidFill>
            <a:prstDash val="solid"/>
          </a:ln>
        </p:spPr>
      </p:sp>
      <p:sp>
        <p:nvSpPr>
          <p:cNvPr id="58" name="Shape 56"/>
          <p:cNvSpPr/>
          <p:nvPr/>
        </p:nvSpPr>
        <p:spPr>
          <a:xfrm>
            <a:off x="598714" y="6927306"/>
            <a:ext cx="197394" cy="20320"/>
          </a:xfrm>
          <a:prstGeom prst="rect">
            <a:avLst/>
          </a:prstGeom>
          <a:solidFill>
            <a:srgbClr val="252525"/>
          </a:solidFill>
          <a:ln w="12700">
            <a:solidFill>
              <a:srgbClr val="252525"/>
            </a:solidFill>
            <a:prstDash val="solid"/>
          </a:ln>
        </p:spPr>
      </p:sp>
      <p:sp>
        <p:nvSpPr>
          <p:cNvPr id="59" name="Shape 57"/>
          <p:cNvSpPr/>
          <p:nvPr/>
        </p:nvSpPr>
        <p:spPr>
          <a:xfrm flipV="1">
            <a:off x="796109" y="6832963"/>
            <a:ext cx="69669" cy="104503"/>
          </a:xfrm>
          <a:prstGeom prst="line">
            <a:avLst/>
          </a:prstGeom>
          <a:noFill/>
          <a:ln w="20320">
            <a:solidFill>
              <a:srgbClr val="252525"/>
            </a:solidFill>
            <a:prstDash val="solid"/>
          </a:ln>
        </p:spPr>
      </p:sp>
      <p:sp>
        <p:nvSpPr>
          <p:cNvPr id="60" name="Shape 58"/>
          <p:cNvSpPr/>
          <p:nvPr/>
        </p:nvSpPr>
        <p:spPr>
          <a:xfrm>
            <a:off x="565331" y="6705237"/>
            <a:ext cx="20320" cy="127726"/>
          </a:xfrm>
          <a:prstGeom prst="rect">
            <a:avLst/>
          </a:prstGeom>
          <a:solidFill>
            <a:srgbClr val="252525"/>
          </a:solidFill>
          <a:ln w="12700">
            <a:solidFill>
              <a:srgbClr val="252525"/>
            </a:solidFill>
            <a:prstDash val="solid"/>
          </a:ln>
        </p:spPr>
      </p:sp>
      <p:sp>
        <p:nvSpPr>
          <p:cNvPr id="61" name="Shape 59"/>
          <p:cNvSpPr/>
          <p:nvPr/>
        </p:nvSpPr>
        <p:spPr>
          <a:xfrm>
            <a:off x="575491" y="6695077"/>
            <a:ext cx="197394" cy="20320"/>
          </a:xfrm>
          <a:prstGeom prst="rect">
            <a:avLst/>
          </a:prstGeom>
          <a:solidFill>
            <a:srgbClr val="252525"/>
          </a:solidFill>
          <a:ln w="12700">
            <a:solidFill>
              <a:srgbClr val="252525"/>
            </a:solidFill>
            <a:prstDash val="solid"/>
          </a:ln>
        </p:spPr>
      </p:sp>
      <p:sp>
        <p:nvSpPr>
          <p:cNvPr id="62" name="Shape 60"/>
          <p:cNvSpPr/>
          <p:nvPr/>
        </p:nvSpPr>
        <p:spPr>
          <a:xfrm>
            <a:off x="762726" y="6705237"/>
            <a:ext cx="20320" cy="127726"/>
          </a:xfrm>
          <a:prstGeom prst="rect">
            <a:avLst/>
          </a:prstGeom>
          <a:solidFill>
            <a:srgbClr val="252525"/>
          </a:solidFill>
          <a:ln w="12700">
            <a:solidFill>
              <a:srgbClr val="252525"/>
            </a:solidFill>
            <a:prstDash val="solid"/>
          </a:ln>
        </p:spPr>
      </p:sp>
      <p:sp>
        <p:nvSpPr>
          <p:cNvPr id="63" name="Shape 61"/>
          <p:cNvSpPr/>
          <p:nvPr/>
        </p:nvSpPr>
        <p:spPr>
          <a:xfrm>
            <a:off x="669834" y="6600734"/>
            <a:ext cx="20320" cy="104503"/>
          </a:xfrm>
          <a:prstGeom prst="rect">
            <a:avLst/>
          </a:prstGeom>
          <a:solidFill>
            <a:srgbClr val="252525"/>
          </a:solidFill>
          <a:ln w="12700">
            <a:solidFill>
              <a:srgbClr val="252525"/>
            </a:solidFill>
            <a:prstDash val="solid"/>
          </a:ln>
        </p:spPr>
      </p:sp>
      <p:sp>
        <p:nvSpPr>
          <p:cNvPr id="64" name="Text 62"/>
          <p:cNvSpPr/>
          <p:nvPr/>
        </p:nvSpPr>
        <p:spPr>
          <a:xfrm>
            <a:off x="1257300" y="6515100"/>
            <a:ext cx="5842000" cy="3429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Sell and learn</a:t>
            </a:r>
            <a:endParaRPr lang="en-US" sz="1700" dirty="0"/>
          </a:p>
        </p:txBody>
      </p:sp>
      <p:sp>
        <p:nvSpPr>
          <p:cNvPr id="65" name="Text 63"/>
          <p:cNvSpPr/>
          <p:nvPr/>
        </p:nvSpPr>
        <p:spPr>
          <a:xfrm>
            <a:off x="1257300" y="6946900"/>
            <a:ext cx="5842000" cy="368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Export markets can bring scale and feedback.</a:t>
            </a:r>
            <a:endParaRPr lang="en-US" sz="1050" dirty="0"/>
          </a:p>
        </p:txBody>
      </p:sp>
      <p:sp>
        <p:nvSpPr>
          <p:cNvPr id="66" name="Text 64"/>
          <p:cNvSpPr/>
          <p:nvPr/>
        </p:nvSpPr>
        <p:spPr>
          <a:xfrm>
            <a:off x="596900" y="7010400"/>
            <a:ext cx="254000" cy="2794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a:t>
            </a:r>
            <a:endParaRPr lang="en-US" sz="1200" dirty="0"/>
          </a:p>
        </p:txBody>
      </p:sp>
      <p:sp>
        <p:nvSpPr>
          <p:cNvPr id="67" name="Shape 65"/>
          <p:cNvSpPr/>
          <p:nvPr/>
        </p:nvSpPr>
        <p:spPr>
          <a:xfrm>
            <a:off x="540657" y="7490097"/>
            <a:ext cx="278674" cy="20320"/>
          </a:xfrm>
          <a:prstGeom prst="rect">
            <a:avLst/>
          </a:prstGeom>
          <a:solidFill>
            <a:srgbClr val="252525"/>
          </a:solidFill>
          <a:ln w="12700">
            <a:solidFill>
              <a:srgbClr val="252525"/>
            </a:solidFill>
            <a:prstDash val="solid"/>
          </a:ln>
        </p:spPr>
      </p:sp>
      <p:sp>
        <p:nvSpPr>
          <p:cNvPr id="68" name="Shape 66"/>
          <p:cNvSpPr/>
          <p:nvPr/>
        </p:nvSpPr>
        <p:spPr>
          <a:xfrm>
            <a:off x="809171" y="7500257"/>
            <a:ext cx="20320" cy="243840"/>
          </a:xfrm>
          <a:prstGeom prst="rect">
            <a:avLst/>
          </a:prstGeom>
          <a:solidFill>
            <a:srgbClr val="252525"/>
          </a:solidFill>
          <a:ln w="12700">
            <a:solidFill>
              <a:srgbClr val="252525"/>
            </a:solidFill>
            <a:prstDash val="solid"/>
          </a:ln>
        </p:spPr>
      </p:sp>
      <p:sp>
        <p:nvSpPr>
          <p:cNvPr id="69" name="Shape 67"/>
          <p:cNvSpPr/>
          <p:nvPr/>
        </p:nvSpPr>
        <p:spPr>
          <a:xfrm flipV="1">
            <a:off x="761274" y="7686040"/>
            <a:ext cx="58057" cy="58057"/>
          </a:xfrm>
          <a:prstGeom prst="line">
            <a:avLst/>
          </a:prstGeom>
          <a:noFill/>
          <a:ln w="20320">
            <a:solidFill>
              <a:srgbClr val="252525"/>
            </a:solidFill>
            <a:prstDash val="solid"/>
          </a:ln>
        </p:spPr>
      </p:sp>
      <p:sp>
        <p:nvSpPr>
          <p:cNvPr id="70" name="Shape 68"/>
          <p:cNvSpPr/>
          <p:nvPr/>
        </p:nvSpPr>
        <p:spPr>
          <a:xfrm flipV="1">
            <a:off x="819331" y="7686040"/>
            <a:ext cx="58057" cy="58057"/>
          </a:xfrm>
          <a:prstGeom prst="line">
            <a:avLst/>
          </a:prstGeom>
          <a:noFill/>
          <a:ln w="20320">
            <a:solidFill>
              <a:srgbClr val="252525"/>
            </a:solidFill>
            <a:prstDash val="solid"/>
          </a:ln>
        </p:spPr>
      </p:sp>
      <p:sp>
        <p:nvSpPr>
          <p:cNvPr id="71" name="Shape 69"/>
          <p:cNvSpPr/>
          <p:nvPr/>
        </p:nvSpPr>
        <p:spPr>
          <a:xfrm>
            <a:off x="540657" y="7803606"/>
            <a:ext cx="278674" cy="20320"/>
          </a:xfrm>
          <a:prstGeom prst="rect">
            <a:avLst/>
          </a:prstGeom>
          <a:solidFill>
            <a:srgbClr val="252525"/>
          </a:solidFill>
          <a:ln w="12700">
            <a:solidFill>
              <a:srgbClr val="252525"/>
            </a:solidFill>
            <a:prstDash val="solid"/>
          </a:ln>
        </p:spPr>
      </p:sp>
      <p:sp>
        <p:nvSpPr>
          <p:cNvPr id="72" name="Shape 70"/>
          <p:cNvSpPr/>
          <p:nvPr/>
        </p:nvSpPr>
        <p:spPr>
          <a:xfrm>
            <a:off x="530497" y="7569926"/>
            <a:ext cx="20320" cy="243840"/>
          </a:xfrm>
          <a:prstGeom prst="rect">
            <a:avLst/>
          </a:prstGeom>
          <a:solidFill>
            <a:srgbClr val="252525"/>
          </a:solidFill>
          <a:ln w="12700">
            <a:solidFill>
              <a:srgbClr val="252525"/>
            </a:solidFill>
            <a:prstDash val="solid"/>
          </a:ln>
        </p:spPr>
      </p:sp>
      <p:sp>
        <p:nvSpPr>
          <p:cNvPr id="73" name="Shape 71"/>
          <p:cNvSpPr/>
          <p:nvPr/>
        </p:nvSpPr>
        <p:spPr>
          <a:xfrm>
            <a:off x="482600" y="7569926"/>
            <a:ext cx="58057" cy="58057"/>
          </a:xfrm>
          <a:prstGeom prst="line">
            <a:avLst/>
          </a:prstGeom>
          <a:noFill/>
          <a:ln w="20320">
            <a:solidFill>
              <a:srgbClr val="252525"/>
            </a:solidFill>
            <a:prstDash val="solid"/>
          </a:ln>
        </p:spPr>
      </p:sp>
      <p:sp>
        <p:nvSpPr>
          <p:cNvPr id="74" name="Shape 72"/>
          <p:cNvSpPr/>
          <p:nvPr/>
        </p:nvSpPr>
        <p:spPr>
          <a:xfrm>
            <a:off x="540657" y="7569926"/>
            <a:ext cx="58057" cy="58057"/>
          </a:xfrm>
          <a:prstGeom prst="line">
            <a:avLst/>
          </a:prstGeom>
          <a:noFill/>
          <a:ln w="20320">
            <a:solidFill>
              <a:srgbClr val="252525"/>
            </a:solidFill>
            <a:prstDash val="solid"/>
          </a:ln>
        </p:spPr>
      </p:sp>
      <p:sp>
        <p:nvSpPr>
          <p:cNvPr id="75" name="Text 73"/>
          <p:cNvSpPr/>
          <p:nvPr/>
        </p:nvSpPr>
        <p:spPr>
          <a:xfrm>
            <a:off x="1257300" y="7391400"/>
            <a:ext cx="5842000" cy="3429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Invest again</a:t>
            </a:r>
            <a:endParaRPr lang="en-US" sz="1700" dirty="0"/>
          </a:p>
        </p:txBody>
      </p:sp>
      <p:sp>
        <p:nvSpPr>
          <p:cNvPr id="76" name="Text 74"/>
          <p:cNvSpPr/>
          <p:nvPr/>
        </p:nvSpPr>
        <p:spPr>
          <a:xfrm>
            <a:off x="1257300" y="7823200"/>
            <a:ext cx="5842000" cy="368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Use returns to upgrade—not just protect failure.</a:t>
            </a:r>
            <a:endParaRPr lang="en-US" sz="1050" dirty="0"/>
          </a:p>
        </p:txBody>
      </p:sp>
      <p:sp>
        <p:nvSpPr>
          <p:cNvPr id="77" name="Text 75"/>
          <p:cNvSpPr/>
          <p:nvPr/>
        </p:nvSpPr>
        <p:spPr>
          <a:xfrm>
            <a:off x="457200" y="8356600"/>
            <a:ext cx="6642100" cy="4699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The chain breaks when power fails, feedback is ignored, or firms are protected from learning.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FOLLOW THE PRODUCT</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“Made here” is not the whole story.</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A country can export a product without keeping all its value—or learning how to make its most complex parts.</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Export totals and photographs cannot reveal who keeps the value, how much is local, or which skills firms have learned.</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(2020, Box 2, pp. 44–47); Nasution (2000, pp. 19–20, Table 9); World Bank (1993, pp. 20–26). Conceptual journey, not measured product shares. Photographs: jgmorard (2009), Port Klang; george ruiz (2013), Metro Manila; CC BY 2.0. Full credits p. 29.</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12</a:t>
            </a:r>
            <a:endParaRPr lang="en-US" sz="1000" dirty="0"/>
          </a:p>
        </p:txBody>
      </p:sp>
      <p:pic>
        <p:nvPicPr>
          <p:cNvPr id="12" name="Image 0" descr="/Users/marcusgrude-grodem/Documents/GitHub/USIL/africa-asia-development-magazine/design/canva_editorial_draft/assets/print/malaysia_port_klang.jpg">    </p:cNvPr>
          <p:cNvPicPr>
            <a:picLocks noChangeAspect="1"/>
          </p:cNvPicPr>
          <p:nvPr/>
        </p:nvPicPr>
        <p:blipFill>
          <a:blip r:embed="rId1"/>
          <a:stretch>
            <a:fillRect/>
          </a:stretch>
        </p:blipFill>
        <p:spPr>
          <a:xfrm>
            <a:off x="457200" y="3037935"/>
            <a:ext cx="3162300" cy="2102930"/>
          </a:xfrm>
          <a:prstGeom prst="rect">
            <a:avLst/>
          </a:prstGeom>
        </p:spPr>
      </p:pic>
      <p:pic>
        <p:nvPicPr>
          <p:cNvPr id="13" name="Image 1" descr="/Users/marcusgrude-grodem/Documents/GitHub/USIL/africa-asia-development-magazine/design/canva_editorial_draft/assets/print/philippines_dampa.jpg">    </p:cNvPr>
          <p:cNvPicPr>
            <a:picLocks noChangeAspect="1"/>
          </p:cNvPicPr>
          <p:nvPr/>
        </p:nvPicPr>
        <p:blipFill>
          <a:blip r:embed="rId2"/>
          <a:stretch>
            <a:fillRect/>
          </a:stretch>
        </p:blipFill>
        <p:spPr>
          <a:xfrm>
            <a:off x="3949116" y="3035300"/>
            <a:ext cx="3138068" cy="2108200"/>
          </a:xfrm>
          <a:prstGeom prst="rect">
            <a:avLst/>
          </a:prstGeom>
        </p:spPr>
      </p:pic>
      <p:sp>
        <p:nvSpPr>
          <p:cNvPr id="14" name="Text 10"/>
          <p:cNvSpPr/>
          <p:nvPr/>
        </p:nvSpPr>
        <p:spPr>
          <a:xfrm>
            <a:off x="457200" y="5270500"/>
            <a:ext cx="31623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Port Klang, Malaysia · 2009</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Containers show movement—not local value kept.</a:t>
            </a:r>
            <a:endParaRPr lang="en-US" sz="800" dirty="0"/>
          </a:p>
        </p:txBody>
      </p:sp>
      <p:sp>
        <p:nvSpPr>
          <p:cNvPr id="15" name="Text 11"/>
          <p:cNvSpPr/>
          <p:nvPr/>
        </p:nvSpPr>
        <p:spPr>
          <a:xfrm>
            <a:off x="3937000" y="5270500"/>
            <a:ext cx="31623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Metro Manila, Philippines · 2013</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Market exchange—not a national productivity measure.</a:t>
            </a:r>
            <a:endParaRPr lang="en-US" sz="800" dirty="0"/>
          </a:p>
        </p:txBody>
      </p:sp>
      <p:sp>
        <p:nvSpPr>
          <p:cNvPr id="16" name="Shape 12"/>
          <p:cNvSpPr/>
          <p:nvPr/>
        </p:nvSpPr>
        <p:spPr>
          <a:xfrm>
            <a:off x="503646" y="6101080"/>
            <a:ext cx="313509" cy="290286"/>
          </a:xfrm>
          <a:prstGeom prst="rect">
            <a:avLst/>
          </a:prstGeom>
          <a:solidFill>
            <a:srgbClr val="F4F0E7"/>
          </a:solidFill>
          <a:ln w="7620">
            <a:solidFill>
              <a:srgbClr val="252525"/>
            </a:solidFill>
            <a:prstDash val="solid"/>
          </a:ln>
        </p:spPr>
      </p:sp>
      <p:sp>
        <p:nvSpPr>
          <p:cNvPr id="17" name="Shape 13"/>
          <p:cNvSpPr/>
          <p:nvPr/>
        </p:nvSpPr>
        <p:spPr>
          <a:xfrm>
            <a:off x="503646" y="6183811"/>
            <a:ext cx="313509" cy="20320"/>
          </a:xfrm>
          <a:prstGeom prst="rect">
            <a:avLst/>
          </a:prstGeom>
          <a:solidFill>
            <a:srgbClr val="252525"/>
          </a:solidFill>
          <a:ln w="12700">
            <a:solidFill>
              <a:srgbClr val="252525"/>
            </a:solidFill>
            <a:prstDash val="solid"/>
          </a:ln>
        </p:spPr>
      </p:sp>
      <p:sp>
        <p:nvSpPr>
          <p:cNvPr id="18" name="Shape 14"/>
          <p:cNvSpPr/>
          <p:nvPr/>
        </p:nvSpPr>
        <p:spPr>
          <a:xfrm>
            <a:off x="644434" y="6101080"/>
            <a:ext cx="20320" cy="92891"/>
          </a:xfrm>
          <a:prstGeom prst="rect">
            <a:avLst/>
          </a:prstGeom>
          <a:solidFill>
            <a:srgbClr val="252525"/>
          </a:solidFill>
          <a:ln w="12700">
            <a:solidFill>
              <a:srgbClr val="252525"/>
            </a:solidFill>
            <a:prstDash val="solid"/>
          </a:ln>
        </p:spPr>
      </p:sp>
      <p:sp>
        <p:nvSpPr>
          <p:cNvPr id="19" name="Text 15"/>
          <p:cNvSpPr/>
          <p:nvPr/>
        </p:nvSpPr>
        <p:spPr>
          <a:xfrm>
            <a:off x="457200" y="6616700"/>
            <a:ext cx="2095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INPUTS</a:t>
            </a:r>
            <a:endParaRPr lang="en-US" sz="1000" dirty="0"/>
          </a:p>
        </p:txBody>
      </p:sp>
      <p:sp>
        <p:nvSpPr>
          <p:cNvPr id="20" name="Text 16"/>
          <p:cNvSpPr/>
          <p:nvPr/>
        </p:nvSpPr>
        <p:spPr>
          <a:xfrm>
            <a:off x="457200" y="7010400"/>
            <a:ext cx="2095500" cy="762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Parts can come from abroad.</a:t>
            </a:r>
            <a:endParaRPr lang="en-US" sz="1050" dirty="0"/>
          </a:p>
        </p:txBody>
      </p:sp>
      <p:sp>
        <p:nvSpPr>
          <p:cNvPr id="21" name="Text 17"/>
          <p:cNvSpPr/>
          <p:nvPr/>
        </p:nvSpPr>
        <p:spPr>
          <a:xfrm>
            <a:off x="2235200" y="60579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22" name="Shape 18"/>
          <p:cNvSpPr/>
          <p:nvPr/>
        </p:nvSpPr>
        <p:spPr>
          <a:xfrm>
            <a:off x="2753723" y="6381206"/>
            <a:ext cx="348343" cy="20320"/>
          </a:xfrm>
          <a:prstGeom prst="rect">
            <a:avLst/>
          </a:prstGeom>
          <a:solidFill>
            <a:srgbClr val="252525"/>
          </a:solidFill>
          <a:ln w="12700">
            <a:solidFill>
              <a:srgbClr val="252525"/>
            </a:solidFill>
            <a:prstDash val="solid"/>
          </a:ln>
        </p:spPr>
      </p:sp>
      <p:sp>
        <p:nvSpPr>
          <p:cNvPr id="23" name="Shape 19"/>
          <p:cNvSpPr/>
          <p:nvPr/>
        </p:nvSpPr>
        <p:spPr>
          <a:xfrm>
            <a:off x="2743563" y="6193971"/>
            <a:ext cx="20320" cy="197394"/>
          </a:xfrm>
          <a:prstGeom prst="rect">
            <a:avLst/>
          </a:prstGeom>
          <a:solidFill>
            <a:srgbClr val="252525"/>
          </a:solidFill>
          <a:ln w="12700">
            <a:solidFill>
              <a:srgbClr val="252525"/>
            </a:solidFill>
            <a:prstDash val="solid"/>
          </a:ln>
        </p:spPr>
      </p:sp>
      <p:sp>
        <p:nvSpPr>
          <p:cNvPr id="24" name="Shape 20"/>
          <p:cNvSpPr/>
          <p:nvPr/>
        </p:nvSpPr>
        <p:spPr>
          <a:xfrm flipV="1">
            <a:off x="2753723" y="6124303"/>
            <a:ext cx="116114" cy="69669"/>
          </a:xfrm>
          <a:prstGeom prst="line">
            <a:avLst/>
          </a:prstGeom>
          <a:noFill/>
          <a:ln w="20320">
            <a:solidFill>
              <a:srgbClr val="252525"/>
            </a:solidFill>
            <a:prstDash val="solid"/>
          </a:ln>
        </p:spPr>
      </p:sp>
      <p:sp>
        <p:nvSpPr>
          <p:cNvPr id="25" name="Shape 21"/>
          <p:cNvSpPr/>
          <p:nvPr/>
        </p:nvSpPr>
        <p:spPr>
          <a:xfrm>
            <a:off x="2859677" y="6124303"/>
            <a:ext cx="20320" cy="69669"/>
          </a:xfrm>
          <a:prstGeom prst="rect">
            <a:avLst/>
          </a:prstGeom>
          <a:solidFill>
            <a:srgbClr val="252525"/>
          </a:solidFill>
          <a:ln w="12700">
            <a:solidFill>
              <a:srgbClr val="252525"/>
            </a:solidFill>
            <a:prstDash val="solid"/>
          </a:ln>
        </p:spPr>
      </p:sp>
      <p:sp>
        <p:nvSpPr>
          <p:cNvPr id="26" name="Shape 22"/>
          <p:cNvSpPr/>
          <p:nvPr/>
        </p:nvSpPr>
        <p:spPr>
          <a:xfrm flipV="1">
            <a:off x="2869837" y="6124303"/>
            <a:ext cx="127726" cy="69669"/>
          </a:xfrm>
          <a:prstGeom prst="line">
            <a:avLst/>
          </a:prstGeom>
          <a:noFill/>
          <a:ln w="20320">
            <a:solidFill>
              <a:srgbClr val="252525"/>
            </a:solidFill>
            <a:prstDash val="solid"/>
          </a:ln>
        </p:spPr>
      </p:sp>
      <p:sp>
        <p:nvSpPr>
          <p:cNvPr id="27" name="Shape 23"/>
          <p:cNvSpPr/>
          <p:nvPr/>
        </p:nvSpPr>
        <p:spPr>
          <a:xfrm>
            <a:off x="2987403" y="6124303"/>
            <a:ext cx="20320" cy="267063"/>
          </a:xfrm>
          <a:prstGeom prst="rect">
            <a:avLst/>
          </a:prstGeom>
          <a:solidFill>
            <a:srgbClr val="252525"/>
          </a:solidFill>
          <a:ln w="12700">
            <a:solidFill>
              <a:srgbClr val="252525"/>
            </a:solidFill>
            <a:prstDash val="solid"/>
          </a:ln>
        </p:spPr>
      </p:sp>
      <p:sp>
        <p:nvSpPr>
          <p:cNvPr id="28" name="Shape 24"/>
          <p:cNvSpPr/>
          <p:nvPr/>
        </p:nvSpPr>
        <p:spPr>
          <a:xfrm>
            <a:off x="3033849" y="6054634"/>
            <a:ext cx="20320" cy="185783"/>
          </a:xfrm>
          <a:prstGeom prst="rect">
            <a:avLst/>
          </a:prstGeom>
          <a:solidFill>
            <a:srgbClr val="252525"/>
          </a:solidFill>
          <a:ln w="12700">
            <a:solidFill>
              <a:srgbClr val="252525"/>
            </a:solidFill>
            <a:prstDash val="solid"/>
          </a:ln>
        </p:spPr>
      </p:sp>
      <p:sp>
        <p:nvSpPr>
          <p:cNvPr id="29" name="Shape 25"/>
          <p:cNvSpPr/>
          <p:nvPr/>
        </p:nvSpPr>
        <p:spPr>
          <a:xfrm>
            <a:off x="3091906" y="6054634"/>
            <a:ext cx="20320" cy="336731"/>
          </a:xfrm>
          <a:prstGeom prst="rect">
            <a:avLst/>
          </a:prstGeom>
          <a:solidFill>
            <a:srgbClr val="252525"/>
          </a:solidFill>
          <a:ln w="12700">
            <a:solidFill>
              <a:srgbClr val="252525"/>
            </a:solidFill>
            <a:prstDash val="solid"/>
          </a:ln>
        </p:spPr>
      </p:sp>
      <p:sp>
        <p:nvSpPr>
          <p:cNvPr id="30" name="Shape 26"/>
          <p:cNvSpPr/>
          <p:nvPr/>
        </p:nvSpPr>
        <p:spPr>
          <a:xfrm>
            <a:off x="3044009" y="6044474"/>
            <a:ext cx="58057" cy="20320"/>
          </a:xfrm>
          <a:prstGeom prst="rect">
            <a:avLst/>
          </a:prstGeom>
          <a:solidFill>
            <a:srgbClr val="252525"/>
          </a:solidFill>
          <a:ln w="12700">
            <a:solidFill>
              <a:srgbClr val="252525"/>
            </a:solidFill>
            <a:prstDash val="solid"/>
          </a:ln>
        </p:spPr>
      </p:sp>
      <p:sp>
        <p:nvSpPr>
          <p:cNvPr id="31" name="Shape 27"/>
          <p:cNvSpPr/>
          <p:nvPr/>
        </p:nvSpPr>
        <p:spPr>
          <a:xfrm>
            <a:off x="2811780" y="6276703"/>
            <a:ext cx="34834" cy="20320"/>
          </a:xfrm>
          <a:prstGeom prst="rect">
            <a:avLst/>
          </a:prstGeom>
          <a:solidFill>
            <a:srgbClr val="252525"/>
          </a:solidFill>
          <a:ln w="12700">
            <a:solidFill>
              <a:srgbClr val="252525"/>
            </a:solidFill>
            <a:prstDash val="solid"/>
          </a:ln>
        </p:spPr>
      </p:sp>
      <p:sp>
        <p:nvSpPr>
          <p:cNvPr id="32" name="Shape 28"/>
          <p:cNvSpPr/>
          <p:nvPr/>
        </p:nvSpPr>
        <p:spPr>
          <a:xfrm>
            <a:off x="2916283" y="6276703"/>
            <a:ext cx="34834" cy="20320"/>
          </a:xfrm>
          <a:prstGeom prst="rect">
            <a:avLst/>
          </a:prstGeom>
          <a:solidFill>
            <a:srgbClr val="252525"/>
          </a:solidFill>
          <a:ln w="12700">
            <a:solidFill>
              <a:srgbClr val="252525"/>
            </a:solidFill>
            <a:prstDash val="solid"/>
          </a:ln>
        </p:spPr>
      </p:sp>
      <p:sp>
        <p:nvSpPr>
          <p:cNvPr id="33" name="Text 29"/>
          <p:cNvSpPr/>
          <p:nvPr/>
        </p:nvSpPr>
        <p:spPr>
          <a:xfrm>
            <a:off x="2730500" y="6616700"/>
            <a:ext cx="2095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ASSEMBLY</a:t>
            </a:r>
            <a:endParaRPr lang="en-US" sz="1000" dirty="0"/>
          </a:p>
        </p:txBody>
      </p:sp>
      <p:sp>
        <p:nvSpPr>
          <p:cNvPr id="34" name="Text 30"/>
          <p:cNvSpPr/>
          <p:nvPr/>
        </p:nvSpPr>
        <p:spPr>
          <a:xfrm>
            <a:off x="2730500" y="7010400"/>
            <a:ext cx="2095500" cy="762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Local work is one part of the value.</a:t>
            </a:r>
            <a:endParaRPr lang="en-US" sz="1050" dirty="0"/>
          </a:p>
        </p:txBody>
      </p:sp>
      <p:sp>
        <p:nvSpPr>
          <p:cNvPr id="35" name="Text 31"/>
          <p:cNvSpPr/>
          <p:nvPr/>
        </p:nvSpPr>
        <p:spPr>
          <a:xfrm>
            <a:off x="4508500" y="60579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36" name="Shape 32"/>
          <p:cNvSpPr/>
          <p:nvPr/>
        </p:nvSpPr>
        <p:spPr>
          <a:xfrm flipV="1">
            <a:off x="5038634" y="6054634"/>
            <a:ext cx="162560" cy="162560"/>
          </a:xfrm>
          <a:prstGeom prst="line">
            <a:avLst/>
          </a:prstGeom>
          <a:noFill/>
          <a:ln w="20320">
            <a:solidFill>
              <a:srgbClr val="252525"/>
            </a:solidFill>
            <a:prstDash val="solid"/>
          </a:ln>
        </p:spPr>
      </p:sp>
      <p:sp>
        <p:nvSpPr>
          <p:cNvPr id="37" name="Shape 33"/>
          <p:cNvSpPr/>
          <p:nvPr/>
        </p:nvSpPr>
        <p:spPr>
          <a:xfrm>
            <a:off x="5201194" y="6054634"/>
            <a:ext cx="162560" cy="162560"/>
          </a:xfrm>
          <a:prstGeom prst="line">
            <a:avLst/>
          </a:prstGeom>
          <a:noFill/>
          <a:ln w="20320">
            <a:solidFill>
              <a:srgbClr val="252525"/>
            </a:solidFill>
            <a:prstDash val="solid"/>
          </a:ln>
        </p:spPr>
      </p:sp>
      <p:sp>
        <p:nvSpPr>
          <p:cNvPr id="38" name="Shape 34"/>
          <p:cNvSpPr/>
          <p:nvPr/>
        </p:nvSpPr>
        <p:spPr>
          <a:xfrm>
            <a:off x="5201194" y="6217194"/>
            <a:ext cx="162560" cy="162560"/>
          </a:xfrm>
          <a:prstGeom prst="line">
            <a:avLst/>
          </a:prstGeom>
          <a:noFill/>
          <a:ln w="20320">
            <a:solidFill>
              <a:srgbClr val="252525"/>
            </a:solidFill>
            <a:prstDash val="solid"/>
          </a:ln>
        </p:spPr>
      </p:sp>
      <p:sp>
        <p:nvSpPr>
          <p:cNvPr id="39" name="Shape 35"/>
          <p:cNvSpPr/>
          <p:nvPr/>
        </p:nvSpPr>
        <p:spPr>
          <a:xfrm flipV="1">
            <a:off x="5038634" y="6217194"/>
            <a:ext cx="162560" cy="162560"/>
          </a:xfrm>
          <a:prstGeom prst="line">
            <a:avLst/>
          </a:prstGeom>
          <a:noFill/>
          <a:ln w="20320">
            <a:solidFill>
              <a:srgbClr val="252525"/>
            </a:solidFill>
            <a:prstDash val="solid"/>
          </a:ln>
        </p:spPr>
      </p:sp>
      <p:sp>
        <p:nvSpPr>
          <p:cNvPr id="40" name="Shape 36"/>
          <p:cNvSpPr/>
          <p:nvPr/>
        </p:nvSpPr>
        <p:spPr>
          <a:xfrm>
            <a:off x="5038634" y="6207034"/>
            <a:ext cx="325120" cy="20320"/>
          </a:xfrm>
          <a:prstGeom prst="rect">
            <a:avLst/>
          </a:prstGeom>
          <a:solidFill>
            <a:srgbClr val="252525"/>
          </a:solidFill>
          <a:ln w="12700">
            <a:solidFill>
              <a:srgbClr val="252525"/>
            </a:solidFill>
            <a:prstDash val="solid"/>
          </a:ln>
        </p:spPr>
      </p:sp>
      <p:sp>
        <p:nvSpPr>
          <p:cNvPr id="41" name="Shape 37"/>
          <p:cNvSpPr/>
          <p:nvPr/>
        </p:nvSpPr>
        <p:spPr>
          <a:xfrm>
            <a:off x="5015411" y="6193971"/>
            <a:ext cx="46446" cy="46446"/>
          </a:xfrm>
          <a:prstGeom prst="ellipse">
            <a:avLst/>
          </a:prstGeom>
          <a:solidFill>
            <a:srgbClr val="252525"/>
          </a:solidFill>
          <a:ln w="12700">
            <a:solidFill>
              <a:srgbClr val="252525"/>
            </a:solidFill>
            <a:prstDash val="solid"/>
          </a:ln>
        </p:spPr>
      </p:sp>
      <p:sp>
        <p:nvSpPr>
          <p:cNvPr id="42" name="Shape 38"/>
          <p:cNvSpPr/>
          <p:nvPr/>
        </p:nvSpPr>
        <p:spPr>
          <a:xfrm>
            <a:off x="5177971" y="6031411"/>
            <a:ext cx="46446" cy="46446"/>
          </a:xfrm>
          <a:prstGeom prst="ellipse">
            <a:avLst/>
          </a:prstGeom>
          <a:solidFill>
            <a:srgbClr val="252525"/>
          </a:solidFill>
          <a:ln w="12700">
            <a:solidFill>
              <a:srgbClr val="252525"/>
            </a:solidFill>
            <a:prstDash val="solid"/>
          </a:ln>
        </p:spPr>
      </p:sp>
      <p:sp>
        <p:nvSpPr>
          <p:cNvPr id="43" name="Shape 39"/>
          <p:cNvSpPr/>
          <p:nvPr/>
        </p:nvSpPr>
        <p:spPr>
          <a:xfrm>
            <a:off x="5340531" y="6193971"/>
            <a:ext cx="46446" cy="46446"/>
          </a:xfrm>
          <a:prstGeom prst="ellipse">
            <a:avLst/>
          </a:prstGeom>
          <a:solidFill>
            <a:srgbClr val="252525"/>
          </a:solidFill>
          <a:ln w="12700">
            <a:solidFill>
              <a:srgbClr val="252525"/>
            </a:solidFill>
            <a:prstDash val="solid"/>
          </a:ln>
        </p:spPr>
      </p:sp>
      <p:sp>
        <p:nvSpPr>
          <p:cNvPr id="44" name="Shape 40"/>
          <p:cNvSpPr/>
          <p:nvPr/>
        </p:nvSpPr>
        <p:spPr>
          <a:xfrm>
            <a:off x="5177971" y="6356531"/>
            <a:ext cx="46446" cy="46446"/>
          </a:xfrm>
          <a:prstGeom prst="ellipse">
            <a:avLst/>
          </a:prstGeom>
          <a:solidFill>
            <a:srgbClr val="252525"/>
          </a:solidFill>
          <a:ln w="12700">
            <a:solidFill>
              <a:srgbClr val="252525"/>
            </a:solidFill>
            <a:prstDash val="solid"/>
          </a:ln>
        </p:spPr>
      </p:sp>
      <p:sp>
        <p:nvSpPr>
          <p:cNvPr id="45" name="Text 41"/>
          <p:cNvSpPr/>
          <p:nvPr/>
        </p:nvSpPr>
        <p:spPr>
          <a:xfrm>
            <a:off x="5003800" y="6616700"/>
            <a:ext cx="2095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SUPPLIERS</a:t>
            </a:r>
            <a:endParaRPr lang="en-US" sz="1000" dirty="0"/>
          </a:p>
        </p:txBody>
      </p:sp>
      <p:sp>
        <p:nvSpPr>
          <p:cNvPr id="46" name="Text 42"/>
          <p:cNvSpPr/>
          <p:nvPr/>
        </p:nvSpPr>
        <p:spPr>
          <a:xfrm>
            <a:off x="5003800" y="7010400"/>
            <a:ext cx="2095500" cy="762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Local links may deepen—or stay thin.</a:t>
            </a:r>
            <a:endParaRPr lang="en-US" sz="1050" dirty="0"/>
          </a:p>
        </p:txBody>
      </p:sp>
      <p:sp>
        <p:nvSpPr>
          <p:cNvPr id="47" name="Text 43"/>
          <p:cNvSpPr/>
          <p:nvPr/>
        </p:nvSpPr>
        <p:spPr>
          <a:xfrm>
            <a:off x="457200" y="8064500"/>
            <a:ext cx="6642100" cy="508000"/>
          </a:xfrm>
          <a:prstGeom prst="rect">
            <a:avLst/>
          </a:prstGeom>
          <a:noFill/>
          <a:ln/>
        </p:spPr>
        <p:txBody>
          <a:bodyPr wrap="square" lIns="0" tIns="0" rIns="0" bIns="0" rtlCol="0" anchor="t"/>
          <a:lstStyle/>
          <a:p>
            <a:pPr indent="0" marL="0">
              <a:lnSpc>
                <a:spcPct val="112000"/>
              </a:lnSpc>
              <a:buNone/>
            </a:pPr>
            <a:r>
              <a:rPr lang="en-US" sz="2400" b="1" dirty="0">
                <a:solidFill>
                  <a:srgbClr val="252525"/>
                </a:solidFill>
                <a:latin typeface="Alegreya" pitchFamily="34" charset="0"/>
                <a:ea typeface="Alegreya" pitchFamily="34" charset="-122"/>
                <a:cs typeface="Alegreya" pitchFamily="34" charset="-120"/>
              </a:rPr>
              <a:t>Exports ≠ local value ≠ local skills.</a:t>
            </a:r>
            <a:endParaRPr lang="en-US" sz="2400" dirty="0"/>
          </a:p>
        </p:txBody>
      </p:sp>
      <p:sp>
        <p:nvSpPr>
          <p:cNvPr id="48" name="Text 44"/>
          <p:cNvSpPr/>
          <p:nvPr/>
        </p:nvSpPr>
        <p:spPr>
          <a:xfrm>
            <a:off x="457200" y="8572500"/>
            <a:ext cx="6642100" cy="2921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Manufacturing share measures production mix, not technological capability. More assembly does not automatically mean deeper domestic learning.</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SOUTH KOREA</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Not an overnight miracle.</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South Korea built skills and firms over time. It also made costly policy mistakes.</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The sequence cannot isolate culture as the cause. Other countries cannot copy its history, security setting or international opportunities.</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(1993, pp. 20–26, 127–130, 159–161, 242). Rodrik (1995): competing investment-coordination argument; registered working-paper abstract, not a page-specific causal estimate.</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13</a:t>
            </a:r>
            <a:endParaRPr lang="en-US" sz="1000" dirty="0"/>
          </a:p>
        </p:txBody>
      </p:sp>
      <p:sp>
        <p:nvSpPr>
          <p:cNvPr id="12" name="Text 10"/>
          <p:cNvSpPr/>
          <p:nvPr/>
        </p:nvSpPr>
        <p:spPr>
          <a:xfrm>
            <a:off x="457200" y="3048000"/>
            <a:ext cx="1752600" cy="444500"/>
          </a:xfrm>
          <a:prstGeom prst="rect">
            <a:avLst/>
          </a:prstGeom>
          <a:noFill/>
          <a:ln/>
        </p:spPr>
        <p:txBody>
          <a:bodyPr wrap="square" lIns="0" tIns="0" rIns="0" bIns="0" rtlCol="0" anchor="t"/>
          <a:lstStyle/>
          <a:p>
            <a:pPr indent="0" marL="0">
              <a:lnSpc>
                <a:spcPct val="112000"/>
              </a:lnSpc>
              <a:buNone/>
            </a:pPr>
            <a:r>
              <a:rPr lang="en-US" sz="2700" b="1" dirty="0">
                <a:solidFill>
                  <a:srgbClr val="315A78"/>
                </a:solidFill>
                <a:latin typeface="Montserrat" pitchFamily="34" charset="0"/>
                <a:ea typeface="Montserrat" pitchFamily="34" charset="-122"/>
                <a:cs typeface="Montserrat" pitchFamily="34" charset="-120"/>
              </a:rPr>
              <a:t>1950s</a:t>
            </a:r>
            <a:endParaRPr lang="en-US" sz="2700" dirty="0"/>
          </a:p>
        </p:txBody>
      </p:sp>
      <p:sp>
        <p:nvSpPr>
          <p:cNvPr id="13" name="Text 11"/>
          <p:cNvSpPr/>
          <p:nvPr/>
        </p:nvSpPr>
        <p:spPr>
          <a:xfrm>
            <a:off x="2413000" y="3048000"/>
            <a:ext cx="4686300" cy="368300"/>
          </a:xfrm>
          <a:prstGeom prst="rect">
            <a:avLst/>
          </a:prstGeom>
          <a:noFill/>
          <a:ln/>
        </p:spPr>
        <p:txBody>
          <a:bodyPr wrap="square" lIns="0" tIns="0" rIns="0" bIns="0" rtlCol="0" anchor="t"/>
          <a:lstStyle/>
          <a:p>
            <a:pPr indent="0" marL="0">
              <a:lnSpc>
                <a:spcPct val="112000"/>
              </a:lnSpc>
              <a:buNone/>
            </a:pPr>
            <a:r>
              <a:rPr lang="en-US" sz="2000" b="1" dirty="0">
                <a:solidFill>
                  <a:srgbClr val="252525"/>
                </a:solidFill>
                <a:latin typeface="Montserrat" pitchFamily="34" charset="0"/>
                <a:ea typeface="Montserrat" pitchFamily="34" charset="-122"/>
                <a:cs typeface="Montserrat" pitchFamily="34" charset="-120"/>
              </a:rPr>
              <a:t>Recover</a:t>
            </a:r>
            <a:endParaRPr lang="en-US" sz="2000" dirty="0"/>
          </a:p>
        </p:txBody>
      </p:sp>
      <p:sp>
        <p:nvSpPr>
          <p:cNvPr id="14" name="Text 12"/>
          <p:cNvSpPr/>
          <p:nvPr/>
        </p:nvSpPr>
        <p:spPr>
          <a:xfrm>
            <a:off x="2413000" y="3530600"/>
            <a:ext cx="4686300" cy="571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Education, agricultural change and infrastructure helped build foundations.</a:t>
            </a:r>
            <a:endParaRPr lang="en-US" sz="1050" dirty="0"/>
          </a:p>
        </p:txBody>
      </p:sp>
      <p:sp>
        <p:nvSpPr>
          <p:cNvPr id="15" name="Text 13"/>
          <p:cNvSpPr/>
          <p:nvPr/>
        </p:nvSpPr>
        <p:spPr>
          <a:xfrm>
            <a:off x="457200" y="4114800"/>
            <a:ext cx="1752600" cy="444500"/>
          </a:xfrm>
          <a:prstGeom prst="rect">
            <a:avLst/>
          </a:prstGeom>
          <a:noFill/>
          <a:ln/>
        </p:spPr>
        <p:txBody>
          <a:bodyPr wrap="square" lIns="0" tIns="0" rIns="0" bIns="0" rtlCol="0" anchor="t"/>
          <a:lstStyle/>
          <a:p>
            <a:pPr indent="0" marL="0">
              <a:lnSpc>
                <a:spcPct val="112000"/>
              </a:lnSpc>
              <a:buNone/>
            </a:pPr>
            <a:r>
              <a:rPr lang="en-US" sz="2700" b="1" dirty="0">
                <a:solidFill>
                  <a:srgbClr val="315A78"/>
                </a:solidFill>
                <a:latin typeface="Montserrat" pitchFamily="34" charset="0"/>
                <a:ea typeface="Montserrat" pitchFamily="34" charset="-122"/>
                <a:cs typeface="Montserrat" pitchFamily="34" charset="-120"/>
              </a:rPr>
              <a:t>1960s</a:t>
            </a:r>
            <a:endParaRPr lang="en-US" sz="2700" dirty="0"/>
          </a:p>
        </p:txBody>
      </p:sp>
      <p:sp>
        <p:nvSpPr>
          <p:cNvPr id="16" name="Text 14"/>
          <p:cNvSpPr/>
          <p:nvPr/>
        </p:nvSpPr>
        <p:spPr>
          <a:xfrm>
            <a:off x="2413000" y="4114800"/>
            <a:ext cx="4686300" cy="368300"/>
          </a:xfrm>
          <a:prstGeom prst="rect">
            <a:avLst/>
          </a:prstGeom>
          <a:noFill/>
          <a:ln/>
        </p:spPr>
        <p:txBody>
          <a:bodyPr wrap="square" lIns="0" tIns="0" rIns="0" bIns="0" rtlCol="0" anchor="t"/>
          <a:lstStyle/>
          <a:p>
            <a:pPr indent="0" marL="0">
              <a:lnSpc>
                <a:spcPct val="112000"/>
              </a:lnSpc>
              <a:buNone/>
            </a:pPr>
            <a:r>
              <a:rPr lang="en-US" sz="2000" b="1" dirty="0">
                <a:solidFill>
                  <a:srgbClr val="252525"/>
                </a:solidFill>
                <a:latin typeface="Montserrat" pitchFamily="34" charset="0"/>
                <a:ea typeface="Montserrat" pitchFamily="34" charset="-122"/>
                <a:cs typeface="Montserrat" pitchFamily="34" charset="-120"/>
              </a:rPr>
              <a:t>Coordinate</a:t>
            </a:r>
            <a:endParaRPr lang="en-US" sz="2000" dirty="0"/>
          </a:p>
        </p:txBody>
      </p:sp>
      <p:sp>
        <p:nvSpPr>
          <p:cNvPr id="17" name="Text 15"/>
          <p:cNvSpPr/>
          <p:nvPr/>
        </p:nvSpPr>
        <p:spPr>
          <a:xfrm>
            <a:off x="2413000" y="4597400"/>
            <a:ext cx="4686300" cy="571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Credit and investment worked alongside export incentives and performance pressure.</a:t>
            </a:r>
            <a:endParaRPr lang="en-US" sz="1050" dirty="0"/>
          </a:p>
        </p:txBody>
      </p:sp>
      <p:sp>
        <p:nvSpPr>
          <p:cNvPr id="18" name="Text 16"/>
          <p:cNvSpPr/>
          <p:nvPr/>
        </p:nvSpPr>
        <p:spPr>
          <a:xfrm>
            <a:off x="457200" y="5181600"/>
            <a:ext cx="1752600" cy="444500"/>
          </a:xfrm>
          <a:prstGeom prst="rect">
            <a:avLst/>
          </a:prstGeom>
          <a:noFill/>
          <a:ln/>
        </p:spPr>
        <p:txBody>
          <a:bodyPr wrap="square" lIns="0" tIns="0" rIns="0" bIns="0" rtlCol="0" anchor="t"/>
          <a:lstStyle/>
          <a:p>
            <a:pPr indent="0" marL="0">
              <a:lnSpc>
                <a:spcPct val="112000"/>
              </a:lnSpc>
              <a:buNone/>
            </a:pPr>
            <a:r>
              <a:rPr lang="en-US" sz="2700" b="1" dirty="0">
                <a:solidFill>
                  <a:srgbClr val="315A78"/>
                </a:solidFill>
                <a:latin typeface="Montserrat" pitchFamily="34" charset="0"/>
                <a:ea typeface="Montserrat" pitchFamily="34" charset="-122"/>
                <a:cs typeface="Montserrat" pitchFamily="34" charset="-120"/>
              </a:rPr>
              <a:t>1970s</a:t>
            </a:r>
            <a:endParaRPr lang="en-US" sz="2700" dirty="0"/>
          </a:p>
        </p:txBody>
      </p:sp>
      <p:sp>
        <p:nvSpPr>
          <p:cNvPr id="19" name="Text 17"/>
          <p:cNvSpPr/>
          <p:nvPr/>
        </p:nvSpPr>
        <p:spPr>
          <a:xfrm>
            <a:off x="2413000" y="5181600"/>
            <a:ext cx="4686300" cy="368300"/>
          </a:xfrm>
          <a:prstGeom prst="rect">
            <a:avLst/>
          </a:prstGeom>
          <a:noFill/>
          <a:ln/>
        </p:spPr>
        <p:txBody>
          <a:bodyPr wrap="square" lIns="0" tIns="0" rIns="0" bIns="0" rtlCol="0" anchor="t"/>
          <a:lstStyle/>
          <a:p>
            <a:pPr indent="0" marL="0">
              <a:lnSpc>
                <a:spcPct val="112000"/>
              </a:lnSpc>
              <a:buNone/>
            </a:pPr>
            <a:r>
              <a:rPr lang="en-US" sz="2000" b="1" dirty="0">
                <a:solidFill>
                  <a:srgbClr val="252525"/>
                </a:solidFill>
                <a:latin typeface="Montserrat" pitchFamily="34" charset="0"/>
                <a:ea typeface="Montserrat" pitchFamily="34" charset="-122"/>
                <a:cs typeface="Montserrat" pitchFamily="34" charset="-120"/>
              </a:rPr>
              <a:t>Push—and pay</a:t>
            </a:r>
            <a:endParaRPr lang="en-US" sz="2000" dirty="0"/>
          </a:p>
        </p:txBody>
      </p:sp>
      <p:sp>
        <p:nvSpPr>
          <p:cNvPr id="20" name="Text 18"/>
          <p:cNvSpPr/>
          <p:nvPr/>
        </p:nvSpPr>
        <p:spPr>
          <a:xfrm>
            <a:off x="2413000" y="5664200"/>
            <a:ext cx="4686300" cy="571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Heavy industry expanded, but brought debt, bottlenecks and other costs.</a:t>
            </a:r>
            <a:endParaRPr lang="en-US" sz="1050" dirty="0"/>
          </a:p>
        </p:txBody>
      </p:sp>
      <p:sp>
        <p:nvSpPr>
          <p:cNvPr id="21" name="Text 19"/>
          <p:cNvSpPr/>
          <p:nvPr/>
        </p:nvSpPr>
        <p:spPr>
          <a:xfrm>
            <a:off x="457200" y="6248400"/>
            <a:ext cx="1752600" cy="444500"/>
          </a:xfrm>
          <a:prstGeom prst="rect">
            <a:avLst/>
          </a:prstGeom>
          <a:noFill/>
          <a:ln/>
        </p:spPr>
        <p:txBody>
          <a:bodyPr wrap="square" lIns="0" tIns="0" rIns="0" bIns="0" rtlCol="0" anchor="t"/>
          <a:lstStyle/>
          <a:p>
            <a:pPr indent="0" marL="0">
              <a:lnSpc>
                <a:spcPct val="112000"/>
              </a:lnSpc>
              <a:buNone/>
            </a:pPr>
            <a:r>
              <a:rPr lang="en-US" sz="2700" b="1" dirty="0">
                <a:solidFill>
                  <a:srgbClr val="315A78"/>
                </a:solidFill>
                <a:latin typeface="Montserrat" pitchFamily="34" charset="0"/>
                <a:ea typeface="Montserrat" pitchFamily="34" charset="-122"/>
                <a:cs typeface="Montserrat" pitchFamily="34" charset="-120"/>
              </a:rPr>
              <a:t>1980s</a:t>
            </a:r>
            <a:endParaRPr lang="en-US" sz="2700" dirty="0"/>
          </a:p>
        </p:txBody>
      </p:sp>
      <p:sp>
        <p:nvSpPr>
          <p:cNvPr id="22" name="Text 20"/>
          <p:cNvSpPr/>
          <p:nvPr/>
        </p:nvSpPr>
        <p:spPr>
          <a:xfrm>
            <a:off x="2413000" y="6248400"/>
            <a:ext cx="4686300" cy="368300"/>
          </a:xfrm>
          <a:prstGeom prst="rect">
            <a:avLst/>
          </a:prstGeom>
          <a:noFill/>
          <a:ln/>
        </p:spPr>
        <p:txBody>
          <a:bodyPr wrap="square" lIns="0" tIns="0" rIns="0" bIns="0" rtlCol="0" anchor="t"/>
          <a:lstStyle/>
          <a:p>
            <a:pPr indent="0" marL="0">
              <a:lnSpc>
                <a:spcPct val="112000"/>
              </a:lnSpc>
              <a:buNone/>
            </a:pPr>
            <a:r>
              <a:rPr lang="en-US" sz="2000" b="1" dirty="0">
                <a:solidFill>
                  <a:srgbClr val="252525"/>
                </a:solidFill>
                <a:latin typeface="Montserrat" pitchFamily="34" charset="0"/>
                <a:ea typeface="Montserrat" pitchFamily="34" charset="-122"/>
                <a:cs typeface="Montserrat" pitchFamily="34" charset="-120"/>
              </a:rPr>
              <a:t>Correct and upgrade</a:t>
            </a:r>
            <a:endParaRPr lang="en-US" sz="2000" dirty="0"/>
          </a:p>
        </p:txBody>
      </p:sp>
      <p:sp>
        <p:nvSpPr>
          <p:cNvPr id="23" name="Text 21"/>
          <p:cNvSpPr/>
          <p:nvPr/>
        </p:nvSpPr>
        <p:spPr>
          <a:xfrm>
            <a:off x="2413000" y="6731000"/>
            <a:ext cx="4686300" cy="571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Policy adjustment accompanied deeper firm learning and technological upgrading.</a:t>
            </a:r>
            <a:endParaRPr lang="en-US" sz="1050" dirty="0"/>
          </a:p>
        </p:txBody>
      </p:sp>
      <p:sp>
        <p:nvSpPr>
          <p:cNvPr id="24" name="Shape 22"/>
          <p:cNvSpPr/>
          <p:nvPr/>
        </p:nvSpPr>
        <p:spPr>
          <a:xfrm>
            <a:off x="457200" y="7531100"/>
            <a:ext cx="6642100" cy="1295400"/>
          </a:xfrm>
          <a:prstGeom prst="rect">
            <a:avLst/>
          </a:prstGeom>
          <a:solidFill>
            <a:srgbClr val="252525"/>
          </a:solidFill>
          <a:ln w="12700">
            <a:solidFill>
              <a:srgbClr val="252525"/>
            </a:solidFill>
            <a:prstDash val="solid"/>
          </a:ln>
        </p:spPr>
      </p:sp>
      <p:sp>
        <p:nvSpPr>
          <p:cNvPr id="25" name="Text 23"/>
          <p:cNvSpPr/>
          <p:nvPr/>
        </p:nvSpPr>
        <p:spPr>
          <a:xfrm>
            <a:off x="635000" y="7683500"/>
            <a:ext cx="62865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26" name="Text 24"/>
          <p:cNvSpPr/>
          <p:nvPr/>
        </p:nvSpPr>
        <p:spPr>
          <a:xfrm>
            <a:off x="635000" y="7962900"/>
            <a:ext cx="6286500" cy="7620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Learn from South Korea. Don’t photocopy it. We value cooperation and long-term effort, but these are lessons to adapt—not proof of a superior culture.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GHANA + SOUTH KOREA</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A huge gap. Not a controlled test.</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GDP per capita · constant 2015 US dollars per person · 1960, 1990, 2020</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A two-country trajectory cannot isolate culture, colonial rule, policy, institutions or any single cause. Straight lines connect anchors, not annual estimates.</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14</a:t>
            </a:r>
            <a:endParaRPr lang="en-US" sz="1000" dirty="0"/>
          </a:p>
        </p:txBody>
      </p:sp>
      <p:sp>
        <p:nvSpPr>
          <p:cNvPr id="12" name="Shape 10"/>
          <p:cNvSpPr/>
          <p:nvPr/>
        </p:nvSpPr>
        <p:spPr>
          <a:xfrm>
            <a:off x="1257300" y="7146608"/>
            <a:ext cx="5219700" cy="6985"/>
          </a:xfrm>
          <a:prstGeom prst="rect">
            <a:avLst/>
          </a:prstGeom>
          <a:solidFill>
            <a:srgbClr val="B7B0A4"/>
          </a:solidFill>
          <a:ln w="12700">
            <a:solidFill>
              <a:srgbClr val="B7B0A4"/>
            </a:solidFill>
            <a:prstDash val="solid"/>
          </a:ln>
        </p:spPr>
      </p:sp>
      <p:sp>
        <p:nvSpPr>
          <p:cNvPr id="13" name="Text 11"/>
          <p:cNvSpPr/>
          <p:nvPr/>
        </p:nvSpPr>
        <p:spPr>
          <a:xfrm>
            <a:off x="457200" y="7086600"/>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0</a:t>
            </a:r>
            <a:endParaRPr lang="en-US" sz="850" dirty="0"/>
          </a:p>
        </p:txBody>
      </p:sp>
      <p:sp>
        <p:nvSpPr>
          <p:cNvPr id="14" name="Shape 12"/>
          <p:cNvSpPr/>
          <p:nvPr/>
        </p:nvSpPr>
        <p:spPr>
          <a:xfrm>
            <a:off x="1257300" y="6087065"/>
            <a:ext cx="5219700" cy="6985"/>
          </a:xfrm>
          <a:prstGeom prst="rect">
            <a:avLst/>
          </a:prstGeom>
          <a:solidFill>
            <a:srgbClr val="B7B0A4"/>
          </a:solidFill>
          <a:ln w="12700">
            <a:solidFill>
              <a:srgbClr val="B7B0A4"/>
            </a:solidFill>
            <a:prstDash val="solid"/>
          </a:ln>
        </p:spPr>
      </p:sp>
      <p:sp>
        <p:nvSpPr>
          <p:cNvPr id="15" name="Text 13"/>
          <p:cNvSpPr/>
          <p:nvPr/>
        </p:nvSpPr>
        <p:spPr>
          <a:xfrm>
            <a:off x="457200" y="6027057"/>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10k</a:t>
            </a:r>
            <a:endParaRPr lang="en-US" sz="850" dirty="0"/>
          </a:p>
        </p:txBody>
      </p:sp>
      <p:sp>
        <p:nvSpPr>
          <p:cNvPr id="16" name="Shape 14"/>
          <p:cNvSpPr/>
          <p:nvPr/>
        </p:nvSpPr>
        <p:spPr>
          <a:xfrm>
            <a:off x="1257300" y="5027522"/>
            <a:ext cx="5219700" cy="6985"/>
          </a:xfrm>
          <a:prstGeom prst="rect">
            <a:avLst/>
          </a:prstGeom>
          <a:solidFill>
            <a:srgbClr val="B7B0A4"/>
          </a:solidFill>
          <a:ln w="12700">
            <a:solidFill>
              <a:srgbClr val="B7B0A4"/>
            </a:solidFill>
            <a:prstDash val="solid"/>
          </a:ln>
        </p:spPr>
      </p:sp>
      <p:sp>
        <p:nvSpPr>
          <p:cNvPr id="17" name="Text 15"/>
          <p:cNvSpPr/>
          <p:nvPr/>
        </p:nvSpPr>
        <p:spPr>
          <a:xfrm>
            <a:off x="457200" y="4967514"/>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20k</a:t>
            </a:r>
            <a:endParaRPr lang="en-US" sz="850" dirty="0"/>
          </a:p>
        </p:txBody>
      </p:sp>
      <p:sp>
        <p:nvSpPr>
          <p:cNvPr id="18" name="Shape 16"/>
          <p:cNvSpPr/>
          <p:nvPr/>
        </p:nvSpPr>
        <p:spPr>
          <a:xfrm>
            <a:off x="1257300" y="3967979"/>
            <a:ext cx="5219700" cy="6985"/>
          </a:xfrm>
          <a:prstGeom prst="rect">
            <a:avLst/>
          </a:prstGeom>
          <a:solidFill>
            <a:srgbClr val="B7B0A4"/>
          </a:solidFill>
          <a:ln w="12700">
            <a:solidFill>
              <a:srgbClr val="B7B0A4"/>
            </a:solidFill>
            <a:prstDash val="solid"/>
          </a:ln>
        </p:spPr>
      </p:sp>
      <p:sp>
        <p:nvSpPr>
          <p:cNvPr id="19" name="Text 17"/>
          <p:cNvSpPr/>
          <p:nvPr/>
        </p:nvSpPr>
        <p:spPr>
          <a:xfrm>
            <a:off x="457200" y="3907971"/>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30k</a:t>
            </a:r>
            <a:endParaRPr lang="en-US" sz="850" dirty="0"/>
          </a:p>
        </p:txBody>
      </p:sp>
      <p:sp>
        <p:nvSpPr>
          <p:cNvPr id="20" name="Shape 18"/>
          <p:cNvSpPr/>
          <p:nvPr/>
        </p:nvSpPr>
        <p:spPr>
          <a:xfrm>
            <a:off x="1257300" y="3438208"/>
            <a:ext cx="5219700" cy="6985"/>
          </a:xfrm>
          <a:prstGeom prst="rect">
            <a:avLst/>
          </a:prstGeom>
          <a:solidFill>
            <a:srgbClr val="B7B0A4"/>
          </a:solidFill>
          <a:ln w="12700">
            <a:solidFill>
              <a:srgbClr val="B7B0A4"/>
            </a:solidFill>
            <a:prstDash val="solid"/>
          </a:ln>
        </p:spPr>
      </p:sp>
      <p:sp>
        <p:nvSpPr>
          <p:cNvPr id="21" name="Text 19"/>
          <p:cNvSpPr/>
          <p:nvPr/>
        </p:nvSpPr>
        <p:spPr>
          <a:xfrm>
            <a:off x="457200" y="3378200"/>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35k</a:t>
            </a:r>
            <a:endParaRPr lang="en-US" sz="850" dirty="0"/>
          </a:p>
        </p:txBody>
      </p:sp>
      <p:sp>
        <p:nvSpPr>
          <p:cNvPr id="22" name="Shape 20"/>
          <p:cNvSpPr/>
          <p:nvPr/>
        </p:nvSpPr>
        <p:spPr>
          <a:xfrm>
            <a:off x="1333500" y="7033469"/>
            <a:ext cx="2540000" cy="25949"/>
          </a:xfrm>
          <a:prstGeom prst="line">
            <a:avLst/>
          </a:prstGeom>
          <a:noFill/>
          <a:ln w="25400">
            <a:solidFill>
              <a:srgbClr val="B95332"/>
            </a:solidFill>
            <a:prstDash val="solid"/>
          </a:ln>
        </p:spPr>
      </p:sp>
      <p:sp>
        <p:nvSpPr>
          <p:cNvPr id="23" name="Shape 21"/>
          <p:cNvSpPr/>
          <p:nvPr/>
        </p:nvSpPr>
        <p:spPr>
          <a:xfrm>
            <a:off x="1289050" y="6989019"/>
            <a:ext cx="88900" cy="88900"/>
          </a:xfrm>
          <a:prstGeom prst="ellipse">
            <a:avLst/>
          </a:prstGeom>
          <a:solidFill>
            <a:srgbClr val="B95332"/>
          </a:solidFill>
          <a:ln w="7620">
            <a:solidFill>
              <a:srgbClr val="252525"/>
            </a:solidFill>
            <a:prstDash val="solid"/>
          </a:ln>
        </p:spPr>
      </p:sp>
      <p:sp>
        <p:nvSpPr>
          <p:cNvPr id="24" name="Shape 22"/>
          <p:cNvSpPr/>
          <p:nvPr/>
        </p:nvSpPr>
        <p:spPr>
          <a:xfrm flipV="1">
            <a:off x="3873500" y="6941349"/>
            <a:ext cx="2540000" cy="118069"/>
          </a:xfrm>
          <a:prstGeom prst="line">
            <a:avLst/>
          </a:prstGeom>
          <a:noFill/>
          <a:ln w="25400">
            <a:solidFill>
              <a:srgbClr val="B95332"/>
            </a:solidFill>
            <a:prstDash val="solid"/>
          </a:ln>
        </p:spPr>
      </p:sp>
      <p:sp>
        <p:nvSpPr>
          <p:cNvPr id="25" name="Shape 23"/>
          <p:cNvSpPr/>
          <p:nvPr/>
        </p:nvSpPr>
        <p:spPr>
          <a:xfrm>
            <a:off x="3829050" y="7014969"/>
            <a:ext cx="88900" cy="88900"/>
          </a:xfrm>
          <a:prstGeom prst="ellipse">
            <a:avLst/>
          </a:prstGeom>
          <a:solidFill>
            <a:srgbClr val="B95332"/>
          </a:solidFill>
          <a:ln w="7620">
            <a:solidFill>
              <a:srgbClr val="252525"/>
            </a:solidFill>
            <a:prstDash val="solid"/>
          </a:ln>
        </p:spPr>
      </p:sp>
      <p:sp>
        <p:nvSpPr>
          <p:cNvPr id="26" name="Shape 24"/>
          <p:cNvSpPr/>
          <p:nvPr/>
        </p:nvSpPr>
        <p:spPr>
          <a:xfrm>
            <a:off x="6369050" y="6896899"/>
            <a:ext cx="88900" cy="88900"/>
          </a:xfrm>
          <a:prstGeom prst="ellipse">
            <a:avLst/>
          </a:prstGeom>
          <a:solidFill>
            <a:srgbClr val="B95332"/>
          </a:solidFill>
          <a:ln w="7620">
            <a:solidFill>
              <a:srgbClr val="252525"/>
            </a:solidFill>
            <a:prstDash val="solid"/>
          </a:ln>
        </p:spPr>
      </p:sp>
      <p:sp>
        <p:nvSpPr>
          <p:cNvPr id="27" name="Shape 25"/>
          <p:cNvSpPr/>
          <p:nvPr/>
        </p:nvSpPr>
        <p:spPr>
          <a:xfrm flipV="1">
            <a:off x="1333500" y="6125249"/>
            <a:ext cx="2540000" cy="914899"/>
          </a:xfrm>
          <a:prstGeom prst="line">
            <a:avLst/>
          </a:prstGeom>
          <a:noFill/>
          <a:ln w="25400">
            <a:solidFill>
              <a:srgbClr val="315A78"/>
            </a:solidFill>
            <a:prstDash val="dash"/>
          </a:ln>
        </p:spPr>
      </p:sp>
      <p:sp>
        <p:nvSpPr>
          <p:cNvPr id="28" name="Shape 26"/>
          <p:cNvSpPr/>
          <p:nvPr/>
        </p:nvSpPr>
        <p:spPr>
          <a:xfrm>
            <a:off x="1289050" y="6995698"/>
            <a:ext cx="88900" cy="88900"/>
          </a:xfrm>
          <a:prstGeom prst="diamond">
            <a:avLst/>
          </a:prstGeom>
          <a:solidFill>
            <a:srgbClr val="315A78"/>
          </a:solidFill>
          <a:ln w="7620">
            <a:solidFill>
              <a:srgbClr val="252525"/>
            </a:solidFill>
            <a:prstDash val="solid"/>
          </a:ln>
        </p:spPr>
      </p:sp>
      <p:sp>
        <p:nvSpPr>
          <p:cNvPr id="29" name="Shape 27"/>
          <p:cNvSpPr/>
          <p:nvPr/>
        </p:nvSpPr>
        <p:spPr>
          <a:xfrm flipV="1">
            <a:off x="3873500" y="3630730"/>
            <a:ext cx="2540000" cy="2494519"/>
          </a:xfrm>
          <a:prstGeom prst="line">
            <a:avLst/>
          </a:prstGeom>
          <a:noFill/>
          <a:ln w="25400">
            <a:solidFill>
              <a:srgbClr val="315A78"/>
            </a:solidFill>
            <a:prstDash val="dash"/>
          </a:ln>
        </p:spPr>
      </p:sp>
      <p:sp>
        <p:nvSpPr>
          <p:cNvPr id="30" name="Shape 28"/>
          <p:cNvSpPr/>
          <p:nvPr/>
        </p:nvSpPr>
        <p:spPr>
          <a:xfrm>
            <a:off x="3829050" y="6080799"/>
            <a:ext cx="88900" cy="88900"/>
          </a:xfrm>
          <a:prstGeom prst="diamond">
            <a:avLst/>
          </a:prstGeom>
          <a:solidFill>
            <a:srgbClr val="315A78"/>
          </a:solidFill>
          <a:ln w="7620">
            <a:solidFill>
              <a:srgbClr val="252525"/>
            </a:solidFill>
            <a:prstDash val="solid"/>
          </a:ln>
        </p:spPr>
      </p:sp>
      <p:sp>
        <p:nvSpPr>
          <p:cNvPr id="31" name="Shape 29"/>
          <p:cNvSpPr/>
          <p:nvPr/>
        </p:nvSpPr>
        <p:spPr>
          <a:xfrm>
            <a:off x="6369050" y="3586280"/>
            <a:ext cx="88900" cy="88900"/>
          </a:xfrm>
          <a:prstGeom prst="diamond">
            <a:avLst/>
          </a:prstGeom>
          <a:solidFill>
            <a:srgbClr val="315A78"/>
          </a:solidFill>
          <a:ln w="7620">
            <a:solidFill>
              <a:srgbClr val="252525"/>
            </a:solidFill>
            <a:prstDash val="solid"/>
          </a:ln>
        </p:spPr>
      </p:sp>
      <p:sp>
        <p:nvSpPr>
          <p:cNvPr id="32" name="Text 30"/>
          <p:cNvSpPr/>
          <p:nvPr/>
        </p:nvSpPr>
        <p:spPr>
          <a:xfrm>
            <a:off x="1016000" y="7340600"/>
            <a:ext cx="635000" cy="2921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1960</a:t>
            </a:r>
            <a:endParaRPr lang="en-US" sz="1000" dirty="0"/>
          </a:p>
        </p:txBody>
      </p:sp>
      <p:sp>
        <p:nvSpPr>
          <p:cNvPr id="33" name="Text 31"/>
          <p:cNvSpPr/>
          <p:nvPr/>
        </p:nvSpPr>
        <p:spPr>
          <a:xfrm>
            <a:off x="3556000" y="7340600"/>
            <a:ext cx="635000" cy="2921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1990</a:t>
            </a:r>
            <a:endParaRPr lang="en-US" sz="1000" dirty="0"/>
          </a:p>
        </p:txBody>
      </p:sp>
      <p:sp>
        <p:nvSpPr>
          <p:cNvPr id="34" name="Text 32"/>
          <p:cNvSpPr/>
          <p:nvPr/>
        </p:nvSpPr>
        <p:spPr>
          <a:xfrm>
            <a:off x="6096000" y="7340600"/>
            <a:ext cx="635000" cy="2921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2020</a:t>
            </a:r>
            <a:endParaRPr lang="en-US" sz="1000" dirty="0"/>
          </a:p>
        </p:txBody>
      </p:sp>
      <p:sp>
        <p:nvSpPr>
          <p:cNvPr id="35" name="Text 33"/>
          <p:cNvSpPr/>
          <p:nvPr/>
        </p:nvSpPr>
        <p:spPr>
          <a:xfrm>
            <a:off x="4699000" y="2984500"/>
            <a:ext cx="2400300" cy="558800"/>
          </a:xfrm>
          <a:prstGeom prst="rect">
            <a:avLst/>
          </a:prstGeom>
          <a:noFill/>
          <a:ln/>
        </p:spPr>
        <p:txBody>
          <a:bodyPr wrap="square" lIns="0" tIns="0" rIns="0" bIns="0" rtlCol="0" anchor="t"/>
          <a:lstStyle/>
          <a:p>
            <a:pPr indent="0" marL="0">
              <a:lnSpc>
                <a:spcPct val="112000"/>
              </a:lnSpc>
              <a:buNone/>
            </a:pPr>
            <a:r>
              <a:rPr lang="en-US" sz="1200" b="1" dirty="0">
                <a:solidFill>
                  <a:srgbClr val="315A78"/>
                </a:solidFill>
                <a:latin typeface="Montserrat" pitchFamily="34" charset="0"/>
                <a:ea typeface="Montserrat" pitchFamily="34" charset="-122"/>
                <a:cs typeface="Montserrat" pitchFamily="34" charset="-120"/>
              </a:rPr>
              <a:t>South Korea</a:t>
            </a:r>
            <a:endParaRPr lang="en-US" sz="1200" dirty="0"/>
          </a:p>
          <a:p>
            <a:pPr indent="0" marL="0">
              <a:lnSpc>
                <a:spcPct val="112000"/>
              </a:lnSpc>
              <a:buNone/>
            </a:pPr>
            <a:r>
              <a:rPr lang="en-US" sz="1200" b="1" dirty="0">
                <a:solidFill>
                  <a:srgbClr val="315A78"/>
                </a:solidFill>
                <a:latin typeface="Montserrat" pitchFamily="34" charset="0"/>
                <a:ea typeface="Montserrat" pitchFamily="34" charset="-122"/>
                <a:cs typeface="Montserrat" pitchFamily="34" charset="-120"/>
              </a:rPr>
              <a:t>US$33,216</a:t>
            </a:r>
            <a:endParaRPr lang="en-US" sz="1200" dirty="0"/>
          </a:p>
        </p:txBody>
      </p:sp>
      <p:sp>
        <p:nvSpPr>
          <p:cNvPr id="36" name="Text 34"/>
          <p:cNvSpPr/>
          <p:nvPr/>
        </p:nvSpPr>
        <p:spPr>
          <a:xfrm>
            <a:off x="5067300" y="6375400"/>
            <a:ext cx="2032000" cy="546100"/>
          </a:xfrm>
          <a:prstGeom prst="rect">
            <a:avLst/>
          </a:prstGeom>
          <a:noFill/>
          <a:ln/>
        </p:spPr>
        <p:txBody>
          <a:bodyPr wrap="square" lIns="0" tIns="0" rIns="0" bIns="0" rtlCol="0" anchor="t"/>
          <a:lstStyle/>
          <a:p>
            <a:pPr indent="0" marL="0">
              <a:lnSpc>
                <a:spcPct val="112000"/>
              </a:lnSpc>
              <a:buNone/>
            </a:pPr>
            <a:r>
              <a:rPr lang="en-US" sz="1100" b="1" dirty="0">
                <a:solidFill>
                  <a:srgbClr val="B95332"/>
                </a:solidFill>
                <a:latin typeface="Montserrat" pitchFamily="34" charset="0"/>
                <a:ea typeface="Montserrat" pitchFamily="34" charset="-122"/>
                <a:cs typeface="Montserrat" pitchFamily="34" charset="-120"/>
              </a:rPr>
              <a:t>Ghana</a:t>
            </a:r>
            <a:endParaRPr lang="en-US" sz="1100" dirty="0"/>
          </a:p>
          <a:p>
            <a:pPr indent="0" marL="0">
              <a:lnSpc>
                <a:spcPct val="112000"/>
              </a:lnSpc>
              <a:buNone/>
            </a:pPr>
            <a:r>
              <a:rPr lang="en-US" sz="1100" b="1" dirty="0">
                <a:solidFill>
                  <a:srgbClr val="B95332"/>
                </a:solidFill>
                <a:latin typeface="Montserrat" pitchFamily="34" charset="0"/>
                <a:ea typeface="Montserrat" pitchFamily="34" charset="-122"/>
                <a:cs typeface="Montserrat" pitchFamily="34" charset="-120"/>
              </a:rPr>
              <a:t>US$1,970</a:t>
            </a:r>
            <a:endParaRPr lang="en-US" sz="1100" dirty="0"/>
          </a:p>
        </p:txBody>
      </p:sp>
      <p:sp>
        <p:nvSpPr>
          <p:cNvPr id="37" name="Text 35"/>
          <p:cNvSpPr/>
          <p:nvPr/>
        </p:nvSpPr>
        <p:spPr>
          <a:xfrm>
            <a:off x="457200" y="7759700"/>
            <a:ext cx="3162300" cy="2921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Ghana 1,101 / Korea 1,038</a:t>
            </a:r>
            <a:endParaRPr lang="en-US" sz="950" dirty="0"/>
          </a:p>
        </p:txBody>
      </p:sp>
      <p:sp>
        <p:nvSpPr>
          <p:cNvPr id="38" name="Text 36"/>
          <p:cNvSpPr/>
          <p:nvPr/>
        </p:nvSpPr>
        <p:spPr>
          <a:xfrm>
            <a:off x="457200" y="8153400"/>
            <a:ext cx="3162300" cy="4318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1990: Ghana 856 / Korea 9,673</a:t>
            </a:r>
            <a:endParaRPr lang="en-US" sz="950" dirty="0"/>
          </a:p>
        </p:txBody>
      </p:sp>
      <p:sp>
        <p:nvSpPr>
          <p:cNvPr id="39" name="Text 37"/>
          <p:cNvSpPr/>
          <p:nvPr/>
        </p:nvSpPr>
        <p:spPr>
          <a:xfrm>
            <a:off x="3937000" y="7810500"/>
            <a:ext cx="3162300" cy="647700"/>
          </a:xfrm>
          <a:prstGeom prst="rect">
            <a:avLst/>
          </a:prstGeom>
          <a:noFill/>
          <a:ln/>
        </p:spPr>
        <p:txBody>
          <a:bodyPr wrap="square" lIns="0" tIns="0" rIns="0" bIns="0" rtlCol="0" anchor="t"/>
          <a:lstStyle/>
          <a:p>
            <a:pPr indent="0" marL="0">
              <a:lnSpc>
                <a:spcPct val="112000"/>
              </a:lnSpc>
              <a:buNone/>
            </a:pPr>
            <a:r>
              <a:rPr lang="en-US" sz="3600" b="1" dirty="0">
                <a:solidFill>
                  <a:srgbClr val="252525"/>
                </a:solidFill>
                <a:latin typeface="Montserrat Black" pitchFamily="34" charset="0"/>
                <a:ea typeface="Montserrat Black" pitchFamily="34" charset="-122"/>
                <a:cs typeface="Montserrat Black" pitchFamily="34" charset="-120"/>
              </a:rPr>
              <a:t>16.9 : 1</a:t>
            </a:r>
            <a:endParaRPr lang="en-US" sz="3600" dirty="0"/>
          </a:p>
        </p:txBody>
      </p:sp>
      <p:sp>
        <p:nvSpPr>
          <p:cNvPr id="40" name="Text 38"/>
          <p:cNvSpPr/>
          <p:nvPr/>
        </p:nvSpPr>
        <p:spPr>
          <a:xfrm>
            <a:off x="3937000" y="8470900"/>
            <a:ext cx="3162300" cy="3683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Approximate income ratio in 2020.</a:t>
            </a:r>
            <a:endParaRPr lang="en-US" sz="900" dirty="0"/>
          </a:p>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Not a causal estimate.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CULTURE</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A lens. Not a national personality.</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Hofstede’s six dimensions ask about patterns in societies—not what every person is like.</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National averages are historical, country-level lenses—not individual personalities, timeless truths or causal scores. Missing country scores are not invented.</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Hofstede (2011, pp. 6–8, 9–16); McSweeney (2002, pp. 93–107). National averages are not individual traits or causal scores. Full references: p. 27.</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15</a:t>
            </a:r>
            <a:endParaRPr lang="en-US" sz="1000" dirty="0"/>
          </a:p>
        </p:txBody>
      </p:sp>
      <p:sp>
        <p:nvSpPr>
          <p:cNvPr id="12" name="Text 10"/>
          <p:cNvSpPr/>
          <p:nvPr/>
        </p:nvSpPr>
        <p:spPr>
          <a:xfrm>
            <a:off x="457200" y="3009900"/>
            <a:ext cx="3162300" cy="3810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Power distance</a:t>
            </a:r>
            <a:endParaRPr lang="en-US" sz="1200" dirty="0"/>
          </a:p>
        </p:txBody>
      </p:sp>
      <p:sp>
        <p:nvSpPr>
          <p:cNvPr id="13" name="Text 11"/>
          <p:cNvSpPr/>
          <p:nvPr/>
        </p:nvSpPr>
        <p:spPr>
          <a:xfrm>
            <a:off x="3937000" y="3009900"/>
            <a:ext cx="3162300" cy="4699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How accepted is unequal power?</a:t>
            </a:r>
            <a:endParaRPr lang="en-US" sz="1000" dirty="0"/>
          </a:p>
        </p:txBody>
      </p:sp>
      <p:sp>
        <p:nvSpPr>
          <p:cNvPr id="14" name="Text 12"/>
          <p:cNvSpPr/>
          <p:nvPr/>
        </p:nvSpPr>
        <p:spPr>
          <a:xfrm>
            <a:off x="457200" y="3416300"/>
            <a:ext cx="3162300" cy="177800"/>
          </a:xfrm>
          <a:prstGeom prst="rect">
            <a:avLst/>
          </a:prstGeom>
          <a:noFill/>
          <a:ln/>
        </p:spPr>
        <p:txBody>
          <a:bodyPr wrap="square" lIns="0" tIns="0" rIns="0" bIns="0" rtlCol="0" anchor="t"/>
          <a:lstStyle/>
          <a:p>
            <a:pPr indent="0" marL="0">
              <a:lnSpc>
                <a:spcPct val="112000"/>
              </a:lnSpc>
              <a:buNone/>
            </a:pPr>
            <a:r>
              <a:rPr lang="en-US" sz="780" b="1" dirty="0">
                <a:solidFill>
                  <a:srgbClr val="514E48"/>
                </a:solidFill>
                <a:latin typeface="Montserrat" pitchFamily="34" charset="0"/>
                <a:ea typeface="Montserrat" pitchFamily="34" charset="-122"/>
                <a:cs typeface="Montserrat" pitchFamily="34" charset="-120"/>
              </a:rPr>
              <a:t>TEST CONDITIONALLY</a:t>
            </a:r>
            <a:endParaRPr lang="en-US" sz="780" dirty="0"/>
          </a:p>
        </p:txBody>
      </p:sp>
      <p:sp>
        <p:nvSpPr>
          <p:cNvPr id="15" name="Shape 13"/>
          <p:cNvSpPr/>
          <p:nvPr/>
        </p:nvSpPr>
        <p:spPr>
          <a:xfrm>
            <a:off x="457200" y="3653790"/>
            <a:ext cx="6642100" cy="7620"/>
          </a:xfrm>
          <a:prstGeom prst="rect">
            <a:avLst/>
          </a:prstGeom>
          <a:solidFill>
            <a:srgbClr val="B7B0A4"/>
          </a:solidFill>
          <a:ln w="12700">
            <a:solidFill>
              <a:srgbClr val="B7B0A4"/>
            </a:solidFill>
            <a:prstDash val="solid"/>
          </a:ln>
        </p:spPr>
      </p:sp>
      <p:sp>
        <p:nvSpPr>
          <p:cNvPr id="16" name="Text 14"/>
          <p:cNvSpPr/>
          <p:nvPr/>
        </p:nvSpPr>
        <p:spPr>
          <a:xfrm>
            <a:off x="457200" y="3721100"/>
            <a:ext cx="3162300" cy="3810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Individualism / collectivism</a:t>
            </a:r>
            <a:endParaRPr lang="en-US" sz="1200" dirty="0"/>
          </a:p>
        </p:txBody>
      </p:sp>
      <p:sp>
        <p:nvSpPr>
          <p:cNvPr id="17" name="Text 15"/>
          <p:cNvSpPr/>
          <p:nvPr/>
        </p:nvSpPr>
        <p:spPr>
          <a:xfrm>
            <a:off x="3937000" y="3721100"/>
            <a:ext cx="3162300" cy="4699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How strongly are people tied to groups? Not a trust score.</a:t>
            </a:r>
            <a:endParaRPr lang="en-US" sz="1000" dirty="0"/>
          </a:p>
        </p:txBody>
      </p:sp>
      <p:sp>
        <p:nvSpPr>
          <p:cNvPr id="18" name="Text 16"/>
          <p:cNvSpPr/>
          <p:nvPr/>
        </p:nvSpPr>
        <p:spPr>
          <a:xfrm>
            <a:off x="457200" y="4127500"/>
            <a:ext cx="3162300" cy="177800"/>
          </a:xfrm>
          <a:prstGeom prst="rect">
            <a:avLst/>
          </a:prstGeom>
          <a:noFill/>
          <a:ln/>
        </p:spPr>
        <p:txBody>
          <a:bodyPr wrap="square" lIns="0" tIns="0" rIns="0" bIns="0" rtlCol="0" anchor="t"/>
          <a:lstStyle/>
          <a:p>
            <a:pPr indent="0" marL="0">
              <a:lnSpc>
                <a:spcPct val="112000"/>
              </a:lnSpc>
              <a:buNone/>
            </a:pPr>
            <a:r>
              <a:rPr lang="en-US" sz="780" b="1" dirty="0">
                <a:solidFill>
                  <a:srgbClr val="514E48"/>
                </a:solidFill>
                <a:latin typeface="Montserrat" pitchFamily="34" charset="0"/>
                <a:ea typeface="Montserrat" pitchFamily="34" charset="-122"/>
                <a:cs typeface="Montserrat" pitchFamily="34" charset="-120"/>
              </a:rPr>
              <a:t>TEST CONDITIONALLY</a:t>
            </a:r>
            <a:endParaRPr lang="en-US" sz="780" dirty="0"/>
          </a:p>
        </p:txBody>
      </p:sp>
      <p:sp>
        <p:nvSpPr>
          <p:cNvPr id="19" name="Shape 17"/>
          <p:cNvSpPr/>
          <p:nvPr/>
        </p:nvSpPr>
        <p:spPr>
          <a:xfrm>
            <a:off x="457200" y="4364990"/>
            <a:ext cx="6642100" cy="7620"/>
          </a:xfrm>
          <a:prstGeom prst="rect">
            <a:avLst/>
          </a:prstGeom>
          <a:solidFill>
            <a:srgbClr val="B7B0A4"/>
          </a:solidFill>
          <a:ln w="12700">
            <a:solidFill>
              <a:srgbClr val="B7B0A4"/>
            </a:solidFill>
            <a:prstDash val="solid"/>
          </a:ln>
        </p:spPr>
      </p:sp>
      <p:sp>
        <p:nvSpPr>
          <p:cNvPr id="20" name="Text 18"/>
          <p:cNvSpPr/>
          <p:nvPr/>
        </p:nvSpPr>
        <p:spPr>
          <a:xfrm>
            <a:off x="457200" y="4432300"/>
            <a:ext cx="3162300" cy="3810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Masculinity / femininity</a:t>
            </a:r>
            <a:endParaRPr lang="en-US" sz="1200" dirty="0"/>
          </a:p>
        </p:txBody>
      </p:sp>
      <p:sp>
        <p:nvSpPr>
          <p:cNvPr id="21" name="Text 19"/>
          <p:cNvSpPr/>
          <p:nvPr/>
        </p:nvSpPr>
        <p:spPr>
          <a:xfrm>
            <a:off x="3937000" y="4432300"/>
            <a:ext cx="3162300" cy="4699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Competition and achievement versus care and quality of life. Historical labels.</a:t>
            </a:r>
            <a:endParaRPr lang="en-US" sz="1000" dirty="0"/>
          </a:p>
        </p:txBody>
      </p:sp>
      <p:sp>
        <p:nvSpPr>
          <p:cNvPr id="22" name="Text 20"/>
          <p:cNvSpPr/>
          <p:nvPr/>
        </p:nvSpPr>
        <p:spPr>
          <a:xfrm>
            <a:off x="457200" y="4838700"/>
            <a:ext cx="3162300" cy="177800"/>
          </a:xfrm>
          <a:prstGeom prst="rect">
            <a:avLst/>
          </a:prstGeom>
          <a:noFill/>
          <a:ln/>
        </p:spPr>
        <p:txBody>
          <a:bodyPr wrap="square" lIns="0" tIns="0" rIns="0" bIns="0" rtlCol="0" anchor="t"/>
          <a:lstStyle/>
          <a:p>
            <a:pPr indent="0" marL="0">
              <a:lnSpc>
                <a:spcPct val="112000"/>
              </a:lnSpc>
              <a:buNone/>
            </a:pPr>
            <a:r>
              <a:rPr lang="en-US" sz="780" b="1" dirty="0">
                <a:solidFill>
                  <a:srgbClr val="514E48"/>
                </a:solidFill>
                <a:latin typeface="Montserrat" pitchFamily="34" charset="0"/>
                <a:ea typeface="Montserrat" pitchFamily="34" charset="-122"/>
                <a:cs typeface="Montserrat" pitchFamily="34" charset="-120"/>
              </a:rPr>
              <a:t>CONTEXT ONLY</a:t>
            </a:r>
            <a:endParaRPr lang="en-US" sz="780" dirty="0"/>
          </a:p>
        </p:txBody>
      </p:sp>
      <p:sp>
        <p:nvSpPr>
          <p:cNvPr id="23" name="Shape 21"/>
          <p:cNvSpPr/>
          <p:nvPr/>
        </p:nvSpPr>
        <p:spPr>
          <a:xfrm>
            <a:off x="457200" y="5076190"/>
            <a:ext cx="6642100" cy="7620"/>
          </a:xfrm>
          <a:prstGeom prst="rect">
            <a:avLst/>
          </a:prstGeom>
          <a:solidFill>
            <a:srgbClr val="B7B0A4"/>
          </a:solidFill>
          <a:ln w="12700">
            <a:solidFill>
              <a:srgbClr val="B7B0A4"/>
            </a:solidFill>
            <a:prstDash val="solid"/>
          </a:ln>
        </p:spPr>
      </p:sp>
      <p:sp>
        <p:nvSpPr>
          <p:cNvPr id="24" name="Text 22"/>
          <p:cNvSpPr/>
          <p:nvPr/>
        </p:nvSpPr>
        <p:spPr>
          <a:xfrm>
            <a:off x="457200" y="5143500"/>
            <a:ext cx="3162300" cy="3810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Uncertainty avoidance</a:t>
            </a:r>
            <a:endParaRPr lang="en-US" sz="1200" dirty="0"/>
          </a:p>
        </p:txBody>
      </p:sp>
      <p:sp>
        <p:nvSpPr>
          <p:cNvPr id="25" name="Text 23"/>
          <p:cNvSpPr/>
          <p:nvPr/>
        </p:nvSpPr>
        <p:spPr>
          <a:xfrm>
            <a:off x="3937000" y="5143500"/>
            <a:ext cx="3162300" cy="4699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How do people respond to ambiguity? Not simply risk-taking.</a:t>
            </a:r>
            <a:endParaRPr lang="en-US" sz="1000" dirty="0"/>
          </a:p>
        </p:txBody>
      </p:sp>
      <p:sp>
        <p:nvSpPr>
          <p:cNvPr id="26" name="Text 24"/>
          <p:cNvSpPr/>
          <p:nvPr/>
        </p:nvSpPr>
        <p:spPr>
          <a:xfrm>
            <a:off x="457200" y="5549900"/>
            <a:ext cx="3162300" cy="177800"/>
          </a:xfrm>
          <a:prstGeom prst="rect">
            <a:avLst/>
          </a:prstGeom>
          <a:noFill/>
          <a:ln/>
        </p:spPr>
        <p:txBody>
          <a:bodyPr wrap="square" lIns="0" tIns="0" rIns="0" bIns="0" rtlCol="0" anchor="t"/>
          <a:lstStyle/>
          <a:p>
            <a:pPr indent="0" marL="0">
              <a:lnSpc>
                <a:spcPct val="112000"/>
              </a:lnSpc>
              <a:buNone/>
            </a:pPr>
            <a:r>
              <a:rPr lang="en-US" sz="780" b="1" dirty="0">
                <a:solidFill>
                  <a:srgbClr val="514E48"/>
                </a:solidFill>
                <a:latin typeface="Montserrat" pitchFamily="34" charset="0"/>
                <a:ea typeface="Montserrat" pitchFamily="34" charset="-122"/>
                <a:cs typeface="Montserrat" pitchFamily="34" charset="-120"/>
              </a:rPr>
              <a:t>CONTEXT ONLY</a:t>
            </a:r>
            <a:endParaRPr lang="en-US" sz="780" dirty="0"/>
          </a:p>
        </p:txBody>
      </p:sp>
      <p:sp>
        <p:nvSpPr>
          <p:cNvPr id="27" name="Shape 25"/>
          <p:cNvSpPr/>
          <p:nvPr/>
        </p:nvSpPr>
        <p:spPr>
          <a:xfrm>
            <a:off x="457200" y="5787390"/>
            <a:ext cx="6642100" cy="7620"/>
          </a:xfrm>
          <a:prstGeom prst="rect">
            <a:avLst/>
          </a:prstGeom>
          <a:solidFill>
            <a:srgbClr val="B7B0A4"/>
          </a:solidFill>
          <a:ln w="12700">
            <a:solidFill>
              <a:srgbClr val="B7B0A4"/>
            </a:solidFill>
            <a:prstDash val="solid"/>
          </a:ln>
        </p:spPr>
      </p:sp>
      <p:sp>
        <p:nvSpPr>
          <p:cNvPr id="28" name="Text 26"/>
          <p:cNvSpPr/>
          <p:nvPr/>
        </p:nvSpPr>
        <p:spPr>
          <a:xfrm>
            <a:off x="457200" y="5854700"/>
            <a:ext cx="3162300" cy="3810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Long-term orientation</a:t>
            </a:r>
            <a:endParaRPr lang="en-US" sz="1200" dirty="0"/>
          </a:p>
        </p:txBody>
      </p:sp>
      <p:sp>
        <p:nvSpPr>
          <p:cNvPr id="29" name="Text 27"/>
          <p:cNvSpPr/>
          <p:nvPr/>
        </p:nvSpPr>
        <p:spPr>
          <a:xfrm>
            <a:off x="3937000" y="5854700"/>
            <a:ext cx="3162300" cy="4699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Future-focused adaptation versus present and past obligations. Not policy duration.</a:t>
            </a:r>
            <a:endParaRPr lang="en-US" sz="1000" dirty="0"/>
          </a:p>
        </p:txBody>
      </p:sp>
      <p:sp>
        <p:nvSpPr>
          <p:cNvPr id="30" name="Text 28"/>
          <p:cNvSpPr/>
          <p:nvPr/>
        </p:nvSpPr>
        <p:spPr>
          <a:xfrm>
            <a:off x="457200" y="6261100"/>
            <a:ext cx="3162300" cy="177800"/>
          </a:xfrm>
          <a:prstGeom prst="rect">
            <a:avLst/>
          </a:prstGeom>
          <a:noFill/>
          <a:ln/>
        </p:spPr>
        <p:txBody>
          <a:bodyPr wrap="square" lIns="0" tIns="0" rIns="0" bIns="0" rtlCol="0" anchor="t"/>
          <a:lstStyle/>
          <a:p>
            <a:pPr indent="0" marL="0">
              <a:lnSpc>
                <a:spcPct val="112000"/>
              </a:lnSpc>
              <a:buNone/>
            </a:pPr>
            <a:r>
              <a:rPr lang="en-US" sz="780" b="1" dirty="0">
                <a:solidFill>
                  <a:srgbClr val="514E48"/>
                </a:solidFill>
                <a:latin typeface="Montserrat" pitchFamily="34" charset="0"/>
                <a:ea typeface="Montserrat" pitchFamily="34" charset="-122"/>
                <a:cs typeface="Montserrat" pitchFamily="34" charset="-120"/>
              </a:rPr>
              <a:t>TEST CONDITIONALLY</a:t>
            </a:r>
            <a:endParaRPr lang="en-US" sz="780" dirty="0"/>
          </a:p>
        </p:txBody>
      </p:sp>
      <p:sp>
        <p:nvSpPr>
          <p:cNvPr id="31" name="Shape 29"/>
          <p:cNvSpPr/>
          <p:nvPr/>
        </p:nvSpPr>
        <p:spPr>
          <a:xfrm>
            <a:off x="457200" y="6498590"/>
            <a:ext cx="6642100" cy="7620"/>
          </a:xfrm>
          <a:prstGeom prst="rect">
            <a:avLst/>
          </a:prstGeom>
          <a:solidFill>
            <a:srgbClr val="B7B0A4"/>
          </a:solidFill>
          <a:ln w="12700">
            <a:solidFill>
              <a:srgbClr val="B7B0A4"/>
            </a:solidFill>
            <a:prstDash val="solid"/>
          </a:ln>
        </p:spPr>
      </p:sp>
      <p:sp>
        <p:nvSpPr>
          <p:cNvPr id="32" name="Text 30"/>
          <p:cNvSpPr/>
          <p:nvPr/>
        </p:nvSpPr>
        <p:spPr>
          <a:xfrm>
            <a:off x="457200" y="6565900"/>
            <a:ext cx="3162300" cy="3810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Indulgence / restraint</a:t>
            </a:r>
            <a:endParaRPr lang="en-US" sz="1200" dirty="0"/>
          </a:p>
        </p:txBody>
      </p:sp>
      <p:sp>
        <p:nvSpPr>
          <p:cNvPr id="33" name="Text 31"/>
          <p:cNvSpPr/>
          <p:nvPr/>
        </p:nvSpPr>
        <p:spPr>
          <a:xfrm>
            <a:off x="3937000" y="6565900"/>
            <a:ext cx="3162300" cy="4699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How strongly does society regulate gratification? Not work ethic.</a:t>
            </a:r>
            <a:endParaRPr lang="en-US" sz="1000" dirty="0"/>
          </a:p>
        </p:txBody>
      </p:sp>
      <p:sp>
        <p:nvSpPr>
          <p:cNvPr id="34" name="Text 32"/>
          <p:cNvSpPr/>
          <p:nvPr/>
        </p:nvSpPr>
        <p:spPr>
          <a:xfrm>
            <a:off x="457200" y="6972300"/>
            <a:ext cx="3162300" cy="177800"/>
          </a:xfrm>
          <a:prstGeom prst="rect">
            <a:avLst/>
          </a:prstGeom>
          <a:noFill/>
          <a:ln/>
        </p:spPr>
        <p:txBody>
          <a:bodyPr wrap="square" lIns="0" tIns="0" rIns="0" bIns="0" rtlCol="0" anchor="t"/>
          <a:lstStyle/>
          <a:p>
            <a:pPr indent="0" marL="0">
              <a:lnSpc>
                <a:spcPct val="112000"/>
              </a:lnSpc>
              <a:buNone/>
            </a:pPr>
            <a:r>
              <a:rPr lang="en-US" sz="780" b="1" dirty="0">
                <a:solidFill>
                  <a:srgbClr val="514E48"/>
                </a:solidFill>
                <a:latin typeface="Montserrat" pitchFamily="34" charset="0"/>
                <a:ea typeface="Montserrat" pitchFamily="34" charset="-122"/>
                <a:cs typeface="Montserrat" pitchFamily="34" charset="-120"/>
              </a:rPr>
              <a:t>CONTEXT ONLY</a:t>
            </a:r>
            <a:endParaRPr lang="en-US" sz="780" dirty="0"/>
          </a:p>
        </p:txBody>
      </p:sp>
      <p:sp>
        <p:nvSpPr>
          <p:cNvPr id="35" name="Shape 33"/>
          <p:cNvSpPr/>
          <p:nvPr/>
        </p:nvSpPr>
        <p:spPr>
          <a:xfrm>
            <a:off x="457200" y="7209790"/>
            <a:ext cx="6642100" cy="7620"/>
          </a:xfrm>
          <a:prstGeom prst="rect">
            <a:avLst/>
          </a:prstGeom>
          <a:solidFill>
            <a:srgbClr val="B7B0A4"/>
          </a:solidFill>
          <a:ln w="12700">
            <a:solidFill>
              <a:srgbClr val="B7B0A4"/>
            </a:solidFill>
            <a:prstDash val="solid"/>
          </a:ln>
        </p:spPr>
      </p:sp>
      <p:sp>
        <p:nvSpPr>
          <p:cNvPr id="36" name="Shape 34"/>
          <p:cNvSpPr/>
          <p:nvPr/>
        </p:nvSpPr>
        <p:spPr>
          <a:xfrm>
            <a:off x="457200" y="7467600"/>
            <a:ext cx="6642100" cy="1358900"/>
          </a:xfrm>
          <a:prstGeom prst="rect">
            <a:avLst/>
          </a:prstGeom>
          <a:solidFill>
            <a:srgbClr val="252525"/>
          </a:solidFill>
          <a:ln w="12700">
            <a:solidFill>
              <a:srgbClr val="252525"/>
            </a:solidFill>
            <a:prstDash val="solid"/>
          </a:ln>
        </p:spPr>
      </p:sp>
      <p:sp>
        <p:nvSpPr>
          <p:cNvPr id="37" name="Text 35"/>
          <p:cNvSpPr/>
          <p:nvPr/>
        </p:nvSpPr>
        <p:spPr>
          <a:xfrm>
            <a:off x="635000" y="7620000"/>
            <a:ext cx="62865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38" name="Text 36"/>
          <p:cNvSpPr/>
          <p:nvPr/>
        </p:nvSpPr>
        <p:spPr>
          <a:xfrm>
            <a:off x="635000" y="7899400"/>
            <a:ext cx="6286500" cy="8255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Culture matters. It isn’t destiny. We think habits and shared expectations influence cooperation—but history, resources and institutions also shape what people can do.</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TRUST</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Trust whom—with what?</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Trust in a relative, a bank and “most people” are not the same thing.</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Governance indicators are not trust measures. Different questions, years and survey samples cannot be turned into one six-country trust ranking.</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OECD (2017, pp. 41–44, 62–79); Svirydzenka and Petri (2014, pp. 5–8, 12). No comparable six-country direct-trust series is available for this comparison. Full references: p. 27.</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16</a:t>
            </a:r>
            <a:endParaRPr lang="en-US" sz="1000" dirty="0"/>
          </a:p>
        </p:txBody>
      </p:sp>
      <p:pic>
        <p:nvPicPr>
          <p:cNvPr id="12" name="Image 0" descr="/Users/marcusgrude-grodem/Documents/GitHub/USIL/africa-asia-development-magazine/design/canva_editorial_draft/assets/print/ghana_accra.jpg">    </p:cNvPr>
          <p:cNvPicPr>
            <a:picLocks noChangeAspect="1"/>
          </p:cNvPicPr>
          <p:nvPr/>
        </p:nvPicPr>
        <p:blipFill>
          <a:blip r:embed="rId1"/>
          <a:stretch>
            <a:fillRect/>
          </a:stretch>
        </p:blipFill>
        <p:spPr>
          <a:xfrm>
            <a:off x="461962" y="3035300"/>
            <a:ext cx="2276475" cy="3035300"/>
          </a:xfrm>
          <a:prstGeom prst="rect">
            <a:avLst/>
          </a:prstGeom>
        </p:spPr>
      </p:pic>
      <p:sp>
        <p:nvSpPr>
          <p:cNvPr id="13" name="Text 10"/>
          <p:cNvSpPr/>
          <p:nvPr/>
        </p:nvSpPr>
        <p:spPr>
          <a:xfrm>
            <a:off x="457200" y="6184900"/>
            <a:ext cx="22860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Accra market, Ghana · 2020</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Amuzujoe; CC BY-SA 4.0. Everyday trade—not a trust score. Full credit p. 29.</a:t>
            </a:r>
            <a:endParaRPr lang="en-US" sz="800" dirty="0"/>
          </a:p>
        </p:txBody>
      </p:sp>
      <p:sp>
        <p:nvSpPr>
          <p:cNvPr id="14" name="Text 11"/>
          <p:cNvSpPr/>
          <p:nvPr/>
        </p:nvSpPr>
        <p:spPr>
          <a:xfrm>
            <a:off x="3175000" y="3060700"/>
            <a:ext cx="3924300" cy="3048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 PERSON</a:t>
            </a:r>
            <a:endParaRPr lang="en-US" sz="1100" dirty="0"/>
          </a:p>
        </p:txBody>
      </p:sp>
      <p:sp>
        <p:nvSpPr>
          <p:cNvPr id="15" name="Text 12"/>
          <p:cNvSpPr/>
          <p:nvPr/>
        </p:nvSpPr>
        <p:spPr>
          <a:xfrm>
            <a:off x="3175000" y="3454400"/>
            <a:ext cx="3924300" cy="4953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Someone you know is different from a stranger.</a:t>
            </a:r>
            <a:endParaRPr lang="en-US" sz="1100" dirty="0"/>
          </a:p>
        </p:txBody>
      </p:sp>
      <p:sp>
        <p:nvSpPr>
          <p:cNvPr id="16" name="Text 13"/>
          <p:cNvSpPr/>
          <p:nvPr/>
        </p:nvSpPr>
        <p:spPr>
          <a:xfrm>
            <a:off x="3175000" y="4051300"/>
            <a:ext cx="3924300" cy="3048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 NETWORK</a:t>
            </a:r>
            <a:endParaRPr lang="en-US" sz="1100" dirty="0"/>
          </a:p>
        </p:txBody>
      </p:sp>
      <p:sp>
        <p:nvSpPr>
          <p:cNvPr id="17" name="Text 14"/>
          <p:cNvSpPr/>
          <p:nvPr/>
        </p:nvSpPr>
        <p:spPr>
          <a:xfrm>
            <a:off x="3175000" y="4445000"/>
            <a:ext cx="3924300" cy="4953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Family and close contacts can support cooperation.</a:t>
            </a:r>
            <a:endParaRPr lang="en-US" sz="1100" dirty="0"/>
          </a:p>
        </p:txBody>
      </p:sp>
      <p:sp>
        <p:nvSpPr>
          <p:cNvPr id="18" name="Text 15"/>
          <p:cNvSpPr/>
          <p:nvPr/>
        </p:nvSpPr>
        <p:spPr>
          <a:xfrm>
            <a:off x="3175000" y="5041900"/>
            <a:ext cx="3924300" cy="3048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AN INSTITUTION</a:t>
            </a:r>
            <a:endParaRPr lang="en-US" sz="1100" dirty="0"/>
          </a:p>
        </p:txBody>
      </p:sp>
      <p:sp>
        <p:nvSpPr>
          <p:cNvPr id="19" name="Text 16"/>
          <p:cNvSpPr/>
          <p:nvPr/>
        </p:nvSpPr>
        <p:spPr>
          <a:xfrm>
            <a:off x="3175000" y="5435600"/>
            <a:ext cx="3924300" cy="4953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Name it: a court, a bank or a government.</a:t>
            </a:r>
            <a:endParaRPr lang="en-US" sz="1100" dirty="0"/>
          </a:p>
        </p:txBody>
      </p:sp>
      <p:sp>
        <p:nvSpPr>
          <p:cNvPr id="20" name="Text 17"/>
          <p:cNvSpPr/>
          <p:nvPr/>
        </p:nvSpPr>
        <p:spPr>
          <a:xfrm>
            <a:off x="3175000" y="6032500"/>
            <a:ext cx="3924300" cy="3048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 SURVEY ANSWER</a:t>
            </a:r>
            <a:endParaRPr lang="en-US" sz="1100" dirty="0"/>
          </a:p>
        </p:txBody>
      </p:sp>
      <p:sp>
        <p:nvSpPr>
          <p:cNvPr id="21" name="Text 18"/>
          <p:cNvSpPr/>
          <p:nvPr/>
        </p:nvSpPr>
        <p:spPr>
          <a:xfrm>
            <a:off x="3175000" y="6426200"/>
            <a:ext cx="3924300" cy="4953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Wording, timing and who was asked all matter.</a:t>
            </a:r>
            <a:endParaRPr lang="en-US" sz="1100" dirty="0"/>
          </a:p>
        </p:txBody>
      </p:sp>
      <p:sp>
        <p:nvSpPr>
          <p:cNvPr id="22" name="Text 19"/>
          <p:cNvSpPr/>
          <p:nvPr/>
        </p:nvSpPr>
        <p:spPr>
          <a:xfrm>
            <a:off x="457200" y="7467600"/>
            <a:ext cx="6642100" cy="863600"/>
          </a:xfrm>
          <a:prstGeom prst="rect">
            <a:avLst/>
          </a:prstGeom>
          <a:noFill/>
          <a:ln/>
        </p:spPr>
        <p:txBody>
          <a:bodyPr wrap="square" lIns="0" tIns="0" rIns="0" bIns="0" rtlCol="0" anchor="t"/>
          <a:lstStyle/>
          <a:p>
            <a:pPr indent="0" marL="0">
              <a:lnSpc>
                <a:spcPct val="112000"/>
              </a:lnSpc>
              <a:buNone/>
            </a:pPr>
            <a:r>
              <a:rPr lang="en-US" sz="2900" b="1" dirty="0">
                <a:solidFill>
                  <a:srgbClr val="252525"/>
                </a:solidFill>
                <a:latin typeface="Alegreya" pitchFamily="34" charset="0"/>
                <a:ea typeface="Alegreya" pitchFamily="34" charset="-122"/>
                <a:cs typeface="Alegreya" pitchFamily="34" charset="-120"/>
              </a:rPr>
              <a:t>We cannot conclude that</a:t>
            </a:r>
            <a:endParaRPr lang="en-US" sz="2900" dirty="0"/>
          </a:p>
          <a:p>
            <a:pPr indent="0" marL="0">
              <a:lnSpc>
                <a:spcPct val="112000"/>
              </a:lnSpc>
              <a:buNone/>
            </a:pPr>
            <a:r>
              <a:rPr lang="en-US" sz="2900" b="1" dirty="0">
                <a:solidFill>
                  <a:srgbClr val="252525"/>
                </a:solidFill>
                <a:latin typeface="Alegreya" pitchFamily="34" charset="0"/>
                <a:ea typeface="Alegreya" pitchFamily="34" charset="-122"/>
                <a:cs typeface="Alegreya" pitchFamily="34" charset="-120"/>
              </a:rPr>
              <a:t>“Asia trusts more”.</a:t>
            </a:r>
            <a:endParaRPr lang="en-US" sz="2900" dirty="0"/>
          </a:p>
        </p:txBody>
      </p:sp>
      <p:sp>
        <p:nvSpPr>
          <p:cNvPr id="23" name="Text 20"/>
          <p:cNvSpPr/>
          <p:nvPr/>
        </p:nvSpPr>
        <p:spPr>
          <a:xfrm>
            <a:off x="457200" y="8432800"/>
            <a:ext cx="6642100" cy="4191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That was our initial impression—not a finding supported by comparable evidence across these six countries.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CLOSE NETWORKS</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Family first. Doors open—or closed?</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Close ties can make cooperation easier. They can also make it harder for outsiders to join.</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This is a conditional explanation and a discussion prompt—not a measure of any country’s culture, corruption or trust.</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OECD (2017, pp. 41–44, 62–79); Svirydzenka and Petri (2014, pp. 5–8, 12). No comparable six-country direct-trust series is available for this comparison. Full references: p. 27.</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17</a:t>
            </a:r>
            <a:endParaRPr lang="en-US" sz="1000" dirty="0"/>
          </a:p>
        </p:txBody>
      </p:sp>
      <p:pic>
        <p:nvPicPr>
          <p:cNvPr id="12" name="Image 0" descr="/Users/marcusgrude-grodem/Documents/GitHub/USIL/africa-asia-development-magazine/design/canva_editorial_draft/assets/print/korea_market.jpg">    </p:cNvPr>
          <p:cNvPicPr>
            <a:picLocks noChangeAspect="1"/>
          </p:cNvPicPr>
          <p:nvPr/>
        </p:nvPicPr>
        <p:blipFill>
          <a:blip r:embed="rId1"/>
          <a:stretch>
            <a:fillRect/>
          </a:stretch>
        </p:blipFill>
        <p:spPr>
          <a:xfrm>
            <a:off x="590550" y="3035300"/>
            <a:ext cx="2895600" cy="2171700"/>
          </a:xfrm>
          <a:prstGeom prst="rect">
            <a:avLst/>
          </a:prstGeom>
        </p:spPr>
      </p:pic>
      <p:sp>
        <p:nvSpPr>
          <p:cNvPr id="13" name="Text 10"/>
          <p:cNvSpPr/>
          <p:nvPr/>
        </p:nvSpPr>
        <p:spPr>
          <a:xfrm>
            <a:off x="457200" y="5334000"/>
            <a:ext cx="31623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Gyeongdong Market, Seoul · 2008</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Gaël Chardon; CC BY-SA 2.0. Market context, not measured trust. Full credit p. 29.</a:t>
            </a:r>
            <a:endParaRPr lang="en-US" sz="800" dirty="0"/>
          </a:p>
        </p:txBody>
      </p:sp>
      <p:sp>
        <p:nvSpPr>
          <p:cNvPr id="14" name="Text 11"/>
          <p:cNvSpPr/>
          <p:nvPr/>
        </p:nvSpPr>
        <p:spPr>
          <a:xfrm>
            <a:off x="3937000" y="3035300"/>
            <a:ext cx="3162300" cy="6731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Alegreya" pitchFamily="34" charset="0"/>
                <a:ea typeface="Alegreya" pitchFamily="34" charset="-122"/>
                <a:cs typeface="Alegreya" pitchFamily="34" charset="-120"/>
              </a:rPr>
              <a:t>The strength</a:t>
            </a:r>
            <a:endParaRPr lang="en-US" sz="2100" dirty="0"/>
          </a:p>
        </p:txBody>
      </p:sp>
      <p:sp>
        <p:nvSpPr>
          <p:cNvPr id="15" name="Text 12"/>
          <p:cNvSpPr/>
          <p:nvPr/>
        </p:nvSpPr>
        <p:spPr>
          <a:xfrm>
            <a:off x="3937000" y="3784600"/>
            <a:ext cx="31623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Credit, labour and mutual help can keep people and businesses going.</a:t>
            </a:r>
            <a:endParaRPr lang="en-US" sz="1100" dirty="0"/>
          </a:p>
        </p:txBody>
      </p:sp>
      <p:sp>
        <p:nvSpPr>
          <p:cNvPr id="16" name="Text 13"/>
          <p:cNvSpPr/>
          <p:nvPr/>
        </p:nvSpPr>
        <p:spPr>
          <a:xfrm>
            <a:off x="3937000" y="5029200"/>
            <a:ext cx="3162300" cy="6731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Alegreya" pitchFamily="34" charset="0"/>
                <a:ea typeface="Alegreya" pitchFamily="34" charset="-122"/>
                <a:cs typeface="Alegreya" pitchFamily="34" charset="-120"/>
              </a:rPr>
              <a:t>The boundary</a:t>
            </a:r>
            <a:endParaRPr lang="en-US" sz="2100" dirty="0"/>
          </a:p>
        </p:txBody>
      </p:sp>
      <p:sp>
        <p:nvSpPr>
          <p:cNvPr id="17" name="Text 14"/>
          <p:cNvSpPr/>
          <p:nvPr/>
        </p:nvSpPr>
        <p:spPr>
          <a:xfrm>
            <a:off x="3937000" y="5778500"/>
            <a:ext cx="31623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Hiring outsiders or sharing control may be harder without reliable organisations and contracts.</a:t>
            </a:r>
            <a:endParaRPr lang="en-US" sz="1100" dirty="0"/>
          </a:p>
        </p:txBody>
      </p:sp>
      <p:sp>
        <p:nvSpPr>
          <p:cNvPr id="18" name="Text 15"/>
          <p:cNvSpPr/>
          <p:nvPr/>
        </p:nvSpPr>
        <p:spPr>
          <a:xfrm>
            <a:off x="457200" y="6781800"/>
            <a:ext cx="6642100" cy="4699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Who would you trust with money?</a:t>
            </a:r>
            <a:endParaRPr lang="en-US" sz="2300" dirty="0"/>
          </a:p>
        </p:txBody>
      </p:sp>
      <p:sp>
        <p:nvSpPr>
          <p:cNvPr id="19" name="Text 16"/>
          <p:cNvSpPr/>
          <p:nvPr/>
        </p:nvSpPr>
        <p:spPr>
          <a:xfrm>
            <a:off x="457200" y="7340600"/>
            <a:ext cx="6642100" cy="4318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Family? A friend? A bank? An unfamiliar partner backed by a reliable contract?</a:t>
            </a:r>
            <a:endParaRPr lang="en-US" sz="1100" dirty="0"/>
          </a:p>
        </p:txBody>
      </p:sp>
      <p:sp>
        <p:nvSpPr>
          <p:cNvPr id="20" name="Shape 17"/>
          <p:cNvSpPr/>
          <p:nvPr/>
        </p:nvSpPr>
        <p:spPr>
          <a:xfrm>
            <a:off x="457200" y="7937500"/>
            <a:ext cx="6642100" cy="927100"/>
          </a:xfrm>
          <a:prstGeom prst="rect">
            <a:avLst/>
          </a:prstGeom>
          <a:solidFill>
            <a:srgbClr val="252525"/>
          </a:solidFill>
          <a:ln w="12700">
            <a:solidFill>
              <a:srgbClr val="252525"/>
            </a:solidFill>
            <a:prstDash val="solid"/>
          </a:ln>
        </p:spPr>
      </p:sp>
      <p:sp>
        <p:nvSpPr>
          <p:cNvPr id="21" name="Text 18"/>
          <p:cNvSpPr/>
          <p:nvPr/>
        </p:nvSpPr>
        <p:spPr>
          <a:xfrm>
            <a:off x="635000" y="8089900"/>
            <a:ext cx="62865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22" name="Text 19"/>
          <p:cNvSpPr/>
          <p:nvPr/>
        </p:nvSpPr>
        <p:spPr>
          <a:xfrm>
            <a:off x="635000" y="8369300"/>
            <a:ext cx="6286500" cy="3937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We see family networks mainly as a strength. But conflict, exclusion and closed-minded decisions can turn that strength into a limit.</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POWER + TIME</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Strong leadership. Honest feedback.</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Planning ahead helps only if people can challenge mistakes.</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Cultural scores cannot replace direct evidence about decisions, investment, policy duration or whether leaders actually correct failure.</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Hofstede (2011, pp. 6–8, 9–16); McSweeney (2002, pp. 93–107). National averages are not individual traits or causal scores. Full references: p. 27.</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18</a:t>
            </a:r>
            <a:endParaRPr lang="en-US" sz="1000" dirty="0"/>
          </a:p>
        </p:txBody>
      </p:sp>
      <p:sp>
        <p:nvSpPr>
          <p:cNvPr id="12" name="Shape 10"/>
          <p:cNvSpPr/>
          <p:nvPr/>
        </p:nvSpPr>
        <p:spPr>
          <a:xfrm flipV="1">
            <a:off x="501831" y="3130731"/>
            <a:ext cx="208280" cy="208280"/>
          </a:xfrm>
          <a:prstGeom prst="line">
            <a:avLst/>
          </a:prstGeom>
          <a:noFill/>
          <a:ln w="20320">
            <a:solidFill>
              <a:srgbClr val="252525"/>
            </a:solidFill>
            <a:prstDash val="solid"/>
          </a:ln>
        </p:spPr>
      </p:sp>
      <p:sp>
        <p:nvSpPr>
          <p:cNvPr id="13" name="Shape 11"/>
          <p:cNvSpPr/>
          <p:nvPr/>
        </p:nvSpPr>
        <p:spPr>
          <a:xfrm>
            <a:off x="710111" y="3130731"/>
            <a:ext cx="208280" cy="208280"/>
          </a:xfrm>
          <a:prstGeom prst="line">
            <a:avLst/>
          </a:prstGeom>
          <a:noFill/>
          <a:ln w="20320">
            <a:solidFill>
              <a:srgbClr val="252525"/>
            </a:solidFill>
            <a:prstDash val="solid"/>
          </a:ln>
        </p:spPr>
      </p:sp>
      <p:sp>
        <p:nvSpPr>
          <p:cNvPr id="14" name="Shape 12"/>
          <p:cNvSpPr/>
          <p:nvPr/>
        </p:nvSpPr>
        <p:spPr>
          <a:xfrm>
            <a:off x="710111" y="3339011"/>
            <a:ext cx="208280" cy="208280"/>
          </a:xfrm>
          <a:prstGeom prst="line">
            <a:avLst/>
          </a:prstGeom>
          <a:noFill/>
          <a:ln w="20320">
            <a:solidFill>
              <a:srgbClr val="252525"/>
            </a:solidFill>
            <a:prstDash val="solid"/>
          </a:ln>
        </p:spPr>
      </p:sp>
      <p:sp>
        <p:nvSpPr>
          <p:cNvPr id="15" name="Shape 13"/>
          <p:cNvSpPr/>
          <p:nvPr/>
        </p:nvSpPr>
        <p:spPr>
          <a:xfrm flipV="1">
            <a:off x="501831" y="3339011"/>
            <a:ext cx="208280" cy="208280"/>
          </a:xfrm>
          <a:prstGeom prst="line">
            <a:avLst/>
          </a:prstGeom>
          <a:noFill/>
          <a:ln w="20320">
            <a:solidFill>
              <a:srgbClr val="252525"/>
            </a:solidFill>
            <a:prstDash val="solid"/>
          </a:ln>
        </p:spPr>
      </p:sp>
      <p:sp>
        <p:nvSpPr>
          <p:cNvPr id="16" name="Shape 14"/>
          <p:cNvSpPr/>
          <p:nvPr/>
        </p:nvSpPr>
        <p:spPr>
          <a:xfrm>
            <a:off x="501831" y="3328851"/>
            <a:ext cx="416560" cy="20320"/>
          </a:xfrm>
          <a:prstGeom prst="rect">
            <a:avLst/>
          </a:prstGeom>
          <a:solidFill>
            <a:srgbClr val="252525"/>
          </a:solidFill>
          <a:ln w="12700">
            <a:solidFill>
              <a:srgbClr val="252525"/>
            </a:solidFill>
            <a:prstDash val="solid"/>
          </a:ln>
        </p:spPr>
      </p:sp>
      <p:sp>
        <p:nvSpPr>
          <p:cNvPr id="17" name="Shape 15"/>
          <p:cNvSpPr/>
          <p:nvPr/>
        </p:nvSpPr>
        <p:spPr>
          <a:xfrm>
            <a:off x="472077" y="3309257"/>
            <a:ext cx="59509" cy="59509"/>
          </a:xfrm>
          <a:prstGeom prst="ellipse">
            <a:avLst/>
          </a:prstGeom>
          <a:solidFill>
            <a:srgbClr val="252525"/>
          </a:solidFill>
          <a:ln w="12700">
            <a:solidFill>
              <a:srgbClr val="252525"/>
            </a:solidFill>
            <a:prstDash val="solid"/>
          </a:ln>
        </p:spPr>
      </p:sp>
      <p:sp>
        <p:nvSpPr>
          <p:cNvPr id="18" name="Shape 16"/>
          <p:cNvSpPr/>
          <p:nvPr/>
        </p:nvSpPr>
        <p:spPr>
          <a:xfrm>
            <a:off x="680357" y="3100977"/>
            <a:ext cx="59509" cy="59509"/>
          </a:xfrm>
          <a:prstGeom prst="ellipse">
            <a:avLst/>
          </a:prstGeom>
          <a:solidFill>
            <a:srgbClr val="252525"/>
          </a:solidFill>
          <a:ln w="12700">
            <a:solidFill>
              <a:srgbClr val="252525"/>
            </a:solidFill>
            <a:prstDash val="solid"/>
          </a:ln>
        </p:spPr>
      </p:sp>
      <p:sp>
        <p:nvSpPr>
          <p:cNvPr id="19" name="Shape 17"/>
          <p:cNvSpPr/>
          <p:nvPr/>
        </p:nvSpPr>
        <p:spPr>
          <a:xfrm>
            <a:off x="888637" y="3309257"/>
            <a:ext cx="59509" cy="59509"/>
          </a:xfrm>
          <a:prstGeom prst="ellipse">
            <a:avLst/>
          </a:prstGeom>
          <a:solidFill>
            <a:srgbClr val="252525"/>
          </a:solidFill>
          <a:ln w="12700">
            <a:solidFill>
              <a:srgbClr val="252525"/>
            </a:solidFill>
            <a:prstDash val="solid"/>
          </a:ln>
        </p:spPr>
      </p:sp>
      <p:sp>
        <p:nvSpPr>
          <p:cNvPr id="20" name="Shape 18"/>
          <p:cNvSpPr/>
          <p:nvPr/>
        </p:nvSpPr>
        <p:spPr>
          <a:xfrm>
            <a:off x="680357" y="3517537"/>
            <a:ext cx="59509" cy="59509"/>
          </a:xfrm>
          <a:prstGeom prst="ellipse">
            <a:avLst/>
          </a:prstGeom>
          <a:solidFill>
            <a:srgbClr val="252525"/>
          </a:solidFill>
          <a:ln w="12700">
            <a:solidFill>
              <a:srgbClr val="252525"/>
            </a:solidFill>
            <a:prstDash val="solid"/>
          </a:ln>
        </p:spPr>
      </p:sp>
      <p:sp>
        <p:nvSpPr>
          <p:cNvPr id="21" name="Text 19"/>
          <p:cNvSpPr/>
          <p:nvPr/>
        </p:nvSpPr>
        <p:spPr>
          <a:xfrm>
            <a:off x="1282700" y="3035300"/>
            <a:ext cx="5816600" cy="6731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Alegreya" pitchFamily="34" charset="0"/>
                <a:ea typeface="Alegreya" pitchFamily="34" charset="-122"/>
                <a:cs typeface="Alegreya" pitchFamily="34" charset="-120"/>
              </a:rPr>
              <a:t>Who can speak up?</a:t>
            </a:r>
            <a:endParaRPr lang="en-US" sz="2100" dirty="0"/>
          </a:p>
        </p:txBody>
      </p:sp>
      <p:sp>
        <p:nvSpPr>
          <p:cNvPr id="22" name="Text 20"/>
          <p:cNvSpPr/>
          <p:nvPr/>
        </p:nvSpPr>
        <p:spPr>
          <a:xfrm>
            <a:off x="1282700" y="3784600"/>
            <a:ext cx="58166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Hierarchy may coordinate action—or silence the people who notice a problem.</a:t>
            </a:r>
            <a:endParaRPr lang="en-US" sz="1100" dirty="0"/>
          </a:p>
        </p:txBody>
      </p:sp>
      <p:sp>
        <p:nvSpPr>
          <p:cNvPr id="23" name="Shape 21"/>
          <p:cNvSpPr/>
          <p:nvPr/>
        </p:nvSpPr>
        <p:spPr>
          <a:xfrm>
            <a:off x="531586" y="5042626"/>
            <a:ext cx="357051" cy="20320"/>
          </a:xfrm>
          <a:prstGeom prst="rect">
            <a:avLst/>
          </a:prstGeom>
          <a:solidFill>
            <a:srgbClr val="252525"/>
          </a:solidFill>
          <a:ln w="12700">
            <a:solidFill>
              <a:srgbClr val="252525"/>
            </a:solidFill>
            <a:prstDash val="solid"/>
          </a:ln>
        </p:spPr>
      </p:sp>
      <p:sp>
        <p:nvSpPr>
          <p:cNvPr id="24" name="Shape 22"/>
          <p:cNvSpPr/>
          <p:nvPr/>
        </p:nvSpPr>
        <p:spPr>
          <a:xfrm>
            <a:off x="878477" y="5052786"/>
            <a:ext cx="20320" cy="312420"/>
          </a:xfrm>
          <a:prstGeom prst="rect">
            <a:avLst/>
          </a:prstGeom>
          <a:solidFill>
            <a:srgbClr val="252525"/>
          </a:solidFill>
          <a:ln w="12700">
            <a:solidFill>
              <a:srgbClr val="252525"/>
            </a:solidFill>
            <a:prstDash val="solid"/>
          </a:ln>
        </p:spPr>
      </p:sp>
      <p:sp>
        <p:nvSpPr>
          <p:cNvPr id="25" name="Shape 23"/>
          <p:cNvSpPr/>
          <p:nvPr/>
        </p:nvSpPr>
        <p:spPr>
          <a:xfrm flipV="1">
            <a:off x="814251" y="5290820"/>
            <a:ext cx="74386" cy="74386"/>
          </a:xfrm>
          <a:prstGeom prst="line">
            <a:avLst/>
          </a:prstGeom>
          <a:noFill/>
          <a:ln w="20320">
            <a:solidFill>
              <a:srgbClr val="252525"/>
            </a:solidFill>
            <a:prstDash val="solid"/>
          </a:ln>
        </p:spPr>
      </p:sp>
      <p:sp>
        <p:nvSpPr>
          <p:cNvPr id="26" name="Shape 24"/>
          <p:cNvSpPr/>
          <p:nvPr/>
        </p:nvSpPr>
        <p:spPr>
          <a:xfrm flipV="1">
            <a:off x="888637" y="5290820"/>
            <a:ext cx="74386" cy="74386"/>
          </a:xfrm>
          <a:prstGeom prst="line">
            <a:avLst/>
          </a:prstGeom>
          <a:noFill/>
          <a:ln w="20320">
            <a:solidFill>
              <a:srgbClr val="252525"/>
            </a:solidFill>
            <a:prstDash val="solid"/>
          </a:ln>
        </p:spPr>
      </p:sp>
      <p:sp>
        <p:nvSpPr>
          <p:cNvPr id="27" name="Shape 25"/>
          <p:cNvSpPr/>
          <p:nvPr/>
        </p:nvSpPr>
        <p:spPr>
          <a:xfrm>
            <a:off x="531586" y="5444309"/>
            <a:ext cx="357051" cy="20320"/>
          </a:xfrm>
          <a:prstGeom prst="rect">
            <a:avLst/>
          </a:prstGeom>
          <a:solidFill>
            <a:srgbClr val="252525"/>
          </a:solidFill>
          <a:ln w="12700">
            <a:solidFill>
              <a:srgbClr val="252525"/>
            </a:solidFill>
            <a:prstDash val="solid"/>
          </a:ln>
        </p:spPr>
      </p:sp>
      <p:sp>
        <p:nvSpPr>
          <p:cNvPr id="28" name="Shape 26"/>
          <p:cNvSpPr/>
          <p:nvPr/>
        </p:nvSpPr>
        <p:spPr>
          <a:xfrm>
            <a:off x="521426" y="5142049"/>
            <a:ext cx="20320" cy="312420"/>
          </a:xfrm>
          <a:prstGeom prst="rect">
            <a:avLst/>
          </a:prstGeom>
          <a:solidFill>
            <a:srgbClr val="252525"/>
          </a:solidFill>
          <a:ln w="12700">
            <a:solidFill>
              <a:srgbClr val="252525"/>
            </a:solidFill>
            <a:prstDash val="solid"/>
          </a:ln>
        </p:spPr>
      </p:sp>
      <p:sp>
        <p:nvSpPr>
          <p:cNvPr id="29" name="Shape 27"/>
          <p:cNvSpPr/>
          <p:nvPr/>
        </p:nvSpPr>
        <p:spPr>
          <a:xfrm>
            <a:off x="457200" y="5142049"/>
            <a:ext cx="74386" cy="74386"/>
          </a:xfrm>
          <a:prstGeom prst="line">
            <a:avLst/>
          </a:prstGeom>
          <a:noFill/>
          <a:ln w="20320">
            <a:solidFill>
              <a:srgbClr val="252525"/>
            </a:solidFill>
            <a:prstDash val="solid"/>
          </a:ln>
        </p:spPr>
      </p:sp>
      <p:sp>
        <p:nvSpPr>
          <p:cNvPr id="30" name="Shape 28"/>
          <p:cNvSpPr/>
          <p:nvPr/>
        </p:nvSpPr>
        <p:spPr>
          <a:xfrm>
            <a:off x="531586" y="5142049"/>
            <a:ext cx="74386" cy="74386"/>
          </a:xfrm>
          <a:prstGeom prst="line">
            <a:avLst/>
          </a:prstGeom>
          <a:noFill/>
          <a:ln w="20320">
            <a:solidFill>
              <a:srgbClr val="252525"/>
            </a:solidFill>
            <a:prstDash val="solid"/>
          </a:ln>
        </p:spPr>
      </p:sp>
      <p:sp>
        <p:nvSpPr>
          <p:cNvPr id="31" name="Text 29"/>
          <p:cNvSpPr/>
          <p:nvPr/>
        </p:nvSpPr>
        <p:spPr>
          <a:xfrm>
            <a:off x="1282700" y="4927600"/>
            <a:ext cx="5816600" cy="6731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Alegreya" pitchFamily="34" charset="0"/>
                <a:ea typeface="Alegreya" pitchFamily="34" charset="-122"/>
                <a:cs typeface="Alegreya" pitchFamily="34" charset="-120"/>
              </a:rPr>
              <a:t>Who changes course?</a:t>
            </a:r>
            <a:endParaRPr lang="en-US" sz="2100" dirty="0"/>
          </a:p>
        </p:txBody>
      </p:sp>
      <p:sp>
        <p:nvSpPr>
          <p:cNvPr id="32" name="Text 30"/>
          <p:cNvSpPr/>
          <p:nvPr/>
        </p:nvSpPr>
        <p:spPr>
          <a:xfrm>
            <a:off x="1282700" y="5676900"/>
            <a:ext cx="58166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Long-term plans need feedback. A long-term-orientation score does not measure policy continuity.</a:t>
            </a:r>
            <a:endParaRPr lang="en-US" sz="1100" dirty="0"/>
          </a:p>
        </p:txBody>
      </p:sp>
      <p:sp>
        <p:nvSpPr>
          <p:cNvPr id="33" name="Text 31"/>
          <p:cNvSpPr/>
          <p:nvPr/>
        </p:nvSpPr>
        <p:spPr>
          <a:xfrm>
            <a:off x="457200" y="6743700"/>
            <a:ext cx="6642100" cy="2413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NOT ENOUGH EVIDENCE FOR A GROWTH CLAIM</a:t>
            </a:r>
            <a:endParaRPr lang="en-US" sz="800" dirty="0"/>
          </a:p>
        </p:txBody>
      </p:sp>
      <p:sp>
        <p:nvSpPr>
          <p:cNvPr id="34" name="Text 32"/>
          <p:cNvSpPr/>
          <p:nvPr/>
        </p:nvSpPr>
        <p:spPr>
          <a:xfrm>
            <a:off x="457200" y="7112000"/>
            <a:ext cx="6642100" cy="5461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Uncertainty avoidance: need observed behaviour and matched timing.</a:t>
            </a:r>
            <a:endParaRPr lang="en-US" sz="1000" dirty="0"/>
          </a:p>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Masculinity / femininity: need a clear mechanism and valid measures.</a:t>
            </a:r>
            <a:endParaRPr lang="en-US" sz="1000" dirty="0"/>
          </a:p>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Indulgence / restraint: need a direct, timed link—not guessed work ethic.</a:t>
            </a:r>
            <a:endParaRPr lang="en-US" sz="1000" dirty="0"/>
          </a:p>
        </p:txBody>
      </p:sp>
      <p:sp>
        <p:nvSpPr>
          <p:cNvPr id="35" name="Shape 33"/>
          <p:cNvSpPr/>
          <p:nvPr/>
        </p:nvSpPr>
        <p:spPr>
          <a:xfrm>
            <a:off x="457200" y="7797800"/>
            <a:ext cx="6642100" cy="1066800"/>
          </a:xfrm>
          <a:prstGeom prst="rect">
            <a:avLst/>
          </a:prstGeom>
          <a:solidFill>
            <a:srgbClr val="252525"/>
          </a:solidFill>
          <a:ln w="12700">
            <a:solidFill>
              <a:srgbClr val="252525"/>
            </a:solidFill>
            <a:prstDash val="solid"/>
          </a:ln>
        </p:spPr>
      </p:sp>
      <p:sp>
        <p:nvSpPr>
          <p:cNvPr id="36" name="Text 34"/>
          <p:cNvSpPr/>
          <p:nvPr/>
        </p:nvSpPr>
        <p:spPr>
          <a:xfrm>
            <a:off x="635000" y="7950200"/>
            <a:ext cx="62865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37" name="Text 35"/>
          <p:cNvSpPr/>
          <p:nvPr/>
        </p:nvSpPr>
        <p:spPr>
          <a:xfrm>
            <a:off x="635000" y="8229600"/>
            <a:ext cx="6286500" cy="5334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Strong government—for whose benefit? We support long-term planning, but leaders must serve the country, face accountability and change policies that fail.</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OUR IDEAS ON TRIAL</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Three ideas. Six reality checks.</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These are our hypotheses—not established laws or national scores.</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A case can fit more than one explanation. Support does not isolate a cause; missing evidence must stay missing.</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Original group hypotheses tested against the six cases. Sources: World Bank (1993, 2020); Maipose (2008); Svirydzenka and Petri (2014); OECD (2017).</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a:t>
            </a:r>
            <a:endParaRPr lang="en-US" sz="1000" dirty="0"/>
          </a:p>
        </p:txBody>
      </p:sp>
      <p:sp>
        <p:nvSpPr>
          <p:cNvPr id="12" name="Text 10"/>
          <p:cNvSpPr/>
          <p:nvPr/>
        </p:nvSpPr>
        <p:spPr>
          <a:xfrm>
            <a:off x="457200" y="3035300"/>
            <a:ext cx="6642100" cy="1168400"/>
          </a:xfrm>
          <a:prstGeom prst="rect">
            <a:avLst/>
          </a:prstGeom>
          <a:noFill/>
          <a:ln/>
        </p:spPr>
        <p:txBody>
          <a:bodyPr wrap="square" lIns="0" tIns="0" rIns="0" bIns="0" rtlCol="0" anchor="t"/>
          <a:lstStyle/>
          <a:p>
            <a:pPr indent="0" marL="0">
              <a:lnSpc>
                <a:spcPct val="112000"/>
              </a:lnSpc>
              <a:buNone/>
            </a:pPr>
            <a:r>
              <a:rPr lang="en-US" sz="2900" b="1" dirty="0">
                <a:solidFill>
                  <a:srgbClr val="252525"/>
                </a:solidFill>
                <a:latin typeface="Alegreya" pitchFamily="34" charset="0"/>
                <a:ea typeface="Alegreya" pitchFamily="34" charset="-122"/>
                <a:cs typeface="Alegreya" pitchFamily="34" charset="-120"/>
              </a:rPr>
              <a:t>Ask how it works.</a:t>
            </a:r>
            <a:endParaRPr lang="en-US" sz="2900" dirty="0"/>
          </a:p>
          <a:p>
            <a:pPr indent="0" marL="0">
              <a:lnSpc>
                <a:spcPct val="112000"/>
              </a:lnSpc>
              <a:buNone/>
            </a:pPr>
            <a:r>
              <a:rPr lang="en-US" sz="2900" b="1" dirty="0">
                <a:solidFill>
                  <a:srgbClr val="252525"/>
                </a:solidFill>
                <a:latin typeface="Alegreya" pitchFamily="34" charset="0"/>
                <a:ea typeface="Alegreya" pitchFamily="34" charset="-122"/>
                <a:cs typeface="Alegreya" pitchFamily="34" charset="-120"/>
              </a:rPr>
              <a:t>Look for the case that breaks it.</a:t>
            </a:r>
            <a:endParaRPr lang="en-US" sz="2900" dirty="0"/>
          </a:p>
        </p:txBody>
      </p:sp>
      <p:sp>
        <p:nvSpPr>
          <p:cNvPr id="13" name="Text 11"/>
          <p:cNvSpPr/>
          <p:nvPr/>
        </p:nvSpPr>
        <p:spPr>
          <a:xfrm>
            <a:off x="457200" y="4635500"/>
            <a:ext cx="1676400" cy="2794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COUNTRY</a:t>
            </a:r>
            <a:endParaRPr lang="en-US" sz="800" dirty="0"/>
          </a:p>
        </p:txBody>
      </p:sp>
      <p:sp>
        <p:nvSpPr>
          <p:cNvPr id="14" name="Text 12"/>
          <p:cNvSpPr/>
          <p:nvPr/>
        </p:nvSpPr>
        <p:spPr>
          <a:xfrm>
            <a:off x="2209800" y="4635500"/>
            <a:ext cx="1625600" cy="2794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CONNECTIONS</a:t>
            </a:r>
            <a:endParaRPr lang="en-US" sz="800" dirty="0"/>
          </a:p>
        </p:txBody>
      </p:sp>
      <p:sp>
        <p:nvSpPr>
          <p:cNvPr id="15" name="Text 13"/>
          <p:cNvSpPr/>
          <p:nvPr/>
        </p:nvSpPr>
        <p:spPr>
          <a:xfrm>
            <a:off x="3937000" y="4635500"/>
            <a:ext cx="1587500" cy="2794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TRUST</a:t>
            </a:r>
            <a:endParaRPr lang="en-US" sz="800" dirty="0"/>
          </a:p>
        </p:txBody>
      </p:sp>
      <p:sp>
        <p:nvSpPr>
          <p:cNvPr id="16" name="Text 14"/>
          <p:cNvSpPr/>
          <p:nvPr/>
        </p:nvSpPr>
        <p:spPr>
          <a:xfrm>
            <a:off x="5626100" y="4635500"/>
            <a:ext cx="1473200" cy="2794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CONTINUITY</a:t>
            </a:r>
            <a:endParaRPr lang="en-US" sz="800" dirty="0"/>
          </a:p>
        </p:txBody>
      </p:sp>
      <p:sp>
        <p:nvSpPr>
          <p:cNvPr id="17" name="Shape 15"/>
          <p:cNvSpPr/>
          <p:nvPr/>
        </p:nvSpPr>
        <p:spPr>
          <a:xfrm>
            <a:off x="457200" y="5257800"/>
            <a:ext cx="127000" cy="127000"/>
          </a:xfrm>
          <a:prstGeom prst="ellipse">
            <a:avLst/>
          </a:prstGeom>
          <a:solidFill>
            <a:srgbClr val="B95332"/>
          </a:solidFill>
          <a:ln w="7620">
            <a:solidFill>
              <a:srgbClr val="252525"/>
            </a:solidFill>
            <a:prstDash val="solid"/>
          </a:ln>
        </p:spPr>
      </p:sp>
      <p:sp>
        <p:nvSpPr>
          <p:cNvPr id="18" name="Text 16"/>
          <p:cNvSpPr/>
          <p:nvPr/>
        </p:nvSpPr>
        <p:spPr>
          <a:xfrm>
            <a:off x="711200" y="5207000"/>
            <a:ext cx="1409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19" name="Text 17"/>
          <p:cNvSpPr/>
          <p:nvPr/>
        </p:nvSpPr>
        <p:spPr>
          <a:xfrm>
            <a:off x="2209800" y="5207000"/>
            <a:ext cx="16256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Fits, not causal</a:t>
            </a:r>
            <a:endParaRPr lang="en-US" sz="900" dirty="0"/>
          </a:p>
        </p:txBody>
      </p:sp>
      <p:sp>
        <p:nvSpPr>
          <p:cNvPr id="20" name="Text 18"/>
          <p:cNvSpPr/>
          <p:nvPr/>
        </p:nvSpPr>
        <p:spPr>
          <a:xfrm>
            <a:off x="3937000" y="5207000"/>
            <a:ext cx="15875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Unresolved</a:t>
            </a:r>
            <a:endParaRPr lang="en-US" sz="900" dirty="0"/>
          </a:p>
        </p:txBody>
      </p:sp>
      <p:sp>
        <p:nvSpPr>
          <p:cNvPr id="21" name="Text 19"/>
          <p:cNvSpPr/>
          <p:nvPr/>
        </p:nvSpPr>
        <p:spPr>
          <a:xfrm>
            <a:off x="5626100" y="5207000"/>
            <a:ext cx="14732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Unresolved</a:t>
            </a:r>
            <a:endParaRPr lang="en-US" sz="900" dirty="0"/>
          </a:p>
        </p:txBody>
      </p:sp>
      <p:sp>
        <p:nvSpPr>
          <p:cNvPr id="22" name="Shape 20"/>
          <p:cNvSpPr/>
          <p:nvPr/>
        </p:nvSpPr>
        <p:spPr>
          <a:xfrm>
            <a:off x="457200" y="5660390"/>
            <a:ext cx="6642100" cy="7620"/>
          </a:xfrm>
          <a:prstGeom prst="rect">
            <a:avLst/>
          </a:prstGeom>
          <a:solidFill>
            <a:srgbClr val="B7B0A4"/>
          </a:solidFill>
          <a:ln w="12700">
            <a:solidFill>
              <a:srgbClr val="B7B0A4"/>
            </a:solidFill>
            <a:prstDash val="solid"/>
          </a:ln>
        </p:spPr>
      </p:sp>
      <p:sp>
        <p:nvSpPr>
          <p:cNvPr id="23" name="Shape 21"/>
          <p:cNvSpPr/>
          <p:nvPr/>
        </p:nvSpPr>
        <p:spPr>
          <a:xfrm>
            <a:off x="457200" y="5778500"/>
            <a:ext cx="127000" cy="127000"/>
          </a:xfrm>
          <a:prstGeom prst="rect">
            <a:avLst/>
          </a:prstGeom>
          <a:solidFill>
            <a:srgbClr val="3F684E"/>
          </a:solidFill>
          <a:ln w="7620">
            <a:solidFill>
              <a:srgbClr val="252525"/>
            </a:solidFill>
            <a:prstDash val="solid"/>
          </a:ln>
        </p:spPr>
      </p:sp>
      <p:sp>
        <p:nvSpPr>
          <p:cNvPr id="24" name="Text 22"/>
          <p:cNvSpPr/>
          <p:nvPr/>
        </p:nvSpPr>
        <p:spPr>
          <a:xfrm>
            <a:off x="711200" y="5727700"/>
            <a:ext cx="1409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25" name="Text 23"/>
          <p:cNvSpPr/>
          <p:nvPr/>
        </p:nvSpPr>
        <p:spPr>
          <a:xfrm>
            <a:off x="2209800" y="5727700"/>
            <a:ext cx="16256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Strong exception</a:t>
            </a:r>
            <a:endParaRPr lang="en-US" sz="900" dirty="0"/>
          </a:p>
        </p:txBody>
      </p:sp>
      <p:sp>
        <p:nvSpPr>
          <p:cNvPr id="26" name="Text 24"/>
          <p:cNvSpPr/>
          <p:nvPr/>
        </p:nvSpPr>
        <p:spPr>
          <a:xfrm>
            <a:off x="3937000" y="5727700"/>
            <a:ext cx="15875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Plausible channel</a:t>
            </a:r>
            <a:endParaRPr lang="en-US" sz="900" dirty="0"/>
          </a:p>
        </p:txBody>
      </p:sp>
      <p:sp>
        <p:nvSpPr>
          <p:cNvPr id="27" name="Text 25"/>
          <p:cNvSpPr/>
          <p:nvPr/>
        </p:nvSpPr>
        <p:spPr>
          <a:xfrm>
            <a:off x="5626100" y="5727700"/>
            <a:ext cx="14732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Diversification warning</a:t>
            </a:r>
            <a:endParaRPr lang="en-US" sz="900" dirty="0"/>
          </a:p>
        </p:txBody>
      </p:sp>
      <p:sp>
        <p:nvSpPr>
          <p:cNvPr id="28" name="Shape 26"/>
          <p:cNvSpPr/>
          <p:nvPr/>
        </p:nvSpPr>
        <p:spPr>
          <a:xfrm>
            <a:off x="457200" y="6181090"/>
            <a:ext cx="6642100" cy="7620"/>
          </a:xfrm>
          <a:prstGeom prst="rect">
            <a:avLst/>
          </a:prstGeom>
          <a:solidFill>
            <a:srgbClr val="B7B0A4"/>
          </a:solidFill>
          <a:ln w="12700">
            <a:solidFill>
              <a:srgbClr val="B7B0A4"/>
            </a:solidFill>
            <a:prstDash val="solid"/>
          </a:ln>
        </p:spPr>
      </p:sp>
      <p:sp>
        <p:nvSpPr>
          <p:cNvPr id="29" name="Shape 27"/>
          <p:cNvSpPr/>
          <p:nvPr/>
        </p:nvSpPr>
        <p:spPr>
          <a:xfrm>
            <a:off x="457200" y="6299200"/>
            <a:ext cx="127000" cy="127000"/>
          </a:xfrm>
          <a:prstGeom prst="triangle">
            <a:avLst/>
          </a:prstGeom>
          <a:solidFill>
            <a:srgbClr val="D6A23A"/>
          </a:solidFill>
          <a:ln w="7620">
            <a:solidFill>
              <a:srgbClr val="252525"/>
            </a:solidFill>
            <a:prstDash val="solid"/>
          </a:ln>
        </p:spPr>
      </p:sp>
      <p:sp>
        <p:nvSpPr>
          <p:cNvPr id="30" name="Text 28"/>
          <p:cNvSpPr/>
          <p:nvPr/>
        </p:nvSpPr>
        <p:spPr>
          <a:xfrm>
            <a:off x="711200" y="6248400"/>
            <a:ext cx="1409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31" name="Text 29"/>
          <p:cNvSpPr/>
          <p:nvPr/>
        </p:nvSpPr>
        <p:spPr>
          <a:xfrm>
            <a:off x="2209800" y="6248400"/>
            <a:ext cx="16256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Conditional support</a:t>
            </a:r>
            <a:endParaRPr lang="en-US" sz="900" dirty="0"/>
          </a:p>
        </p:txBody>
      </p:sp>
      <p:sp>
        <p:nvSpPr>
          <p:cNvPr id="32" name="Text 30"/>
          <p:cNvSpPr/>
          <p:nvPr/>
        </p:nvSpPr>
        <p:spPr>
          <a:xfrm>
            <a:off x="3937000" y="6248400"/>
            <a:ext cx="15875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Qualified substitutes</a:t>
            </a:r>
            <a:endParaRPr lang="en-US" sz="900" dirty="0"/>
          </a:p>
        </p:txBody>
      </p:sp>
      <p:sp>
        <p:nvSpPr>
          <p:cNvPr id="33" name="Text 31"/>
          <p:cNvSpPr/>
          <p:nvPr/>
        </p:nvSpPr>
        <p:spPr>
          <a:xfrm>
            <a:off x="5626100" y="6248400"/>
            <a:ext cx="14732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Strong qualified support</a:t>
            </a:r>
            <a:endParaRPr lang="en-US" sz="900" dirty="0"/>
          </a:p>
        </p:txBody>
      </p:sp>
      <p:sp>
        <p:nvSpPr>
          <p:cNvPr id="34" name="Shape 32"/>
          <p:cNvSpPr/>
          <p:nvPr/>
        </p:nvSpPr>
        <p:spPr>
          <a:xfrm>
            <a:off x="457200" y="6701790"/>
            <a:ext cx="6642100" cy="7620"/>
          </a:xfrm>
          <a:prstGeom prst="rect">
            <a:avLst/>
          </a:prstGeom>
          <a:solidFill>
            <a:srgbClr val="B7B0A4"/>
          </a:solidFill>
          <a:ln w="12700">
            <a:solidFill>
              <a:srgbClr val="B7B0A4"/>
            </a:solidFill>
            <a:prstDash val="solid"/>
          </a:ln>
        </p:spPr>
      </p:sp>
      <p:sp>
        <p:nvSpPr>
          <p:cNvPr id="35" name="Shape 33"/>
          <p:cNvSpPr/>
          <p:nvPr/>
        </p:nvSpPr>
        <p:spPr>
          <a:xfrm>
            <a:off x="457200" y="6819900"/>
            <a:ext cx="127000" cy="127000"/>
          </a:xfrm>
          <a:prstGeom prst="diamond">
            <a:avLst/>
          </a:prstGeom>
          <a:solidFill>
            <a:srgbClr val="315A78"/>
          </a:solidFill>
          <a:ln w="7620">
            <a:solidFill>
              <a:srgbClr val="252525"/>
            </a:solidFill>
            <a:prstDash val="solid"/>
          </a:ln>
        </p:spPr>
      </p:sp>
      <p:sp>
        <p:nvSpPr>
          <p:cNvPr id="36" name="Text 34"/>
          <p:cNvSpPr/>
          <p:nvPr/>
        </p:nvSpPr>
        <p:spPr>
          <a:xfrm>
            <a:off x="711200" y="6769100"/>
            <a:ext cx="1409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37" name="Text 35"/>
          <p:cNvSpPr/>
          <p:nvPr/>
        </p:nvSpPr>
        <p:spPr>
          <a:xfrm>
            <a:off x="2209800" y="6769100"/>
            <a:ext cx="16256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Several causes</a:t>
            </a:r>
            <a:endParaRPr lang="en-US" sz="900" dirty="0"/>
          </a:p>
        </p:txBody>
      </p:sp>
      <p:sp>
        <p:nvSpPr>
          <p:cNvPr id="38" name="Text 36"/>
          <p:cNvSpPr/>
          <p:nvPr/>
        </p:nvSpPr>
        <p:spPr>
          <a:xfrm>
            <a:off x="3937000" y="6769100"/>
            <a:ext cx="15875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Unresolved channel</a:t>
            </a:r>
            <a:endParaRPr lang="en-US" sz="900" dirty="0"/>
          </a:p>
        </p:txBody>
      </p:sp>
      <p:sp>
        <p:nvSpPr>
          <p:cNvPr id="39" name="Text 37"/>
          <p:cNvSpPr/>
          <p:nvPr/>
        </p:nvSpPr>
        <p:spPr>
          <a:xfrm>
            <a:off x="5626100" y="6769100"/>
            <a:ext cx="14732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Duration + correction</a:t>
            </a:r>
            <a:endParaRPr lang="en-US" sz="900" dirty="0"/>
          </a:p>
        </p:txBody>
      </p:sp>
      <p:sp>
        <p:nvSpPr>
          <p:cNvPr id="40" name="Shape 38"/>
          <p:cNvSpPr/>
          <p:nvPr/>
        </p:nvSpPr>
        <p:spPr>
          <a:xfrm>
            <a:off x="457200" y="7222490"/>
            <a:ext cx="6642100" cy="7620"/>
          </a:xfrm>
          <a:prstGeom prst="rect">
            <a:avLst/>
          </a:prstGeom>
          <a:solidFill>
            <a:srgbClr val="B7B0A4"/>
          </a:solidFill>
          <a:ln w="12700">
            <a:solidFill>
              <a:srgbClr val="B7B0A4"/>
            </a:solidFill>
            <a:prstDash val="solid"/>
          </a:ln>
        </p:spPr>
      </p:sp>
      <p:sp>
        <p:nvSpPr>
          <p:cNvPr id="41" name="Shape 39"/>
          <p:cNvSpPr/>
          <p:nvPr/>
        </p:nvSpPr>
        <p:spPr>
          <a:xfrm>
            <a:off x="457200" y="7340600"/>
            <a:ext cx="127000" cy="127000"/>
          </a:xfrm>
          <a:prstGeom prst="hexagon">
            <a:avLst/>
          </a:prstGeom>
          <a:solidFill>
            <a:srgbClr val="3E7568"/>
          </a:solidFill>
          <a:ln w="7620">
            <a:solidFill>
              <a:srgbClr val="252525"/>
            </a:solidFill>
            <a:prstDash val="solid"/>
          </a:ln>
        </p:spPr>
      </p:sp>
      <p:sp>
        <p:nvSpPr>
          <p:cNvPr id="42" name="Text 40"/>
          <p:cNvSpPr/>
          <p:nvPr/>
        </p:nvSpPr>
        <p:spPr>
          <a:xfrm>
            <a:off x="711200" y="7289800"/>
            <a:ext cx="1409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43" name="Text 41"/>
          <p:cNvSpPr/>
          <p:nvPr/>
        </p:nvSpPr>
        <p:spPr>
          <a:xfrm>
            <a:off x="2209800" y="7289800"/>
            <a:ext cx="16256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Qualified support</a:t>
            </a:r>
            <a:endParaRPr lang="en-US" sz="900" dirty="0"/>
          </a:p>
        </p:txBody>
      </p:sp>
      <p:sp>
        <p:nvSpPr>
          <p:cNvPr id="44" name="Text 42"/>
          <p:cNvSpPr/>
          <p:nvPr/>
        </p:nvSpPr>
        <p:spPr>
          <a:xfrm>
            <a:off x="3937000" y="7289800"/>
            <a:ext cx="15875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Plausible substitutes</a:t>
            </a:r>
            <a:endParaRPr lang="en-US" sz="900" dirty="0"/>
          </a:p>
        </p:txBody>
      </p:sp>
      <p:sp>
        <p:nvSpPr>
          <p:cNvPr id="45" name="Text 43"/>
          <p:cNvSpPr/>
          <p:nvPr/>
        </p:nvSpPr>
        <p:spPr>
          <a:xfrm>
            <a:off x="5626100" y="7289800"/>
            <a:ext cx="14732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Qualified support</a:t>
            </a:r>
            <a:endParaRPr lang="en-US" sz="900" dirty="0"/>
          </a:p>
        </p:txBody>
      </p:sp>
      <p:sp>
        <p:nvSpPr>
          <p:cNvPr id="46" name="Shape 44"/>
          <p:cNvSpPr/>
          <p:nvPr/>
        </p:nvSpPr>
        <p:spPr>
          <a:xfrm>
            <a:off x="457200" y="7743190"/>
            <a:ext cx="6642100" cy="7620"/>
          </a:xfrm>
          <a:prstGeom prst="rect">
            <a:avLst/>
          </a:prstGeom>
          <a:solidFill>
            <a:srgbClr val="B7B0A4"/>
          </a:solidFill>
          <a:ln w="12700">
            <a:solidFill>
              <a:srgbClr val="B7B0A4"/>
            </a:solidFill>
            <a:prstDash val="solid"/>
          </a:ln>
        </p:spPr>
      </p:sp>
      <p:sp>
        <p:nvSpPr>
          <p:cNvPr id="47" name="Shape 45"/>
          <p:cNvSpPr/>
          <p:nvPr/>
        </p:nvSpPr>
        <p:spPr>
          <a:xfrm>
            <a:off x="457200" y="7904480"/>
            <a:ext cx="127000" cy="40640"/>
          </a:xfrm>
          <a:prstGeom prst="rect">
            <a:avLst/>
          </a:prstGeom>
          <a:solidFill>
            <a:srgbClr val="252525"/>
          </a:solidFill>
          <a:ln w="12700">
            <a:solidFill>
              <a:srgbClr val="252525"/>
            </a:solidFill>
            <a:prstDash val="solid"/>
          </a:ln>
        </p:spPr>
      </p:sp>
      <p:sp>
        <p:nvSpPr>
          <p:cNvPr id="48" name="Shape 46"/>
          <p:cNvSpPr/>
          <p:nvPr/>
        </p:nvSpPr>
        <p:spPr>
          <a:xfrm>
            <a:off x="500380" y="7861300"/>
            <a:ext cx="40640" cy="127000"/>
          </a:xfrm>
          <a:prstGeom prst="rect">
            <a:avLst/>
          </a:prstGeom>
          <a:solidFill>
            <a:srgbClr val="252525"/>
          </a:solidFill>
          <a:ln w="12700">
            <a:solidFill>
              <a:srgbClr val="252525"/>
            </a:solidFill>
            <a:prstDash val="solid"/>
          </a:ln>
        </p:spPr>
      </p:sp>
      <p:sp>
        <p:nvSpPr>
          <p:cNvPr id="49" name="Shape 47"/>
          <p:cNvSpPr/>
          <p:nvPr/>
        </p:nvSpPr>
        <p:spPr>
          <a:xfrm>
            <a:off x="457200" y="7913370"/>
            <a:ext cx="127000" cy="22860"/>
          </a:xfrm>
          <a:prstGeom prst="rect">
            <a:avLst/>
          </a:prstGeom>
          <a:solidFill>
            <a:srgbClr val="A63A3A"/>
          </a:solidFill>
          <a:ln w="12700">
            <a:solidFill>
              <a:srgbClr val="A63A3A"/>
            </a:solidFill>
            <a:prstDash val="solid"/>
          </a:ln>
        </p:spPr>
      </p:sp>
      <p:sp>
        <p:nvSpPr>
          <p:cNvPr id="50" name="Shape 48"/>
          <p:cNvSpPr/>
          <p:nvPr/>
        </p:nvSpPr>
        <p:spPr>
          <a:xfrm>
            <a:off x="509270" y="7861300"/>
            <a:ext cx="22860" cy="127000"/>
          </a:xfrm>
          <a:prstGeom prst="rect">
            <a:avLst/>
          </a:prstGeom>
          <a:solidFill>
            <a:srgbClr val="A63A3A"/>
          </a:solidFill>
          <a:ln w="12700">
            <a:solidFill>
              <a:srgbClr val="A63A3A"/>
            </a:solidFill>
            <a:prstDash val="solid"/>
          </a:ln>
        </p:spPr>
      </p:sp>
      <p:sp>
        <p:nvSpPr>
          <p:cNvPr id="51" name="Text 49"/>
          <p:cNvSpPr/>
          <p:nvPr/>
        </p:nvSpPr>
        <p:spPr>
          <a:xfrm>
            <a:off x="711200" y="7810500"/>
            <a:ext cx="1409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52" name="Text 50"/>
          <p:cNvSpPr/>
          <p:nvPr/>
        </p:nvSpPr>
        <p:spPr>
          <a:xfrm>
            <a:off x="2209800" y="7810500"/>
            <a:ext cx="16256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Not enough alone</a:t>
            </a:r>
            <a:endParaRPr lang="en-US" sz="900" dirty="0"/>
          </a:p>
        </p:txBody>
      </p:sp>
      <p:sp>
        <p:nvSpPr>
          <p:cNvPr id="53" name="Text 51"/>
          <p:cNvSpPr/>
          <p:nvPr/>
        </p:nvSpPr>
        <p:spPr>
          <a:xfrm>
            <a:off x="3937000" y="7810500"/>
            <a:ext cx="15875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Challenges strong form</a:t>
            </a:r>
            <a:endParaRPr lang="en-US" sz="900" dirty="0"/>
          </a:p>
        </p:txBody>
      </p:sp>
      <p:sp>
        <p:nvSpPr>
          <p:cNvPr id="54" name="Text 52"/>
          <p:cNvSpPr/>
          <p:nvPr/>
        </p:nvSpPr>
        <p:spPr>
          <a:xfrm>
            <a:off x="5626100" y="7810500"/>
            <a:ext cx="1473200" cy="4572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Support with warning</a:t>
            </a:r>
            <a:endParaRPr lang="en-US" sz="900" dirty="0"/>
          </a:p>
        </p:txBody>
      </p:sp>
      <p:sp>
        <p:nvSpPr>
          <p:cNvPr id="55" name="Shape 53"/>
          <p:cNvSpPr/>
          <p:nvPr/>
        </p:nvSpPr>
        <p:spPr>
          <a:xfrm>
            <a:off x="457200" y="8263890"/>
            <a:ext cx="6642100" cy="7620"/>
          </a:xfrm>
          <a:prstGeom prst="rect">
            <a:avLst/>
          </a:prstGeom>
          <a:solidFill>
            <a:srgbClr val="B7B0A4"/>
          </a:solidFill>
          <a:ln w="12700">
            <a:solidFill>
              <a:srgbClr val="B7B0A4"/>
            </a:solidFill>
            <a:prstDash val="solid"/>
          </a:ln>
        </p:spPr>
      </p:sp>
      <p:sp>
        <p:nvSpPr>
          <p:cNvPr id="56" name="Text 54"/>
          <p:cNvSpPr/>
          <p:nvPr/>
        </p:nvSpPr>
        <p:spPr>
          <a:xfrm>
            <a:off x="457200" y="8509000"/>
            <a:ext cx="6642100" cy="3683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What would change our minds? Better measurements, a clear sequence in time, and evidence against competing explanations.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TEST 1 / CONNECTED DEVELOPMENT</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More roads—or better connections?</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What if the important difference is whom infrastructure connects?</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Connections alone do not guarantee diversification. Skills, investment, resources, institutions and market access remain competing explanations.</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Maipose (2008, pp. 3–5, 8–11); Svirydzenka and Petri (2014, pp. 5–8); World Bank (2020, Box 2, pp. 44–47); Nasution (2000, pp. 19–20). Full references: p. 27. World Bank (1993, pp. 20–26). Original group hypothesis.</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20</a:t>
            </a:r>
            <a:endParaRPr lang="en-US" sz="1000" dirty="0"/>
          </a:p>
        </p:txBody>
      </p:sp>
      <p:sp>
        <p:nvSpPr>
          <p:cNvPr id="12" name="Text 10"/>
          <p:cNvSpPr/>
          <p:nvPr/>
        </p:nvSpPr>
        <p:spPr>
          <a:xfrm>
            <a:off x="457200" y="3035300"/>
            <a:ext cx="6642100" cy="965200"/>
          </a:xfrm>
          <a:prstGeom prst="rect">
            <a:avLst/>
          </a:prstGeom>
          <a:noFill/>
          <a:ln/>
        </p:spPr>
        <p:txBody>
          <a:bodyPr wrap="square" lIns="0" tIns="0" rIns="0" bIns="0" rtlCol="0" anchor="t"/>
          <a:lstStyle/>
          <a:p>
            <a:pPr indent="0" marL="0">
              <a:lnSpc>
                <a:spcPct val="112000"/>
              </a:lnSpc>
              <a:buNone/>
            </a:pPr>
            <a:r>
              <a:rPr lang="en-US" sz="2800" b="1" dirty="0">
                <a:solidFill>
                  <a:srgbClr val="252525"/>
                </a:solidFill>
                <a:latin typeface="Montserrat" pitchFamily="34" charset="0"/>
                <a:ea typeface="Montserrat" pitchFamily="34" charset="-122"/>
                <a:cs typeface="Montserrat" pitchFamily="34" charset="-120"/>
              </a:rPr>
              <a:t>SUPPORTED</a:t>
            </a:r>
            <a:endParaRPr lang="en-US" sz="2800" dirty="0"/>
          </a:p>
          <a:p>
            <a:pPr indent="0" marL="0">
              <a:lnSpc>
                <a:spcPct val="112000"/>
              </a:lnSpc>
              <a:buNone/>
            </a:pPr>
            <a:r>
              <a:rPr lang="en-US" sz="2800" b="1" dirty="0">
                <a:solidFill>
                  <a:srgbClr val="252525"/>
                </a:solidFill>
                <a:latin typeface="Montserrat" pitchFamily="34" charset="0"/>
                <a:ea typeface="Montserrat" pitchFamily="34" charset="-122"/>
                <a:cs typeface="Montserrat" pitchFamily="34" charset="-120"/>
              </a:rPr>
              <a:t>WITH EXCEPTIONS</a:t>
            </a:r>
            <a:endParaRPr lang="en-US" sz="2800" dirty="0"/>
          </a:p>
        </p:txBody>
      </p:sp>
      <p:pic>
        <p:nvPicPr>
          <p:cNvPr id="13" name="Image 0" descr="/Users/marcusgrude-grodem/Documents/GitHub/USIL/africa-asia-development-magazine/design/canva_editorial_draft/assets/print/malaysia_perai.jpg">    </p:cNvPr>
          <p:cNvPicPr>
            <a:picLocks noChangeAspect="1"/>
          </p:cNvPicPr>
          <p:nvPr/>
        </p:nvPicPr>
        <p:blipFill>
          <a:blip r:embed="rId1"/>
          <a:stretch>
            <a:fillRect/>
          </a:stretch>
        </p:blipFill>
        <p:spPr>
          <a:xfrm>
            <a:off x="582083" y="4381500"/>
            <a:ext cx="2912533" cy="2184400"/>
          </a:xfrm>
          <a:prstGeom prst="rect">
            <a:avLst/>
          </a:prstGeom>
        </p:spPr>
      </p:pic>
      <p:sp>
        <p:nvSpPr>
          <p:cNvPr id="14" name="Text 11"/>
          <p:cNvSpPr/>
          <p:nvPr/>
        </p:nvSpPr>
        <p:spPr>
          <a:xfrm>
            <a:off x="457200" y="6692900"/>
            <a:ext cx="31623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Perai Industrial Zone, Malaysia · 2024</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HundenvonPenang; CC BY-SA 4.0. Industrial context, not proof of linkages. Full credit p. 29.</a:t>
            </a:r>
            <a:endParaRPr lang="en-US" sz="800" dirty="0"/>
          </a:p>
        </p:txBody>
      </p:sp>
      <p:sp>
        <p:nvSpPr>
          <p:cNvPr id="15" name="Text 12"/>
          <p:cNvSpPr/>
          <p:nvPr/>
        </p:nvSpPr>
        <p:spPr>
          <a:xfrm>
            <a:off x="3937000" y="4356100"/>
            <a:ext cx="3162300" cy="3556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The fit</a:t>
            </a:r>
            <a:endParaRPr lang="en-US" sz="1700" dirty="0"/>
          </a:p>
        </p:txBody>
      </p:sp>
      <p:sp>
        <p:nvSpPr>
          <p:cNvPr id="16" name="Text 13"/>
          <p:cNvSpPr/>
          <p:nvPr/>
        </p:nvSpPr>
        <p:spPr>
          <a:xfrm>
            <a:off x="3937000" y="4826000"/>
            <a:ext cx="3162300" cy="10541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South Korea, Malaysia and Mauritius fit a story of skills, firms, infrastructure and markets working together.</a:t>
            </a:r>
            <a:endParaRPr lang="en-US" sz="1100" dirty="0"/>
          </a:p>
        </p:txBody>
      </p:sp>
      <p:sp>
        <p:nvSpPr>
          <p:cNvPr id="17" name="Text 14"/>
          <p:cNvSpPr/>
          <p:nvPr/>
        </p:nvSpPr>
        <p:spPr>
          <a:xfrm>
            <a:off x="3937000" y="6083300"/>
            <a:ext cx="3162300" cy="3556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The challenge</a:t>
            </a:r>
            <a:endParaRPr lang="en-US" sz="1700" dirty="0"/>
          </a:p>
        </p:txBody>
      </p:sp>
      <p:sp>
        <p:nvSpPr>
          <p:cNvPr id="18" name="Text 15"/>
          <p:cNvSpPr/>
          <p:nvPr/>
        </p:nvSpPr>
        <p:spPr>
          <a:xfrm>
            <a:off x="3937000" y="6553200"/>
            <a:ext cx="3162300" cy="1295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Botswana grew despite few inherited public assets. The Philippines shows that export access can coexist with thin domestic links.</a:t>
            </a:r>
            <a:endParaRPr lang="en-US" sz="1100" dirty="0"/>
          </a:p>
        </p:txBody>
      </p:sp>
      <p:sp>
        <p:nvSpPr>
          <p:cNvPr id="19" name="Text 16"/>
          <p:cNvSpPr/>
          <p:nvPr/>
        </p:nvSpPr>
        <p:spPr>
          <a:xfrm>
            <a:off x="457200" y="7937500"/>
            <a:ext cx="6642100" cy="800100"/>
          </a:xfrm>
          <a:prstGeom prst="rect">
            <a:avLst/>
          </a:prstGeom>
          <a:noFill/>
          <a:ln/>
        </p:spPr>
        <p:txBody>
          <a:bodyPr wrap="square" lIns="0" tIns="0" rIns="0" bIns="0" rtlCol="0" anchor="t"/>
          <a:lstStyle/>
          <a:p>
            <a:pPr indent="0" marL="0">
              <a:lnSpc>
                <a:spcPct val="112000"/>
              </a:lnSpc>
              <a:buNone/>
            </a:pPr>
            <a:r>
              <a:rPr lang="en-US" sz="2700" b="1" dirty="0">
                <a:solidFill>
                  <a:srgbClr val="252525"/>
                </a:solidFill>
                <a:latin typeface="Alegreya" pitchFamily="34" charset="0"/>
                <a:ea typeface="Alegreya" pitchFamily="34" charset="-122"/>
                <a:cs typeface="Alegreya" pitchFamily="34" charset="-120"/>
              </a:rPr>
              <a:t>Roads matter when people</a:t>
            </a:r>
            <a:endParaRPr lang="en-US" sz="2700" dirty="0"/>
          </a:p>
          <a:p>
            <a:pPr indent="0" marL="0">
              <a:lnSpc>
                <a:spcPct val="112000"/>
              </a:lnSpc>
              <a:buNone/>
            </a:pPr>
            <a:r>
              <a:rPr lang="en-US" sz="2700" b="1" dirty="0">
                <a:solidFill>
                  <a:srgbClr val="252525"/>
                </a:solidFill>
                <a:latin typeface="Alegreya" pitchFamily="34" charset="0"/>
                <a:ea typeface="Alegreya" pitchFamily="34" charset="-122"/>
                <a:cs typeface="Alegreya" pitchFamily="34" charset="-120"/>
              </a:rPr>
              <a:t>and firms can use them.</a:t>
            </a:r>
            <a:endParaRPr lang="en-US" sz="2700" dirty="0"/>
          </a:p>
        </p:txBody>
      </p:sp>
      <p:sp>
        <p:nvSpPr>
          <p:cNvPr id="20" name="Text 17"/>
          <p:cNvSpPr/>
          <p:nvPr/>
        </p:nvSpPr>
        <p:spPr>
          <a:xfrm>
            <a:off x="457200" y="8712200"/>
            <a:ext cx="6642100" cy="1651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Revise the claim if stronger connections followed growth rather than helped produce it.</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TEST 2 / RADIUS OF TRUST</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Can cooperation reach strangers?</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Contracts, courts and organisations may let people work together without knowing each other first.</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We cannot show that generalized trust caused larger firms or national growth. Institutional substitutes and other causes remain unresolved.</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OECD (2017, pp. 41–44, 62–79); Svirydzenka and Petri (2014, pp. 5–8, 12). No comparable six-country direct-trust series is available for this comparison. Full references: p. 27. Original group hypothesis.</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21</a:t>
            </a:r>
            <a:endParaRPr lang="en-US" sz="1000" dirty="0"/>
          </a:p>
        </p:txBody>
      </p:sp>
      <p:sp>
        <p:nvSpPr>
          <p:cNvPr id="12" name="Text 10"/>
          <p:cNvSpPr/>
          <p:nvPr/>
        </p:nvSpPr>
        <p:spPr>
          <a:xfrm>
            <a:off x="457200" y="3035300"/>
            <a:ext cx="6642100" cy="736600"/>
          </a:xfrm>
          <a:prstGeom prst="rect">
            <a:avLst/>
          </a:prstGeom>
          <a:noFill/>
          <a:ln/>
        </p:spPr>
        <p:txBody>
          <a:bodyPr wrap="square" lIns="0" tIns="0" rIns="0" bIns="0" rtlCol="0" anchor="t"/>
          <a:lstStyle/>
          <a:p>
            <a:pPr indent="0" marL="0">
              <a:lnSpc>
                <a:spcPct val="112000"/>
              </a:lnSpc>
              <a:buNone/>
            </a:pPr>
            <a:r>
              <a:rPr lang="en-US" sz="3700" b="1" dirty="0">
                <a:solidFill>
                  <a:srgbClr val="252525"/>
                </a:solidFill>
                <a:latin typeface="Montserrat" pitchFamily="34" charset="0"/>
                <a:ea typeface="Montserrat" pitchFamily="34" charset="-122"/>
                <a:cs typeface="Montserrat" pitchFamily="34" charset="-120"/>
              </a:rPr>
              <a:t>INCONCLUSIVE</a:t>
            </a:r>
            <a:endParaRPr lang="en-US" sz="3700" dirty="0"/>
          </a:p>
        </p:txBody>
      </p:sp>
      <p:sp>
        <p:nvSpPr>
          <p:cNvPr id="13" name="Shape 11"/>
          <p:cNvSpPr/>
          <p:nvPr/>
        </p:nvSpPr>
        <p:spPr>
          <a:xfrm flipV="1">
            <a:off x="524691" y="4347391"/>
            <a:ext cx="314960" cy="314960"/>
          </a:xfrm>
          <a:prstGeom prst="line">
            <a:avLst/>
          </a:prstGeom>
          <a:noFill/>
          <a:ln w="20320">
            <a:solidFill>
              <a:srgbClr val="252525"/>
            </a:solidFill>
            <a:prstDash val="solid"/>
          </a:ln>
        </p:spPr>
      </p:sp>
      <p:sp>
        <p:nvSpPr>
          <p:cNvPr id="14" name="Shape 12"/>
          <p:cNvSpPr/>
          <p:nvPr/>
        </p:nvSpPr>
        <p:spPr>
          <a:xfrm>
            <a:off x="839651" y="4347391"/>
            <a:ext cx="314960" cy="314960"/>
          </a:xfrm>
          <a:prstGeom prst="line">
            <a:avLst/>
          </a:prstGeom>
          <a:noFill/>
          <a:ln w="20320">
            <a:solidFill>
              <a:srgbClr val="252525"/>
            </a:solidFill>
            <a:prstDash val="solid"/>
          </a:ln>
        </p:spPr>
      </p:sp>
      <p:sp>
        <p:nvSpPr>
          <p:cNvPr id="15" name="Shape 13"/>
          <p:cNvSpPr/>
          <p:nvPr/>
        </p:nvSpPr>
        <p:spPr>
          <a:xfrm>
            <a:off x="839651" y="4662351"/>
            <a:ext cx="314960" cy="314960"/>
          </a:xfrm>
          <a:prstGeom prst="line">
            <a:avLst/>
          </a:prstGeom>
          <a:noFill/>
          <a:ln w="20320">
            <a:solidFill>
              <a:srgbClr val="252525"/>
            </a:solidFill>
            <a:prstDash val="solid"/>
          </a:ln>
        </p:spPr>
      </p:sp>
      <p:sp>
        <p:nvSpPr>
          <p:cNvPr id="16" name="Shape 14"/>
          <p:cNvSpPr/>
          <p:nvPr/>
        </p:nvSpPr>
        <p:spPr>
          <a:xfrm flipV="1">
            <a:off x="524691" y="4662351"/>
            <a:ext cx="314960" cy="314960"/>
          </a:xfrm>
          <a:prstGeom prst="line">
            <a:avLst/>
          </a:prstGeom>
          <a:noFill/>
          <a:ln w="20320">
            <a:solidFill>
              <a:srgbClr val="252525"/>
            </a:solidFill>
            <a:prstDash val="solid"/>
          </a:ln>
        </p:spPr>
      </p:sp>
      <p:sp>
        <p:nvSpPr>
          <p:cNvPr id="17" name="Shape 15"/>
          <p:cNvSpPr/>
          <p:nvPr/>
        </p:nvSpPr>
        <p:spPr>
          <a:xfrm>
            <a:off x="524691" y="4652191"/>
            <a:ext cx="629920" cy="20320"/>
          </a:xfrm>
          <a:prstGeom prst="rect">
            <a:avLst/>
          </a:prstGeom>
          <a:solidFill>
            <a:srgbClr val="252525"/>
          </a:solidFill>
          <a:ln w="12700">
            <a:solidFill>
              <a:srgbClr val="252525"/>
            </a:solidFill>
            <a:prstDash val="solid"/>
          </a:ln>
        </p:spPr>
      </p:sp>
      <p:sp>
        <p:nvSpPr>
          <p:cNvPr id="18" name="Shape 16"/>
          <p:cNvSpPr/>
          <p:nvPr/>
        </p:nvSpPr>
        <p:spPr>
          <a:xfrm>
            <a:off x="479697" y="4617357"/>
            <a:ext cx="89989" cy="89989"/>
          </a:xfrm>
          <a:prstGeom prst="ellipse">
            <a:avLst/>
          </a:prstGeom>
          <a:solidFill>
            <a:srgbClr val="252525"/>
          </a:solidFill>
          <a:ln w="12700">
            <a:solidFill>
              <a:srgbClr val="252525"/>
            </a:solidFill>
            <a:prstDash val="solid"/>
          </a:ln>
        </p:spPr>
      </p:sp>
      <p:sp>
        <p:nvSpPr>
          <p:cNvPr id="19" name="Shape 17"/>
          <p:cNvSpPr/>
          <p:nvPr/>
        </p:nvSpPr>
        <p:spPr>
          <a:xfrm>
            <a:off x="794657" y="4302397"/>
            <a:ext cx="89989" cy="89989"/>
          </a:xfrm>
          <a:prstGeom prst="ellipse">
            <a:avLst/>
          </a:prstGeom>
          <a:solidFill>
            <a:srgbClr val="252525"/>
          </a:solidFill>
          <a:ln w="12700">
            <a:solidFill>
              <a:srgbClr val="252525"/>
            </a:solidFill>
            <a:prstDash val="solid"/>
          </a:ln>
        </p:spPr>
      </p:sp>
      <p:sp>
        <p:nvSpPr>
          <p:cNvPr id="20" name="Shape 18"/>
          <p:cNvSpPr/>
          <p:nvPr/>
        </p:nvSpPr>
        <p:spPr>
          <a:xfrm>
            <a:off x="1109617" y="4617357"/>
            <a:ext cx="89989" cy="89989"/>
          </a:xfrm>
          <a:prstGeom prst="ellipse">
            <a:avLst/>
          </a:prstGeom>
          <a:solidFill>
            <a:srgbClr val="252525"/>
          </a:solidFill>
          <a:ln w="12700">
            <a:solidFill>
              <a:srgbClr val="252525"/>
            </a:solidFill>
            <a:prstDash val="solid"/>
          </a:ln>
        </p:spPr>
      </p:sp>
      <p:sp>
        <p:nvSpPr>
          <p:cNvPr id="21" name="Shape 19"/>
          <p:cNvSpPr/>
          <p:nvPr/>
        </p:nvSpPr>
        <p:spPr>
          <a:xfrm>
            <a:off x="794657" y="4932317"/>
            <a:ext cx="89989" cy="89989"/>
          </a:xfrm>
          <a:prstGeom prst="ellipse">
            <a:avLst/>
          </a:prstGeom>
          <a:solidFill>
            <a:srgbClr val="252525"/>
          </a:solidFill>
          <a:ln w="12700">
            <a:solidFill>
              <a:srgbClr val="252525"/>
            </a:solidFill>
            <a:prstDash val="solid"/>
          </a:ln>
        </p:spPr>
      </p:sp>
      <p:sp>
        <p:nvSpPr>
          <p:cNvPr id="22" name="Text 20"/>
          <p:cNvSpPr/>
          <p:nvPr/>
        </p:nvSpPr>
        <p:spPr>
          <a:xfrm>
            <a:off x="1727200" y="4254500"/>
            <a:ext cx="5372100" cy="3937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Montserrat" pitchFamily="34" charset="0"/>
                <a:ea typeface="Montserrat" pitchFamily="34" charset="-122"/>
                <a:cs typeface="Montserrat" pitchFamily="34" charset="-120"/>
              </a:rPr>
              <a:t>A plausible idea</a:t>
            </a:r>
            <a:endParaRPr lang="en-US" sz="2100" dirty="0"/>
          </a:p>
        </p:txBody>
      </p:sp>
      <p:sp>
        <p:nvSpPr>
          <p:cNvPr id="23" name="Text 21"/>
          <p:cNvSpPr/>
          <p:nvPr/>
        </p:nvSpPr>
        <p:spPr>
          <a:xfrm>
            <a:off x="1727200" y="4813300"/>
            <a:ext cx="5372100" cy="8255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Reliable institutions may help cooperation extend beyond family and close contacts.</a:t>
            </a:r>
            <a:endParaRPr lang="en-US" sz="1200" dirty="0"/>
          </a:p>
        </p:txBody>
      </p:sp>
      <p:sp>
        <p:nvSpPr>
          <p:cNvPr id="24" name="Shape 22"/>
          <p:cNvSpPr/>
          <p:nvPr/>
        </p:nvSpPr>
        <p:spPr>
          <a:xfrm>
            <a:off x="502194" y="6081486"/>
            <a:ext cx="314960" cy="67491"/>
          </a:xfrm>
          <a:prstGeom prst="line">
            <a:avLst/>
          </a:prstGeom>
          <a:noFill/>
          <a:ln w="20320">
            <a:solidFill>
              <a:srgbClr val="252525"/>
            </a:solidFill>
            <a:prstDash val="solid"/>
          </a:ln>
        </p:spPr>
      </p:sp>
      <p:sp>
        <p:nvSpPr>
          <p:cNvPr id="25" name="Shape 23"/>
          <p:cNvSpPr/>
          <p:nvPr/>
        </p:nvSpPr>
        <p:spPr>
          <a:xfrm flipV="1">
            <a:off x="817154" y="6081486"/>
            <a:ext cx="359954" cy="67491"/>
          </a:xfrm>
          <a:prstGeom prst="line">
            <a:avLst/>
          </a:prstGeom>
          <a:noFill/>
          <a:ln w="20320">
            <a:solidFill>
              <a:srgbClr val="252525"/>
            </a:solidFill>
            <a:prstDash val="solid"/>
          </a:ln>
        </p:spPr>
      </p:sp>
      <p:sp>
        <p:nvSpPr>
          <p:cNvPr id="26" name="Shape 24"/>
          <p:cNvSpPr/>
          <p:nvPr/>
        </p:nvSpPr>
        <p:spPr>
          <a:xfrm>
            <a:off x="492034" y="6081486"/>
            <a:ext cx="20320" cy="539931"/>
          </a:xfrm>
          <a:prstGeom prst="rect">
            <a:avLst/>
          </a:prstGeom>
          <a:solidFill>
            <a:srgbClr val="252525"/>
          </a:solidFill>
          <a:ln w="12700">
            <a:solidFill>
              <a:srgbClr val="252525"/>
            </a:solidFill>
            <a:prstDash val="solid"/>
          </a:ln>
        </p:spPr>
      </p:sp>
      <p:sp>
        <p:nvSpPr>
          <p:cNvPr id="27" name="Shape 25"/>
          <p:cNvSpPr/>
          <p:nvPr/>
        </p:nvSpPr>
        <p:spPr>
          <a:xfrm>
            <a:off x="1166949" y="6081486"/>
            <a:ext cx="20320" cy="539931"/>
          </a:xfrm>
          <a:prstGeom prst="rect">
            <a:avLst/>
          </a:prstGeom>
          <a:solidFill>
            <a:srgbClr val="252525"/>
          </a:solidFill>
          <a:ln w="12700">
            <a:solidFill>
              <a:srgbClr val="252525"/>
            </a:solidFill>
            <a:prstDash val="solid"/>
          </a:ln>
        </p:spPr>
      </p:sp>
      <p:sp>
        <p:nvSpPr>
          <p:cNvPr id="28" name="Shape 26"/>
          <p:cNvSpPr/>
          <p:nvPr/>
        </p:nvSpPr>
        <p:spPr>
          <a:xfrm>
            <a:off x="502194" y="6621417"/>
            <a:ext cx="314960" cy="67491"/>
          </a:xfrm>
          <a:prstGeom prst="line">
            <a:avLst/>
          </a:prstGeom>
          <a:noFill/>
          <a:ln w="20320">
            <a:solidFill>
              <a:srgbClr val="252525"/>
            </a:solidFill>
            <a:prstDash val="solid"/>
          </a:ln>
        </p:spPr>
      </p:sp>
      <p:sp>
        <p:nvSpPr>
          <p:cNvPr id="29" name="Shape 27"/>
          <p:cNvSpPr/>
          <p:nvPr/>
        </p:nvSpPr>
        <p:spPr>
          <a:xfrm flipV="1">
            <a:off x="817154" y="6621417"/>
            <a:ext cx="359954" cy="67491"/>
          </a:xfrm>
          <a:prstGeom prst="line">
            <a:avLst/>
          </a:prstGeom>
          <a:noFill/>
          <a:ln w="20320">
            <a:solidFill>
              <a:srgbClr val="252525"/>
            </a:solidFill>
            <a:prstDash val="solid"/>
          </a:ln>
        </p:spPr>
      </p:sp>
      <p:sp>
        <p:nvSpPr>
          <p:cNvPr id="30" name="Shape 28"/>
          <p:cNvSpPr/>
          <p:nvPr/>
        </p:nvSpPr>
        <p:spPr>
          <a:xfrm>
            <a:off x="806994" y="6148977"/>
            <a:ext cx="20320" cy="539931"/>
          </a:xfrm>
          <a:prstGeom prst="rect">
            <a:avLst/>
          </a:prstGeom>
          <a:solidFill>
            <a:srgbClr val="252525"/>
          </a:solidFill>
          <a:ln w="12700">
            <a:solidFill>
              <a:srgbClr val="252525"/>
            </a:solidFill>
            <a:prstDash val="solid"/>
          </a:ln>
        </p:spPr>
      </p:sp>
      <p:sp>
        <p:nvSpPr>
          <p:cNvPr id="31" name="Text 29"/>
          <p:cNvSpPr/>
          <p:nvPr/>
        </p:nvSpPr>
        <p:spPr>
          <a:xfrm>
            <a:off x="1727200" y="5956300"/>
            <a:ext cx="5372100" cy="3937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Montserrat" pitchFamily="34" charset="0"/>
                <a:ea typeface="Montserrat" pitchFamily="34" charset="-122"/>
                <a:cs typeface="Montserrat" pitchFamily="34" charset="-120"/>
              </a:rPr>
              <a:t>A missing test</a:t>
            </a:r>
            <a:endParaRPr lang="en-US" sz="2100" dirty="0"/>
          </a:p>
        </p:txBody>
      </p:sp>
      <p:sp>
        <p:nvSpPr>
          <p:cNvPr id="32" name="Text 30"/>
          <p:cNvSpPr/>
          <p:nvPr/>
        </p:nvSpPr>
        <p:spPr>
          <a:xfrm>
            <a:off x="1727200" y="6515100"/>
            <a:ext cx="5372100" cy="9271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We lack comparable direct-trust evidence across all six cases. Ghana and South Korea remain direct-trust gaps.</a:t>
            </a:r>
            <a:endParaRPr lang="en-US" sz="1200" dirty="0"/>
          </a:p>
        </p:txBody>
      </p:sp>
      <p:sp>
        <p:nvSpPr>
          <p:cNvPr id="33" name="Text 31"/>
          <p:cNvSpPr/>
          <p:nvPr/>
        </p:nvSpPr>
        <p:spPr>
          <a:xfrm>
            <a:off x="457200" y="7670800"/>
            <a:ext cx="6642100" cy="876300"/>
          </a:xfrm>
          <a:prstGeom prst="rect">
            <a:avLst/>
          </a:prstGeom>
          <a:noFill/>
          <a:ln/>
        </p:spPr>
        <p:txBody>
          <a:bodyPr wrap="square" lIns="0" tIns="0" rIns="0" bIns="0" rtlCol="0" anchor="t"/>
          <a:lstStyle/>
          <a:p>
            <a:pPr indent="0" marL="0">
              <a:lnSpc>
                <a:spcPct val="112000"/>
              </a:lnSpc>
              <a:buNone/>
            </a:pPr>
            <a:r>
              <a:rPr lang="en-US" sz="2800" b="1" dirty="0">
                <a:solidFill>
                  <a:srgbClr val="252525"/>
                </a:solidFill>
                <a:latin typeface="Alegreya" pitchFamily="34" charset="0"/>
                <a:ea typeface="Alegreya" pitchFamily="34" charset="-122"/>
                <a:cs typeface="Alegreya" pitchFamily="34" charset="-120"/>
              </a:rPr>
              <a:t>Trust matters to us.</a:t>
            </a:r>
            <a:endParaRPr lang="en-US" sz="2800" dirty="0"/>
          </a:p>
          <a:p>
            <a:pPr indent="0" marL="0">
              <a:lnSpc>
                <a:spcPct val="112000"/>
              </a:lnSpc>
              <a:buNone/>
            </a:pPr>
            <a:r>
              <a:rPr lang="en-US" sz="2800" b="1" dirty="0">
                <a:solidFill>
                  <a:srgbClr val="252525"/>
                </a:solidFill>
                <a:latin typeface="Alegreya" pitchFamily="34" charset="0"/>
                <a:ea typeface="Alegreya" pitchFamily="34" charset="-122"/>
                <a:cs typeface="Alegreya" pitchFamily="34" charset="-120"/>
              </a:rPr>
              <a:t>The regional claim is unproven.</a:t>
            </a:r>
            <a:endParaRPr lang="en-US" sz="2800" dirty="0"/>
          </a:p>
        </p:txBody>
      </p:sp>
      <p:sp>
        <p:nvSpPr>
          <p:cNvPr id="34" name="Text 32"/>
          <p:cNvSpPr/>
          <p:nvPr/>
        </p:nvSpPr>
        <p:spPr>
          <a:xfrm>
            <a:off x="457200" y="8585200"/>
            <a:ext cx="6642100" cy="2921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Reopen with comparable, weighted trust surveys linked in time to firm outcomes, while testing institutional alternatives.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TEST 3 / CONTINUITY + ADAPTATION</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Keep the direction. Fix the mistakes.</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A stable policy is useful only if it can learn.</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Policy duration cannot be separated here from state capacity, resources, foreign investment, market access, shocks or prior success.</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Maipose (2008, pp. 3–5, 8–11); Svirydzenka and Petri (2014, pp. 5–8); World Bank (2020, Box 2, pp. 44–47); Nasution (2000, pp. 19–20). Full references: p. 27. World Bank (1993, pp. 127–130, 159–161, 242). Original group hypothesis.</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22</a:t>
            </a:r>
            <a:endParaRPr lang="en-US" sz="1000" dirty="0"/>
          </a:p>
        </p:txBody>
      </p:sp>
      <p:sp>
        <p:nvSpPr>
          <p:cNvPr id="12" name="Text 10"/>
          <p:cNvSpPr/>
          <p:nvPr/>
        </p:nvSpPr>
        <p:spPr>
          <a:xfrm>
            <a:off x="457200" y="3035300"/>
            <a:ext cx="6642100" cy="965200"/>
          </a:xfrm>
          <a:prstGeom prst="rect">
            <a:avLst/>
          </a:prstGeom>
          <a:noFill/>
          <a:ln/>
        </p:spPr>
        <p:txBody>
          <a:bodyPr wrap="square" lIns="0" tIns="0" rIns="0" bIns="0" rtlCol="0" anchor="t"/>
          <a:lstStyle/>
          <a:p>
            <a:pPr indent="0" marL="0">
              <a:lnSpc>
                <a:spcPct val="112000"/>
              </a:lnSpc>
              <a:buNone/>
            </a:pPr>
            <a:r>
              <a:rPr lang="en-US" sz="2800" b="1" dirty="0">
                <a:solidFill>
                  <a:srgbClr val="252525"/>
                </a:solidFill>
                <a:latin typeface="Montserrat" pitchFamily="34" charset="0"/>
                <a:ea typeface="Montserrat" pitchFamily="34" charset="-122"/>
                <a:cs typeface="Montserrat" pitchFamily="34" charset="-120"/>
              </a:rPr>
              <a:t>SUPPORTED</a:t>
            </a:r>
            <a:endParaRPr lang="en-US" sz="2800" dirty="0"/>
          </a:p>
          <a:p>
            <a:pPr indent="0" marL="0">
              <a:lnSpc>
                <a:spcPct val="112000"/>
              </a:lnSpc>
              <a:buNone/>
            </a:pPr>
            <a:r>
              <a:rPr lang="en-US" sz="2800" b="1" dirty="0">
                <a:solidFill>
                  <a:srgbClr val="252525"/>
                </a:solidFill>
                <a:latin typeface="Montserrat" pitchFamily="34" charset="0"/>
                <a:ea typeface="Montserrat" pitchFamily="34" charset="-122"/>
                <a:cs typeface="Montserrat" pitchFamily="34" charset="-120"/>
              </a:rPr>
              <a:t>WITH EXCEPTIONS</a:t>
            </a:r>
            <a:endParaRPr lang="en-US" sz="2800" dirty="0"/>
          </a:p>
        </p:txBody>
      </p:sp>
      <p:sp>
        <p:nvSpPr>
          <p:cNvPr id="13" name="Shape 11"/>
          <p:cNvSpPr/>
          <p:nvPr/>
        </p:nvSpPr>
        <p:spPr>
          <a:xfrm>
            <a:off x="487680" y="4572000"/>
            <a:ext cx="213360" cy="45720"/>
          </a:xfrm>
          <a:prstGeom prst="line">
            <a:avLst/>
          </a:prstGeom>
          <a:noFill/>
          <a:ln w="20320">
            <a:solidFill>
              <a:srgbClr val="252525"/>
            </a:solidFill>
            <a:prstDash val="solid"/>
          </a:ln>
        </p:spPr>
      </p:sp>
      <p:sp>
        <p:nvSpPr>
          <p:cNvPr id="14" name="Shape 12"/>
          <p:cNvSpPr/>
          <p:nvPr/>
        </p:nvSpPr>
        <p:spPr>
          <a:xfrm flipV="1">
            <a:off x="701040" y="4572000"/>
            <a:ext cx="243840" cy="45720"/>
          </a:xfrm>
          <a:prstGeom prst="line">
            <a:avLst/>
          </a:prstGeom>
          <a:noFill/>
          <a:ln w="20320">
            <a:solidFill>
              <a:srgbClr val="252525"/>
            </a:solidFill>
            <a:prstDash val="solid"/>
          </a:ln>
        </p:spPr>
      </p:sp>
      <p:sp>
        <p:nvSpPr>
          <p:cNvPr id="15" name="Shape 13"/>
          <p:cNvSpPr/>
          <p:nvPr/>
        </p:nvSpPr>
        <p:spPr>
          <a:xfrm>
            <a:off x="477520" y="4572000"/>
            <a:ext cx="20320" cy="365760"/>
          </a:xfrm>
          <a:prstGeom prst="rect">
            <a:avLst/>
          </a:prstGeom>
          <a:solidFill>
            <a:srgbClr val="252525"/>
          </a:solidFill>
          <a:ln w="12700">
            <a:solidFill>
              <a:srgbClr val="252525"/>
            </a:solidFill>
            <a:prstDash val="solid"/>
          </a:ln>
        </p:spPr>
      </p:sp>
      <p:sp>
        <p:nvSpPr>
          <p:cNvPr id="16" name="Shape 14"/>
          <p:cNvSpPr/>
          <p:nvPr/>
        </p:nvSpPr>
        <p:spPr>
          <a:xfrm>
            <a:off x="934720" y="4572000"/>
            <a:ext cx="20320" cy="365760"/>
          </a:xfrm>
          <a:prstGeom prst="rect">
            <a:avLst/>
          </a:prstGeom>
          <a:solidFill>
            <a:srgbClr val="252525"/>
          </a:solidFill>
          <a:ln w="12700">
            <a:solidFill>
              <a:srgbClr val="252525"/>
            </a:solidFill>
            <a:prstDash val="solid"/>
          </a:ln>
        </p:spPr>
      </p:sp>
      <p:sp>
        <p:nvSpPr>
          <p:cNvPr id="17" name="Shape 15"/>
          <p:cNvSpPr/>
          <p:nvPr/>
        </p:nvSpPr>
        <p:spPr>
          <a:xfrm>
            <a:off x="487680" y="4937760"/>
            <a:ext cx="213360" cy="45720"/>
          </a:xfrm>
          <a:prstGeom prst="line">
            <a:avLst/>
          </a:prstGeom>
          <a:noFill/>
          <a:ln w="20320">
            <a:solidFill>
              <a:srgbClr val="252525"/>
            </a:solidFill>
            <a:prstDash val="solid"/>
          </a:ln>
        </p:spPr>
      </p:sp>
      <p:sp>
        <p:nvSpPr>
          <p:cNvPr id="18" name="Shape 16"/>
          <p:cNvSpPr/>
          <p:nvPr/>
        </p:nvSpPr>
        <p:spPr>
          <a:xfrm flipV="1">
            <a:off x="701040" y="4937760"/>
            <a:ext cx="243840" cy="45720"/>
          </a:xfrm>
          <a:prstGeom prst="line">
            <a:avLst/>
          </a:prstGeom>
          <a:noFill/>
          <a:ln w="20320">
            <a:solidFill>
              <a:srgbClr val="252525"/>
            </a:solidFill>
            <a:prstDash val="solid"/>
          </a:ln>
        </p:spPr>
      </p:sp>
      <p:sp>
        <p:nvSpPr>
          <p:cNvPr id="19" name="Shape 17"/>
          <p:cNvSpPr/>
          <p:nvPr/>
        </p:nvSpPr>
        <p:spPr>
          <a:xfrm>
            <a:off x="690880" y="4617720"/>
            <a:ext cx="20320" cy="365760"/>
          </a:xfrm>
          <a:prstGeom prst="rect">
            <a:avLst/>
          </a:prstGeom>
          <a:solidFill>
            <a:srgbClr val="252525"/>
          </a:solidFill>
          <a:ln w="12700">
            <a:solidFill>
              <a:srgbClr val="252525"/>
            </a:solidFill>
            <a:prstDash val="solid"/>
          </a:ln>
        </p:spPr>
      </p:sp>
      <p:sp>
        <p:nvSpPr>
          <p:cNvPr id="20" name="Text 18"/>
          <p:cNvSpPr/>
          <p:nvPr/>
        </p:nvSpPr>
        <p:spPr>
          <a:xfrm>
            <a:off x="457200" y="5270500"/>
            <a:ext cx="2095500" cy="3175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PLAN</a:t>
            </a:r>
            <a:endParaRPr lang="en-US" sz="1500" dirty="0"/>
          </a:p>
        </p:txBody>
      </p:sp>
      <p:sp>
        <p:nvSpPr>
          <p:cNvPr id="21" name="Text 19"/>
          <p:cNvSpPr/>
          <p:nvPr/>
        </p:nvSpPr>
        <p:spPr>
          <a:xfrm>
            <a:off x="457200" y="5740400"/>
            <a:ext cx="2095500" cy="8509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Give firms and workers a direction.</a:t>
            </a:r>
            <a:endParaRPr lang="en-US" sz="1100" dirty="0"/>
          </a:p>
        </p:txBody>
      </p:sp>
      <p:sp>
        <p:nvSpPr>
          <p:cNvPr id="22" name="Text 20"/>
          <p:cNvSpPr/>
          <p:nvPr/>
        </p:nvSpPr>
        <p:spPr>
          <a:xfrm>
            <a:off x="2120900" y="45974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23" name="Shape 21"/>
          <p:cNvSpPr/>
          <p:nvPr/>
        </p:nvSpPr>
        <p:spPr>
          <a:xfrm flipV="1">
            <a:off x="2776220" y="4541520"/>
            <a:ext cx="213360" cy="213360"/>
          </a:xfrm>
          <a:prstGeom prst="line">
            <a:avLst/>
          </a:prstGeom>
          <a:noFill/>
          <a:ln w="20320">
            <a:solidFill>
              <a:srgbClr val="252525"/>
            </a:solidFill>
            <a:prstDash val="solid"/>
          </a:ln>
        </p:spPr>
      </p:sp>
      <p:sp>
        <p:nvSpPr>
          <p:cNvPr id="24" name="Shape 22"/>
          <p:cNvSpPr/>
          <p:nvPr/>
        </p:nvSpPr>
        <p:spPr>
          <a:xfrm>
            <a:off x="2989580" y="4541520"/>
            <a:ext cx="213360" cy="213360"/>
          </a:xfrm>
          <a:prstGeom prst="line">
            <a:avLst/>
          </a:prstGeom>
          <a:noFill/>
          <a:ln w="20320">
            <a:solidFill>
              <a:srgbClr val="252525"/>
            </a:solidFill>
            <a:prstDash val="solid"/>
          </a:ln>
        </p:spPr>
      </p:sp>
      <p:sp>
        <p:nvSpPr>
          <p:cNvPr id="25" name="Shape 23"/>
          <p:cNvSpPr/>
          <p:nvPr/>
        </p:nvSpPr>
        <p:spPr>
          <a:xfrm>
            <a:off x="2989580" y="4754880"/>
            <a:ext cx="213360" cy="213360"/>
          </a:xfrm>
          <a:prstGeom prst="line">
            <a:avLst/>
          </a:prstGeom>
          <a:noFill/>
          <a:ln w="20320">
            <a:solidFill>
              <a:srgbClr val="252525"/>
            </a:solidFill>
            <a:prstDash val="solid"/>
          </a:ln>
        </p:spPr>
      </p:sp>
      <p:sp>
        <p:nvSpPr>
          <p:cNvPr id="26" name="Shape 24"/>
          <p:cNvSpPr/>
          <p:nvPr/>
        </p:nvSpPr>
        <p:spPr>
          <a:xfrm flipV="1">
            <a:off x="2776220" y="4754880"/>
            <a:ext cx="213360" cy="213360"/>
          </a:xfrm>
          <a:prstGeom prst="line">
            <a:avLst/>
          </a:prstGeom>
          <a:noFill/>
          <a:ln w="20320">
            <a:solidFill>
              <a:srgbClr val="252525"/>
            </a:solidFill>
            <a:prstDash val="solid"/>
          </a:ln>
        </p:spPr>
      </p:sp>
      <p:sp>
        <p:nvSpPr>
          <p:cNvPr id="27" name="Shape 25"/>
          <p:cNvSpPr/>
          <p:nvPr/>
        </p:nvSpPr>
        <p:spPr>
          <a:xfrm>
            <a:off x="2776220" y="4744720"/>
            <a:ext cx="426720" cy="20320"/>
          </a:xfrm>
          <a:prstGeom prst="rect">
            <a:avLst/>
          </a:prstGeom>
          <a:solidFill>
            <a:srgbClr val="252525"/>
          </a:solidFill>
          <a:ln w="12700">
            <a:solidFill>
              <a:srgbClr val="252525"/>
            </a:solidFill>
            <a:prstDash val="solid"/>
          </a:ln>
        </p:spPr>
      </p:sp>
      <p:sp>
        <p:nvSpPr>
          <p:cNvPr id="28" name="Shape 26"/>
          <p:cNvSpPr/>
          <p:nvPr/>
        </p:nvSpPr>
        <p:spPr>
          <a:xfrm>
            <a:off x="2745740" y="4724400"/>
            <a:ext cx="60960" cy="60960"/>
          </a:xfrm>
          <a:prstGeom prst="ellipse">
            <a:avLst/>
          </a:prstGeom>
          <a:solidFill>
            <a:srgbClr val="252525"/>
          </a:solidFill>
          <a:ln w="12700">
            <a:solidFill>
              <a:srgbClr val="252525"/>
            </a:solidFill>
            <a:prstDash val="solid"/>
          </a:ln>
        </p:spPr>
      </p:sp>
      <p:sp>
        <p:nvSpPr>
          <p:cNvPr id="29" name="Shape 27"/>
          <p:cNvSpPr/>
          <p:nvPr/>
        </p:nvSpPr>
        <p:spPr>
          <a:xfrm>
            <a:off x="2959100" y="4511040"/>
            <a:ext cx="60960" cy="60960"/>
          </a:xfrm>
          <a:prstGeom prst="ellipse">
            <a:avLst/>
          </a:prstGeom>
          <a:solidFill>
            <a:srgbClr val="252525"/>
          </a:solidFill>
          <a:ln w="12700">
            <a:solidFill>
              <a:srgbClr val="252525"/>
            </a:solidFill>
            <a:prstDash val="solid"/>
          </a:ln>
        </p:spPr>
      </p:sp>
      <p:sp>
        <p:nvSpPr>
          <p:cNvPr id="30" name="Shape 28"/>
          <p:cNvSpPr/>
          <p:nvPr/>
        </p:nvSpPr>
        <p:spPr>
          <a:xfrm>
            <a:off x="3172460" y="4724400"/>
            <a:ext cx="60960" cy="60960"/>
          </a:xfrm>
          <a:prstGeom prst="ellipse">
            <a:avLst/>
          </a:prstGeom>
          <a:solidFill>
            <a:srgbClr val="252525"/>
          </a:solidFill>
          <a:ln w="12700">
            <a:solidFill>
              <a:srgbClr val="252525"/>
            </a:solidFill>
            <a:prstDash val="solid"/>
          </a:ln>
        </p:spPr>
      </p:sp>
      <p:sp>
        <p:nvSpPr>
          <p:cNvPr id="31" name="Shape 29"/>
          <p:cNvSpPr/>
          <p:nvPr/>
        </p:nvSpPr>
        <p:spPr>
          <a:xfrm>
            <a:off x="2959100" y="4937760"/>
            <a:ext cx="60960" cy="60960"/>
          </a:xfrm>
          <a:prstGeom prst="ellipse">
            <a:avLst/>
          </a:prstGeom>
          <a:solidFill>
            <a:srgbClr val="252525"/>
          </a:solidFill>
          <a:ln w="12700">
            <a:solidFill>
              <a:srgbClr val="252525"/>
            </a:solidFill>
            <a:prstDash val="solid"/>
          </a:ln>
        </p:spPr>
      </p:sp>
      <p:sp>
        <p:nvSpPr>
          <p:cNvPr id="32" name="Text 30"/>
          <p:cNvSpPr/>
          <p:nvPr/>
        </p:nvSpPr>
        <p:spPr>
          <a:xfrm>
            <a:off x="2730500" y="5270500"/>
            <a:ext cx="2095500" cy="3175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LISTEN</a:t>
            </a:r>
            <a:endParaRPr lang="en-US" sz="1500" dirty="0"/>
          </a:p>
        </p:txBody>
      </p:sp>
      <p:sp>
        <p:nvSpPr>
          <p:cNvPr id="33" name="Text 31"/>
          <p:cNvSpPr/>
          <p:nvPr/>
        </p:nvSpPr>
        <p:spPr>
          <a:xfrm>
            <a:off x="2730500" y="5740400"/>
            <a:ext cx="2095500" cy="8509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Check what is actually working.</a:t>
            </a:r>
            <a:endParaRPr lang="en-US" sz="1100" dirty="0"/>
          </a:p>
        </p:txBody>
      </p:sp>
      <p:sp>
        <p:nvSpPr>
          <p:cNvPr id="34" name="Text 32"/>
          <p:cNvSpPr/>
          <p:nvPr/>
        </p:nvSpPr>
        <p:spPr>
          <a:xfrm>
            <a:off x="4394200" y="45974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35" name="Shape 33"/>
          <p:cNvSpPr/>
          <p:nvPr/>
        </p:nvSpPr>
        <p:spPr>
          <a:xfrm>
            <a:off x="5080000" y="4561840"/>
            <a:ext cx="365760" cy="20320"/>
          </a:xfrm>
          <a:prstGeom prst="rect">
            <a:avLst/>
          </a:prstGeom>
          <a:solidFill>
            <a:srgbClr val="252525"/>
          </a:solidFill>
          <a:ln w="12700">
            <a:solidFill>
              <a:srgbClr val="252525"/>
            </a:solidFill>
            <a:prstDash val="solid"/>
          </a:ln>
        </p:spPr>
      </p:sp>
      <p:sp>
        <p:nvSpPr>
          <p:cNvPr id="36" name="Shape 34"/>
          <p:cNvSpPr/>
          <p:nvPr/>
        </p:nvSpPr>
        <p:spPr>
          <a:xfrm>
            <a:off x="5435600" y="4572000"/>
            <a:ext cx="20320" cy="320040"/>
          </a:xfrm>
          <a:prstGeom prst="rect">
            <a:avLst/>
          </a:prstGeom>
          <a:solidFill>
            <a:srgbClr val="252525"/>
          </a:solidFill>
          <a:ln w="12700">
            <a:solidFill>
              <a:srgbClr val="252525"/>
            </a:solidFill>
            <a:prstDash val="solid"/>
          </a:ln>
        </p:spPr>
      </p:sp>
      <p:sp>
        <p:nvSpPr>
          <p:cNvPr id="37" name="Shape 35"/>
          <p:cNvSpPr/>
          <p:nvPr/>
        </p:nvSpPr>
        <p:spPr>
          <a:xfrm flipV="1">
            <a:off x="5369560" y="4815840"/>
            <a:ext cx="76200" cy="76200"/>
          </a:xfrm>
          <a:prstGeom prst="line">
            <a:avLst/>
          </a:prstGeom>
          <a:noFill/>
          <a:ln w="20320">
            <a:solidFill>
              <a:srgbClr val="252525"/>
            </a:solidFill>
            <a:prstDash val="solid"/>
          </a:ln>
        </p:spPr>
      </p:sp>
      <p:sp>
        <p:nvSpPr>
          <p:cNvPr id="38" name="Shape 36"/>
          <p:cNvSpPr/>
          <p:nvPr/>
        </p:nvSpPr>
        <p:spPr>
          <a:xfrm flipV="1">
            <a:off x="5445760" y="4815840"/>
            <a:ext cx="76200" cy="76200"/>
          </a:xfrm>
          <a:prstGeom prst="line">
            <a:avLst/>
          </a:prstGeom>
          <a:noFill/>
          <a:ln w="20320">
            <a:solidFill>
              <a:srgbClr val="252525"/>
            </a:solidFill>
            <a:prstDash val="solid"/>
          </a:ln>
        </p:spPr>
      </p:sp>
      <p:sp>
        <p:nvSpPr>
          <p:cNvPr id="39" name="Shape 37"/>
          <p:cNvSpPr/>
          <p:nvPr/>
        </p:nvSpPr>
        <p:spPr>
          <a:xfrm>
            <a:off x="5080000" y="4973320"/>
            <a:ext cx="365760" cy="20320"/>
          </a:xfrm>
          <a:prstGeom prst="rect">
            <a:avLst/>
          </a:prstGeom>
          <a:solidFill>
            <a:srgbClr val="252525"/>
          </a:solidFill>
          <a:ln w="12700">
            <a:solidFill>
              <a:srgbClr val="252525"/>
            </a:solidFill>
            <a:prstDash val="solid"/>
          </a:ln>
        </p:spPr>
      </p:sp>
      <p:sp>
        <p:nvSpPr>
          <p:cNvPr id="40" name="Shape 38"/>
          <p:cNvSpPr/>
          <p:nvPr/>
        </p:nvSpPr>
        <p:spPr>
          <a:xfrm>
            <a:off x="5069840" y="4663440"/>
            <a:ext cx="20320" cy="320040"/>
          </a:xfrm>
          <a:prstGeom prst="rect">
            <a:avLst/>
          </a:prstGeom>
          <a:solidFill>
            <a:srgbClr val="252525"/>
          </a:solidFill>
          <a:ln w="12700">
            <a:solidFill>
              <a:srgbClr val="252525"/>
            </a:solidFill>
            <a:prstDash val="solid"/>
          </a:ln>
        </p:spPr>
      </p:sp>
      <p:sp>
        <p:nvSpPr>
          <p:cNvPr id="41" name="Shape 39"/>
          <p:cNvSpPr/>
          <p:nvPr/>
        </p:nvSpPr>
        <p:spPr>
          <a:xfrm>
            <a:off x="5003800" y="4663440"/>
            <a:ext cx="76200" cy="76200"/>
          </a:xfrm>
          <a:prstGeom prst="line">
            <a:avLst/>
          </a:prstGeom>
          <a:noFill/>
          <a:ln w="20320">
            <a:solidFill>
              <a:srgbClr val="252525"/>
            </a:solidFill>
            <a:prstDash val="solid"/>
          </a:ln>
        </p:spPr>
      </p:sp>
      <p:sp>
        <p:nvSpPr>
          <p:cNvPr id="42" name="Shape 40"/>
          <p:cNvSpPr/>
          <p:nvPr/>
        </p:nvSpPr>
        <p:spPr>
          <a:xfrm>
            <a:off x="5080000" y="4663440"/>
            <a:ext cx="76200" cy="76200"/>
          </a:xfrm>
          <a:prstGeom prst="line">
            <a:avLst/>
          </a:prstGeom>
          <a:noFill/>
          <a:ln w="20320">
            <a:solidFill>
              <a:srgbClr val="252525"/>
            </a:solidFill>
            <a:prstDash val="solid"/>
          </a:ln>
        </p:spPr>
      </p:sp>
      <p:sp>
        <p:nvSpPr>
          <p:cNvPr id="43" name="Text 41"/>
          <p:cNvSpPr/>
          <p:nvPr/>
        </p:nvSpPr>
        <p:spPr>
          <a:xfrm>
            <a:off x="5003800" y="5270500"/>
            <a:ext cx="2095500" cy="3175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CHANGE</a:t>
            </a:r>
            <a:endParaRPr lang="en-US" sz="1500" dirty="0"/>
          </a:p>
        </p:txBody>
      </p:sp>
      <p:sp>
        <p:nvSpPr>
          <p:cNvPr id="44" name="Text 42"/>
          <p:cNvSpPr/>
          <p:nvPr/>
        </p:nvSpPr>
        <p:spPr>
          <a:xfrm>
            <a:off x="5003800" y="5740400"/>
            <a:ext cx="2095500" cy="8509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Stop protecting repeated failure.</a:t>
            </a:r>
            <a:endParaRPr lang="en-US" sz="1100" dirty="0"/>
          </a:p>
        </p:txBody>
      </p:sp>
      <p:sp>
        <p:nvSpPr>
          <p:cNvPr id="45" name="Text 43"/>
          <p:cNvSpPr/>
          <p:nvPr/>
        </p:nvSpPr>
        <p:spPr>
          <a:xfrm>
            <a:off x="457200" y="6946900"/>
            <a:ext cx="3111500" cy="3429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The fit</a:t>
            </a:r>
            <a:endParaRPr lang="en-US" sz="1700" dirty="0"/>
          </a:p>
        </p:txBody>
      </p:sp>
      <p:sp>
        <p:nvSpPr>
          <p:cNvPr id="46" name="Text 44"/>
          <p:cNvSpPr/>
          <p:nvPr/>
        </p:nvSpPr>
        <p:spPr>
          <a:xfrm>
            <a:off x="457200" y="7429500"/>
            <a:ext cx="3111500" cy="10668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South Korea, Mauritius, Malaysia and the Philippines are consistent with durable direction plus correction.</a:t>
            </a:r>
            <a:endParaRPr lang="en-US" sz="1100" dirty="0"/>
          </a:p>
        </p:txBody>
      </p:sp>
      <p:sp>
        <p:nvSpPr>
          <p:cNvPr id="47" name="Text 45"/>
          <p:cNvSpPr/>
          <p:nvPr/>
        </p:nvSpPr>
        <p:spPr>
          <a:xfrm>
            <a:off x="3937000" y="6946900"/>
            <a:ext cx="3162300" cy="3429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The warning</a:t>
            </a:r>
            <a:endParaRPr lang="en-US" sz="1700" dirty="0"/>
          </a:p>
        </p:txBody>
      </p:sp>
      <p:sp>
        <p:nvSpPr>
          <p:cNvPr id="48" name="Text 46"/>
          <p:cNvSpPr/>
          <p:nvPr/>
        </p:nvSpPr>
        <p:spPr>
          <a:xfrm>
            <a:off x="3937000" y="7429500"/>
            <a:ext cx="3162300" cy="10668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Continuity can preserve failure. Botswana warns that accumulating wealth is not the same as diversifying production.</a:t>
            </a:r>
            <a:endParaRPr lang="en-US" sz="1100" dirty="0"/>
          </a:p>
        </p:txBody>
      </p:sp>
      <p:sp>
        <p:nvSpPr>
          <p:cNvPr id="49" name="Text 47"/>
          <p:cNvSpPr/>
          <p:nvPr/>
        </p:nvSpPr>
        <p:spPr>
          <a:xfrm>
            <a:off x="457200" y="8648700"/>
            <a:ext cx="6642100" cy="2159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Revise if lasting policy repeatedly protects failure rather than learning.</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THE EXCEPTIONS MATTER</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The cases that break the shortcut.</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Four countries stop us telling one simple continental story.</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No case proves a universal formula. An exception challenges a claim; it does not automatically prove a rival explanation.</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Maipose (2008, pp. 3–5, 8–11); Svirydzenka and Petri (2014, pp. 5–8); World Bank (2020, Box 2, pp. 44–47); Nasution (2000, pp. 19–20). Full references: p. 27. Photos: Paul tk (2018), Mochudi; Richard N Horne (2025), Port Louis. Full credits p. 29.</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23</a:t>
            </a:r>
            <a:endParaRPr lang="en-US" sz="1000" dirty="0"/>
          </a:p>
        </p:txBody>
      </p:sp>
      <p:sp>
        <p:nvSpPr>
          <p:cNvPr id="12" name="Shape 10"/>
          <p:cNvSpPr/>
          <p:nvPr/>
        </p:nvSpPr>
        <p:spPr>
          <a:xfrm>
            <a:off x="457200" y="3073400"/>
            <a:ext cx="127000" cy="127000"/>
          </a:xfrm>
          <a:prstGeom prst="rect">
            <a:avLst/>
          </a:prstGeom>
          <a:solidFill>
            <a:srgbClr val="3F684E"/>
          </a:solidFill>
          <a:ln w="7620">
            <a:solidFill>
              <a:srgbClr val="252525"/>
            </a:solidFill>
            <a:prstDash val="solid"/>
          </a:ln>
        </p:spPr>
      </p:sp>
      <p:sp>
        <p:nvSpPr>
          <p:cNvPr id="13" name="Text 11"/>
          <p:cNvSpPr/>
          <p:nvPr/>
        </p:nvSpPr>
        <p:spPr>
          <a:xfrm>
            <a:off x="711200" y="30226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pic>
        <p:nvPicPr>
          <p:cNvPr id="14" name="Image 0" descr="/Users/marcusgrude-grodem/Documents/GitHub/USIL/africa-asia-development-magazine/design/canva_editorial_draft/assets/print/botswana_mochudi.jpg">    </p:cNvPr>
          <p:cNvPicPr>
            <a:picLocks noChangeAspect="1"/>
          </p:cNvPicPr>
          <p:nvPr/>
        </p:nvPicPr>
        <p:blipFill>
          <a:blip r:embed="rId1"/>
          <a:stretch>
            <a:fillRect/>
          </a:stretch>
        </p:blipFill>
        <p:spPr>
          <a:xfrm>
            <a:off x="511175" y="3505200"/>
            <a:ext cx="1962150" cy="1308100"/>
          </a:xfrm>
          <a:prstGeom prst="rect">
            <a:avLst/>
          </a:prstGeom>
        </p:spPr>
      </p:pic>
      <p:sp>
        <p:nvSpPr>
          <p:cNvPr id="15" name="Text 12"/>
          <p:cNvSpPr/>
          <p:nvPr/>
        </p:nvSpPr>
        <p:spPr>
          <a:xfrm>
            <a:off x="2781300" y="3530600"/>
            <a:ext cx="4318000" cy="10541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Supports resource management and investment. Challenges the need for strong inherited infrastructure. Does not prove broad diversification.</a:t>
            </a:r>
            <a:endParaRPr lang="en-US" sz="1100" dirty="0"/>
          </a:p>
        </p:txBody>
      </p:sp>
      <p:sp>
        <p:nvSpPr>
          <p:cNvPr id="16" name="Text 13"/>
          <p:cNvSpPr/>
          <p:nvPr/>
        </p:nvSpPr>
        <p:spPr>
          <a:xfrm>
            <a:off x="457200" y="4889500"/>
            <a:ext cx="22479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Mochudi solar pumping · 2018</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Infrastructure context, not a growth estimate.</a:t>
            </a:r>
            <a:endParaRPr lang="en-US" sz="800" dirty="0"/>
          </a:p>
        </p:txBody>
      </p:sp>
      <p:sp>
        <p:nvSpPr>
          <p:cNvPr id="17" name="Shape 14"/>
          <p:cNvSpPr/>
          <p:nvPr/>
        </p:nvSpPr>
        <p:spPr>
          <a:xfrm>
            <a:off x="457200" y="5461000"/>
            <a:ext cx="127000" cy="127000"/>
          </a:xfrm>
          <a:prstGeom prst="triangle">
            <a:avLst/>
          </a:prstGeom>
          <a:solidFill>
            <a:srgbClr val="D6A23A"/>
          </a:solidFill>
          <a:ln w="7620">
            <a:solidFill>
              <a:srgbClr val="252525"/>
            </a:solidFill>
            <a:prstDash val="solid"/>
          </a:ln>
        </p:spPr>
      </p:sp>
      <p:sp>
        <p:nvSpPr>
          <p:cNvPr id="18" name="Text 15"/>
          <p:cNvSpPr/>
          <p:nvPr/>
        </p:nvSpPr>
        <p:spPr>
          <a:xfrm>
            <a:off x="711200" y="54102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19" name="Text 16"/>
          <p:cNvSpPr/>
          <p:nvPr/>
        </p:nvSpPr>
        <p:spPr>
          <a:xfrm>
            <a:off x="457200" y="5905500"/>
            <a:ext cx="39497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Supports adaptation and diversification. Challenges fixed cultural destiny. Does not prove continuity alone caused growth.</a:t>
            </a:r>
            <a:endParaRPr lang="en-US" sz="1100" dirty="0"/>
          </a:p>
        </p:txBody>
      </p:sp>
      <p:pic>
        <p:nvPicPr>
          <p:cNvPr id="20" name="Image 1" descr="/Users/marcusgrude-grodem/Documents/GitHub/USIL/africa-asia-development-magazine/design/canva_editorial_draft/assets/print/mauritius_sugar.jpg">    </p:cNvPr>
          <p:cNvPicPr>
            <a:picLocks noChangeAspect="1"/>
          </p:cNvPicPr>
          <p:nvPr/>
        </p:nvPicPr>
        <p:blipFill>
          <a:blip r:embed="rId2"/>
          <a:stretch>
            <a:fillRect/>
          </a:stretch>
        </p:blipFill>
        <p:spPr>
          <a:xfrm>
            <a:off x="5223933" y="5397500"/>
            <a:ext cx="1693333" cy="1270000"/>
          </a:xfrm>
          <a:prstGeom prst="rect">
            <a:avLst/>
          </a:prstGeom>
        </p:spPr>
      </p:pic>
      <p:sp>
        <p:nvSpPr>
          <p:cNvPr id="21" name="Text 17"/>
          <p:cNvSpPr/>
          <p:nvPr/>
        </p:nvSpPr>
        <p:spPr>
          <a:xfrm>
            <a:off x="5041900" y="6756400"/>
            <a:ext cx="2057400" cy="2667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Port Louis sugar terminal · 2025</a:t>
            </a:r>
            <a:endParaRPr lang="en-US" sz="800" dirty="0"/>
          </a:p>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Trade context, not a history series.</a:t>
            </a:r>
            <a:endParaRPr lang="en-US" sz="800" dirty="0"/>
          </a:p>
        </p:txBody>
      </p:sp>
      <p:sp>
        <p:nvSpPr>
          <p:cNvPr id="22" name="Shape 18"/>
          <p:cNvSpPr/>
          <p:nvPr/>
        </p:nvSpPr>
        <p:spPr>
          <a:xfrm>
            <a:off x="457200" y="7061200"/>
            <a:ext cx="127000" cy="127000"/>
          </a:xfrm>
          <a:prstGeom prst="hexagon">
            <a:avLst/>
          </a:prstGeom>
          <a:solidFill>
            <a:srgbClr val="3E7568"/>
          </a:solidFill>
          <a:ln w="7620">
            <a:solidFill>
              <a:srgbClr val="252525"/>
            </a:solidFill>
            <a:prstDash val="solid"/>
          </a:ln>
        </p:spPr>
      </p:sp>
      <p:sp>
        <p:nvSpPr>
          <p:cNvPr id="23" name="Text 19"/>
          <p:cNvSpPr/>
          <p:nvPr/>
        </p:nvSpPr>
        <p:spPr>
          <a:xfrm>
            <a:off x="711200" y="70104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24" name="Shape 20"/>
          <p:cNvSpPr/>
          <p:nvPr/>
        </p:nvSpPr>
        <p:spPr>
          <a:xfrm>
            <a:off x="3937000" y="7104380"/>
            <a:ext cx="127000" cy="40640"/>
          </a:xfrm>
          <a:prstGeom prst="rect">
            <a:avLst/>
          </a:prstGeom>
          <a:solidFill>
            <a:srgbClr val="252525"/>
          </a:solidFill>
          <a:ln w="12700">
            <a:solidFill>
              <a:srgbClr val="252525"/>
            </a:solidFill>
            <a:prstDash val="solid"/>
          </a:ln>
        </p:spPr>
      </p:sp>
      <p:sp>
        <p:nvSpPr>
          <p:cNvPr id="25" name="Shape 21"/>
          <p:cNvSpPr/>
          <p:nvPr/>
        </p:nvSpPr>
        <p:spPr>
          <a:xfrm>
            <a:off x="3980180" y="7061200"/>
            <a:ext cx="40640" cy="127000"/>
          </a:xfrm>
          <a:prstGeom prst="rect">
            <a:avLst/>
          </a:prstGeom>
          <a:solidFill>
            <a:srgbClr val="252525"/>
          </a:solidFill>
          <a:ln w="12700">
            <a:solidFill>
              <a:srgbClr val="252525"/>
            </a:solidFill>
            <a:prstDash val="solid"/>
          </a:ln>
        </p:spPr>
      </p:sp>
      <p:sp>
        <p:nvSpPr>
          <p:cNvPr id="26" name="Shape 22"/>
          <p:cNvSpPr/>
          <p:nvPr/>
        </p:nvSpPr>
        <p:spPr>
          <a:xfrm>
            <a:off x="3937000" y="7113270"/>
            <a:ext cx="127000" cy="22860"/>
          </a:xfrm>
          <a:prstGeom prst="rect">
            <a:avLst/>
          </a:prstGeom>
          <a:solidFill>
            <a:srgbClr val="A63A3A"/>
          </a:solidFill>
          <a:ln w="12700">
            <a:solidFill>
              <a:srgbClr val="A63A3A"/>
            </a:solidFill>
            <a:prstDash val="solid"/>
          </a:ln>
        </p:spPr>
      </p:sp>
      <p:sp>
        <p:nvSpPr>
          <p:cNvPr id="27" name="Shape 23"/>
          <p:cNvSpPr/>
          <p:nvPr/>
        </p:nvSpPr>
        <p:spPr>
          <a:xfrm>
            <a:off x="3989070" y="7061200"/>
            <a:ext cx="22860" cy="127000"/>
          </a:xfrm>
          <a:prstGeom prst="rect">
            <a:avLst/>
          </a:prstGeom>
          <a:solidFill>
            <a:srgbClr val="A63A3A"/>
          </a:solidFill>
          <a:ln w="12700">
            <a:solidFill>
              <a:srgbClr val="A63A3A"/>
            </a:solidFill>
            <a:prstDash val="solid"/>
          </a:ln>
        </p:spPr>
      </p:sp>
      <p:sp>
        <p:nvSpPr>
          <p:cNvPr id="28" name="Text 24"/>
          <p:cNvSpPr/>
          <p:nvPr/>
        </p:nvSpPr>
        <p:spPr>
          <a:xfrm>
            <a:off x="4191000" y="70104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29" name="Text 25"/>
          <p:cNvSpPr/>
          <p:nvPr/>
        </p:nvSpPr>
        <p:spPr>
          <a:xfrm>
            <a:off x="457200" y="7480300"/>
            <a:ext cx="3162300" cy="381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Malaysia: exports can help, but do not prove local capability.</a:t>
            </a:r>
            <a:endParaRPr lang="en-US" sz="1050" dirty="0"/>
          </a:p>
        </p:txBody>
      </p:sp>
      <p:sp>
        <p:nvSpPr>
          <p:cNvPr id="30" name="Text 26"/>
          <p:cNvSpPr/>
          <p:nvPr/>
        </p:nvSpPr>
        <p:spPr>
          <a:xfrm>
            <a:off x="3937000" y="7480300"/>
            <a:ext cx="3162300" cy="381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Philippines: global links alone are not enough. There is no single “Asia” path.</a:t>
            </a:r>
            <a:endParaRPr lang="en-US" sz="1050" dirty="0"/>
          </a:p>
        </p:txBody>
      </p:sp>
      <p:sp>
        <p:nvSpPr>
          <p:cNvPr id="31" name="Shape 27"/>
          <p:cNvSpPr/>
          <p:nvPr/>
        </p:nvSpPr>
        <p:spPr>
          <a:xfrm>
            <a:off x="457200" y="7937500"/>
            <a:ext cx="6642100" cy="927100"/>
          </a:xfrm>
          <a:prstGeom prst="rect">
            <a:avLst/>
          </a:prstGeom>
          <a:solidFill>
            <a:srgbClr val="252525"/>
          </a:solidFill>
          <a:ln w="12700">
            <a:solidFill>
              <a:srgbClr val="252525"/>
            </a:solidFill>
            <a:prstDash val="solid"/>
          </a:ln>
        </p:spPr>
      </p:sp>
      <p:sp>
        <p:nvSpPr>
          <p:cNvPr id="32" name="Text 28"/>
          <p:cNvSpPr/>
          <p:nvPr/>
        </p:nvSpPr>
        <p:spPr>
          <a:xfrm>
            <a:off x="635000" y="8089900"/>
            <a:ext cx="62865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33" name="Text 29"/>
          <p:cNvSpPr/>
          <p:nvPr/>
        </p:nvSpPr>
        <p:spPr>
          <a:xfrm>
            <a:off x="635000" y="8369300"/>
            <a:ext cx="6286500" cy="3937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Mauritius surprised us. Its small size challenged our assumptions about what a country needs to develop—and about one single African development story.</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PUTTING IT TOGETHER</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Build the ability to do more.</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Skills. Reliable connections. Firms that learn. Institutions that make cooperation possible.</a:t>
            </a:r>
            <a:endParaRPr lang="en-US" sz="1150" dirty="0"/>
          </a:p>
        </p:txBody>
      </p:sp>
      <p:sp>
        <p:nvSpPr>
          <p:cNvPr id="6" name="Text 4"/>
          <p:cNvSpPr/>
          <p:nvPr/>
        </p:nvSpPr>
        <p:spPr>
          <a:xfrm>
            <a:off x="457200" y="89027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KEEP IN MIND</a:t>
            </a:r>
            <a:endParaRPr lang="en-US" sz="800" dirty="0"/>
          </a:p>
        </p:txBody>
      </p:sp>
      <p:sp>
        <p:nvSpPr>
          <p:cNvPr id="7" name="Text 5"/>
          <p:cNvSpPr/>
          <p:nvPr/>
        </p:nvSpPr>
        <p:spPr>
          <a:xfrm>
            <a:off x="457200" y="9156700"/>
            <a:ext cx="6642100" cy="406400"/>
          </a:xfrm>
          <a:prstGeom prst="rect">
            <a:avLst/>
          </a:prstGeom>
          <a:noFill/>
          <a:ln/>
        </p:spPr>
        <p:txBody>
          <a:bodyPr wrap="square" lIns="0" tIns="0" rIns="0" bIns="0" rtlCol="0" anchor="t"/>
          <a:lstStyle/>
          <a:p>
            <a:pPr indent="0" marL="0">
              <a:lnSpc>
                <a:spcPct val="112000"/>
              </a:lnSpc>
              <a:buNone/>
            </a:pPr>
            <a:r>
              <a:rPr lang="en-US" sz="900" dirty="0">
                <a:solidFill>
                  <a:srgbClr val="514E48"/>
                </a:solidFill>
                <a:latin typeface="Montserrat" pitchFamily="34" charset="0"/>
                <a:ea typeface="Montserrat" pitchFamily="34" charset="-122"/>
                <a:cs typeface="Montserrat" pitchFamily="34" charset="-120"/>
              </a:rPr>
              <a:t>This is a bounded interpretation, not a calculation of each cause’s contribution. Six countries do not represent two whole continents.</a:t>
            </a:r>
            <a:endParaRPr lang="en-US" sz="900" dirty="0"/>
          </a:p>
        </p:txBody>
      </p:sp>
      <p:sp>
        <p:nvSpPr>
          <p:cNvPr id="8" name="Shape 6"/>
          <p:cNvSpPr/>
          <p:nvPr/>
        </p:nvSpPr>
        <p:spPr>
          <a:xfrm>
            <a:off x="457200" y="9660255"/>
            <a:ext cx="6642100" cy="8890"/>
          </a:xfrm>
          <a:prstGeom prst="rect">
            <a:avLst/>
          </a:prstGeom>
          <a:solidFill>
            <a:srgbClr val="252525"/>
          </a:solidFill>
          <a:ln w="12700">
            <a:solidFill>
              <a:srgbClr val="252525"/>
            </a:solidFill>
            <a:prstDash val="solid"/>
          </a:ln>
        </p:spPr>
      </p:sp>
      <p:sp>
        <p:nvSpPr>
          <p:cNvPr id="9" name="Text 7"/>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Group synthesis: World Bank (1993, pp. 4–7, 20–26, 79–80); World Bank (2020); Maipose (2008); Svirydzenka and Petri (2014); Hofstede (2011).</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24</a:t>
            </a:r>
            <a:endParaRPr lang="en-US" sz="1000" dirty="0"/>
          </a:p>
        </p:txBody>
      </p:sp>
      <p:sp>
        <p:nvSpPr>
          <p:cNvPr id="12" name="Shape 10"/>
          <p:cNvSpPr/>
          <p:nvPr/>
        </p:nvSpPr>
        <p:spPr>
          <a:xfrm>
            <a:off x="487680" y="3175000"/>
            <a:ext cx="213360" cy="45720"/>
          </a:xfrm>
          <a:prstGeom prst="line">
            <a:avLst/>
          </a:prstGeom>
          <a:noFill/>
          <a:ln w="20320">
            <a:solidFill>
              <a:srgbClr val="252525"/>
            </a:solidFill>
            <a:prstDash val="solid"/>
          </a:ln>
        </p:spPr>
      </p:sp>
      <p:sp>
        <p:nvSpPr>
          <p:cNvPr id="13" name="Shape 11"/>
          <p:cNvSpPr/>
          <p:nvPr/>
        </p:nvSpPr>
        <p:spPr>
          <a:xfrm flipV="1">
            <a:off x="701040" y="3175000"/>
            <a:ext cx="243840" cy="45720"/>
          </a:xfrm>
          <a:prstGeom prst="line">
            <a:avLst/>
          </a:prstGeom>
          <a:noFill/>
          <a:ln w="20320">
            <a:solidFill>
              <a:srgbClr val="252525"/>
            </a:solidFill>
            <a:prstDash val="solid"/>
          </a:ln>
        </p:spPr>
      </p:sp>
      <p:sp>
        <p:nvSpPr>
          <p:cNvPr id="14" name="Shape 12"/>
          <p:cNvSpPr/>
          <p:nvPr/>
        </p:nvSpPr>
        <p:spPr>
          <a:xfrm>
            <a:off x="477520" y="3175000"/>
            <a:ext cx="20320" cy="365760"/>
          </a:xfrm>
          <a:prstGeom prst="rect">
            <a:avLst/>
          </a:prstGeom>
          <a:solidFill>
            <a:srgbClr val="252525"/>
          </a:solidFill>
          <a:ln w="12700">
            <a:solidFill>
              <a:srgbClr val="252525"/>
            </a:solidFill>
            <a:prstDash val="solid"/>
          </a:ln>
        </p:spPr>
      </p:sp>
      <p:sp>
        <p:nvSpPr>
          <p:cNvPr id="15" name="Shape 13"/>
          <p:cNvSpPr/>
          <p:nvPr/>
        </p:nvSpPr>
        <p:spPr>
          <a:xfrm>
            <a:off x="934720" y="3175000"/>
            <a:ext cx="20320" cy="365760"/>
          </a:xfrm>
          <a:prstGeom prst="rect">
            <a:avLst/>
          </a:prstGeom>
          <a:solidFill>
            <a:srgbClr val="252525"/>
          </a:solidFill>
          <a:ln w="12700">
            <a:solidFill>
              <a:srgbClr val="252525"/>
            </a:solidFill>
            <a:prstDash val="solid"/>
          </a:ln>
        </p:spPr>
      </p:sp>
      <p:sp>
        <p:nvSpPr>
          <p:cNvPr id="16" name="Shape 14"/>
          <p:cNvSpPr/>
          <p:nvPr/>
        </p:nvSpPr>
        <p:spPr>
          <a:xfrm>
            <a:off x="487680" y="3540760"/>
            <a:ext cx="213360" cy="45720"/>
          </a:xfrm>
          <a:prstGeom prst="line">
            <a:avLst/>
          </a:prstGeom>
          <a:noFill/>
          <a:ln w="20320">
            <a:solidFill>
              <a:srgbClr val="252525"/>
            </a:solidFill>
            <a:prstDash val="solid"/>
          </a:ln>
        </p:spPr>
      </p:sp>
      <p:sp>
        <p:nvSpPr>
          <p:cNvPr id="17" name="Shape 15"/>
          <p:cNvSpPr/>
          <p:nvPr/>
        </p:nvSpPr>
        <p:spPr>
          <a:xfrm flipV="1">
            <a:off x="701040" y="3540760"/>
            <a:ext cx="243840" cy="45720"/>
          </a:xfrm>
          <a:prstGeom prst="line">
            <a:avLst/>
          </a:prstGeom>
          <a:noFill/>
          <a:ln w="20320">
            <a:solidFill>
              <a:srgbClr val="252525"/>
            </a:solidFill>
            <a:prstDash val="solid"/>
          </a:ln>
        </p:spPr>
      </p:sp>
      <p:sp>
        <p:nvSpPr>
          <p:cNvPr id="18" name="Shape 16"/>
          <p:cNvSpPr/>
          <p:nvPr/>
        </p:nvSpPr>
        <p:spPr>
          <a:xfrm>
            <a:off x="690880" y="3220720"/>
            <a:ext cx="20320" cy="365760"/>
          </a:xfrm>
          <a:prstGeom prst="rect">
            <a:avLst/>
          </a:prstGeom>
          <a:solidFill>
            <a:srgbClr val="252525"/>
          </a:solidFill>
          <a:ln w="12700">
            <a:solidFill>
              <a:srgbClr val="252525"/>
            </a:solidFill>
            <a:prstDash val="solid"/>
          </a:ln>
        </p:spPr>
      </p:sp>
      <p:sp>
        <p:nvSpPr>
          <p:cNvPr id="19" name="Shape 17"/>
          <p:cNvSpPr/>
          <p:nvPr/>
        </p:nvSpPr>
        <p:spPr>
          <a:xfrm>
            <a:off x="2181860" y="3129280"/>
            <a:ext cx="60960" cy="472440"/>
          </a:xfrm>
          <a:prstGeom prst="line">
            <a:avLst/>
          </a:prstGeom>
          <a:noFill/>
          <a:ln w="20320">
            <a:solidFill>
              <a:srgbClr val="252525"/>
            </a:solidFill>
            <a:prstDash val="solid"/>
          </a:ln>
        </p:spPr>
      </p:sp>
      <p:sp>
        <p:nvSpPr>
          <p:cNvPr id="20" name="Shape 18"/>
          <p:cNvSpPr/>
          <p:nvPr/>
        </p:nvSpPr>
        <p:spPr>
          <a:xfrm>
            <a:off x="2517140" y="3129280"/>
            <a:ext cx="60960" cy="472440"/>
          </a:xfrm>
          <a:prstGeom prst="line">
            <a:avLst/>
          </a:prstGeom>
          <a:noFill/>
          <a:ln w="20320">
            <a:solidFill>
              <a:srgbClr val="252525"/>
            </a:solidFill>
            <a:prstDash val="solid"/>
          </a:ln>
        </p:spPr>
      </p:sp>
      <p:sp>
        <p:nvSpPr>
          <p:cNvPr id="21" name="Shape 19"/>
          <p:cNvSpPr/>
          <p:nvPr/>
        </p:nvSpPr>
        <p:spPr>
          <a:xfrm>
            <a:off x="2369820" y="3144520"/>
            <a:ext cx="20320" cy="91440"/>
          </a:xfrm>
          <a:prstGeom prst="rect">
            <a:avLst/>
          </a:prstGeom>
          <a:solidFill>
            <a:srgbClr val="252525"/>
          </a:solidFill>
          <a:ln w="12700">
            <a:solidFill>
              <a:srgbClr val="252525"/>
            </a:solidFill>
            <a:prstDash val="solid"/>
          </a:ln>
        </p:spPr>
      </p:sp>
      <p:sp>
        <p:nvSpPr>
          <p:cNvPr id="22" name="Shape 20"/>
          <p:cNvSpPr/>
          <p:nvPr/>
        </p:nvSpPr>
        <p:spPr>
          <a:xfrm>
            <a:off x="2369820" y="3312160"/>
            <a:ext cx="20320" cy="106680"/>
          </a:xfrm>
          <a:prstGeom prst="rect">
            <a:avLst/>
          </a:prstGeom>
          <a:solidFill>
            <a:srgbClr val="252525"/>
          </a:solidFill>
          <a:ln w="12700">
            <a:solidFill>
              <a:srgbClr val="252525"/>
            </a:solidFill>
            <a:prstDash val="solid"/>
          </a:ln>
        </p:spPr>
      </p:sp>
      <p:sp>
        <p:nvSpPr>
          <p:cNvPr id="23" name="Shape 21"/>
          <p:cNvSpPr/>
          <p:nvPr/>
        </p:nvSpPr>
        <p:spPr>
          <a:xfrm>
            <a:off x="2369820" y="3495040"/>
            <a:ext cx="20320" cy="91440"/>
          </a:xfrm>
          <a:prstGeom prst="rect">
            <a:avLst/>
          </a:prstGeom>
          <a:solidFill>
            <a:srgbClr val="252525"/>
          </a:solidFill>
          <a:ln w="12700">
            <a:solidFill>
              <a:srgbClr val="252525"/>
            </a:solidFill>
            <a:prstDash val="solid"/>
          </a:ln>
        </p:spPr>
      </p:sp>
      <p:sp>
        <p:nvSpPr>
          <p:cNvPr id="24" name="Shape 22"/>
          <p:cNvSpPr/>
          <p:nvPr/>
        </p:nvSpPr>
        <p:spPr>
          <a:xfrm>
            <a:off x="3815080" y="3576320"/>
            <a:ext cx="457200" cy="20320"/>
          </a:xfrm>
          <a:prstGeom prst="rect">
            <a:avLst/>
          </a:prstGeom>
          <a:solidFill>
            <a:srgbClr val="252525"/>
          </a:solidFill>
          <a:ln w="12700">
            <a:solidFill>
              <a:srgbClr val="252525"/>
            </a:solidFill>
            <a:prstDash val="solid"/>
          </a:ln>
        </p:spPr>
      </p:sp>
      <p:sp>
        <p:nvSpPr>
          <p:cNvPr id="25" name="Shape 23"/>
          <p:cNvSpPr/>
          <p:nvPr/>
        </p:nvSpPr>
        <p:spPr>
          <a:xfrm>
            <a:off x="3804920" y="3327400"/>
            <a:ext cx="20320" cy="259080"/>
          </a:xfrm>
          <a:prstGeom prst="rect">
            <a:avLst/>
          </a:prstGeom>
          <a:solidFill>
            <a:srgbClr val="252525"/>
          </a:solidFill>
          <a:ln w="12700">
            <a:solidFill>
              <a:srgbClr val="252525"/>
            </a:solidFill>
            <a:prstDash val="solid"/>
          </a:ln>
        </p:spPr>
      </p:sp>
      <p:sp>
        <p:nvSpPr>
          <p:cNvPr id="26" name="Shape 24"/>
          <p:cNvSpPr/>
          <p:nvPr/>
        </p:nvSpPr>
        <p:spPr>
          <a:xfrm flipV="1">
            <a:off x="3815080" y="3235960"/>
            <a:ext cx="152400" cy="91440"/>
          </a:xfrm>
          <a:prstGeom prst="line">
            <a:avLst/>
          </a:prstGeom>
          <a:noFill/>
          <a:ln w="20320">
            <a:solidFill>
              <a:srgbClr val="252525"/>
            </a:solidFill>
            <a:prstDash val="solid"/>
          </a:ln>
        </p:spPr>
      </p:sp>
      <p:sp>
        <p:nvSpPr>
          <p:cNvPr id="27" name="Shape 25"/>
          <p:cNvSpPr/>
          <p:nvPr/>
        </p:nvSpPr>
        <p:spPr>
          <a:xfrm>
            <a:off x="3957320" y="3235960"/>
            <a:ext cx="20320" cy="91440"/>
          </a:xfrm>
          <a:prstGeom prst="rect">
            <a:avLst/>
          </a:prstGeom>
          <a:solidFill>
            <a:srgbClr val="252525"/>
          </a:solidFill>
          <a:ln w="12700">
            <a:solidFill>
              <a:srgbClr val="252525"/>
            </a:solidFill>
            <a:prstDash val="solid"/>
          </a:ln>
        </p:spPr>
      </p:sp>
      <p:sp>
        <p:nvSpPr>
          <p:cNvPr id="28" name="Shape 26"/>
          <p:cNvSpPr/>
          <p:nvPr/>
        </p:nvSpPr>
        <p:spPr>
          <a:xfrm flipV="1">
            <a:off x="3967480" y="3235960"/>
            <a:ext cx="167640" cy="91440"/>
          </a:xfrm>
          <a:prstGeom prst="line">
            <a:avLst/>
          </a:prstGeom>
          <a:noFill/>
          <a:ln w="20320">
            <a:solidFill>
              <a:srgbClr val="252525"/>
            </a:solidFill>
            <a:prstDash val="solid"/>
          </a:ln>
        </p:spPr>
      </p:sp>
      <p:sp>
        <p:nvSpPr>
          <p:cNvPr id="29" name="Shape 27"/>
          <p:cNvSpPr/>
          <p:nvPr/>
        </p:nvSpPr>
        <p:spPr>
          <a:xfrm>
            <a:off x="4124960" y="3235960"/>
            <a:ext cx="20320" cy="350520"/>
          </a:xfrm>
          <a:prstGeom prst="rect">
            <a:avLst/>
          </a:prstGeom>
          <a:solidFill>
            <a:srgbClr val="252525"/>
          </a:solidFill>
          <a:ln w="12700">
            <a:solidFill>
              <a:srgbClr val="252525"/>
            </a:solidFill>
            <a:prstDash val="solid"/>
          </a:ln>
        </p:spPr>
      </p:sp>
      <p:sp>
        <p:nvSpPr>
          <p:cNvPr id="30" name="Shape 28"/>
          <p:cNvSpPr/>
          <p:nvPr/>
        </p:nvSpPr>
        <p:spPr>
          <a:xfrm>
            <a:off x="4185920" y="3144520"/>
            <a:ext cx="20320" cy="243840"/>
          </a:xfrm>
          <a:prstGeom prst="rect">
            <a:avLst/>
          </a:prstGeom>
          <a:solidFill>
            <a:srgbClr val="252525"/>
          </a:solidFill>
          <a:ln w="12700">
            <a:solidFill>
              <a:srgbClr val="252525"/>
            </a:solidFill>
            <a:prstDash val="solid"/>
          </a:ln>
        </p:spPr>
      </p:sp>
      <p:sp>
        <p:nvSpPr>
          <p:cNvPr id="31" name="Shape 29"/>
          <p:cNvSpPr/>
          <p:nvPr/>
        </p:nvSpPr>
        <p:spPr>
          <a:xfrm>
            <a:off x="4262120" y="3144520"/>
            <a:ext cx="20320" cy="441960"/>
          </a:xfrm>
          <a:prstGeom prst="rect">
            <a:avLst/>
          </a:prstGeom>
          <a:solidFill>
            <a:srgbClr val="252525"/>
          </a:solidFill>
          <a:ln w="12700">
            <a:solidFill>
              <a:srgbClr val="252525"/>
            </a:solidFill>
            <a:prstDash val="solid"/>
          </a:ln>
        </p:spPr>
      </p:sp>
      <p:sp>
        <p:nvSpPr>
          <p:cNvPr id="32" name="Shape 30"/>
          <p:cNvSpPr/>
          <p:nvPr/>
        </p:nvSpPr>
        <p:spPr>
          <a:xfrm>
            <a:off x="4196080" y="3134360"/>
            <a:ext cx="76200" cy="20320"/>
          </a:xfrm>
          <a:prstGeom prst="rect">
            <a:avLst/>
          </a:prstGeom>
          <a:solidFill>
            <a:srgbClr val="252525"/>
          </a:solidFill>
          <a:ln w="12700">
            <a:solidFill>
              <a:srgbClr val="252525"/>
            </a:solidFill>
            <a:prstDash val="solid"/>
          </a:ln>
        </p:spPr>
      </p:sp>
      <p:sp>
        <p:nvSpPr>
          <p:cNvPr id="33" name="Shape 31"/>
          <p:cNvSpPr/>
          <p:nvPr/>
        </p:nvSpPr>
        <p:spPr>
          <a:xfrm>
            <a:off x="3891280" y="3439160"/>
            <a:ext cx="45720" cy="20320"/>
          </a:xfrm>
          <a:prstGeom prst="rect">
            <a:avLst/>
          </a:prstGeom>
          <a:solidFill>
            <a:srgbClr val="252525"/>
          </a:solidFill>
          <a:ln w="12700">
            <a:solidFill>
              <a:srgbClr val="252525"/>
            </a:solidFill>
            <a:prstDash val="solid"/>
          </a:ln>
        </p:spPr>
      </p:sp>
      <p:sp>
        <p:nvSpPr>
          <p:cNvPr id="34" name="Shape 32"/>
          <p:cNvSpPr/>
          <p:nvPr/>
        </p:nvSpPr>
        <p:spPr>
          <a:xfrm>
            <a:off x="4028440" y="3439160"/>
            <a:ext cx="45720" cy="20320"/>
          </a:xfrm>
          <a:prstGeom prst="rect">
            <a:avLst/>
          </a:prstGeom>
          <a:solidFill>
            <a:srgbClr val="252525"/>
          </a:solidFill>
          <a:ln w="12700">
            <a:solidFill>
              <a:srgbClr val="252525"/>
            </a:solidFill>
            <a:prstDash val="solid"/>
          </a:ln>
        </p:spPr>
      </p:sp>
      <p:sp>
        <p:nvSpPr>
          <p:cNvPr id="35" name="Shape 33"/>
          <p:cNvSpPr/>
          <p:nvPr/>
        </p:nvSpPr>
        <p:spPr>
          <a:xfrm flipV="1">
            <a:off x="5494020" y="3144520"/>
            <a:ext cx="213360" cy="213360"/>
          </a:xfrm>
          <a:prstGeom prst="line">
            <a:avLst/>
          </a:prstGeom>
          <a:noFill/>
          <a:ln w="20320">
            <a:solidFill>
              <a:srgbClr val="252525"/>
            </a:solidFill>
            <a:prstDash val="solid"/>
          </a:ln>
        </p:spPr>
      </p:sp>
      <p:sp>
        <p:nvSpPr>
          <p:cNvPr id="36" name="Shape 34"/>
          <p:cNvSpPr/>
          <p:nvPr/>
        </p:nvSpPr>
        <p:spPr>
          <a:xfrm>
            <a:off x="5707380" y="3144520"/>
            <a:ext cx="213360" cy="213360"/>
          </a:xfrm>
          <a:prstGeom prst="line">
            <a:avLst/>
          </a:prstGeom>
          <a:noFill/>
          <a:ln w="20320">
            <a:solidFill>
              <a:srgbClr val="252525"/>
            </a:solidFill>
            <a:prstDash val="solid"/>
          </a:ln>
        </p:spPr>
      </p:sp>
      <p:sp>
        <p:nvSpPr>
          <p:cNvPr id="37" name="Shape 35"/>
          <p:cNvSpPr/>
          <p:nvPr/>
        </p:nvSpPr>
        <p:spPr>
          <a:xfrm>
            <a:off x="5707380" y="3357880"/>
            <a:ext cx="213360" cy="213360"/>
          </a:xfrm>
          <a:prstGeom prst="line">
            <a:avLst/>
          </a:prstGeom>
          <a:noFill/>
          <a:ln w="20320">
            <a:solidFill>
              <a:srgbClr val="252525"/>
            </a:solidFill>
            <a:prstDash val="solid"/>
          </a:ln>
        </p:spPr>
      </p:sp>
      <p:sp>
        <p:nvSpPr>
          <p:cNvPr id="38" name="Shape 36"/>
          <p:cNvSpPr/>
          <p:nvPr/>
        </p:nvSpPr>
        <p:spPr>
          <a:xfrm flipV="1">
            <a:off x="5494020" y="3357880"/>
            <a:ext cx="213360" cy="213360"/>
          </a:xfrm>
          <a:prstGeom prst="line">
            <a:avLst/>
          </a:prstGeom>
          <a:noFill/>
          <a:ln w="20320">
            <a:solidFill>
              <a:srgbClr val="252525"/>
            </a:solidFill>
            <a:prstDash val="solid"/>
          </a:ln>
        </p:spPr>
      </p:sp>
      <p:sp>
        <p:nvSpPr>
          <p:cNvPr id="39" name="Shape 37"/>
          <p:cNvSpPr/>
          <p:nvPr/>
        </p:nvSpPr>
        <p:spPr>
          <a:xfrm>
            <a:off x="5494020" y="3347720"/>
            <a:ext cx="426720" cy="20320"/>
          </a:xfrm>
          <a:prstGeom prst="rect">
            <a:avLst/>
          </a:prstGeom>
          <a:solidFill>
            <a:srgbClr val="252525"/>
          </a:solidFill>
          <a:ln w="12700">
            <a:solidFill>
              <a:srgbClr val="252525"/>
            </a:solidFill>
            <a:prstDash val="solid"/>
          </a:ln>
        </p:spPr>
      </p:sp>
      <p:sp>
        <p:nvSpPr>
          <p:cNvPr id="40" name="Shape 38"/>
          <p:cNvSpPr/>
          <p:nvPr/>
        </p:nvSpPr>
        <p:spPr>
          <a:xfrm>
            <a:off x="5463540" y="3327400"/>
            <a:ext cx="60960" cy="60960"/>
          </a:xfrm>
          <a:prstGeom prst="ellipse">
            <a:avLst/>
          </a:prstGeom>
          <a:solidFill>
            <a:srgbClr val="252525"/>
          </a:solidFill>
          <a:ln w="12700">
            <a:solidFill>
              <a:srgbClr val="252525"/>
            </a:solidFill>
            <a:prstDash val="solid"/>
          </a:ln>
        </p:spPr>
      </p:sp>
      <p:sp>
        <p:nvSpPr>
          <p:cNvPr id="41" name="Shape 39"/>
          <p:cNvSpPr/>
          <p:nvPr/>
        </p:nvSpPr>
        <p:spPr>
          <a:xfrm>
            <a:off x="5676900" y="3114040"/>
            <a:ext cx="60960" cy="60960"/>
          </a:xfrm>
          <a:prstGeom prst="ellipse">
            <a:avLst/>
          </a:prstGeom>
          <a:solidFill>
            <a:srgbClr val="252525"/>
          </a:solidFill>
          <a:ln w="12700">
            <a:solidFill>
              <a:srgbClr val="252525"/>
            </a:solidFill>
            <a:prstDash val="solid"/>
          </a:ln>
        </p:spPr>
      </p:sp>
      <p:sp>
        <p:nvSpPr>
          <p:cNvPr id="42" name="Shape 40"/>
          <p:cNvSpPr/>
          <p:nvPr/>
        </p:nvSpPr>
        <p:spPr>
          <a:xfrm>
            <a:off x="5890260" y="3327400"/>
            <a:ext cx="60960" cy="60960"/>
          </a:xfrm>
          <a:prstGeom prst="ellipse">
            <a:avLst/>
          </a:prstGeom>
          <a:solidFill>
            <a:srgbClr val="252525"/>
          </a:solidFill>
          <a:ln w="12700">
            <a:solidFill>
              <a:srgbClr val="252525"/>
            </a:solidFill>
            <a:prstDash val="solid"/>
          </a:ln>
        </p:spPr>
      </p:sp>
      <p:sp>
        <p:nvSpPr>
          <p:cNvPr id="43" name="Shape 41"/>
          <p:cNvSpPr/>
          <p:nvPr/>
        </p:nvSpPr>
        <p:spPr>
          <a:xfrm>
            <a:off x="5676900" y="3540760"/>
            <a:ext cx="60960" cy="60960"/>
          </a:xfrm>
          <a:prstGeom prst="ellipse">
            <a:avLst/>
          </a:prstGeom>
          <a:solidFill>
            <a:srgbClr val="252525"/>
          </a:solidFill>
          <a:ln w="12700">
            <a:solidFill>
              <a:srgbClr val="252525"/>
            </a:solidFill>
            <a:prstDash val="solid"/>
          </a:ln>
        </p:spPr>
      </p:sp>
      <p:sp>
        <p:nvSpPr>
          <p:cNvPr id="44" name="Text 42"/>
          <p:cNvSpPr/>
          <p:nvPr/>
        </p:nvSpPr>
        <p:spPr>
          <a:xfrm>
            <a:off x="457200" y="3937000"/>
            <a:ext cx="6642100" cy="1054100"/>
          </a:xfrm>
          <a:prstGeom prst="rect">
            <a:avLst/>
          </a:prstGeom>
          <a:noFill/>
          <a:ln/>
        </p:spPr>
        <p:txBody>
          <a:bodyPr wrap="square" lIns="0" tIns="0" rIns="0" bIns="0" rtlCol="0" anchor="t"/>
          <a:lstStyle/>
          <a:p>
            <a:pPr indent="0" marL="0">
              <a:lnSpc>
                <a:spcPct val="112000"/>
              </a:lnSpc>
              <a:buNone/>
            </a:pPr>
            <a:r>
              <a:rPr lang="en-US" sz="3200" b="1" dirty="0">
                <a:solidFill>
                  <a:srgbClr val="252525"/>
                </a:solidFill>
                <a:latin typeface="Alegreya" pitchFamily="34" charset="0"/>
                <a:ea typeface="Alegreya" pitchFamily="34" charset="-122"/>
                <a:cs typeface="Alegreya" pitchFamily="34" charset="-120"/>
              </a:rPr>
              <a:t>Different ingredients.</a:t>
            </a:r>
            <a:endParaRPr lang="en-US" sz="3200" dirty="0"/>
          </a:p>
          <a:p>
            <a:pPr indent="0" marL="0">
              <a:lnSpc>
                <a:spcPct val="112000"/>
              </a:lnSpc>
              <a:buNone/>
            </a:pPr>
            <a:r>
              <a:rPr lang="en-US" sz="3200" b="1" dirty="0">
                <a:solidFill>
                  <a:srgbClr val="252525"/>
                </a:solidFill>
                <a:latin typeface="Alegreya" pitchFamily="34" charset="0"/>
                <a:ea typeface="Alegreya" pitchFamily="34" charset="-122"/>
                <a:cs typeface="Alegreya" pitchFamily="34" charset="-120"/>
              </a:rPr>
              <a:t>Different sequences.</a:t>
            </a:r>
            <a:endParaRPr lang="en-US" sz="3200" dirty="0"/>
          </a:p>
        </p:txBody>
      </p:sp>
      <p:sp>
        <p:nvSpPr>
          <p:cNvPr id="45" name="Text 43"/>
          <p:cNvSpPr/>
          <p:nvPr/>
        </p:nvSpPr>
        <p:spPr>
          <a:xfrm>
            <a:off x="457200" y="5207000"/>
            <a:ext cx="6642100" cy="2159000"/>
          </a:xfrm>
          <a:prstGeom prst="rect">
            <a:avLst/>
          </a:prstGeom>
          <a:noFill/>
          <a:ln/>
        </p:spPr>
        <p:txBody>
          <a:bodyPr wrap="square" lIns="0" tIns="0" rIns="0" bIns="0" rtlCol="0" anchor="t"/>
          <a:lstStyle/>
          <a:p>
            <a:pPr indent="0" marL="0">
              <a:lnSpc>
                <a:spcPct val="112000"/>
              </a:lnSpc>
              <a:buNone/>
            </a:pPr>
            <a:r>
              <a:rPr lang="en-US" sz="1150" dirty="0">
                <a:solidFill>
                  <a:srgbClr val="252525"/>
                </a:solidFill>
                <a:latin typeface="Montserrat" pitchFamily="34" charset="0"/>
                <a:ea typeface="Montserrat" pitchFamily="34" charset="-122"/>
                <a:cs typeface="Montserrat" pitchFamily="34" charset="-120"/>
              </a:rPr>
              <a:t>Divergence depended less on fixed regional culture than on whether states, firms, workers and external partners built and disciplined productive capabilities over time. Education, agricultural change, infrastructure, investment coordination, technology access and exports mattered in different sequences. Their effects depended on institutions, resources, distribution, history and international conditions. Culture may influence coordination, legitimacy and organisational practice, but it is not a stand-alone explanation.</a:t>
            </a:r>
            <a:endParaRPr lang="en-US" sz="1150" dirty="0"/>
          </a:p>
        </p:txBody>
      </p:sp>
      <p:sp>
        <p:nvSpPr>
          <p:cNvPr id="46" name="Shape 44"/>
          <p:cNvSpPr/>
          <p:nvPr/>
        </p:nvSpPr>
        <p:spPr>
          <a:xfrm>
            <a:off x="457200" y="7666990"/>
            <a:ext cx="6642100" cy="7620"/>
          </a:xfrm>
          <a:prstGeom prst="rect">
            <a:avLst/>
          </a:prstGeom>
          <a:solidFill>
            <a:srgbClr val="B7B0A4"/>
          </a:solidFill>
          <a:ln w="12700">
            <a:solidFill>
              <a:srgbClr val="B7B0A4"/>
            </a:solidFill>
            <a:prstDash val="solid"/>
          </a:ln>
        </p:spPr>
      </p:sp>
      <p:sp>
        <p:nvSpPr>
          <p:cNvPr id="47" name="Text 45"/>
          <p:cNvSpPr/>
          <p:nvPr/>
        </p:nvSpPr>
        <p:spPr>
          <a:xfrm>
            <a:off x="457200" y="7734300"/>
            <a:ext cx="3302000" cy="2794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Connected Development</a:t>
            </a:r>
            <a:endParaRPr lang="en-US" sz="1050" dirty="0"/>
          </a:p>
        </p:txBody>
      </p:sp>
      <p:sp>
        <p:nvSpPr>
          <p:cNvPr id="48" name="Text 46"/>
          <p:cNvSpPr/>
          <p:nvPr/>
        </p:nvSpPr>
        <p:spPr>
          <a:xfrm>
            <a:off x="3937000" y="7734300"/>
            <a:ext cx="3162300" cy="2794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Supported with exceptions</a:t>
            </a:r>
            <a:endParaRPr lang="en-US" sz="1050" dirty="0"/>
          </a:p>
        </p:txBody>
      </p:sp>
      <p:sp>
        <p:nvSpPr>
          <p:cNvPr id="49" name="Shape 47"/>
          <p:cNvSpPr/>
          <p:nvPr/>
        </p:nvSpPr>
        <p:spPr>
          <a:xfrm>
            <a:off x="457200" y="8035290"/>
            <a:ext cx="6642100" cy="7620"/>
          </a:xfrm>
          <a:prstGeom prst="rect">
            <a:avLst/>
          </a:prstGeom>
          <a:solidFill>
            <a:srgbClr val="B7B0A4"/>
          </a:solidFill>
          <a:ln w="12700">
            <a:solidFill>
              <a:srgbClr val="B7B0A4"/>
            </a:solidFill>
            <a:prstDash val="solid"/>
          </a:ln>
        </p:spPr>
      </p:sp>
      <p:sp>
        <p:nvSpPr>
          <p:cNvPr id="50" name="Text 48"/>
          <p:cNvSpPr/>
          <p:nvPr/>
        </p:nvSpPr>
        <p:spPr>
          <a:xfrm>
            <a:off x="457200" y="8102600"/>
            <a:ext cx="3302000" cy="2794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Radius of Trust</a:t>
            </a:r>
            <a:endParaRPr lang="en-US" sz="1050" dirty="0"/>
          </a:p>
        </p:txBody>
      </p:sp>
      <p:sp>
        <p:nvSpPr>
          <p:cNvPr id="51" name="Text 49"/>
          <p:cNvSpPr/>
          <p:nvPr/>
        </p:nvSpPr>
        <p:spPr>
          <a:xfrm>
            <a:off x="3937000" y="8102600"/>
            <a:ext cx="3162300" cy="2794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Inconclusive</a:t>
            </a:r>
            <a:endParaRPr lang="en-US" sz="1050" dirty="0"/>
          </a:p>
        </p:txBody>
      </p:sp>
      <p:sp>
        <p:nvSpPr>
          <p:cNvPr id="52" name="Shape 50"/>
          <p:cNvSpPr/>
          <p:nvPr/>
        </p:nvSpPr>
        <p:spPr>
          <a:xfrm>
            <a:off x="457200" y="8403590"/>
            <a:ext cx="6642100" cy="7620"/>
          </a:xfrm>
          <a:prstGeom prst="rect">
            <a:avLst/>
          </a:prstGeom>
          <a:solidFill>
            <a:srgbClr val="B7B0A4"/>
          </a:solidFill>
          <a:ln w="12700">
            <a:solidFill>
              <a:srgbClr val="B7B0A4"/>
            </a:solidFill>
            <a:prstDash val="solid"/>
          </a:ln>
        </p:spPr>
      </p:sp>
      <p:sp>
        <p:nvSpPr>
          <p:cNvPr id="53" name="Text 51"/>
          <p:cNvSpPr/>
          <p:nvPr/>
        </p:nvSpPr>
        <p:spPr>
          <a:xfrm>
            <a:off x="457200" y="8470900"/>
            <a:ext cx="3302000" cy="2794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Continuity + Adaptation</a:t>
            </a:r>
            <a:endParaRPr lang="en-US" sz="1050" dirty="0"/>
          </a:p>
        </p:txBody>
      </p:sp>
      <p:sp>
        <p:nvSpPr>
          <p:cNvPr id="54" name="Text 52"/>
          <p:cNvSpPr/>
          <p:nvPr/>
        </p:nvSpPr>
        <p:spPr>
          <a:xfrm>
            <a:off x="3937000" y="8470900"/>
            <a:ext cx="3162300" cy="2794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Supported with exceptions</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OUR TAKE</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A bigger economy. A better life?</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For us, development is about what people can actually do and afford—not just a bigger GDP number.</a:t>
            </a:r>
            <a:endParaRPr lang="en-US" sz="1150" dirty="0"/>
          </a:p>
        </p:txBody>
      </p:sp>
      <p:sp>
        <p:nvSpPr>
          <p:cNvPr id="6" name="Shape 4"/>
          <p:cNvSpPr/>
          <p:nvPr/>
        </p:nvSpPr>
        <p:spPr>
          <a:xfrm>
            <a:off x="457200" y="9660255"/>
            <a:ext cx="6642100" cy="8890"/>
          </a:xfrm>
          <a:prstGeom prst="rect">
            <a:avLst/>
          </a:prstGeom>
          <a:solidFill>
            <a:srgbClr val="252525"/>
          </a:solidFill>
          <a:ln w="12700">
            <a:solidFill>
              <a:srgbClr val="252525"/>
            </a:solidFill>
            <a:prstDash val="solid"/>
          </a:ln>
        </p:spPr>
      </p:sp>
      <p:sp>
        <p:nvSpPr>
          <p:cNvPr id="7" name="Text 5"/>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Group values and interpretation, not a measured six-country wellbeing comparison. GDP charts: World Bank (2026), NY.GDP.PCAP.KD. Policy implications: World Bank (1993, 2020); Maipose (2008); Svirydzenka and Petri (2014); OECD (2017).</a:t>
            </a:r>
            <a:endParaRPr lang="en-US" sz="800" dirty="0"/>
          </a:p>
        </p:txBody>
      </p:sp>
      <p:sp>
        <p:nvSpPr>
          <p:cNvPr id="8" name="Text 6"/>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9" name="Text 7"/>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25</a:t>
            </a:r>
            <a:endParaRPr lang="en-US" sz="1000" dirty="0"/>
          </a:p>
        </p:txBody>
      </p:sp>
      <p:sp>
        <p:nvSpPr>
          <p:cNvPr id="10" name="Text 8"/>
          <p:cNvSpPr/>
          <p:nvPr/>
        </p:nvSpPr>
        <p:spPr>
          <a:xfrm>
            <a:off x="457200" y="3035300"/>
            <a:ext cx="6642100" cy="28067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Health.</a:t>
            </a:r>
            <a:endParaRPr lang="en-US" sz="4200" dirty="0"/>
          </a:p>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Buying power.</a:t>
            </a:r>
            <a:endParaRPr lang="en-US" sz="4200" dirty="0"/>
          </a:p>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Freedom.</a:t>
            </a:r>
            <a:endParaRPr lang="en-US" sz="4200" dirty="0"/>
          </a:p>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Living standards.</a:t>
            </a:r>
            <a:endParaRPr lang="en-US" sz="4200" dirty="0"/>
          </a:p>
        </p:txBody>
      </p:sp>
      <p:sp>
        <p:nvSpPr>
          <p:cNvPr id="11" name="Text 9"/>
          <p:cNvSpPr/>
          <p:nvPr/>
        </p:nvSpPr>
        <p:spPr>
          <a:xfrm>
            <a:off x="457200" y="6096000"/>
            <a:ext cx="6642100" cy="2159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OUR TAKE / GROUP VIEW</a:t>
            </a:r>
            <a:endParaRPr lang="en-US" sz="800" dirty="0"/>
          </a:p>
        </p:txBody>
      </p:sp>
      <p:sp>
        <p:nvSpPr>
          <p:cNvPr id="12" name="Text 10"/>
          <p:cNvSpPr/>
          <p:nvPr/>
        </p:nvSpPr>
        <p:spPr>
          <a:xfrm>
            <a:off x="457200" y="6540500"/>
            <a:ext cx="6642100" cy="1079500"/>
          </a:xfrm>
          <a:prstGeom prst="rect">
            <a:avLst/>
          </a:prstGeom>
          <a:noFill/>
          <a:ln/>
        </p:spPr>
        <p:txBody>
          <a:bodyPr wrap="square" lIns="0" tIns="0" rIns="0" bIns="0" rtlCol="0" anchor="t"/>
          <a:lstStyle/>
          <a:p>
            <a:pPr indent="0" marL="0">
              <a:lnSpc>
                <a:spcPct val="112000"/>
              </a:lnSpc>
              <a:buNone/>
            </a:pPr>
            <a:r>
              <a:rPr lang="en-US" sz="1400" dirty="0">
                <a:solidFill>
                  <a:srgbClr val="252525"/>
                </a:solidFill>
                <a:latin typeface="Montserrat" pitchFamily="34" charset="0"/>
                <a:ea typeface="Montserrat" pitchFamily="34" charset="-122"/>
                <a:cs typeface="Montserrat" pitchFamily="34" charset="-120"/>
              </a:rPr>
              <a:t>Higher income matters. But we also care about what that income buys, whether people are healthy, and whether they have more freedom. GDP alone cannot answer those questions.</a:t>
            </a:r>
            <a:endParaRPr lang="en-US" sz="1400" dirty="0"/>
          </a:p>
        </p:txBody>
      </p:sp>
      <p:sp>
        <p:nvSpPr>
          <p:cNvPr id="13" name="Text 11"/>
          <p:cNvSpPr/>
          <p:nvPr/>
        </p:nvSpPr>
        <p:spPr>
          <a:xfrm>
            <a:off x="457200" y="8013700"/>
            <a:ext cx="66421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What should travel?</a:t>
            </a:r>
            <a:endParaRPr lang="en-US" sz="2300" dirty="0"/>
          </a:p>
        </p:txBody>
      </p:sp>
      <p:sp>
        <p:nvSpPr>
          <p:cNvPr id="14" name="Text 12"/>
          <p:cNvSpPr/>
          <p:nvPr/>
        </p:nvSpPr>
        <p:spPr>
          <a:xfrm>
            <a:off x="457200" y="8572500"/>
            <a:ext cx="6642100" cy="800100"/>
          </a:xfrm>
          <a:prstGeom prst="rect">
            <a:avLst/>
          </a:prstGeom>
          <a:noFill/>
          <a:ln/>
        </p:spPr>
        <p:txBody>
          <a:bodyPr wrap="square" lIns="0" tIns="0" rIns="0" bIns="0" rtlCol="0" anchor="t"/>
          <a:lstStyle/>
          <a:p>
            <a:pPr indent="0" marL="0">
              <a:lnSpc>
                <a:spcPct val="112000"/>
              </a:lnSpc>
              <a:buNone/>
            </a:pPr>
            <a:r>
              <a:rPr lang="en-US" sz="1150" dirty="0">
                <a:solidFill>
                  <a:srgbClr val="252525"/>
                </a:solidFill>
                <a:latin typeface="Montserrat" pitchFamily="34" charset="0"/>
                <a:ea typeface="Montserrat" pitchFamily="34" charset="-122"/>
                <a:cs typeface="Montserrat" pitchFamily="34" charset="-120"/>
              </a:rPr>
              <a:t>Build skills and useful connections. Keep a direction, but correct failure. Help people cooperate beyond close ties. Adapt each lesson to the place.</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OUR ANSWER</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Different starts.</a:t>
            </a:r>
            <a:endParaRPr lang="en-US" sz="4200" dirty="0"/>
          </a:p>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No fixed destiny.</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Culture matters—but the question is bigger than culture.</a:t>
            </a:r>
            <a:endParaRPr lang="en-US" sz="1150" dirty="0"/>
          </a:p>
        </p:txBody>
      </p:sp>
      <p:sp>
        <p:nvSpPr>
          <p:cNvPr id="6" name="Shape 4"/>
          <p:cNvSpPr/>
          <p:nvPr/>
        </p:nvSpPr>
        <p:spPr>
          <a:xfrm>
            <a:off x="457200" y="9660255"/>
            <a:ext cx="6642100" cy="8890"/>
          </a:xfrm>
          <a:prstGeom prst="rect">
            <a:avLst/>
          </a:prstGeom>
          <a:solidFill>
            <a:srgbClr val="252525"/>
          </a:solidFill>
          <a:ln w="12700">
            <a:solidFill>
              <a:srgbClr val="252525"/>
            </a:solidFill>
            <a:prstDash val="solid"/>
          </a:ln>
        </p:spPr>
      </p:sp>
      <p:sp>
        <p:nvSpPr>
          <p:cNvPr id="7" name="Text 5"/>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Group viewpoint informed by the six-country comparison. On cultural change: Hofstede (2011, pp. 6–8, 16); Beugelsdijk and Welzel (2018, pp. 1469–1475, Figures 7–9).</a:t>
            </a:r>
            <a:endParaRPr lang="en-US" sz="800" dirty="0"/>
          </a:p>
        </p:txBody>
      </p:sp>
      <p:sp>
        <p:nvSpPr>
          <p:cNvPr id="8" name="Text 6"/>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9" name="Text 7"/>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26</a:t>
            </a:r>
            <a:endParaRPr lang="en-US" sz="1000" dirty="0"/>
          </a:p>
        </p:txBody>
      </p:sp>
      <p:sp>
        <p:nvSpPr>
          <p:cNvPr id="10" name="Shape 8"/>
          <p:cNvSpPr/>
          <p:nvPr/>
        </p:nvSpPr>
        <p:spPr>
          <a:xfrm>
            <a:off x="457200" y="3035300"/>
            <a:ext cx="6642100" cy="1625600"/>
          </a:xfrm>
          <a:prstGeom prst="rect">
            <a:avLst/>
          </a:prstGeom>
          <a:solidFill>
            <a:srgbClr val="252525"/>
          </a:solidFill>
          <a:ln w="12700">
            <a:solidFill>
              <a:srgbClr val="252525"/>
            </a:solidFill>
            <a:prstDash val="solid"/>
          </a:ln>
        </p:spPr>
      </p:sp>
      <p:sp>
        <p:nvSpPr>
          <p:cNvPr id="11" name="Text 9"/>
          <p:cNvSpPr/>
          <p:nvPr/>
        </p:nvSpPr>
        <p:spPr>
          <a:xfrm>
            <a:off x="635000" y="3187700"/>
            <a:ext cx="62865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12" name="Text 10"/>
          <p:cNvSpPr/>
          <p:nvPr/>
        </p:nvSpPr>
        <p:spPr>
          <a:xfrm>
            <a:off x="635000" y="3467100"/>
            <a:ext cx="6286500" cy="10922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We think “Why couldn’t Africa grow like Asia?” is misleading. Neither continent followed one path. Countries had different histories, resources, infrastructure and opportunities.</a:t>
            </a:r>
            <a:endParaRPr lang="en-US" sz="1150" dirty="0"/>
          </a:p>
        </p:txBody>
      </p:sp>
      <p:sp>
        <p:nvSpPr>
          <p:cNvPr id="13" name="Text 11"/>
          <p:cNvSpPr/>
          <p:nvPr/>
        </p:nvSpPr>
        <p:spPr>
          <a:xfrm>
            <a:off x="457200" y="5181600"/>
            <a:ext cx="6642100" cy="609600"/>
          </a:xfrm>
          <a:prstGeom prst="rect">
            <a:avLst/>
          </a:prstGeom>
          <a:noFill/>
          <a:ln/>
        </p:spPr>
        <p:txBody>
          <a:bodyPr wrap="square" lIns="0" tIns="0" rIns="0" bIns="0" rtlCol="0" anchor="t"/>
          <a:lstStyle/>
          <a:p>
            <a:pPr indent="0" marL="0">
              <a:lnSpc>
                <a:spcPct val="112000"/>
              </a:lnSpc>
              <a:buNone/>
            </a:pPr>
            <a:r>
              <a:rPr lang="en-US" sz="3100" b="1" dirty="0">
                <a:solidFill>
                  <a:srgbClr val="252525"/>
                </a:solidFill>
                <a:latin typeface="Alegreya" pitchFamily="34" charset="0"/>
                <a:ea typeface="Alegreya" pitchFamily="34" charset="-122"/>
                <a:cs typeface="Alegreya" pitchFamily="34" charset="-120"/>
              </a:rPr>
              <a:t>Our view changed.</a:t>
            </a:r>
            <a:endParaRPr lang="en-US" sz="3100" dirty="0"/>
          </a:p>
        </p:txBody>
      </p:sp>
      <p:sp>
        <p:nvSpPr>
          <p:cNvPr id="14" name="Text 12"/>
          <p:cNvSpPr/>
          <p:nvPr/>
        </p:nvSpPr>
        <p:spPr>
          <a:xfrm>
            <a:off x="457200" y="6057900"/>
            <a:ext cx="6642100" cy="1168400"/>
          </a:xfrm>
          <a:prstGeom prst="rect">
            <a:avLst/>
          </a:prstGeom>
          <a:noFill/>
          <a:ln/>
        </p:spPr>
        <p:txBody>
          <a:bodyPr wrap="square" lIns="0" tIns="0" rIns="0" bIns="0" rtlCol="0" anchor="t"/>
          <a:lstStyle/>
          <a:p>
            <a:pPr indent="0" marL="0">
              <a:lnSpc>
                <a:spcPct val="112000"/>
              </a:lnSpc>
              <a:buNone/>
            </a:pPr>
            <a:r>
              <a:rPr lang="en-US" sz="1400" dirty="0">
                <a:solidFill>
                  <a:srgbClr val="252525"/>
                </a:solidFill>
                <a:latin typeface="Montserrat" pitchFamily="34" charset="0"/>
                <a:ea typeface="Montserrat" pitchFamily="34" charset="-122"/>
                <a:cs typeface="Montserrat" pitchFamily="34" charset="-120"/>
              </a:rPr>
              <a:t>We still think culture can shape trust and cooperation. But the evidence pushes us to ask what governments, firms and people could build—and what helped or blocked them.</a:t>
            </a:r>
            <a:endParaRPr lang="en-US" sz="1400" dirty="0"/>
          </a:p>
        </p:txBody>
      </p:sp>
      <p:sp>
        <p:nvSpPr>
          <p:cNvPr id="15" name="Text 13"/>
          <p:cNvSpPr/>
          <p:nvPr/>
        </p:nvSpPr>
        <p:spPr>
          <a:xfrm>
            <a:off x="457200" y="7823200"/>
            <a:ext cx="6642100" cy="1460500"/>
          </a:xfrm>
          <a:prstGeom prst="rect">
            <a:avLst/>
          </a:prstGeom>
          <a:noFill/>
          <a:ln/>
        </p:spPr>
        <p:txBody>
          <a:bodyPr wrap="square" lIns="0" tIns="0" rIns="0" bIns="0" rtlCol="0" anchor="t"/>
          <a:lstStyle/>
          <a:p>
            <a:pPr indent="0" marL="0">
              <a:lnSpc>
                <a:spcPct val="112000"/>
              </a:lnSpc>
              <a:buNone/>
            </a:pPr>
            <a:r>
              <a:rPr lang="en-US" sz="3600" b="1" dirty="0">
                <a:solidFill>
                  <a:srgbClr val="252525"/>
                </a:solidFill>
                <a:latin typeface="Alegreya" pitchFamily="34" charset="0"/>
                <a:ea typeface="Alegreya" pitchFamily="34" charset="-122"/>
                <a:cs typeface="Alegreya" pitchFamily="34" charset="-120"/>
              </a:rPr>
              <a:t>If culture matters,</a:t>
            </a:r>
            <a:endParaRPr lang="en-US" sz="3600" dirty="0"/>
          </a:p>
          <a:p>
            <a:pPr indent="0" marL="0">
              <a:lnSpc>
                <a:spcPct val="112000"/>
              </a:lnSpc>
              <a:buNone/>
            </a:pPr>
            <a:r>
              <a:rPr lang="en-US" sz="3600" b="1" dirty="0">
                <a:solidFill>
                  <a:srgbClr val="252525"/>
                </a:solidFill>
                <a:latin typeface="Alegreya" pitchFamily="34" charset="0"/>
                <a:ea typeface="Alegreya" pitchFamily="34" charset="-122"/>
                <a:cs typeface="Alegreya" pitchFamily="34" charset="-120"/>
              </a:rPr>
              <a:t>can culture change?</a:t>
            </a:r>
            <a:endParaRPr lang="en-US" sz="3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SOURCES</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Where the evidence comes from.</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Essential references. Exact page, table and indicator details sit beside the evidence.</a:t>
            </a:r>
            <a:endParaRPr lang="en-US" sz="1150" dirty="0"/>
          </a:p>
        </p:txBody>
      </p:sp>
      <p:sp>
        <p:nvSpPr>
          <p:cNvPr id="6" name="Shape 4"/>
          <p:cNvSpPr/>
          <p:nvPr/>
        </p:nvSpPr>
        <p:spPr>
          <a:xfrm>
            <a:off x="457200" y="9660255"/>
            <a:ext cx="6642100" cy="8890"/>
          </a:xfrm>
          <a:prstGeom prst="rect">
            <a:avLst/>
          </a:prstGeom>
          <a:solidFill>
            <a:srgbClr val="252525"/>
          </a:solidFill>
          <a:ln w="12700">
            <a:solidFill>
              <a:srgbClr val="252525"/>
            </a:solidFill>
            <a:prstDash val="solid"/>
          </a:ln>
        </p:spPr>
      </p:sp>
      <p:sp>
        <p:nvSpPr>
          <p:cNvPr id="7" name="Text 5"/>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Complete source appendix: [LINK / QR PLACEHOLDER]. The full bibliography accompanies this edition; the online appendix link remains pending.</a:t>
            </a:r>
            <a:endParaRPr lang="en-US" sz="800" dirty="0"/>
          </a:p>
        </p:txBody>
      </p:sp>
      <p:sp>
        <p:nvSpPr>
          <p:cNvPr id="8" name="Text 6"/>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9" name="Text 7"/>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27</a:t>
            </a:r>
            <a:endParaRPr lang="en-US" sz="1000" dirty="0"/>
          </a:p>
        </p:txBody>
      </p:sp>
      <p:sp>
        <p:nvSpPr>
          <p:cNvPr id="10" name="Text 8"/>
          <p:cNvSpPr/>
          <p:nvPr/>
        </p:nvSpPr>
        <p:spPr>
          <a:xfrm>
            <a:off x="457200" y="3009900"/>
            <a:ext cx="6642100" cy="3556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World Bank. (2026). World Development Indicators [Data set]. Retrieved October 6, 2026, from</a:t>
            </a:r>
            <a:endParaRPr lang="en-US" sz="900" dirty="0"/>
          </a:p>
        </p:txBody>
      </p:sp>
      <p:sp>
        <p:nvSpPr>
          <p:cNvPr id="11" name="Text 9">
            <a:hlinkClick r:id="rId1" tooltip=""/>
          </p:cNvPr>
          <p:cNvSpPr/>
          <p:nvPr/>
        </p:nvSpPr>
        <p:spPr>
          <a:xfrm>
            <a:off x="457200" y="32131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12" name="Text 10"/>
          <p:cNvSpPr/>
          <p:nvPr/>
        </p:nvSpPr>
        <p:spPr>
          <a:xfrm>
            <a:off x="457200" y="3403600"/>
            <a:ext cx="6642100" cy="3556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World Bank. (1993). The East Asian miracle: Economic growth and public policy. Oxford University Press.</a:t>
            </a:r>
            <a:endParaRPr lang="en-US" sz="900" dirty="0"/>
          </a:p>
        </p:txBody>
      </p:sp>
      <p:sp>
        <p:nvSpPr>
          <p:cNvPr id="13" name="Text 11">
            <a:hlinkClick r:id="rId2" tooltip=""/>
          </p:cNvPr>
          <p:cNvSpPr/>
          <p:nvPr/>
        </p:nvSpPr>
        <p:spPr>
          <a:xfrm>
            <a:off x="457200" y="36068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14" name="Text 12"/>
          <p:cNvSpPr/>
          <p:nvPr/>
        </p:nvSpPr>
        <p:spPr>
          <a:xfrm>
            <a:off x="457200" y="3797300"/>
            <a:ext cx="6642100" cy="3556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World Bank. (2020). Structural transformation and labor market performance in Ghana.</a:t>
            </a:r>
            <a:endParaRPr lang="en-US" sz="900" dirty="0"/>
          </a:p>
        </p:txBody>
      </p:sp>
      <p:sp>
        <p:nvSpPr>
          <p:cNvPr id="15" name="Text 13">
            <a:hlinkClick r:id="rId3" tooltip=""/>
          </p:cNvPr>
          <p:cNvSpPr/>
          <p:nvPr/>
        </p:nvSpPr>
        <p:spPr>
          <a:xfrm>
            <a:off x="457200" y="40005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3"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16" name="Text 14"/>
          <p:cNvSpPr/>
          <p:nvPr/>
        </p:nvSpPr>
        <p:spPr>
          <a:xfrm>
            <a:off x="457200" y="4191000"/>
            <a:ext cx="6642100" cy="3556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World Bank. (1985). Ghana: Industrial policy, performance and recovery (Report No. 5716-GH).</a:t>
            </a:r>
            <a:endParaRPr lang="en-US" sz="900" dirty="0"/>
          </a:p>
        </p:txBody>
      </p:sp>
      <p:sp>
        <p:nvSpPr>
          <p:cNvPr id="17" name="Text 15">
            <a:hlinkClick r:id="rId4" tooltip=""/>
          </p:cNvPr>
          <p:cNvSpPr/>
          <p:nvPr/>
        </p:nvSpPr>
        <p:spPr>
          <a:xfrm>
            <a:off x="457200" y="43942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18" name="Text 16"/>
          <p:cNvSpPr/>
          <p:nvPr/>
        </p:nvSpPr>
        <p:spPr>
          <a:xfrm>
            <a:off x="457200" y="4584700"/>
            <a:ext cx="6642100" cy="4953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Maipose, G. S. (2008). Policy and institutional dynamics of sustained development in Botswana (Commission on Growth and Development Working Paper No. 35). World Bank.</a:t>
            </a:r>
            <a:endParaRPr lang="en-US" sz="900" dirty="0"/>
          </a:p>
        </p:txBody>
      </p:sp>
      <p:sp>
        <p:nvSpPr>
          <p:cNvPr id="19" name="Text 17">
            <a:hlinkClick r:id="rId5" tooltip=""/>
          </p:cNvPr>
          <p:cNvSpPr/>
          <p:nvPr/>
        </p:nvSpPr>
        <p:spPr>
          <a:xfrm>
            <a:off x="457200" y="49276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5"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20" name="Text 18"/>
          <p:cNvSpPr/>
          <p:nvPr/>
        </p:nvSpPr>
        <p:spPr>
          <a:xfrm>
            <a:off x="457200" y="5118100"/>
            <a:ext cx="6642100" cy="4953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Svirydzenka, K., &amp; Petri, M. (2014). Mauritius: The drivers of growth-Can the past be extended? (IMF Working Paper No. 14/134). International Monetary Fund.</a:t>
            </a:r>
            <a:endParaRPr lang="en-US" sz="900" dirty="0"/>
          </a:p>
        </p:txBody>
      </p:sp>
      <p:sp>
        <p:nvSpPr>
          <p:cNvPr id="21" name="Text 19">
            <a:hlinkClick r:id="rId6" tooltip=""/>
          </p:cNvPr>
          <p:cNvSpPr/>
          <p:nvPr/>
        </p:nvSpPr>
        <p:spPr>
          <a:xfrm>
            <a:off x="457200" y="54610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6"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22" name="Text 20"/>
          <p:cNvSpPr/>
          <p:nvPr/>
        </p:nvSpPr>
        <p:spPr>
          <a:xfrm>
            <a:off x="457200" y="5651500"/>
            <a:ext cx="6642100" cy="4953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Jedwab, R., &amp; Moradi, A. (2012). Colonial investments and long-term development in Africa: Evidence from Ghanaian railways [Working paper]. Northeast Universities Development Consortium.</a:t>
            </a:r>
            <a:endParaRPr lang="en-US" sz="900" dirty="0"/>
          </a:p>
        </p:txBody>
      </p:sp>
      <p:sp>
        <p:nvSpPr>
          <p:cNvPr id="23" name="Text 21">
            <a:hlinkClick r:id="rId7" tooltip=""/>
          </p:cNvPr>
          <p:cNvSpPr/>
          <p:nvPr/>
        </p:nvSpPr>
        <p:spPr>
          <a:xfrm>
            <a:off x="457200" y="59944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7"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24" name="Text 22"/>
          <p:cNvSpPr/>
          <p:nvPr/>
        </p:nvSpPr>
        <p:spPr>
          <a:xfrm>
            <a:off x="457200" y="6184900"/>
            <a:ext cx="6642100" cy="4953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Hofstede, G. (2011). Dimensionalizing cultures: The Hofstede model in context. Online Readings in Psychology and Culture, 2(1), Article 8.</a:t>
            </a:r>
            <a:endParaRPr lang="en-US" sz="900" dirty="0"/>
          </a:p>
        </p:txBody>
      </p:sp>
      <p:sp>
        <p:nvSpPr>
          <p:cNvPr id="25" name="Text 23">
            <a:hlinkClick r:id="rId8" tooltip=""/>
          </p:cNvPr>
          <p:cNvSpPr/>
          <p:nvPr/>
        </p:nvSpPr>
        <p:spPr>
          <a:xfrm>
            <a:off x="457200" y="65278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8"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26" name="Text 24"/>
          <p:cNvSpPr/>
          <p:nvPr/>
        </p:nvSpPr>
        <p:spPr>
          <a:xfrm>
            <a:off x="457200" y="6718300"/>
            <a:ext cx="6642100" cy="4953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McSweeney, B. (2002). Hofstede's model of national cultural differences and their consequences: A triumph of faith—a failure of analysis. Human Relations, 55(1), 89–118.</a:t>
            </a:r>
            <a:endParaRPr lang="en-US" sz="900" dirty="0"/>
          </a:p>
        </p:txBody>
      </p:sp>
      <p:sp>
        <p:nvSpPr>
          <p:cNvPr id="27" name="Text 25">
            <a:hlinkClick r:id="rId9" tooltip=""/>
          </p:cNvPr>
          <p:cNvSpPr/>
          <p:nvPr/>
        </p:nvSpPr>
        <p:spPr>
          <a:xfrm>
            <a:off x="457200" y="70612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9"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28" name="Text 26"/>
          <p:cNvSpPr/>
          <p:nvPr/>
        </p:nvSpPr>
        <p:spPr>
          <a:xfrm>
            <a:off x="457200" y="7251700"/>
            <a:ext cx="6642100" cy="4953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Organisation for Economic Co-operation and Development. (2017). OECD guidelines on measuring trust. OECD Publishing.</a:t>
            </a:r>
            <a:endParaRPr lang="en-US" sz="900" dirty="0"/>
          </a:p>
        </p:txBody>
      </p:sp>
      <p:sp>
        <p:nvSpPr>
          <p:cNvPr id="29" name="Text 27">
            <a:hlinkClick r:id="rId10" tooltip=""/>
          </p:cNvPr>
          <p:cNvSpPr/>
          <p:nvPr/>
        </p:nvSpPr>
        <p:spPr>
          <a:xfrm>
            <a:off x="457200" y="7594600"/>
            <a:ext cx="1079500" cy="1524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SOURCE ↗</a:t>
            </a:r>
            <a:endParaRPr lang="en-US" sz="800" dirty="0"/>
          </a:p>
        </p:txBody>
      </p:sp>
      <p:sp>
        <p:nvSpPr>
          <p:cNvPr id="30" name="Text 28"/>
          <p:cNvSpPr/>
          <p:nvPr/>
        </p:nvSpPr>
        <p:spPr>
          <a:xfrm>
            <a:off x="457200" y="8724900"/>
            <a:ext cx="6642100" cy="7620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Also cited: Bolt et al. (2025); Huillery (2009); Kohli (1994); Haggard et al. (1997); Dolan (1993); Asadullah et al. (2024); Xenos (1970); Nasution (2000); Beugelsdijk and Welzel (2018); National Archives Department (n.d.). Full registered entries accompany the production master. The online appendix link remains pending.</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COLOPHON</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About this edition.</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Six cases. Three anchor years. Evidence, interpretation and group views kept separate.</a:t>
            </a:r>
            <a:endParaRPr lang="en-US" sz="1150" dirty="0"/>
          </a:p>
        </p:txBody>
      </p:sp>
      <p:sp>
        <p:nvSpPr>
          <p:cNvPr id="6" name="Shape 4"/>
          <p:cNvSpPr/>
          <p:nvPr/>
        </p:nvSpPr>
        <p:spPr>
          <a:xfrm>
            <a:off x="457200" y="9660255"/>
            <a:ext cx="6642100" cy="8890"/>
          </a:xfrm>
          <a:prstGeom prst="rect">
            <a:avLst/>
          </a:prstGeom>
          <a:solidFill>
            <a:srgbClr val="252525"/>
          </a:solidFill>
          <a:ln w="12700">
            <a:solidFill>
              <a:srgbClr val="252525"/>
            </a:solidFill>
            <a:prstDash val="solid"/>
          </a:ln>
        </p:spPr>
      </p:sp>
      <p:sp>
        <p:nvSpPr>
          <p:cNvPr id="7" name="Text 5"/>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Chart credits: World Bank WDI and ILO modelled employment. Charts use recorded observations, not invented annual values. Map: Natural Earth 1:110m Admin 0 Countries, v5.1.1; public-domain generalized present-day boundaries. Photo credits: p. 29.</a:t>
            </a:r>
            <a:endParaRPr lang="en-US" sz="800" dirty="0"/>
          </a:p>
        </p:txBody>
      </p:sp>
      <p:sp>
        <p:nvSpPr>
          <p:cNvPr id="8" name="Text 6"/>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9" name="Text 7"/>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28</a:t>
            </a:r>
            <a:endParaRPr lang="en-US" sz="1000" dirty="0"/>
          </a:p>
        </p:txBody>
      </p:sp>
      <p:sp>
        <p:nvSpPr>
          <p:cNvPr id="10" name="Text 8"/>
          <p:cNvSpPr/>
          <p:nvPr/>
        </p:nvSpPr>
        <p:spPr>
          <a:xfrm>
            <a:off x="457200" y="3035300"/>
            <a:ext cx="6642100" cy="1206500"/>
          </a:xfrm>
          <a:prstGeom prst="rect">
            <a:avLst/>
          </a:prstGeom>
          <a:noFill/>
          <a:ln/>
        </p:spPr>
        <p:txBody>
          <a:bodyPr wrap="square" lIns="0" tIns="0" rIns="0" bIns="0" rtlCol="0" anchor="t"/>
          <a:lstStyle/>
          <a:p>
            <a:pPr indent="0" marL="0">
              <a:lnSpc>
                <a:spcPct val="112000"/>
              </a:lnSpc>
              <a:buNone/>
            </a:pPr>
            <a:r>
              <a:rPr lang="en-US" sz="2700" b="1" dirty="0">
                <a:solidFill>
                  <a:srgbClr val="252525"/>
                </a:solidFill>
                <a:latin typeface="Alegreya" pitchFamily="34" charset="0"/>
                <a:ea typeface="Alegreya" pitchFamily="34" charset="-122"/>
                <a:cs typeface="Alegreya" pitchFamily="34" charset="-120"/>
              </a:rPr>
              <a:t>Complete editorial draft — final evidence, rights and physical-print checks pending.</a:t>
            </a:r>
            <a:endParaRPr lang="en-US" sz="2700" dirty="0"/>
          </a:p>
        </p:txBody>
      </p:sp>
      <p:sp>
        <p:nvSpPr>
          <p:cNvPr id="11" name="Text 9"/>
          <p:cNvSpPr/>
          <p:nvPr/>
        </p:nvSpPr>
        <p:spPr>
          <a:xfrm>
            <a:off x="457200" y="4749800"/>
            <a:ext cx="3162300" cy="6731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Alegreya" pitchFamily="34" charset="0"/>
                <a:ea typeface="Alegreya" pitchFamily="34" charset="-122"/>
                <a:cs typeface="Alegreya" pitchFamily="34" charset="-120"/>
              </a:rPr>
              <a:t>What is measured</a:t>
            </a:r>
            <a:endParaRPr lang="en-US" sz="2100" dirty="0"/>
          </a:p>
        </p:txBody>
      </p:sp>
      <p:sp>
        <p:nvSpPr>
          <p:cNvPr id="12" name="Text 10"/>
          <p:cNvSpPr/>
          <p:nvPr/>
        </p:nvSpPr>
        <p:spPr>
          <a:xfrm>
            <a:off x="457200" y="5499100"/>
            <a:ext cx="31623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Income uses constant 2015 US dollars per person—not purchasing power. Employment uses a visible 1991 proxy for 1990. No annual values or trust scores are invented.</a:t>
            </a:r>
            <a:endParaRPr lang="en-US" sz="1100" dirty="0"/>
          </a:p>
        </p:txBody>
      </p:sp>
      <p:sp>
        <p:nvSpPr>
          <p:cNvPr id="13" name="Text 11"/>
          <p:cNvSpPr/>
          <p:nvPr/>
        </p:nvSpPr>
        <p:spPr>
          <a:xfrm>
            <a:off x="3937000" y="4749800"/>
            <a:ext cx="3162300" cy="6731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Alegreya" pitchFamily="34" charset="0"/>
                <a:ea typeface="Alegreya" pitchFamily="34" charset="-122"/>
                <a:cs typeface="Alegreya" pitchFamily="34" charset="-120"/>
              </a:rPr>
              <a:t>What is our view</a:t>
            </a:r>
            <a:endParaRPr lang="en-US" sz="2100" dirty="0"/>
          </a:p>
        </p:txBody>
      </p:sp>
      <p:sp>
        <p:nvSpPr>
          <p:cNvPr id="14" name="Text 12"/>
          <p:cNvSpPr/>
          <p:nvPr/>
        </p:nvSpPr>
        <p:spPr>
          <a:xfrm>
            <a:off x="3937000" y="5499100"/>
            <a:ext cx="31623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“Our take” passages reflect the group’s answers. They are opinions and interpretations—not additional research findings.</a:t>
            </a:r>
            <a:endParaRPr lang="en-US" sz="1100" dirty="0"/>
          </a:p>
        </p:txBody>
      </p:sp>
      <p:sp>
        <p:nvSpPr>
          <p:cNvPr id="15" name="Text 13"/>
          <p:cNvSpPr/>
          <p:nvPr/>
        </p:nvSpPr>
        <p:spPr>
          <a:xfrm>
            <a:off x="457200" y="7137400"/>
            <a:ext cx="6642100" cy="381000"/>
          </a:xfrm>
          <a:prstGeom prst="rect">
            <a:avLst/>
          </a:prstGeom>
          <a:noFill/>
          <a:ln/>
        </p:spPr>
        <p:txBody>
          <a:bodyPr wrap="square" lIns="0" tIns="0" rIns="0" bIns="0" rtlCol="0" anchor="t"/>
          <a:lstStyle/>
          <a:p>
            <a:pPr indent="0" marL="0">
              <a:lnSpc>
                <a:spcPct val="112000"/>
              </a:lnSpc>
              <a:buNone/>
            </a:pPr>
            <a:r>
              <a:rPr lang="en-US" sz="1900" b="1" dirty="0">
                <a:solidFill>
                  <a:srgbClr val="252525"/>
                </a:solidFill>
                <a:latin typeface="Montserrat" pitchFamily="34" charset="0"/>
                <a:ea typeface="Montserrat" pitchFamily="34" charset="-122"/>
                <a:cs typeface="Montserrat" pitchFamily="34" charset="-120"/>
              </a:rPr>
              <a:t>Still to check</a:t>
            </a:r>
            <a:endParaRPr lang="en-US" sz="1900" dirty="0"/>
          </a:p>
        </p:txBody>
      </p:sp>
      <p:sp>
        <p:nvSpPr>
          <p:cNvPr id="16" name="Text 14"/>
          <p:cNvSpPr/>
          <p:nvPr/>
        </p:nvSpPr>
        <p:spPr>
          <a:xfrm>
            <a:off x="457200" y="7683500"/>
            <a:ext cx="6642100" cy="9017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Final citations and rights; actual-size A4 print; colour and classroom-screen readability. The historical 1914 map remains unavailable pending verified artwork and original legend.</a:t>
            </a:r>
            <a:endParaRPr lang="en-US" sz="1100" dirty="0"/>
          </a:p>
        </p:txBody>
      </p:sp>
      <p:sp>
        <p:nvSpPr>
          <p:cNvPr id="17" name="Text 15"/>
          <p:cNvSpPr/>
          <p:nvPr/>
        </p:nvSpPr>
        <p:spPr>
          <a:xfrm>
            <a:off x="457200" y="8877300"/>
            <a:ext cx="6642100" cy="5461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TEAM NAME: [TO BE CONFIRMED]</a:t>
            </a:r>
            <a:endParaRPr lang="en-US" sz="1050" dirty="0"/>
          </a:p>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Complete source appendix: [LINK / QR PLACEHOLDER]</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457200" y="292100"/>
            <a:ext cx="6223000" cy="1905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 / CREDITS</a:t>
            </a:r>
            <a:endParaRPr lang="en-US" sz="800" dirty="0"/>
          </a:p>
        </p:txBody>
      </p:sp>
      <p:sp>
        <p:nvSpPr>
          <p:cNvPr id="3" name="Shape 1"/>
          <p:cNvSpPr/>
          <p:nvPr/>
        </p:nvSpPr>
        <p:spPr>
          <a:xfrm>
            <a:off x="457200" y="565150"/>
            <a:ext cx="6642100" cy="12700"/>
          </a:xfrm>
          <a:prstGeom prst="rect">
            <a:avLst/>
          </a:prstGeom>
          <a:solidFill>
            <a:srgbClr val="252525"/>
          </a:solidFill>
          <a:ln w="12700">
            <a:solidFill>
              <a:srgbClr val="252525"/>
            </a:solidFill>
            <a:prstDash val="solid"/>
          </a:ln>
        </p:spPr>
      </p:sp>
      <p:sp>
        <p:nvSpPr>
          <p:cNvPr id="4" name="Text 2"/>
          <p:cNvSpPr/>
          <p:nvPr/>
        </p:nvSpPr>
        <p:spPr>
          <a:xfrm>
            <a:off x="457200" y="825500"/>
            <a:ext cx="6642100" cy="1257300"/>
          </a:xfrm>
          <a:prstGeom prst="rect">
            <a:avLst/>
          </a:prstGeom>
          <a:noFill/>
          <a:ln/>
        </p:spPr>
        <p:txBody>
          <a:bodyPr wrap="square" lIns="0" tIns="0" rIns="0" bIns="0" rtlCol="0" anchor="t"/>
          <a:lstStyle/>
          <a:p>
            <a:pPr indent="0" marL="0">
              <a:lnSpc>
                <a:spcPct val="112000"/>
              </a:lnSpc>
              <a:buNone/>
            </a:pPr>
            <a:r>
              <a:rPr lang="en-US" sz="4200" b="1" dirty="0">
                <a:solidFill>
                  <a:srgbClr val="252525"/>
                </a:solidFill>
                <a:latin typeface="Alegreya" pitchFamily="34" charset="0"/>
                <a:ea typeface="Alegreya" pitchFamily="34" charset="-122"/>
                <a:cs typeface="Alegreya" pitchFamily="34" charset="-120"/>
              </a:rPr>
              <a:t>The people behind the pictures.</a:t>
            </a:r>
            <a:endParaRPr lang="en-US" sz="4200" dirty="0"/>
          </a:p>
        </p:txBody>
      </p:sp>
      <p:sp>
        <p:nvSpPr>
          <p:cNvPr id="5" name="Text 3"/>
          <p:cNvSpPr/>
          <p:nvPr/>
        </p:nvSpPr>
        <p:spPr>
          <a:xfrm>
            <a:off x="457200" y="2222500"/>
            <a:ext cx="6642100" cy="596900"/>
          </a:xfrm>
          <a:prstGeom prst="rect">
            <a:avLst/>
          </a:prstGeom>
          <a:noFill/>
          <a:ln/>
        </p:spPr>
        <p:txBody>
          <a:bodyPr wrap="square" lIns="0" tIns="0" rIns="0" bIns="0" rtlCol="0" anchor="t"/>
          <a:lstStyle/>
          <a:p>
            <a:pPr indent="0" marL="0">
              <a:lnSpc>
                <a:spcPct val="112000"/>
              </a:lnSpc>
              <a:buNone/>
            </a:pPr>
            <a:r>
              <a:rPr lang="en-US" sz="1150" dirty="0">
                <a:solidFill>
                  <a:srgbClr val="514E48"/>
                </a:solidFill>
                <a:latin typeface="Montserrat" pitchFamily="34" charset="0"/>
                <a:ea typeface="Montserrat" pitchFamily="34" charset="-122"/>
                <a:cs typeface="Montserrat" pitchFamily="34" charset="-120"/>
              </a:rPr>
              <a:t>Twelve country-specific photographs. Images give context—not proof of culture, trust or growth.</a:t>
            </a:r>
            <a:endParaRPr lang="en-US" sz="1150" dirty="0"/>
          </a:p>
        </p:txBody>
      </p:sp>
      <p:sp>
        <p:nvSpPr>
          <p:cNvPr id="6" name="Shape 4"/>
          <p:cNvSpPr/>
          <p:nvPr/>
        </p:nvSpPr>
        <p:spPr>
          <a:xfrm>
            <a:off x="457200" y="9660255"/>
            <a:ext cx="6642100" cy="8890"/>
          </a:xfrm>
          <a:prstGeom prst="rect">
            <a:avLst/>
          </a:prstGeom>
          <a:solidFill>
            <a:srgbClr val="252525"/>
          </a:solidFill>
          <a:ln w="12700">
            <a:solidFill>
              <a:srgbClr val="252525"/>
            </a:solidFill>
            <a:prstDash val="solid"/>
          </a:ln>
        </p:spPr>
      </p:sp>
      <p:sp>
        <p:nvSpPr>
          <p:cNvPr id="7" name="Text 5"/>
          <p:cNvSpPr/>
          <p:nvPr/>
        </p:nvSpPr>
        <p:spPr>
          <a:xfrm>
            <a:off x="457200" y="9804400"/>
            <a:ext cx="6642100" cy="5207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All photographs resized only, without cropping or content changes. Source-page and licence links are attached below. Check the licence terms before reusing or changing an image.</a:t>
            </a:r>
            <a:endParaRPr lang="en-US" sz="800" dirty="0"/>
          </a:p>
        </p:txBody>
      </p:sp>
      <p:sp>
        <p:nvSpPr>
          <p:cNvPr id="8" name="Text 6"/>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9" name="Text 7"/>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29</a:t>
            </a:r>
            <a:endParaRPr lang="en-US" sz="1000" dirty="0"/>
          </a:p>
        </p:txBody>
      </p:sp>
      <p:sp>
        <p:nvSpPr>
          <p:cNvPr id="10" name="Shape 8"/>
          <p:cNvSpPr/>
          <p:nvPr/>
        </p:nvSpPr>
        <p:spPr>
          <a:xfrm>
            <a:off x="457200" y="3073400"/>
            <a:ext cx="127000" cy="127000"/>
          </a:xfrm>
          <a:prstGeom prst="ellipse">
            <a:avLst/>
          </a:prstGeom>
          <a:solidFill>
            <a:srgbClr val="B95332"/>
          </a:solidFill>
          <a:ln w="7620">
            <a:solidFill>
              <a:srgbClr val="252525"/>
            </a:solidFill>
            <a:prstDash val="solid"/>
          </a:ln>
        </p:spPr>
      </p:sp>
      <p:sp>
        <p:nvSpPr>
          <p:cNvPr id="11" name="Text 9"/>
          <p:cNvSpPr/>
          <p:nvPr/>
        </p:nvSpPr>
        <p:spPr>
          <a:xfrm>
            <a:off x="711200" y="30226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12" name="Text 10"/>
          <p:cNvSpPr/>
          <p:nvPr/>
        </p:nvSpPr>
        <p:spPr>
          <a:xfrm>
            <a:off x="2768600" y="30353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JulianGrayscales (2020-02-08). Tema port · CC BY-SA 4.0.</a:t>
            </a:r>
            <a:endParaRPr lang="en-US" sz="850" dirty="0"/>
          </a:p>
        </p:txBody>
      </p:sp>
      <p:sp>
        <p:nvSpPr>
          <p:cNvPr id="13" name="Text 11"/>
          <p:cNvSpPr/>
          <p:nvPr/>
        </p:nvSpPr>
        <p:spPr>
          <a:xfrm>
            <a:off x="2768600" y="33274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Amuzujoe (2020-11-27). Market Accra · CC BY-SA 4.0.</a:t>
            </a:r>
            <a:endParaRPr lang="en-US" sz="850" dirty="0"/>
          </a:p>
        </p:txBody>
      </p:sp>
      <p:sp>
        <p:nvSpPr>
          <p:cNvPr id="14" name="Text 12">
            <a:hlinkClick r:id="rId1" tooltip=""/>
          </p:cNvPr>
          <p:cNvSpPr/>
          <p:nvPr/>
        </p:nvSpPr>
        <p:spPr>
          <a:xfrm>
            <a:off x="27686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15" name="Text 13">
            <a:hlinkClick r:id="rId2" tooltip=""/>
          </p:cNvPr>
          <p:cNvSpPr/>
          <p:nvPr/>
        </p:nvSpPr>
        <p:spPr>
          <a:xfrm>
            <a:off x="36322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16" name="Text 14">
            <a:hlinkClick r:id="rId3" tooltip=""/>
          </p:cNvPr>
          <p:cNvSpPr/>
          <p:nvPr/>
        </p:nvSpPr>
        <p:spPr>
          <a:xfrm>
            <a:off x="45466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3"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17" name="Text 15">
            <a:hlinkClick r:id="rId4" tooltip=""/>
          </p:cNvPr>
          <p:cNvSpPr/>
          <p:nvPr/>
        </p:nvSpPr>
        <p:spPr>
          <a:xfrm>
            <a:off x="54356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18" name="Shape 16"/>
          <p:cNvSpPr/>
          <p:nvPr/>
        </p:nvSpPr>
        <p:spPr>
          <a:xfrm>
            <a:off x="457200" y="3831590"/>
            <a:ext cx="6642100" cy="7620"/>
          </a:xfrm>
          <a:prstGeom prst="rect">
            <a:avLst/>
          </a:prstGeom>
          <a:solidFill>
            <a:srgbClr val="B7B0A4"/>
          </a:solidFill>
          <a:ln w="12700">
            <a:solidFill>
              <a:srgbClr val="B7B0A4"/>
            </a:solidFill>
            <a:prstDash val="solid"/>
          </a:ln>
        </p:spPr>
      </p:sp>
      <p:sp>
        <p:nvSpPr>
          <p:cNvPr id="19" name="Shape 17"/>
          <p:cNvSpPr/>
          <p:nvPr/>
        </p:nvSpPr>
        <p:spPr>
          <a:xfrm>
            <a:off x="457200" y="3937000"/>
            <a:ext cx="127000" cy="127000"/>
          </a:xfrm>
          <a:prstGeom prst="rect">
            <a:avLst/>
          </a:prstGeom>
          <a:solidFill>
            <a:srgbClr val="3F684E"/>
          </a:solidFill>
          <a:ln w="7620">
            <a:solidFill>
              <a:srgbClr val="252525"/>
            </a:solidFill>
            <a:prstDash val="solid"/>
          </a:ln>
        </p:spPr>
      </p:sp>
      <p:sp>
        <p:nvSpPr>
          <p:cNvPr id="20" name="Text 18"/>
          <p:cNvSpPr/>
          <p:nvPr/>
        </p:nvSpPr>
        <p:spPr>
          <a:xfrm>
            <a:off x="711200" y="38862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21" name="Text 19"/>
          <p:cNvSpPr/>
          <p:nvPr/>
        </p:nvSpPr>
        <p:spPr>
          <a:xfrm>
            <a:off x="2768600" y="38989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Sarvesh Lutchmun (2015-08-06). Bus Terminal in Gaborone, Botswana · CC BY-SA 4.0.</a:t>
            </a:r>
            <a:endParaRPr lang="en-US" sz="850" dirty="0"/>
          </a:p>
        </p:txBody>
      </p:sp>
      <p:sp>
        <p:nvSpPr>
          <p:cNvPr id="22" name="Text 20"/>
          <p:cNvSpPr/>
          <p:nvPr/>
        </p:nvSpPr>
        <p:spPr>
          <a:xfrm>
            <a:off x="2768600" y="41910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Paul tk (2018-09-14). MochudiBotswanaSolarPanel · CC BY-SA 4.0.</a:t>
            </a:r>
            <a:endParaRPr lang="en-US" sz="850" dirty="0"/>
          </a:p>
        </p:txBody>
      </p:sp>
      <p:sp>
        <p:nvSpPr>
          <p:cNvPr id="23" name="Text 21">
            <a:hlinkClick r:id="rId5" tooltip=""/>
          </p:cNvPr>
          <p:cNvSpPr/>
          <p:nvPr/>
        </p:nvSpPr>
        <p:spPr>
          <a:xfrm>
            <a:off x="27686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5"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24" name="Text 22">
            <a:hlinkClick r:id="rId6" tooltip=""/>
          </p:cNvPr>
          <p:cNvSpPr/>
          <p:nvPr/>
        </p:nvSpPr>
        <p:spPr>
          <a:xfrm>
            <a:off x="36322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6"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25" name="Text 23">
            <a:hlinkClick r:id="rId7" tooltip=""/>
          </p:cNvPr>
          <p:cNvSpPr/>
          <p:nvPr/>
        </p:nvSpPr>
        <p:spPr>
          <a:xfrm>
            <a:off x="45466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7"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26" name="Text 24">
            <a:hlinkClick r:id="rId8" tooltip=""/>
          </p:cNvPr>
          <p:cNvSpPr/>
          <p:nvPr/>
        </p:nvSpPr>
        <p:spPr>
          <a:xfrm>
            <a:off x="54356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8"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27" name="Shape 25"/>
          <p:cNvSpPr/>
          <p:nvPr/>
        </p:nvSpPr>
        <p:spPr>
          <a:xfrm>
            <a:off x="457200" y="4695190"/>
            <a:ext cx="6642100" cy="7620"/>
          </a:xfrm>
          <a:prstGeom prst="rect">
            <a:avLst/>
          </a:prstGeom>
          <a:solidFill>
            <a:srgbClr val="B7B0A4"/>
          </a:solidFill>
          <a:ln w="12700">
            <a:solidFill>
              <a:srgbClr val="B7B0A4"/>
            </a:solidFill>
            <a:prstDash val="solid"/>
          </a:ln>
        </p:spPr>
      </p:sp>
      <p:sp>
        <p:nvSpPr>
          <p:cNvPr id="28" name="Shape 26"/>
          <p:cNvSpPr/>
          <p:nvPr/>
        </p:nvSpPr>
        <p:spPr>
          <a:xfrm>
            <a:off x="457200" y="4800600"/>
            <a:ext cx="127000" cy="127000"/>
          </a:xfrm>
          <a:prstGeom prst="triangle">
            <a:avLst/>
          </a:prstGeom>
          <a:solidFill>
            <a:srgbClr val="D6A23A"/>
          </a:solidFill>
          <a:ln w="7620">
            <a:solidFill>
              <a:srgbClr val="252525"/>
            </a:solidFill>
            <a:prstDash val="solid"/>
          </a:ln>
        </p:spPr>
      </p:sp>
      <p:sp>
        <p:nvSpPr>
          <p:cNvPr id="29" name="Text 27"/>
          <p:cNvSpPr/>
          <p:nvPr/>
        </p:nvSpPr>
        <p:spPr>
          <a:xfrm>
            <a:off x="711200" y="47498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30" name="Text 28"/>
          <p:cNvSpPr/>
          <p:nvPr/>
        </p:nvSpPr>
        <p:spPr>
          <a:xfrm>
            <a:off x="2768600" y="47625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Didier Baertschiger (2015-03-09). Mauritius - Port Louis (Central Market) · CC BY-SA 2.0.</a:t>
            </a:r>
            <a:endParaRPr lang="en-US" sz="850" dirty="0"/>
          </a:p>
        </p:txBody>
      </p:sp>
      <p:sp>
        <p:nvSpPr>
          <p:cNvPr id="31" name="Text 29"/>
          <p:cNvSpPr/>
          <p:nvPr/>
        </p:nvSpPr>
        <p:spPr>
          <a:xfrm>
            <a:off x="2768600" y="50546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Richard N Horne (2025-04-03). Port Louis, Mauritius, Bulk Sugar Terminal Quay · CC BY 4.0.</a:t>
            </a:r>
            <a:endParaRPr lang="en-US" sz="850" dirty="0"/>
          </a:p>
        </p:txBody>
      </p:sp>
      <p:sp>
        <p:nvSpPr>
          <p:cNvPr id="32" name="Text 30">
            <a:hlinkClick r:id="rId9" tooltip=""/>
          </p:cNvPr>
          <p:cNvSpPr/>
          <p:nvPr/>
        </p:nvSpPr>
        <p:spPr>
          <a:xfrm>
            <a:off x="27686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9"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33" name="Text 31">
            <a:hlinkClick r:id="rId10" tooltip=""/>
          </p:cNvPr>
          <p:cNvSpPr/>
          <p:nvPr/>
        </p:nvSpPr>
        <p:spPr>
          <a:xfrm>
            <a:off x="36322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34" name="Text 32">
            <a:hlinkClick r:id="rId11" tooltip=""/>
          </p:cNvPr>
          <p:cNvSpPr/>
          <p:nvPr/>
        </p:nvSpPr>
        <p:spPr>
          <a:xfrm>
            <a:off x="45466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1"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35" name="Text 33">
            <a:hlinkClick r:id="rId12" tooltip=""/>
          </p:cNvPr>
          <p:cNvSpPr/>
          <p:nvPr/>
        </p:nvSpPr>
        <p:spPr>
          <a:xfrm>
            <a:off x="54356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2"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36" name="Shape 34"/>
          <p:cNvSpPr/>
          <p:nvPr/>
        </p:nvSpPr>
        <p:spPr>
          <a:xfrm>
            <a:off x="457200" y="5558790"/>
            <a:ext cx="6642100" cy="7620"/>
          </a:xfrm>
          <a:prstGeom prst="rect">
            <a:avLst/>
          </a:prstGeom>
          <a:solidFill>
            <a:srgbClr val="B7B0A4"/>
          </a:solidFill>
          <a:ln w="12700">
            <a:solidFill>
              <a:srgbClr val="B7B0A4"/>
            </a:solidFill>
            <a:prstDash val="solid"/>
          </a:ln>
        </p:spPr>
      </p:sp>
      <p:sp>
        <p:nvSpPr>
          <p:cNvPr id="37" name="Shape 35"/>
          <p:cNvSpPr/>
          <p:nvPr/>
        </p:nvSpPr>
        <p:spPr>
          <a:xfrm>
            <a:off x="457200" y="5664200"/>
            <a:ext cx="127000" cy="127000"/>
          </a:xfrm>
          <a:prstGeom prst="diamond">
            <a:avLst/>
          </a:prstGeom>
          <a:solidFill>
            <a:srgbClr val="315A78"/>
          </a:solidFill>
          <a:ln w="7620">
            <a:solidFill>
              <a:srgbClr val="252525"/>
            </a:solidFill>
            <a:prstDash val="solid"/>
          </a:ln>
        </p:spPr>
      </p:sp>
      <p:sp>
        <p:nvSpPr>
          <p:cNvPr id="38" name="Text 36"/>
          <p:cNvSpPr/>
          <p:nvPr/>
        </p:nvSpPr>
        <p:spPr>
          <a:xfrm>
            <a:off x="711200" y="56134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39" name="Text 37"/>
          <p:cNvSpPr/>
          <p:nvPr/>
        </p:nvSpPr>
        <p:spPr>
          <a:xfrm>
            <a:off x="2768600" y="56261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Svwmal (2012-04-08). South Korea Busan harbour · CC BY-SA 3.0.</a:t>
            </a:r>
            <a:endParaRPr lang="en-US" sz="850" dirty="0"/>
          </a:p>
        </p:txBody>
      </p:sp>
      <p:sp>
        <p:nvSpPr>
          <p:cNvPr id="40" name="Text 38"/>
          <p:cNvSpPr/>
          <p:nvPr/>
        </p:nvSpPr>
        <p:spPr>
          <a:xfrm>
            <a:off x="2768600" y="59182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Gaël Chardon (2008-04-21). Korea-Seoul-Gyeongdong Market-01 · CC BY-SA 2.0.</a:t>
            </a:r>
            <a:endParaRPr lang="en-US" sz="850" dirty="0"/>
          </a:p>
        </p:txBody>
      </p:sp>
      <p:sp>
        <p:nvSpPr>
          <p:cNvPr id="41" name="Text 39">
            <a:hlinkClick r:id="rId13" tooltip=""/>
          </p:cNvPr>
          <p:cNvSpPr/>
          <p:nvPr/>
        </p:nvSpPr>
        <p:spPr>
          <a:xfrm>
            <a:off x="27686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3"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42" name="Text 40">
            <a:hlinkClick r:id="rId14" tooltip=""/>
          </p:cNvPr>
          <p:cNvSpPr/>
          <p:nvPr/>
        </p:nvSpPr>
        <p:spPr>
          <a:xfrm>
            <a:off x="36322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4"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43" name="Text 41">
            <a:hlinkClick r:id="rId15" tooltip=""/>
          </p:cNvPr>
          <p:cNvSpPr/>
          <p:nvPr/>
        </p:nvSpPr>
        <p:spPr>
          <a:xfrm>
            <a:off x="45466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5"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44" name="Text 42">
            <a:hlinkClick r:id="rId16" tooltip=""/>
          </p:cNvPr>
          <p:cNvSpPr/>
          <p:nvPr/>
        </p:nvSpPr>
        <p:spPr>
          <a:xfrm>
            <a:off x="54356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6"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45" name="Shape 43"/>
          <p:cNvSpPr/>
          <p:nvPr/>
        </p:nvSpPr>
        <p:spPr>
          <a:xfrm>
            <a:off x="457200" y="6422390"/>
            <a:ext cx="6642100" cy="7620"/>
          </a:xfrm>
          <a:prstGeom prst="rect">
            <a:avLst/>
          </a:prstGeom>
          <a:solidFill>
            <a:srgbClr val="B7B0A4"/>
          </a:solidFill>
          <a:ln w="12700">
            <a:solidFill>
              <a:srgbClr val="B7B0A4"/>
            </a:solidFill>
            <a:prstDash val="solid"/>
          </a:ln>
        </p:spPr>
      </p:sp>
      <p:sp>
        <p:nvSpPr>
          <p:cNvPr id="46" name="Shape 44"/>
          <p:cNvSpPr/>
          <p:nvPr/>
        </p:nvSpPr>
        <p:spPr>
          <a:xfrm>
            <a:off x="457200" y="6527800"/>
            <a:ext cx="127000" cy="127000"/>
          </a:xfrm>
          <a:prstGeom prst="hexagon">
            <a:avLst/>
          </a:prstGeom>
          <a:solidFill>
            <a:srgbClr val="3E7568"/>
          </a:solidFill>
          <a:ln w="7620">
            <a:solidFill>
              <a:srgbClr val="252525"/>
            </a:solidFill>
            <a:prstDash val="solid"/>
          </a:ln>
        </p:spPr>
      </p:sp>
      <p:sp>
        <p:nvSpPr>
          <p:cNvPr id="47" name="Text 45"/>
          <p:cNvSpPr/>
          <p:nvPr/>
        </p:nvSpPr>
        <p:spPr>
          <a:xfrm>
            <a:off x="711200" y="64770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48" name="Text 46"/>
          <p:cNvSpPr/>
          <p:nvPr/>
        </p:nvSpPr>
        <p:spPr>
          <a:xfrm>
            <a:off x="2768600" y="64897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HundenvonPenang (2024-01-27). Perai Industrial Zone, Seberang Perai, Penang · CC BY-SA 4.0.</a:t>
            </a:r>
            <a:endParaRPr lang="en-US" sz="850" dirty="0"/>
          </a:p>
        </p:txBody>
      </p:sp>
      <p:sp>
        <p:nvSpPr>
          <p:cNvPr id="49" name="Text 47"/>
          <p:cNvSpPr/>
          <p:nvPr/>
        </p:nvSpPr>
        <p:spPr>
          <a:xfrm>
            <a:off x="2768600" y="67818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jgmorard (2009-03-01). 090301.020.PortKlang · CC BY 2.0.</a:t>
            </a:r>
            <a:endParaRPr lang="en-US" sz="850" dirty="0"/>
          </a:p>
        </p:txBody>
      </p:sp>
      <p:sp>
        <p:nvSpPr>
          <p:cNvPr id="50" name="Text 48">
            <a:hlinkClick r:id="rId17" tooltip=""/>
          </p:cNvPr>
          <p:cNvSpPr/>
          <p:nvPr/>
        </p:nvSpPr>
        <p:spPr>
          <a:xfrm>
            <a:off x="27686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7"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51" name="Text 49">
            <a:hlinkClick r:id="rId18" tooltip=""/>
          </p:cNvPr>
          <p:cNvSpPr/>
          <p:nvPr/>
        </p:nvSpPr>
        <p:spPr>
          <a:xfrm>
            <a:off x="36322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8"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52" name="Text 50">
            <a:hlinkClick r:id="rId19" tooltip=""/>
          </p:cNvPr>
          <p:cNvSpPr/>
          <p:nvPr/>
        </p:nvSpPr>
        <p:spPr>
          <a:xfrm>
            <a:off x="45466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9"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53" name="Text 51">
            <a:hlinkClick r:id="rId20" tooltip=""/>
          </p:cNvPr>
          <p:cNvSpPr/>
          <p:nvPr/>
        </p:nvSpPr>
        <p:spPr>
          <a:xfrm>
            <a:off x="54356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0"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54" name="Shape 52"/>
          <p:cNvSpPr/>
          <p:nvPr/>
        </p:nvSpPr>
        <p:spPr>
          <a:xfrm>
            <a:off x="457200" y="7285990"/>
            <a:ext cx="6642100" cy="7620"/>
          </a:xfrm>
          <a:prstGeom prst="rect">
            <a:avLst/>
          </a:prstGeom>
          <a:solidFill>
            <a:srgbClr val="B7B0A4"/>
          </a:solidFill>
          <a:ln w="12700">
            <a:solidFill>
              <a:srgbClr val="B7B0A4"/>
            </a:solidFill>
            <a:prstDash val="solid"/>
          </a:ln>
        </p:spPr>
      </p:sp>
      <p:sp>
        <p:nvSpPr>
          <p:cNvPr id="55" name="Shape 53"/>
          <p:cNvSpPr/>
          <p:nvPr/>
        </p:nvSpPr>
        <p:spPr>
          <a:xfrm>
            <a:off x="457200" y="7434580"/>
            <a:ext cx="127000" cy="40640"/>
          </a:xfrm>
          <a:prstGeom prst="rect">
            <a:avLst/>
          </a:prstGeom>
          <a:solidFill>
            <a:srgbClr val="252525"/>
          </a:solidFill>
          <a:ln w="12700">
            <a:solidFill>
              <a:srgbClr val="252525"/>
            </a:solidFill>
            <a:prstDash val="solid"/>
          </a:ln>
        </p:spPr>
      </p:sp>
      <p:sp>
        <p:nvSpPr>
          <p:cNvPr id="56" name="Shape 54"/>
          <p:cNvSpPr/>
          <p:nvPr/>
        </p:nvSpPr>
        <p:spPr>
          <a:xfrm>
            <a:off x="500380" y="7391400"/>
            <a:ext cx="40640" cy="127000"/>
          </a:xfrm>
          <a:prstGeom prst="rect">
            <a:avLst/>
          </a:prstGeom>
          <a:solidFill>
            <a:srgbClr val="252525"/>
          </a:solidFill>
          <a:ln w="12700">
            <a:solidFill>
              <a:srgbClr val="252525"/>
            </a:solidFill>
            <a:prstDash val="solid"/>
          </a:ln>
        </p:spPr>
      </p:sp>
      <p:sp>
        <p:nvSpPr>
          <p:cNvPr id="57" name="Shape 55"/>
          <p:cNvSpPr/>
          <p:nvPr/>
        </p:nvSpPr>
        <p:spPr>
          <a:xfrm>
            <a:off x="457200" y="7443470"/>
            <a:ext cx="127000" cy="22860"/>
          </a:xfrm>
          <a:prstGeom prst="rect">
            <a:avLst/>
          </a:prstGeom>
          <a:solidFill>
            <a:srgbClr val="A63A3A"/>
          </a:solidFill>
          <a:ln w="12700">
            <a:solidFill>
              <a:srgbClr val="A63A3A"/>
            </a:solidFill>
            <a:prstDash val="solid"/>
          </a:ln>
        </p:spPr>
      </p:sp>
      <p:sp>
        <p:nvSpPr>
          <p:cNvPr id="58" name="Shape 56"/>
          <p:cNvSpPr/>
          <p:nvPr/>
        </p:nvSpPr>
        <p:spPr>
          <a:xfrm>
            <a:off x="509270" y="7391400"/>
            <a:ext cx="22860" cy="127000"/>
          </a:xfrm>
          <a:prstGeom prst="rect">
            <a:avLst/>
          </a:prstGeom>
          <a:solidFill>
            <a:srgbClr val="A63A3A"/>
          </a:solidFill>
          <a:ln w="12700">
            <a:solidFill>
              <a:srgbClr val="A63A3A"/>
            </a:solidFill>
            <a:prstDash val="solid"/>
          </a:ln>
        </p:spPr>
      </p:sp>
      <p:sp>
        <p:nvSpPr>
          <p:cNvPr id="59" name="Text 57"/>
          <p:cNvSpPr/>
          <p:nvPr/>
        </p:nvSpPr>
        <p:spPr>
          <a:xfrm>
            <a:off x="711200" y="73406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60" name="Text 58"/>
          <p:cNvSpPr/>
          <p:nvPr/>
        </p:nvSpPr>
        <p:spPr>
          <a:xfrm>
            <a:off x="2768600" y="73533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Theurbanhistorian (2009-07-18). Port of Manila · CC BY-SA 3.0.</a:t>
            </a:r>
            <a:endParaRPr lang="en-US" sz="850" dirty="0"/>
          </a:p>
        </p:txBody>
      </p:sp>
      <p:sp>
        <p:nvSpPr>
          <p:cNvPr id="61" name="Text 59"/>
          <p:cNvSpPr/>
          <p:nvPr/>
        </p:nvSpPr>
        <p:spPr>
          <a:xfrm>
            <a:off x="2768600" y="76454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george ruiz (2013-01-04). The Philippines — seaside market in Manila · CC BY 2.0.</a:t>
            </a:r>
            <a:endParaRPr lang="en-US" sz="850" dirty="0"/>
          </a:p>
        </p:txBody>
      </p:sp>
      <p:sp>
        <p:nvSpPr>
          <p:cNvPr id="62" name="Text 60">
            <a:hlinkClick r:id="rId21" tooltip=""/>
          </p:cNvPr>
          <p:cNvSpPr/>
          <p:nvPr/>
        </p:nvSpPr>
        <p:spPr>
          <a:xfrm>
            <a:off x="27686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1"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63" name="Text 61">
            <a:hlinkClick r:id="rId22" tooltip=""/>
          </p:cNvPr>
          <p:cNvSpPr/>
          <p:nvPr/>
        </p:nvSpPr>
        <p:spPr>
          <a:xfrm>
            <a:off x="36322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2"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64" name="Text 62">
            <a:hlinkClick r:id="rId23" tooltip=""/>
          </p:cNvPr>
          <p:cNvSpPr/>
          <p:nvPr/>
        </p:nvSpPr>
        <p:spPr>
          <a:xfrm>
            <a:off x="45466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3"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65" name="Text 63">
            <a:hlinkClick r:id="rId24" tooltip=""/>
          </p:cNvPr>
          <p:cNvSpPr/>
          <p:nvPr/>
        </p:nvSpPr>
        <p:spPr>
          <a:xfrm>
            <a:off x="54356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4"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66" name="Shape 64"/>
          <p:cNvSpPr/>
          <p:nvPr/>
        </p:nvSpPr>
        <p:spPr>
          <a:xfrm>
            <a:off x="457200" y="8149590"/>
            <a:ext cx="6642100" cy="7620"/>
          </a:xfrm>
          <a:prstGeom prst="rect">
            <a:avLst/>
          </a:prstGeom>
          <a:solidFill>
            <a:srgbClr val="B7B0A4"/>
          </a:solidFill>
          <a:ln w="12700">
            <a:solidFill>
              <a:srgbClr val="B7B0A4"/>
            </a:solidFill>
            <a:prstDash val="solid"/>
          </a:ln>
        </p:spPr>
      </p:sp>
      <p:sp>
        <p:nvSpPr>
          <p:cNvPr id="67" name="Text 65"/>
          <p:cNvSpPr/>
          <p:nvPr/>
        </p:nvSpPr>
        <p:spPr>
          <a:xfrm>
            <a:off x="457200" y="8382000"/>
            <a:ext cx="6642100" cy="5461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Map: Natural Earth. (n.d.). Admin 0 – Countries, 1:110m Cultural Vectors (v5.1.1). Public-domain data; generalized present-day boundaries, not historical geometry. Mauritius is located by point at this scale.</a:t>
            </a:r>
            <a:endParaRPr lang="en-US" sz="850" dirty="0"/>
          </a:p>
        </p:txBody>
      </p:sp>
      <p:sp>
        <p:nvSpPr>
          <p:cNvPr id="68" name="Text 66">
            <a:hlinkClick r:id="rId25" tooltip=""/>
          </p:cNvPr>
          <p:cNvSpPr/>
          <p:nvPr/>
        </p:nvSpPr>
        <p:spPr>
          <a:xfrm>
            <a:off x="457200" y="9067800"/>
            <a:ext cx="2032000" cy="2159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5" invalidUrl="" action="" tgtFrame="" tooltip="" history="1" highlightClick="0" endSnd="0">
                  <a:extLst>
                    <a:ext uri="{A12FA001-AC4F-418D-AE19-62706E023703}">
                      <ahyp:hlinkClr xmlns:ahyp="http://schemas.microsoft.com/office/drawing/2018/hyperlinkcolor" val="tx"/>
                    </a:ext>
                  </a:extLst>
                </a:hlinkClick>
              </a:rPr>
              <a:t>MAP SOURCE ↗</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grey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Editorial research magazine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Africa &amp; Asia: Why Did Their Economic Paths Diverge?</dc:title>
  <dc:subject>Six-country evidence-led comparison</dc:subject>
  <dc:creator>University project team — editorial draft</dc:creator>
  <cp:lastModifiedBy>University project team — editorial draft</cp:lastModifiedBy>
  <cp:revision>1</cp:revision>
  <dcterms:created xsi:type="dcterms:W3CDTF">2026-10-12T23:07:22Z</dcterms:created>
  <dcterms:modified xsi:type="dcterms:W3CDTF">2026-10-12T23:07:22Z</dcterms:modified>
</cp:coreProperties>
</file>